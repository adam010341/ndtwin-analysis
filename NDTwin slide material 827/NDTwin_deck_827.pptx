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NDTwin Network Digital Twin</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Where the Failover Time Went</a:t>
            </a:r>
            <a:endParaRPr lang="en-US" sz="4400" dirty="0"/>
          </a:p>
        </p:txBody>
      </p:sp>
      <p:sp>
        <p:nvSpPr>
          <p:cNvPr id="4" name="Text 2"/>
          <p:cNvSpPr/>
          <p:nvPr/>
        </p:nvSpPr>
        <p:spPr>
          <a:xfrm>
            <a:off x="777240" y="3401568"/>
            <a:ext cx="10058400" cy="502920"/>
          </a:xfrm>
          <a:prstGeom prst="rect">
            <a:avLst/>
          </a:prstGeom>
          <a:noFill/>
          <a:ln/>
        </p:spPr>
        <p:txBody>
          <a:bodyPr wrap="square" lIns="0" tIns="0" rIns="0" bIns="0" rtlCol="0" anchor="ctr"/>
          <a:lstStyle/>
          <a:p>
            <a:pPr indent="0" marL="0">
              <a:buNone/>
            </a:pPr>
            <a:r>
              <a:rPr lang="en-US" sz="2200" dirty="0">
                <a:solidFill>
                  <a:srgbClr val="4F4F4F"/>
                </a:solidFill>
                <a:latin typeface="Calibri" pitchFamily="34" charset="0"/>
                <a:ea typeface="Calibri" pitchFamily="34" charset="-122"/>
                <a:cs typeface="Calibri" pitchFamily="34" charset="-120"/>
              </a:rPr>
              <a:t>— and what a sample costs</a:t>
            </a:r>
            <a:endParaRPr lang="en-US" sz="22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777240" y="5870448"/>
            <a:ext cx="7315200" cy="310896"/>
          </a:xfrm>
          <a:prstGeom prst="rect">
            <a:avLst/>
          </a:prstGeom>
          <a:noFill/>
          <a:ln/>
        </p:spPr>
        <p:txBody>
          <a:bodyPr wrap="square" lIns="0" tIns="0" rIns="0" bIns="0" rtlCol="0" anchor="ctr"/>
          <a:lstStyle/>
          <a:p>
            <a:pPr indent="0" marL="0">
              <a:buNone/>
            </a:pPr>
            <a:r>
              <a:rPr lang="en-US" sz="1300" dirty="0">
                <a:solidFill>
                  <a:srgbClr val="4F4F4F"/>
                </a:solidFill>
                <a:latin typeface="Calibri" pitchFamily="34" charset="0"/>
                <a:ea typeface="Calibri" pitchFamily="34" charset="-122"/>
                <a:cs typeface="Calibri" pitchFamily="34" charset="-120"/>
              </a:rPr>
              <a:t>Adam　·　2026-08-27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Outline</a:t>
            </a:r>
            <a:endParaRPr lang="en-US" sz="3000" dirty="0"/>
          </a:p>
        </p:txBody>
      </p:sp>
      <p:sp>
        <p:nvSpPr>
          <p:cNvPr id="3" name="Shape 1"/>
          <p:cNvSpPr/>
          <p:nvPr/>
        </p:nvSpPr>
        <p:spPr>
          <a:xfrm>
            <a:off x="777240" y="1335024"/>
            <a:ext cx="10637215" cy="9144"/>
          </a:xfrm>
          <a:prstGeom prst="line">
            <a:avLst/>
          </a:prstGeom>
          <a:noFill/>
          <a:ln w="12700">
            <a:solidFill>
              <a:srgbClr val="D0D0D0"/>
            </a:solidFill>
            <a:prstDash val="solid"/>
          </a:ln>
        </p:spPr>
      </p:sp>
      <p:sp>
        <p:nvSpPr>
          <p:cNvPr id="4" name="Text 2"/>
          <p:cNvSpPr/>
          <p:nvPr/>
        </p:nvSpPr>
        <p:spPr>
          <a:xfrm>
            <a:off x="777240" y="2176272"/>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0</a:t>
            </a:r>
            <a:endParaRPr lang="en-US" sz="1700" dirty="0"/>
          </a:p>
        </p:txBody>
      </p:sp>
      <p:sp>
        <p:nvSpPr>
          <p:cNvPr id="5" name="Text 3"/>
          <p:cNvSpPr/>
          <p:nvPr/>
        </p:nvSpPr>
        <p:spPr>
          <a:xfrm>
            <a:off x="1234440" y="2157984"/>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Background</a:t>
            </a:r>
            <a:endParaRPr lang="en-US" sz="1800" dirty="0"/>
          </a:p>
        </p:txBody>
      </p:sp>
      <p:sp>
        <p:nvSpPr>
          <p:cNvPr id="6" name="Text 4"/>
          <p:cNvSpPr/>
          <p:nvPr/>
        </p:nvSpPr>
        <p:spPr>
          <a:xfrm>
            <a:off x="1234440" y="2523744"/>
            <a:ext cx="841248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What was promised last time, and where the three data planes attach.</a:t>
            </a:r>
            <a:endParaRPr lang="en-US" sz="1250" dirty="0"/>
          </a:p>
        </p:txBody>
      </p:sp>
      <p:sp>
        <p:nvSpPr>
          <p:cNvPr id="7" name="Text 5"/>
          <p:cNvSpPr/>
          <p:nvPr/>
        </p:nvSpPr>
        <p:spPr>
          <a:xfrm>
            <a:off x="10042855" y="2176272"/>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4–5</a:t>
            </a:r>
            <a:endParaRPr lang="en-US" sz="1200" dirty="0"/>
          </a:p>
        </p:txBody>
      </p:sp>
      <p:sp>
        <p:nvSpPr>
          <p:cNvPr id="8" name="Shape 6"/>
          <p:cNvSpPr/>
          <p:nvPr/>
        </p:nvSpPr>
        <p:spPr>
          <a:xfrm>
            <a:off x="777240" y="2926080"/>
            <a:ext cx="10637215" cy="9144"/>
          </a:xfrm>
          <a:prstGeom prst="line">
            <a:avLst/>
          </a:prstGeom>
          <a:noFill/>
          <a:ln w="12700">
            <a:solidFill>
              <a:srgbClr val="EFEFEF"/>
            </a:solidFill>
            <a:prstDash val="solid"/>
          </a:ln>
        </p:spPr>
      </p:sp>
      <p:sp>
        <p:nvSpPr>
          <p:cNvPr id="9" name="Text 7"/>
          <p:cNvSpPr/>
          <p:nvPr/>
        </p:nvSpPr>
        <p:spPr>
          <a:xfrm>
            <a:off x="777240" y="3017520"/>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a:t>
            </a:r>
            <a:endParaRPr lang="en-US" sz="1700" dirty="0"/>
          </a:p>
        </p:txBody>
      </p:sp>
      <p:sp>
        <p:nvSpPr>
          <p:cNvPr id="10" name="Text 8"/>
          <p:cNvSpPr/>
          <p:nvPr/>
        </p:nvSpPr>
        <p:spPr>
          <a:xfrm>
            <a:off x="1234440" y="2999232"/>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Answering the open questions</a:t>
            </a:r>
            <a:endParaRPr lang="en-US" sz="1800" dirty="0"/>
          </a:p>
        </p:txBody>
      </p:sp>
      <p:sp>
        <p:nvSpPr>
          <p:cNvPr id="11" name="Text 9"/>
          <p:cNvSpPr/>
          <p:nvPr/>
        </p:nvSpPr>
        <p:spPr>
          <a:xfrm>
            <a:off x="1234440" y="3364992"/>
            <a:ext cx="841248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The failover budget, faster detection, what a sample costs, and a deadlock in the baseline.</a:t>
            </a:r>
            <a:endParaRPr lang="en-US" sz="1250" dirty="0"/>
          </a:p>
        </p:txBody>
      </p:sp>
      <p:sp>
        <p:nvSpPr>
          <p:cNvPr id="12" name="Text 10"/>
          <p:cNvSpPr/>
          <p:nvPr/>
        </p:nvSpPr>
        <p:spPr>
          <a:xfrm>
            <a:off x="10042855" y="3017520"/>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7–26</a:t>
            </a:r>
            <a:endParaRPr lang="en-US" sz="1200" dirty="0"/>
          </a:p>
        </p:txBody>
      </p:sp>
      <p:sp>
        <p:nvSpPr>
          <p:cNvPr id="13" name="Shape 11"/>
          <p:cNvSpPr/>
          <p:nvPr/>
        </p:nvSpPr>
        <p:spPr>
          <a:xfrm>
            <a:off x="777240" y="3767328"/>
            <a:ext cx="10637215" cy="9144"/>
          </a:xfrm>
          <a:prstGeom prst="line">
            <a:avLst/>
          </a:prstGeom>
          <a:noFill/>
          <a:ln w="12700">
            <a:solidFill>
              <a:srgbClr val="EFEFEF"/>
            </a:solidFill>
            <a:prstDash val="solid"/>
          </a:ln>
        </p:spPr>
      </p:sp>
      <p:sp>
        <p:nvSpPr>
          <p:cNvPr id="14" name="Text 12"/>
          <p:cNvSpPr/>
          <p:nvPr/>
        </p:nvSpPr>
        <p:spPr>
          <a:xfrm>
            <a:off x="777240" y="3858768"/>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2</a:t>
            </a:r>
            <a:endParaRPr lang="en-US" sz="1700" dirty="0"/>
          </a:p>
        </p:txBody>
      </p:sp>
      <p:sp>
        <p:nvSpPr>
          <p:cNvPr id="15" name="Text 13"/>
          <p:cNvSpPr/>
          <p:nvPr/>
        </p:nvSpPr>
        <p:spPr>
          <a:xfrm>
            <a:off x="1234440" y="3840480"/>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Engineering, and what's next</a:t>
            </a:r>
            <a:endParaRPr lang="en-US" sz="1800" dirty="0"/>
          </a:p>
        </p:txBody>
      </p:sp>
      <p:sp>
        <p:nvSpPr>
          <p:cNvPr id="16" name="Text 14"/>
          <p:cNvSpPr/>
          <p:nvPr/>
        </p:nvSpPr>
        <p:spPr>
          <a:xfrm>
            <a:off x="1234440" y="4206240"/>
            <a:ext cx="841248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Bring-up as one command, truncation and batching, and what the next report will carry.</a:t>
            </a:r>
            <a:endParaRPr lang="en-US" sz="1250" dirty="0"/>
          </a:p>
        </p:txBody>
      </p:sp>
      <p:sp>
        <p:nvSpPr>
          <p:cNvPr id="17" name="Text 15"/>
          <p:cNvSpPr/>
          <p:nvPr/>
        </p:nvSpPr>
        <p:spPr>
          <a:xfrm>
            <a:off x="10042855" y="3858768"/>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28–33</a:t>
            </a:r>
            <a:endParaRPr lang="en-US" sz="1200" dirty="0"/>
          </a:p>
        </p:txBody>
      </p:sp>
      <p:sp>
        <p:nvSpPr>
          <p:cNvPr id="18" name="Text 16"/>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0</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Background</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What was promised last time, and where the three data planes attach</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Where we left off</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Five things were asked for — three on the 20 August closing slide, two in the meetings since. Each came with a test</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1088136" y="1847088"/>
            <a:ext cx="3931920" cy="201168"/>
          </a:xfrm>
          <a:prstGeom prst="rect">
            <a:avLst/>
          </a:prstGeom>
          <a:noFill/>
          <a:ln/>
        </p:spPr>
        <p:txBody>
          <a:bodyPr wrap="square" lIns="0" tIns="0" rIns="0" bIns="0" rtlCol="0" anchor="ctr"/>
          <a:lstStyle/>
          <a:p>
            <a:pPr indent="0" marL="0">
              <a:buNone/>
            </a:pPr>
            <a:r>
              <a:rPr lang="en-US" sz="900" spc="60" kern="0" dirty="0">
                <a:solidFill>
                  <a:srgbClr val="6E6E6E"/>
                </a:solidFill>
                <a:latin typeface="Calibri" pitchFamily="34" charset="0"/>
                <a:ea typeface="Calibri" pitchFamily="34" charset="-122"/>
                <a:cs typeface="Calibri" pitchFamily="34" charset="-120"/>
              </a:rPr>
              <a:t>the test we set ourselves</a:t>
            </a:r>
            <a:endParaRPr lang="en-US" sz="900" dirty="0"/>
          </a:p>
        </p:txBody>
      </p:sp>
      <p:sp>
        <p:nvSpPr>
          <p:cNvPr id="6" name="Text 4"/>
          <p:cNvSpPr/>
          <p:nvPr/>
        </p:nvSpPr>
        <p:spPr>
          <a:xfrm>
            <a:off x="777240" y="2084832"/>
            <a:ext cx="27432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88136" y="2066544"/>
            <a:ext cx="3931920" cy="475488"/>
          </a:xfrm>
          <a:prstGeom prst="rect">
            <a:avLst/>
          </a:prstGeom>
          <a:noFill/>
          <a:ln/>
        </p:spPr>
        <p:txBody>
          <a:bodyPr wrap="square" lIns="0" tIns="0" rIns="0" bIns="0" rtlCol="0" anchor="t"/>
          <a:lstStyle/>
          <a:p>
            <a:pPr indent="0" marL="0">
              <a:lnSpc>
                <a:spcPct val="110000"/>
              </a:lnSpc>
              <a:buNone/>
            </a:pPr>
            <a:r>
              <a:rPr lang="en-US" sz="1300" b="1" dirty="0">
                <a:solidFill>
                  <a:srgbClr val="1A1A1A"/>
                </a:solidFill>
                <a:latin typeface="Calibri" pitchFamily="34" charset="0"/>
                <a:ea typeface="Calibri" pitchFamily="34" charset="-122"/>
                <a:cs typeface="Calibri" pitchFamily="34" charset="-120"/>
              </a:rPr>
              <a:t>Find where the OVS 128-host recovery time goes</a:t>
            </a:r>
            <a:endParaRPr lang="en-US" sz="1300" dirty="0"/>
          </a:p>
        </p:txBody>
      </p:sp>
      <p:sp>
        <p:nvSpPr>
          <p:cNvPr id="8" name="Text 6"/>
          <p:cNvSpPr/>
          <p:nvPr/>
        </p:nvSpPr>
        <p:spPr>
          <a:xfrm>
            <a:off x="1088136" y="2560320"/>
            <a:ext cx="3931920" cy="274320"/>
          </a:xfrm>
          <a:prstGeom prst="rect">
            <a:avLst/>
          </a:prstGeom>
          <a:noFill/>
          <a:ln/>
        </p:spPr>
        <p:txBody>
          <a:bodyPr wrap="square" lIns="0" tIns="0" rIns="0" bIns="0" rtlCol="0" anchor="t"/>
          <a:lstStyle/>
          <a:p>
            <a:pPr indent="0" marL="0">
              <a:lnSpc>
                <a:spcPct val="116000"/>
              </a:lnSpc>
              <a:buNone/>
            </a:pPr>
            <a:r>
              <a:rPr lang="en-US" sz="950" dirty="0">
                <a:solidFill>
                  <a:srgbClr val="4F4F4F"/>
                </a:solidFill>
                <a:latin typeface="Calibri" pitchFamily="34" charset="0"/>
                <a:ea typeface="Calibri" pitchFamily="34" charset="-122"/>
                <a:cs typeface="Calibri" pitchFamily="34" charset="-120"/>
              </a:rPr>
              <a:t>detection + recompute + install must add up to 51.75 s</a:t>
            </a:r>
            <a:endParaRPr lang="en-US" sz="950" dirty="0"/>
          </a:p>
        </p:txBody>
      </p:sp>
      <p:sp>
        <p:nvSpPr>
          <p:cNvPr id="9" name="Shape 7"/>
          <p:cNvSpPr/>
          <p:nvPr/>
        </p:nvSpPr>
        <p:spPr>
          <a:xfrm>
            <a:off x="5358384" y="2139696"/>
            <a:ext cx="1298448" cy="310896"/>
          </a:xfrm>
          <a:prstGeom prst="rect">
            <a:avLst/>
          </a:prstGeom>
          <a:solidFill>
            <a:srgbClr val="EEF3F6"/>
          </a:solidFill>
          <a:ln w="16510">
            <a:solidFill>
              <a:srgbClr val="065A82"/>
            </a:solidFill>
            <a:prstDash val="solid"/>
          </a:ln>
        </p:spPr>
      </p:sp>
      <p:sp>
        <p:nvSpPr>
          <p:cNvPr id="10" name="Text 8"/>
          <p:cNvSpPr/>
          <p:nvPr/>
        </p:nvSpPr>
        <p:spPr>
          <a:xfrm>
            <a:off x="5358384" y="2139696"/>
            <a:ext cx="1298448" cy="310896"/>
          </a:xfrm>
          <a:prstGeom prst="rect">
            <a:avLst/>
          </a:prstGeom>
          <a:noFill/>
          <a:ln/>
        </p:spPr>
        <p:txBody>
          <a:bodyPr wrap="square" lIns="0" tIns="0" rIns="0" bIns="0" rtlCol="0" anchor="ctr"/>
          <a:lstStyle/>
          <a:p>
            <a:pPr algn="ctr" indent="0" marL="0">
              <a:buNone/>
            </a:pPr>
            <a:r>
              <a:rPr lang="en-US" sz="1050" b="1" dirty="0">
                <a:solidFill>
                  <a:srgbClr val="065A82"/>
                </a:solidFill>
                <a:latin typeface="Calibri" pitchFamily="34" charset="0"/>
                <a:ea typeface="Calibri" pitchFamily="34" charset="-122"/>
                <a:cs typeface="Calibri" pitchFamily="34" charset="-120"/>
              </a:rPr>
              <a:t>ANSWERED</a:t>
            </a:r>
            <a:endParaRPr lang="en-US" sz="1050" dirty="0"/>
          </a:p>
        </p:txBody>
      </p:sp>
      <p:sp>
        <p:nvSpPr>
          <p:cNvPr id="11" name="Text 9"/>
          <p:cNvSpPr/>
          <p:nvPr/>
        </p:nvSpPr>
        <p:spPr>
          <a:xfrm>
            <a:off x="6821424" y="2084832"/>
            <a:ext cx="4593031" cy="676656"/>
          </a:xfrm>
          <a:prstGeom prst="rect">
            <a:avLst/>
          </a:prstGeom>
          <a:noFill/>
          <a:ln/>
        </p:spPr>
        <p:txBody>
          <a:bodyPr wrap="square" lIns="0" tIns="0" rIns="0" bIns="0" rtlCol="0" anchor="t"/>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It balances — and 87% of it is waiting to notice.</a:t>
            </a:r>
            <a:endParaRPr lang="en-US" sz="1150" dirty="0"/>
          </a:p>
        </p:txBody>
      </p:sp>
      <p:sp>
        <p:nvSpPr>
          <p:cNvPr id="12" name="Shape 10"/>
          <p:cNvSpPr/>
          <p:nvPr/>
        </p:nvSpPr>
        <p:spPr>
          <a:xfrm>
            <a:off x="777240" y="2834640"/>
            <a:ext cx="10637215" cy="9144"/>
          </a:xfrm>
          <a:prstGeom prst="line">
            <a:avLst/>
          </a:prstGeom>
          <a:noFill/>
          <a:ln w="12700">
            <a:solidFill>
              <a:srgbClr val="EFEFEF"/>
            </a:solidFill>
            <a:prstDash val="solid"/>
          </a:ln>
        </p:spPr>
      </p:sp>
      <p:sp>
        <p:nvSpPr>
          <p:cNvPr id="13" name="Text 11"/>
          <p:cNvSpPr/>
          <p:nvPr/>
        </p:nvSpPr>
        <p:spPr>
          <a:xfrm>
            <a:off x="777240" y="2907792"/>
            <a:ext cx="27432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088136" y="2889504"/>
            <a:ext cx="3931920" cy="475488"/>
          </a:xfrm>
          <a:prstGeom prst="rect">
            <a:avLst/>
          </a:prstGeom>
          <a:noFill/>
          <a:ln/>
        </p:spPr>
        <p:txBody>
          <a:bodyPr wrap="square" lIns="0" tIns="0" rIns="0" bIns="0" rtlCol="0" anchor="t"/>
          <a:lstStyle/>
          <a:p>
            <a:pPr indent="0" marL="0">
              <a:lnSpc>
                <a:spcPct val="110000"/>
              </a:lnSpc>
              <a:buNone/>
            </a:pPr>
            <a:r>
              <a:rPr lang="en-US" sz="1300" b="1" dirty="0">
                <a:solidFill>
                  <a:srgbClr val="1A1A1A"/>
                </a:solidFill>
                <a:latin typeface="Calibri" pitchFamily="34" charset="0"/>
                <a:ea typeface="Calibri" pitchFamily="34" charset="-122"/>
                <a:cs typeface="Calibri" pitchFamily="34" charset="-120"/>
              </a:rPr>
              <a:t>Make failure detection faster without making it wrong</a:t>
            </a:r>
            <a:endParaRPr lang="en-US" sz="1300" dirty="0"/>
          </a:p>
        </p:txBody>
      </p:sp>
      <p:sp>
        <p:nvSpPr>
          <p:cNvPr id="15" name="Text 13"/>
          <p:cNvSpPr/>
          <p:nvPr/>
        </p:nvSpPr>
        <p:spPr>
          <a:xfrm>
            <a:off x="1088136" y="3383280"/>
            <a:ext cx="3931920" cy="274320"/>
          </a:xfrm>
          <a:prstGeom prst="rect">
            <a:avLst/>
          </a:prstGeom>
          <a:noFill/>
          <a:ln/>
        </p:spPr>
        <p:txBody>
          <a:bodyPr wrap="square" lIns="0" tIns="0" rIns="0" bIns="0" rtlCol="0" anchor="t"/>
          <a:lstStyle/>
          <a:p>
            <a:pPr indent="0" marL="0">
              <a:lnSpc>
                <a:spcPct val="116000"/>
              </a:lnSpc>
              <a:buNone/>
            </a:pPr>
            <a:r>
              <a:rPr lang="en-US" sz="950" dirty="0">
                <a:solidFill>
                  <a:srgbClr val="4F4F4F"/>
                </a:solidFill>
                <a:latin typeface="Calibri" pitchFamily="34" charset="0"/>
                <a:ea typeface="Calibri" pitchFamily="34" charset="-122"/>
                <a:cs typeface="Calibri" pitchFamily="34" charset="-120"/>
              </a:rPr>
              <a:t>judged on the false-positive rate, not on the detection time</a:t>
            </a:r>
            <a:endParaRPr lang="en-US" sz="950" dirty="0"/>
          </a:p>
        </p:txBody>
      </p:sp>
      <p:sp>
        <p:nvSpPr>
          <p:cNvPr id="16" name="Shape 14"/>
          <p:cNvSpPr/>
          <p:nvPr/>
        </p:nvSpPr>
        <p:spPr>
          <a:xfrm>
            <a:off x="5358384" y="2962656"/>
            <a:ext cx="1298448" cy="310896"/>
          </a:xfrm>
          <a:prstGeom prst="rect">
            <a:avLst/>
          </a:prstGeom>
          <a:solidFill>
            <a:srgbClr val="EEF3F6"/>
          </a:solidFill>
          <a:ln w="16510">
            <a:solidFill>
              <a:srgbClr val="065A82"/>
            </a:solidFill>
            <a:prstDash val="solid"/>
          </a:ln>
        </p:spPr>
      </p:sp>
      <p:sp>
        <p:nvSpPr>
          <p:cNvPr id="17" name="Text 15"/>
          <p:cNvSpPr/>
          <p:nvPr/>
        </p:nvSpPr>
        <p:spPr>
          <a:xfrm>
            <a:off x="5358384" y="2962656"/>
            <a:ext cx="1298448" cy="310896"/>
          </a:xfrm>
          <a:prstGeom prst="rect">
            <a:avLst/>
          </a:prstGeom>
          <a:noFill/>
          <a:ln/>
        </p:spPr>
        <p:txBody>
          <a:bodyPr wrap="square" lIns="0" tIns="0" rIns="0" bIns="0" rtlCol="0" anchor="ctr"/>
          <a:lstStyle/>
          <a:p>
            <a:pPr algn="ctr" indent="0" marL="0">
              <a:buNone/>
            </a:pPr>
            <a:r>
              <a:rPr lang="en-US" sz="1050" b="1" dirty="0">
                <a:solidFill>
                  <a:srgbClr val="065A82"/>
                </a:solidFill>
                <a:latin typeface="Calibri" pitchFamily="34" charset="0"/>
                <a:ea typeface="Calibri" pitchFamily="34" charset="-122"/>
                <a:cs typeface="Calibri" pitchFamily="34" charset="-120"/>
              </a:rPr>
              <a:t>ANSWERED</a:t>
            </a:r>
            <a:endParaRPr lang="en-US" sz="1050" dirty="0"/>
          </a:p>
        </p:txBody>
      </p:sp>
      <p:sp>
        <p:nvSpPr>
          <p:cNvPr id="18" name="Text 16"/>
          <p:cNvSpPr/>
          <p:nvPr/>
        </p:nvSpPr>
        <p:spPr>
          <a:xfrm>
            <a:off x="6821424" y="2907792"/>
            <a:ext cx="4593031" cy="676656"/>
          </a:xfrm>
          <a:prstGeom prst="rect">
            <a:avLst/>
          </a:prstGeom>
          <a:noFill/>
          <a:ln/>
        </p:spPr>
        <p:txBody>
          <a:bodyPr wrap="square" lIns="0" tIns="0" rIns="0" bIns="0" rtlCol="0" anchor="t"/>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3.9× faster. Idle false positives: zero.</a:t>
            </a:r>
            <a:endParaRPr lang="en-US" sz="1150" dirty="0"/>
          </a:p>
        </p:txBody>
      </p:sp>
      <p:sp>
        <p:nvSpPr>
          <p:cNvPr id="19" name="Shape 17"/>
          <p:cNvSpPr/>
          <p:nvPr/>
        </p:nvSpPr>
        <p:spPr>
          <a:xfrm>
            <a:off x="777240" y="3657600"/>
            <a:ext cx="10637215" cy="9144"/>
          </a:xfrm>
          <a:prstGeom prst="line">
            <a:avLst/>
          </a:prstGeom>
          <a:noFill/>
          <a:ln w="12700">
            <a:solidFill>
              <a:srgbClr val="EFEFEF"/>
            </a:solidFill>
            <a:prstDash val="solid"/>
          </a:ln>
        </p:spPr>
      </p:sp>
      <p:sp>
        <p:nvSpPr>
          <p:cNvPr id="20" name="Text 18"/>
          <p:cNvSpPr/>
          <p:nvPr/>
        </p:nvSpPr>
        <p:spPr>
          <a:xfrm>
            <a:off x="777240" y="3730752"/>
            <a:ext cx="27432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088136" y="3712464"/>
            <a:ext cx="3931920" cy="475488"/>
          </a:xfrm>
          <a:prstGeom prst="rect">
            <a:avLst/>
          </a:prstGeom>
          <a:noFill/>
          <a:ln/>
        </p:spPr>
        <p:txBody>
          <a:bodyPr wrap="square" lIns="0" tIns="0" rIns="0" bIns="0" rtlCol="0" anchor="t"/>
          <a:lstStyle/>
          <a:p>
            <a:pPr indent="0" marL="0">
              <a:lnSpc>
                <a:spcPct val="110000"/>
              </a:lnSpc>
              <a:buNone/>
            </a:pPr>
            <a:r>
              <a:rPr lang="en-US" sz="1300" b="1" dirty="0">
                <a:solidFill>
                  <a:srgbClr val="1A1A1A"/>
                </a:solidFill>
                <a:latin typeface="Calibri" pitchFamily="34" charset="0"/>
                <a:ea typeface="Calibri" pitchFamily="34" charset="-122"/>
                <a:cs typeface="Calibri" pitchFamily="34" charset="-120"/>
              </a:rPr>
              <a:t>Promote the fast bmv2 build to the default</a:t>
            </a:r>
            <a:endParaRPr lang="en-US" sz="1300" dirty="0"/>
          </a:p>
        </p:txBody>
      </p:sp>
      <p:sp>
        <p:nvSpPr>
          <p:cNvPr id="22" name="Text 20"/>
          <p:cNvSpPr/>
          <p:nvPr/>
        </p:nvSpPr>
        <p:spPr>
          <a:xfrm>
            <a:off x="1088136" y="4206240"/>
            <a:ext cx="3931920" cy="274320"/>
          </a:xfrm>
          <a:prstGeom prst="rect">
            <a:avLst/>
          </a:prstGeom>
          <a:noFill/>
          <a:ln/>
        </p:spPr>
        <p:txBody>
          <a:bodyPr wrap="square" lIns="0" tIns="0" rIns="0" bIns="0" rtlCol="0" anchor="t"/>
          <a:lstStyle/>
          <a:p>
            <a:pPr indent="0" marL="0">
              <a:lnSpc>
                <a:spcPct val="116000"/>
              </a:lnSpc>
              <a:buNone/>
            </a:pPr>
            <a:r>
              <a:rPr lang="en-US" sz="950" dirty="0">
                <a:solidFill>
                  <a:srgbClr val="4F4F4F"/>
                </a:solidFill>
                <a:latin typeface="Calibri" pitchFamily="34" charset="0"/>
                <a:ea typeface="Calibri" pitchFamily="34" charset="-122"/>
                <a:cs typeface="Calibri" pitchFamily="34" charset="-120"/>
              </a:rPr>
              <a:t>the whole L0–L4 suite must pass on the fast build</a:t>
            </a:r>
            <a:endParaRPr lang="en-US" sz="950" dirty="0"/>
          </a:p>
        </p:txBody>
      </p:sp>
      <p:sp>
        <p:nvSpPr>
          <p:cNvPr id="23" name="Shape 21"/>
          <p:cNvSpPr/>
          <p:nvPr/>
        </p:nvSpPr>
        <p:spPr>
          <a:xfrm>
            <a:off x="5358384" y="3785616"/>
            <a:ext cx="1298448" cy="310896"/>
          </a:xfrm>
          <a:prstGeom prst="rect">
            <a:avLst/>
          </a:prstGeom>
          <a:solidFill>
            <a:srgbClr val="FBF2F0"/>
          </a:solidFill>
          <a:ln w="16510">
            <a:solidFill>
              <a:srgbClr val="9C3B2E"/>
            </a:solidFill>
            <a:prstDash val="solid"/>
          </a:ln>
        </p:spPr>
      </p:sp>
      <p:sp>
        <p:nvSpPr>
          <p:cNvPr id="24" name="Text 22"/>
          <p:cNvSpPr/>
          <p:nvPr/>
        </p:nvSpPr>
        <p:spPr>
          <a:xfrm>
            <a:off x="5358384" y="3785616"/>
            <a:ext cx="1298448" cy="310896"/>
          </a:xfrm>
          <a:prstGeom prst="rect">
            <a:avLst/>
          </a:prstGeom>
          <a:noFill/>
          <a:ln/>
        </p:spPr>
        <p:txBody>
          <a:bodyPr wrap="square" lIns="0" tIns="0" rIns="0" bIns="0" rtlCol="0" anchor="ctr"/>
          <a:lstStyle/>
          <a:p>
            <a:pPr algn="ctr" indent="0" marL="0">
              <a:buNone/>
            </a:pPr>
            <a:r>
              <a:rPr lang="en-US" sz="1050" b="1" dirty="0">
                <a:solidFill>
                  <a:srgbClr val="9C3B2E"/>
                </a:solidFill>
                <a:latin typeface="Calibri" pitchFamily="34" charset="0"/>
                <a:ea typeface="Calibri" pitchFamily="34" charset="-122"/>
                <a:cs typeface="Calibri" pitchFamily="34" charset="-120"/>
              </a:rPr>
              <a:t>PREREQUISITE</a:t>
            </a:r>
            <a:endParaRPr lang="en-US" sz="1050" dirty="0"/>
          </a:p>
        </p:txBody>
      </p:sp>
      <p:sp>
        <p:nvSpPr>
          <p:cNvPr id="25" name="Text 23"/>
          <p:cNvSpPr/>
          <p:nvPr/>
        </p:nvSpPr>
        <p:spPr>
          <a:xfrm>
            <a:off x="6821424" y="3730752"/>
            <a:ext cx="4593031" cy="676656"/>
          </a:xfrm>
          <a:prstGeom prst="rect">
            <a:avLst/>
          </a:prstGeom>
          <a:noFill/>
          <a:ln/>
        </p:spPr>
        <p:txBody>
          <a:bodyPr wrap="square" lIns="0" tIns="0" rIns="0" bIns="0" rtlCol="0" anchor="t"/>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The binaries can be told apart. The suite has not been run.</a:t>
            </a:r>
            <a:endParaRPr lang="en-US" sz="1150" dirty="0"/>
          </a:p>
        </p:txBody>
      </p:sp>
      <p:sp>
        <p:nvSpPr>
          <p:cNvPr id="26" name="Shape 24"/>
          <p:cNvSpPr/>
          <p:nvPr/>
        </p:nvSpPr>
        <p:spPr>
          <a:xfrm>
            <a:off x="777240" y="4480560"/>
            <a:ext cx="10637215" cy="9144"/>
          </a:xfrm>
          <a:prstGeom prst="line">
            <a:avLst/>
          </a:prstGeom>
          <a:noFill/>
          <a:ln w="12700">
            <a:solidFill>
              <a:srgbClr val="EFEFEF"/>
            </a:solidFill>
            <a:prstDash val="solid"/>
          </a:ln>
        </p:spPr>
      </p:sp>
      <p:sp>
        <p:nvSpPr>
          <p:cNvPr id="27" name="Text 25"/>
          <p:cNvSpPr/>
          <p:nvPr/>
        </p:nvSpPr>
        <p:spPr>
          <a:xfrm>
            <a:off x="777240" y="4553712"/>
            <a:ext cx="27432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088136" y="4535424"/>
            <a:ext cx="3931920" cy="475488"/>
          </a:xfrm>
          <a:prstGeom prst="rect">
            <a:avLst/>
          </a:prstGeom>
          <a:noFill/>
          <a:ln/>
        </p:spPr>
        <p:txBody>
          <a:bodyPr wrap="square" lIns="0" tIns="0" rIns="0" bIns="0" rtlCol="0" anchor="t"/>
          <a:lstStyle/>
          <a:p>
            <a:pPr indent="0" marL="0">
              <a:lnSpc>
                <a:spcPct val="110000"/>
              </a:lnSpc>
              <a:buNone/>
            </a:pPr>
            <a:r>
              <a:rPr lang="en-US" sz="1300" b="1" dirty="0">
                <a:solidFill>
                  <a:srgbClr val="1A1A1A"/>
                </a:solidFill>
                <a:latin typeface="Calibri" pitchFamily="34" charset="0"/>
                <a:ea typeface="Calibri" pitchFamily="34" charset="-122"/>
                <a:cs typeface="Calibri" pitchFamily="34" charset="-120"/>
              </a:rPr>
              <a:t>Re-measure the sFlow jitter — baseline, and across sampling rates</a:t>
            </a:r>
            <a:endParaRPr lang="en-US" sz="1300" dirty="0"/>
          </a:p>
        </p:txBody>
      </p:sp>
      <p:sp>
        <p:nvSpPr>
          <p:cNvPr id="29" name="Text 27"/>
          <p:cNvSpPr/>
          <p:nvPr/>
        </p:nvSpPr>
        <p:spPr>
          <a:xfrm>
            <a:off x="1088136" y="5029200"/>
            <a:ext cx="3931920" cy="274320"/>
          </a:xfrm>
          <a:prstGeom prst="rect">
            <a:avLst/>
          </a:prstGeom>
          <a:noFill/>
          <a:ln/>
        </p:spPr>
        <p:txBody>
          <a:bodyPr wrap="square" lIns="0" tIns="0" rIns="0" bIns="0" rtlCol="0" anchor="t"/>
          <a:lstStyle/>
          <a:p>
            <a:pPr indent="0" marL="0">
              <a:lnSpc>
                <a:spcPct val="116000"/>
              </a:lnSpc>
              <a:buNone/>
            </a:pPr>
            <a:r>
              <a:rPr lang="en-US" sz="950" dirty="0">
                <a:solidFill>
                  <a:srgbClr val="4F4F4F"/>
                </a:solidFill>
                <a:latin typeface="Calibri" pitchFamily="34" charset="0"/>
                <a:ea typeface="Calibri" pitchFamily="34" charset="-122"/>
                <a:cs typeface="Calibri" pitchFamily="34" charset="-120"/>
              </a:rPr>
              <a:t>one fabric, one flow: swap only the kernel binary, then only the sample rate</a:t>
            </a:r>
            <a:endParaRPr lang="en-US" sz="950" dirty="0"/>
          </a:p>
        </p:txBody>
      </p:sp>
      <p:sp>
        <p:nvSpPr>
          <p:cNvPr id="30" name="Shape 28"/>
          <p:cNvSpPr/>
          <p:nvPr/>
        </p:nvSpPr>
        <p:spPr>
          <a:xfrm>
            <a:off x="5358384" y="4608576"/>
            <a:ext cx="1298448" cy="310896"/>
          </a:xfrm>
          <a:prstGeom prst="rect">
            <a:avLst/>
          </a:prstGeom>
          <a:solidFill>
            <a:srgbClr val="EEF3F6"/>
          </a:solidFill>
          <a:ln w="16510">
            <a:solidFill>
              <a:srgbClr val="065A82"/>
            </a:solidFill>
            <a:prstDash val="solid"/>
          </a:ln>
        </p:spPr>
      </p:sp>
      <p:sp>
        <p:nvSpPr>
          <p:cNvPr id="31" name="Text 29"/>
          <p:cNvSpPr/>
          <p:nvPr/>
        </p:nvSpPr>
        <p:spPr>
          <a:xfrm>
            <a:off x="5358384" y="4608576"/>
            <a:ext cx="1298448" cy="310896"/>
          </a:xfrm>
          <a:prstGeom prst="rect">
            <a:avLst/>
          </a:prstGeom>
          <a:noFill/>
          <a:ln/>
        </p:spPr>
        <p:txBody>
          <a:bodyPr wrap="square" lIns="0" tIns="0" rIns="0" bIns="0" rtlCol="0" anchor="ctr"/>
          <a:lstStyle/>
          <a:p>
            <a:pPr algn="ctr" indent="0" marL="0">
              <a:buNone/>
            </a:pPr>
            <a:r>
              <a:rPr lang="en-US" sz="1050" b="1" dirty="0">
                <a:solidFill>
                  <a:srgbClr val="065A82"/>
                </a:solidFill>
                <a:latin typeface="Calibri" pitchFamily="34" charset="0"/>
                <a:ea typeface="Calibri" pitchFamily="34" charset="-122"/>
                <a:cs typeface="Calibri" pitchFamily="34" charset="-120"/>
              </a:rPr>
              <a:t>ANSWERED</a:t>
            </a:r>
            <a:endParaRPr lang="en-US" sz="1050" dirty="0"/>
          </a:p>
        </p:txBody>
      </p:sp>
      <p:sp>
        <p:nvSpPr>
          <p:cNvPr id="32" name="Text 30"/>
          <p:cNvSpPr/>
          <p:nvPr/>
        </p:nvSpPr>
        <p:spPr>
          <a:xfrm>
            <a:off x="6821424" y="4553712"/>
            <a:ext cx="4593031" cy="676656"/>
          </a:xfrm>
          <a:prstGeom prst="rect">
            <a:avLst/>
          </a:prstGeom>
          <a:noFill/>
          <a:ln/>
        </p:spPr>
        <p:txBody>
          <a:bodyPr wrap="square" lIns="0" tIns="0" rIns="0" bIns="0" rtlCol="0" anchor="t"/>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Inherited, not ours — and it stops buying precision at 1-in-32.</a:t>
            </a:r>
            <a:endParaRPr lang="en-US" sz="1150" dirty="0"/>
          </a:p>
        </p:txBody>
      </p:sp>
      <p:sp>
        <p:nvSpPr>
          <p:cNvPr id="33" name="Shape 31"/>
          <p:cNvSpPr/>
          <p:nvPr/>
        </p:nvSpPr>
        <p:spPr>
          <a:xfrm>
            <a:off x="777240" y="5303520"/>
            <a:ext cx="10637215" cy="9144"/>
          </a:xfrm>
          <a:prstGeom prst="line">
            <a:avLst/>
          </a:prstGeom>
          <a:noFill/>
          <a:ln w="12700">
            <a:solidFill>
              <a:srgbClr val="EFEFEF"/>
            </a:solidFill>
            <a:prstDash val="solid"/>
          </a:ln>
        </p:spPr>
      </p:sp>
      <p:sp>
        <p:nvSpPr>
          <p:cNvPr id="34" name="Text 32"/>
          <p:cNvSpPr/>
          <p:nvPr/>
        </p:nvSpPr>
        <p:spPr>
          <a:xfrm>
            <a:off x="777240" y="5376672"/>
            <a:ext cx="27432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1088136" y="5358384"/>
            <a:ext cx="3931920" cy="475488"/>
          </a:xfrm>
          <a:prstGeom prst="rect">
            <a:avLst/>
          </a:prstGeom>
          <a:noFill/>
          <a:ln/>
        </p:spPr>
        <p:txBody>
          <a:bodyPr wrap="square" lIns="0" tIns="0" rIns="0" bIns="0" rtlCol="0" anchor="t"/>
          <a:lstStyle/>
          <a:p>
            <a:pPr indent="0" marL="0">
              <a:lnSpc>
                <a:spcPct val="110000"/>
              </a:lnSpc>
              <a:buNone/>
            </a:pPr>
            <a:r>
              <a:rPr lang="en-US" sz="1300" b="1" dirty="0">
                <a:solidFill>
                  <a:srgbClr val="1A1A1A"/>
                </a:solidFill>
                <a:latin typeface="Calibri" pitchFamily="34" charset="0"/>
                <a:ea typeface="Calibri" pitchFamily="34" charset="-122"/>
                <a:cs typeface="Calibri" pitchFamily="34" charset="-120"/>
              </a:rPr>
              <a:t>Try packet truncation, and batching</a:t>
            </a:r>
            <a:endParaRPr lang="en-US" sz="1300" dirty="0"/>
          </a:p>
        </p:txBody>
      </p:sp>
      <p:sp>
        <p:nvSpPr>
          <p:cNvPr id="36" name="Text 34"/>
          <p:cNvSpPr/>
          <p:nvPr/>
        </p:nvSpPr>
        <p:spPr>
          <a:xfrm>
            <a:off x="1088136" y="5852160"/>
            <a:ext cx="3931920" cy="274320"/>
          </a:xfrm>
          <a:prstGeom prst="rect">
            <a:avLst/>
          </a:prstGeom>
          <a:noFill/>
          <a:ln/>
        </p:spPr>
        <p:txBody>
          <a:bodyPr wrap="square" lIns="0" tIns="0" rIns="0" bIns="0" rtlCol="0" anchor="t"/>
          <a:lstStyle/>
          <a:p>
            <a:pPr indent="0" marL="0">
              <a:lnSpc>
                <a:spcPct val="116000"/>
              </a:lnSpc>
              <a:buNone/>
            </a:pPr>
            <a:r>
              <a:rPr lang="en-US" sz="950" dirty="0">
                <a:solidFill>
                  <a:srgbClr val="4F4F4F"/>
                </a:solidFill>
                <a:latin typeface="Calibri" pitchFamily="34" charset="0"/>
                <a:ea typeface="Calibri" pitchFamily="34" charset="-122"/>
                <a:cs typeface="Calibri" pitchFamily="34" charset="-120"/>
              </a:rPr>
              <a:t>either one moves the sampling ceiling, or the cost is not per byte</a:t>
            </a:r>
            <a:endParaRPr lang="en-US" sz="950" dirty="0"/>
          </a:p>
        </p:txBody>
      </p:sp>
      <p:sp>
        <p:nvSpPr>
          <p:cNvPr id="37" name="Shape 35"/>
          <p:cNvSpPr/>
          <p:nvPr/>
        </p:nvSpPr>
        <p:spPr>
          <a:xfrm>
            <a:off x="5358384" y="5431536"/>
            <a:ext cx="1298448" cy="310896"/>
          </a:xfrm>
          <a:prstGeom prst="rect">
            <a:avLst/>
          </a:prstGeom>
          <a:solidFill>
            <a:srgbClr val="FBF2F0"/>
          </a:solidFill>
          <a:ln w="16510">
            <a:solidFill>
              <a:srgbClr val="9C3B2E"/>
            </a:solidFill>
            <a:prstDash val="solid"/>
          </a:ln>
        </p:spPr>
      </p:sp>
      <p:sp>
        <p:nvSpPr>
          <p:cNvPr id="38" name="Text 36"/>
          <p:cNvSpPr/>
          <p:nvPr/>
        </p:nvSpPr>
        <p:spPr>
          <a:xfrm>
            <a:off x="5358384" y="5431536"/>
            <a:ext cx="1298448" cy="310896"/>
          </a:xfrm>
          <a:prstGeom prst="rect">
            <a:avLst/>
          </a:prstGeom>
          <a:noFill/>
          <a:ln/>
        </p:spPr>
        <p:txBody>
          <a:bodyPr wrap="square" lIns="0" tIns="0" rIns="0" bIns="0" rtlCol="0" anchor="ctr"/>
          <a:lstStyle/>
          <a:p>
            <a:pPr algn="ctr" indent="0" marL="0">
              <a:buNone/>
            </a:pPr>
            <a:r>
              <a:rPr lang="en-US" sz="1050" b="1" dirty="0">
                <a:solidFill>
                  <a:srgbClr val="9C3B2E"/>
                </a:solidFill>
                <a:latin typeface="Calibri" pitchFamily="34" charset="0"/>
                <a:ea typeface="Calibri" pitchFamily="34" charset="-122"/>
                <a:cs typeface="Calibri" pitchFamily="34" charset="-120"/>
              </a:rPr>
              <a:t>IN PART</a:t>
            </a:r>
            <a:endParaRPr lang="en-US" sz="1050" dirty="0"/>
          </a:p>
        </p:txBody>
      </p:sp>
      <p:sp>
        <p:nvSpPr>
          <p:cNvPr id="39" name="Text 37"/>
          <p:cNvSpPr/>
          <p:nvPr/>
        </p:nvSpPr>
        <p:spPr>
          <a:xfrm>
            <a:off x="6821424" y="5376672"/>
            <a:ext cx="4593031" cy="676656"/>
          </a:xfrm>
          <a:prstGeom prst="rect">
            <a:avLst/>
          </a:prstGeom>
          <a:noFill/>
          <a:ln/>
        </p:spPr>
        <p:txBody>
          <a:bodyPr wrap="square" lIns="0" tIns="0" rIns="0" bIns="0" rtlCol="0" anchor="t"/>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Truncation works and buys nothing. Merge is wired and verified; its effect on the ceiling is not measured.</a:t>
            </a:r>
            <a:endParaRPr lang="en-US" sz="1150" dirty="0"/>
          </a:p>
        </p:txBody>
      </p:sp>
      <p:sp>
        <p:nvSpPr>
          <p:cNvPr id="40" name="Text 38"/>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Tests 1–3 are quoted verbatim from the 20 August closing slide; 4 and 5 were asked for in the meetings since, and are answered on the same terms.</a:t>
            </a:r>
            <a:endParaRPr lang="en-US" sz="1000" dirty="0"/>
          </a:p>
        </p:txBody>
      </p:sp>
      <p:sp>
        <p:nvSpPr>
          <p:cNvPr id="41" name="Text 3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hopeful-sharp-hopper/mnt/NDTwin slide material 827/figures/page_architecture.png">    </p:cNvPr>
          <p:cNvPicPr>
            <a:picLocks noChangeAspect="1"/>
          </p:cNvPicPr>
          <p:nvPr/>
        </p:nvPicPr>
        <p:blipFill>
          <a:blip r:embed="rId1"/>
          <a:stretch>
            <a:fillRect/>
          </a:stretch>
        </p:blipFill>
        <p:spPr>
          <a:xfrm>
            <a:off x="1527912" y="896112"/>
            <a:ext cx="9135872" cy="5138928"/>
          </a:xfrm>
          <a:prstGeom prst="rect">
            <a:avLst/>
          </a:prstGeom>
        </p:spPr>
      </p:pic>
      <p:sp>
        <p:nvSpPr>
          <p:cNvPr id="3" name="Text 0"/>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1</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Answering the open questions</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Everything in this section was asked for — three written down on 20 August, the rest in the meetings since</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failover-budget.png">    </p:cNvPr>
          <p:cNvPicPr>
            <a:picLocks noChangeAspect="1"/>
          </p:cNvPicPr>
          <p:nvPr/>
        </p:nvPicPr>
        <p:blipFill>
          <a:blip r:embed="rId1"/>
          <a:stretch>
            <a:fillRect/>
          </a:stretch>
        </p:blipFill>
        <p:spPr>
          <a:xfrm>
            <a:off x="1969133" y="896112"/>
            <a:ext cx="8253430"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Where the recompute time actually goes</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The walk installs 1,280 rules and builds 16,256 path entries — only one of those grows with the square</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2048256"/>
          <a:ext cx="6903720" cy="914400"/>
        </p:xfrm>
        <a:graphic>
          <a:graphicData uri="http://schemas.openxmlformats.org/drawingml/2006/table">
            <a:tbl>
              <a:tblPr/>
              <a:tblGrid>
                <a:gridCol w="1051560"/>
                <a:gridCol w="1051560"/>
                <a:gridCol w="1234440"/>
                <a:gridCol w="1508760"/>
                <a:gridCol w="1051560"/>
                <a:gridCol w="10058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hosts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install</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path entries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report</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report %</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0.007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0.003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160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0.009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0.009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0.022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992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0.052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640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0.044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4,032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0.286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86%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2E2E2E"/>
                          </a:solidFill>
                          <a:latin typeface="Calibri" pitchFamily="34" charset="0"/>
                          <a:ea typeface="Calibri" pitchFamily="34" charset="-122"/>
                          <a:cs typeface="Calibri" pitchFamily="34" charset="-120"/>
                        </a:rPr>
                        <a:t>1,280</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2E2E2E"/>
                          </a:solidFill>
                          <a:latin typeface="Calibri" pitchFamily="34" charset="0"/>
                          <a:ea typeface="Calibri" pitchFamily="34" charset="-122"/>
                          <a:cs typeface="Calibri" pitchFamily="34" charset="-120"/>
                        </a:rPr>
                        <a:t>0.103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2E2E2E"/>
                          </a:solidFill>
                          <a:latin typeface="Calibri" pitchFamily="34" charset="0"/>
                          <a:ea typeface="Calibri" pitchFamily="34" charset="-122"/>
                          <a:cs typeface="Calibri" pitchFamily="34" charset="-120"/>
                        </a:rPr>
                        <a:t>16,256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065A82"/>
                          </a:solidFill>
                          <a:latin typeface="Calibri" pitchFamily="34" charset="0"/>
                          <a:ea typeface="Calibri" pitchFamily="34" charset="-122"/>
                          <a:cs typeface="Calibri" pitchFamily="34" charset="-120"/>
                        </a:rPr>
                        <a:t>2.063 s</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065A82"/>
                          </a:solidFill>
                          <a:latin typeface="Calibri" pitchFamily="34" charset="0"/>
                          <a:ea typeface="Calibri" pitchFamily="34" charset="-122"/>
                          <a:cs typeface="Calibri" pitchFamily="34" charset="-120"/>
                        </a:rPr>
                        <a:t>95%</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7" name="Text 4"/>
          <p:cNvSpPr/>
          <p:nvPr/>
        </p:nvSpPr>
        <p:spPr>
          <a:xfrm>
            <a:off x="777240" y="429768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288536"/>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Installing rules is linear</a:t>
            </a:r>
            <a:endParaRPr lang="en-US" sz="1550" dirty="0"/>
          </a:p>
        </p:txBody>
      </p:sp>
      <p:sp>
        <p:nvSpPr>
          <p:cNvPr id="9" name="Text 6"/>
          <p:cNvSpPr/>
          <p:nvPr/>
        </p:nvSpPr>
        <p:spPr>
          <a:xfrm>
            <a:off x="1106424" y="4626864"/>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16× the hosts, 14.7× the install. One rule per (switch, destination).</a:t>
            </a:r>
            <a:endParaRPr lang="en-US" sz="1250" dirty="0"/>
          </a:p>
        </p:txBody>
      </p:sp>
      <p:sp>
        <p:nvSpPr>
          <p:cNvPr id="10" name="Text 7"/>
          <p:cNvSpPr/>
          <p:nvPr/>
        </p:nvSpPr>
        <p:spPr>
          <a:xfrm>
            <a:off x="777240" y="53218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31266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Building the path table is super-quadratic</a:t>
            </a:r>
            <a:endParaRPr lang="en-US" sz="1550" dirty="0"/>
          </a:p>
        </p:txBody>
      </p:sp>
      <p:sp>
        <p:nvSpPr>
          <p:cNvPr id="12" name="Text 9"/>
          <p:cNvSpPr/>
          <p:nvPr/>
        </p:nvSpPr>
        <p:spPr>
          <a:xfrm>
            <a:off x="1106424" y="565099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same 16× costs 688×. One entry per ordered host pair — that is what “16,256 paths” has always meant.</a:t>
            </a:r>
            <a:endParaRPr lang="en-US" sz="1250" dirty="0"/>
          </a:p>
        </p:txBody>
      </p:sp>
      <p:sp>
        <p:nvSpPr>
          <p:cNvPr id="13" name="Shape 10"/>
          <p:cNvSpPr/>
          <p:nvPr/>
        </p:nvSpPr>
        <p:spPr>
          <a:xfrm>
            <a:off x="8001000" y="2066544"/>
            <a:ext cx="27432" cy="1188720"/>
          </a:xfrm>
          <a:prstGeom prst="rect">
            <a:avLst/>
          </a:prstGeom>
          <a:solidFill>
            <a:srgbClr val="065A82"/>
          </a:solidFill>
          <a:ln/>
        </p:spPr>
      </p:sp>
      <p:sp>
        <p:nvSpPr>
          <p:cNvPr id="14" name="Text 11"/>
          <p:cNvSpPr/>
          <p:nvPr/>
        </p:nvSpPr>
        <p:spPr>
          <a:xfrm>
            <a:off x="8202168" y="2029968"/>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variable per cell</a:t>
            </a:r>
            <a:endParaRPr lang="en-US" sz="1150" dirty="0"/>
          </a:p>
        </p:txBody>
      </p:sp>
      <p:sp>
        <p:nvSpPr>
          <p:cNvPr id="15" name="Text 12"/>
          <p:cNvSpPr/>
          <p:nvPr/>
        </p:nvSpPr>
        <p:spPr>
          <a:xfrm>
            <a:off x="8202168" y="2304288"/>
            <a:ext cx="3209544" cy="9144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Same live fabric in all five; only the topology model is swapped. Ten real switches, one noise floor.</a:t>
            </a:r>
            <a:endParaRPr lang="en-US" sz="1100" dirty="0"/>
          </a:p>
        </p:txBody>
      </p:sp>
      <p:sp>
        <p:nvSpPr>
          <p:cNvPr id="16" name="Shape 13"/>
          <p:cNvSpPr/>
          <p:nvPr/>
        </p:nvSpPr>
        <p:spPr>
          <a:xfrm>
            <a:off x="8001000" y="3456432"/>
            <a:ext cx="27432" cy="1417320"/>
          </a:xfrm>
          <a:prstGeom prst="rect">
            <a:avLst/>
          </a:prstGeom>
          <a:solidFill>
            <a:srgbClr val="065A82"/>
          </a:solidFill>
          <a:ln/>
        </p:spPr>
      </p:sp>
      <p:sp>
        <p:nvSpPr>
          <p:cNvPr id="17" name="Text 14"/>
          <p:cNvSpPr/>
          <p:nvPr/>
        </p:nvSpPr>
        <p:spPr>
          <a:xfrm>
            <a:off x="8202168" y="3419856"/>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So “routing is slow” has to be split</a:t>
            </a:r>
            <a:endParaRPr lang="en-US" sz="1150" dirty="0"/>
          </a:p>
        </p:txBody>
      </p:sp>
      <p:sp>
        <p:nvSpPr>
          <p:cNvPr id="18" name="Text 15"/>
          <p:cNvSpPr/>
          <p:nvPr/>
        </p:nvSpPr>
        <p:spPr>
          <a:xfrm>
            <a:off x="8202168" y="3694176"/>
            <a:ext cx="3209544" cy="11430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bookkeeping is slow, not the programming of the switches. At 128 hosts the recompute is 0.25 s once the host lookup is indexed.</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Sweep at 529e021; recompute re-measured at 4810e8f. Method: five sizes, one fabric, one variable.</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Ruling out the controller's topology read path</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The kernel re-reads three Ryu topology endpoints on every change — so all three were timed at both fabric sizes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903720" cy="914400"/>
        </p:xfrm>
        <a:graphic>
          <a:graphicData uri="http://schemas.openxmlformats.org/drawingml/2006/table">
            <a:tbl>
              <a:tblPr/>
              <a:tblGrid>
                <a:gridCol w="2331720"/>
                <a:gridCol w="1508760"/>
                <a:gridCol w="1508760"/>
                <a:gridCol w="777240"/>
                <a:gridCol w="7772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endpoint</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4 hosts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128 hosts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bytes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402336">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/v1.0/topology/switches</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0.461 ms / 4,158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1.127 ms / 17,154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2.44×</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4.13×</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402336">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/v1.0/topology/hosts</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0.346 ms / 812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1.225 ms / 26,345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065A82"/>
                          </a:solidFill>
                          <a:latin typeface="Calibri" pitchFamily="34" charset="0"/>
                          <a:ea typeface="Calibri" pitchFamily="34" charset="-122"/>
                          <a:cs typeface="Calibri" pitchFamily="34" charset="-120"/>
                        </a:rPr>
                        <a:t>3.54×</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065A82"/>
                          </a:solidFill>
                          <a:latin typeface="Calibri" pitchFamily="34" charset="0"/>
                          <a:ea typeface="Calibri" pitchFamily="34" charset="-122"/>
                          <a:cs typeface="Calibri" pitchFamily="34" charset="-120"/>
                        </a:rPr>
                        <a:t>32.44×</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/v1.0/topology/links</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0.449 ms / 7,176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0.797 ms / 7,176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1.78×</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7" name="Text 4"/>
          <p:cNvSpPr/>
          <p:nvPr/>
        </p:nvSpPr>
        <p:spPr>
          <a:xfrm>
            <a:off x="777240" y="39136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3904488"/>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Under 1.3 ms at both sizes</a:t>
            </a:r>
            <a:endParaRPr lang="en-US" sz="1550" dirty="0"/>
          </a:p>
        </p:txBody>
      </p:sp>
      <p:sp>
        <p:nvSpPr>
          <p:cNvPr id="9" name="Text 6"/>
          <p:cNvSpPr/>
          <p:nvPr/>
        </p:nvSpPr>
        <p:spPr>
          <a:xfrm>
            <a:off x="1106424" y="4242816"/>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Four orders of magnitude below the 51.75 s being explained.</a:t>
            </a:r>
            <a:endParaRPr lang="en-US" sz="1250" dirty="0"/>
          </a:p>
        </p:txBody>
      </p:sp>
      <p:sp>
        <p:nvSpPr>
          <p:cNvPr id="10" name="Text 7"/>
          <p:cNvSpPr/>
          <p:nvPr/>
        </p:nvSpPr>
        <p:spPr>
          <a:xfrm>
            <a:off x="777240" y="504748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03834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shape is wrong too — the stronger argument</a:t>
            </a:r>
            <a:endParaRPr lang="en-US" sz="1550" dirty="0"/>
          </a:p>
        </p:txBody>
      </p:sp>
      <p:sp>
        <p:nvSpPr>
          <p:cNvPr id="12" name="Text 9"/>
          <p:cNvSpPr/>
          <p:nvPr/>
        </p:nvSpPr>
        <p:spPr>
          <a:xfrm>
            <a:off x="1106424" y="537667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/hosts ships 32× the data for 3.5× the time. Sub-linear serialisation, the opposite of super-linear work on a bigger graph.</a:t>
            </a:r>
            <a:endParaRPr lang="en-US" sz="1250" dirty="0"/>
          </a:p>
        </p:txBody>
      </p:sp>
      <p:sp>
        <p:nvSpPr>
          <p:cNvPr id="13" name="Shape 10"/>
          <p:cNvSpPr/>
          <p:nvPr/>
        </p:nvSpPr>
        <p:spPr>
          <a:xfrm>
            <a:off x="8001000" y="2121408"/>
            <a:ext cx="27432" cy="137160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these hold</a:t>
            </a:r>
            <a:endParaRPr lang="en-US" sz="1150" dirty="0"/>
          </a:p>
        </p:txBody>
      </p:sp>
      <p:sp>
        <p:nvSpPr>
          <p:cNvPr id="15" name="Text 12"/>
          <p:cNvSpPr/>
          <p:nvPr/>
        </p:nvSpPr>
        <p:spPr>
          <a:xfrm>
            <a:off x="8202168" y="2359152"/>
            <a:ext cx="3209544" cy="10972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n = 20, median, first three discarded. Each cell separated by a full teardown — three different kernel pids, so nothing was inherited.</a:t>
            </a:r>
            <a:endParaRPr lang="en-US" sz="1100" dirty="0"/>
          </a:p>
        </p:txBody>
      </p:sp>
      <p:sp>
        <p:nvSpPr>
          <p:cNvPr id="16" name="Shape 13"/>
          <p:cNvSpPr/>
          <p:nvPr/>
        </p:nvSpPr>
        <p:spPr>
          <a:xfrm>
            <a:off x="8001000" y="3694176"/>
            <a:ext cx="27432" cy="1554480"/>
          </a:xfrm>
          <a:prstGeom prst="rect">
            <a:avLst/>
          </a:prstGeom>
          <a:solidFill>
            <a:srgbClr val="065A82"/>
          </a:solidFill>
          <a:ln/>
        </p:spPr>
      </p:sp>
      <p:sp>
        <p:nvSpPr>
          <p:cNvPr id="17" name="Text 14"/>
          <p:cNvSpPr/>
          <p:nvPr/>
        </p:nvSpPr>
        <p:spPr>
          <a:xfrm>
            <a:off x="8202168" y="3657600"/>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assertion missed what moved</a:t>
            </a:r>
            <a:endParaRPr lang="en-US" sz="1150" dirty="0"/>
          </a:p>
        </p:txBody>
      </p:sp>
      <p:sp>
        <p:nvSpPr>
          <p:cNvPr id="18" name="Text 15"/>
          <p:cNvSpPr/>
          <p:nvPr/>
        </p:nvSpPr>
        <p:spPr>
          <a:xfrm>
            <a:off x="8202168" y="3931920"/>
            <a:ext cx="3209544" cy="12801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A fourth endpoint was dropped: byte-identical at both sizes, because the small cell served a path table built for the large one. The probe asserted the host count — against an endpoint the path table is not derived from.</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Measured at d9f580b, reported at 2de67b7. Probe and raw JSON in doc/audit/2026-08-21_ryu-topology-scaling/.</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One constant, and what it did not change</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Detection is set by how often a port is probed, not by how much evidence is required — only the first of those was touched</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probe interval</a:t>
            </a:r>
            <a:endParaRPr lang="en-US" sz="1550" dirty="0"/>
          </a:p>
        </p:txBody>
      </p:sp>
      <p:sp>
        <p:nvSpPr>
          <p:cNvPr id="8" name="Text 6"/>
          <p:cNvSpPr/>
          <p:nvPr/>
        </p:nvSpPr>
        <p:spPr>
          <a:xfrm>
            <a:off x="1106424" y="2414016"/>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0.05 → 0.01. Ryu probes every port in turn and sleeps between sends, so the gap between two probes of one port is port-count × guard. At 160 ports: 44.9 s, then 11.5 s.</a:t>
            </a:r>
            <a:endParaRPr lang="en-US" sz="1250" dirty="0"/>
          </a:p>
        </p:txBody>
      </p:sp>
      <p:sp>
        <p:nvSpPr>
          <p:cNvPr id="9" name="Text 7"/>
          <p:cNvSpPr/>
          <p:nvPr/>
        </p:nvSpPr>
        <p:spPr>
          <a:xfrm>
            <a:off x="777240" y="338328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374136"/>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recompute</a:t>
            </a:r>
            <a:endParaRPr lang="en-US" sz="1550" dirty="0"/>
          </a:p>
        </p:txBody>
      </p:sp>
      <p:sp>
        <p:nvSpPr>
          <p:cNvPr id="11" name="Text 9"/>
          <p:cNvSpPr/>
          <p:nvPr/>
        </p:nvSpPr>
        <p:spPr>
          <a:xfrm>
            <a:off x="1106424" y="3712464"/>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Host lookup indexed, cache token made O(1). The walk goes 2.17 s → 0.25 s.</a:t>
            </a:r>
            <a:endParaRPr lang="en-US" sz="1250" dirty="0"/>
          </a:p>
        </p:txBody>
      </p:sp>
      <p:sp>
        <p:nvSpPr>
          <p:cNvPr id="12" name="Text 10"/>
          <p:cNvSpPr/>
          <p:nvPr/>
        </p:nvSpPr>
        <p:spPr>
          <a:xfrm>
            <a:off x="777240" y="46817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67258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spare lever, left off by default</a:t>
            </a:r>
            <a:endParaRPr lang="en-US" sz="1550" dirty="0"/>
          </a:p>
        </p:txBody>
      </p:sp>
      <p:sp>
        <p:nvSpPr>
          <p:cNvPr id="14" name="Text 12"/>
          <p:cNvSpPr/>
          <p:nvPr/>
        </p:nvSpPr>
        <p:spPr>
          <a:xfrm>
            <a:off x="1106424" y="501091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Ports that never answer LLDP can be probed once every N rounds, so detection scales with switches, not ports.</a:t>
            </a:r>
            <a:endParaRPr lang="en-US" sz="1250" dirty="0"/>
          </a:p>
        </p:txBody>
      </p:sp>
      <p:sp>
        <p:nvSpPr>
          <p:cNvPr id="15" name="Shape 13"/>
          <p:cNvSpPr/>
          <p:nvPr/>
        </p:nvSpPr>
        <p:spPr>
          <a:xfrm>
            <a:off x="7818120" y="2121408"/>
            <a:ext cx="27432" cy="1737360"/>
          </a:xfrm>
          <a:prstGeom prst="rect">
            <a:avLst/>
          </a:prstGeom>
          <a:solidFill>
            <a:srgbClr val="065A82"/>
          </a:solidFill>
          <a:ln/>
        </p:spPr>
      </p:sp>
      <p:sp>
        <p:nvSpPr>
          <p:cNvPr id="16" name="Text 14"/>
          <p:cNvSpPr/>
          <p:nvPr/>
        </p:nvSpPr>
        <p:spPr>
          <a:xfrm>
            <a:off x="8019288" y="2084832"/>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threshold is untouched</a:t>
            </a:r>
            <a:endParaRPr lang="en-US" sz="1150" dirty="0"/>
          </a:p>
        </p:txBody>
      </p:sp>
      <p:sp>
        <p:nvSpPr>
          <p:cNvPr id="17" name="Text 15"/>
          <p:cNvSpPr/>
          <p:nvPr/>
        </p:nvSpPr>
        <p:spPr>
          <a:xfrm>
            <a:off x="8019288" y="2359152"/>
            <a:ext cx="3392424" cy="14630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Still six consecutive misses before a link is called dead. The other lever — dropping that to two — reaches the same number by accepting weaker evidence. That contrast is the point of this page.</a:t>
            </a:r>
            <a:endParaRPr lang="en-US" sz="1100" dirty="0"/>
          </a:p>
        </p:txBody>
      </p:sp>
      <p:sp>
        <p:nvSpPr>
          <p:cNvPr id="18" name="Shape 16"/>
          <p:cNvSpPr/>
          <p:nvPr/>
        </p:nvSpPr>
        <p:spPr>
          <a:xfrm>
            <a:off x="7818120" y="4096512"/>
            <a:ext cx="27432" cy="1737360"/>
          </a:xfrm>
          <a:prstGeom prst="rect">
            <a:avLst/>
          </a:prstGeom>
          <a:solidFill>
            <a:srgbClr val="065A82"/>
          </a:solidFill>
          <a:ln/>
        </p:spPr>
      </p:sp>
      <p:sp>
        <p:nvSpPr>
          <p:cNvPr id="19" name="Text 17"/>
          <p:cNvSpPr/>
          <p:nvPr/>
        </p:nvSpPr>
        <p:spPr>
          <a:xfrm>
            <a:off x="8019288" y="4059936"/>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Judged on false positives, as promised</a:t>
            </a:r>
            <a:endParaRPr lang="en-US" sz="1150" dirty="0"/>
          </a:p>
        </p:txBody>
      </p:sp>
      <p:sp>
        <p:nvSpPr>
          <p:cNvPr id="20" name="Text 18"/>
          <p:cNvSpPr/>
          <p:nvPr/>
        </p:nvSpPr>
        <p:spPr>
          <a:xfrm>
            <a:off x="8019288" y="4334256"/>
            <a:ext cx="3392424" cy="14630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Three cells, 20 minutes idle each, ~48,000 probe opportunities per window: zero links deleted, zero topology-changed events — and every cell still caught a real injected failure.</a:t>
            </a:r>
            <a:endParaRPr lang="en-US" sz="1100" dirty="0"/>
          </a:p>
        </p:txBody>
      </p:sp>
      <p:sp>
        <p:nvSpPr>
          <p:cNvPr id="21" name="Text 19"/>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Detection at 07ae07c. Idle only — the loaded case is not measured, and neither default has been changed.</a:t>
            </a:r>
            <a:endParaRPr lang="en-US" sz="1000" dirty="0"/>
          </a:p>
        </p:txBody>
      </p:sp>
      <p:sp>
        <p:nvSpPr>
          <p:cNvPr id="22" name="Text 20"/>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ovs-before-after.png">    </p:cNvPr>
          <p:cNvPicPr>
            <a:picLocks noChangeAspect="1"/>
          </p:cNvPicPr>
          <p:nvPr/>
        </p:nvPicPr>
        <p:blipFill>
          <a:blip r:embed="rId1"/>
          <a:stretch>
            <a:fillRect/>
          </a:stretch>
        </p:blipFill>
        <p:spPr>
          <a:xfrm>
            <a:off x="550012" y="923734"/>
            <a:ext cx="11091672" cy="5083683"/>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ovs-vs-bmv2-after.png">    </p:cNvPr>
          <p:cNvPicPr>
            <a:picLocks noChangeAspect="1"/>
          </p:cNvPicPr>
          <p:nvPr/>
        </p:nvPicPr>
        <p:blipFill>
          <a:blip r:embed="rId1"/>
          <a:stretch>
            <a:fillRect/>
          </a:stretch>
        </p:blipFill>
        <p:spPr>
          <a:xfrm>
            <a:off x="733488" y="896112"/>
            <a:ext cx="10724719"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Which bmv2 produced which number</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Both builds answer --version with the same string — so this page identifies them by what actually differs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903720" cy="914400"/>
        </p:xfrm>
        <a:graphic>
          <a:graphicData uri="http://schemas.openxmlformats.org/drawingml/2006/table">
            <a:tbl>
              <a:tblPr/>
              <a:tblGrid>
                <a:gridCol w="1874520"/>
                <a:gridCol w="2514600"/>
                <a:gridCol w="2514600"/>
              </a:tblGrid>
              <a:tr h="292608">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stock</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path</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ourier New" pitchFamily="34" charset="0"/>
                          <a:ea typeface="Courier New" pitchFamily="34" charset="-122"/>
                          <a:cs typeface="Courier New" pitchFamily="34" charset="-120"/>
                        </a:rPr>
                        <a:t>/usr/local/bin/</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ourier New" pitchFamily="34" charset="0"/>
                          <a:ea typeface="Courier New" pitchFamily="34" charset="-122"/>
                          <a:cs typeface="Courier New" pitchFamily="34" charset="-120"/>
                        </a:rPr>
                        <a:t>/usr/local/bmv2-fast/bin/</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--version</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dirty="0">
                          <a:solidFill>
                            <a:srgbClr val="2E2E2E"/>
                          </a:solidFill>
                          <a:latin typeface="Courier New" pitchFamily="34" charset="0"/>
                          <a:ea typeface="Courier New" pitchFamily="34" charset="-122"/>
                          <a:cs typeface="Courier New" pitchFamily="34" charset="-120"/>
                        </a:rPr>
                        <a:t>1.15.3-f0b7d201</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b="1" dirty="0">
                          <a:solidFill>
                            <a:srgbClr val="9C3B2E"/>
                          </a:solidFill>
                          <a:latin typeface="Courier New" pitchFamily="34" charset="0"/>
                          <a:ea typeface="Courier New" pitchFamily="34" charset="-122"/>
                          <a:cs typeface="Courier New" pitchFamily="34" charset="-120"/>
                        </a:rPr>
                        <a:t>1.15.3-f0b7d201  ← same</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sha256</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b="1" dirty="0">
                          <a:solidFill>
                            <a:srgbClr val="065A82"/>
                          </a:solidFill>
                          <a:latin typeface="Courier New" pitchFamily="34" charset="0"/>
                          <a:ea typeface="Courier New" pitchFamily="34" charset="-122"/>
                          <a:cs typeface="Courier New" pitchFamily="34" charset="-120"/>
                        </a:rPr>
                        <a:t>327fa7d1…</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b="1" dirty="0">
                          <a:solidFill>
                            <a:srgbClr val="065A82"/>
                          </a:solidFill>
                          <a:latin typeface="Courier New" pitchFamily="34" charset="0"/>
                          <a:ea typeface="Courier New" pitchFamily="34" charset="-122"/>
                          <a:cs typeface="Courier New" pitchFamily="34" charset="-120"/>
                        </a:rPr>
                        <a:t>3ff54b5c…</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size</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9,576,568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92,147,960 B</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build</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ourier New" pitchFamily="34" charset="0"/>
                          <a:ea typeface="Courier New" pitchFamily="34" charset="-122"/>
                          <a:cs typeface="Courier New" pitchFamily="34" charset="-120"/>
                        </a:rPr>
                        <a:t>-O0 -g, logging on</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ourier New" pitchFamily="34" charset="0"/>
                          <a:ea typeface="Courier New" pitchFamily="34" charset="-122"/>
                          <a:cs typeface="Courier New" pitchFamily="34" charset="-120"/>
                        </a:rPr>
                        <a:t>-O3 -march=native, logging off</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10896">
                <a:tc>
                  <a:txBody>
                    <a:bodyPr/>
                    <a:lstStyle/>
                    <a:p>
                      <a:pPr indent="0" marL="0">
                        <a:buNone/>
                      </a:pPr>
                      <a:r>
                        <a:rPr lang="en-US" sz="1000" b="1" dirty="0">
                          <a:solidFill>
                            <a:srgbClr val="1A1A1A"/>
                          </a:solidFill>
                          <a:latin typeface="Courier New" pitchFamily="34" charset="0"/>
                          <a:ea typeface="Courier New" pitchFamily="34" charset="-122"/>
                          <a:cs typeface="Courier New" pitchFamily="34" charset="-120"/>
                        </a:rPr>
                        <a:t>measured</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~40 Mbps / 3.6k pps</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065A82"/>
                          </a:solidFill>
                          <a:latin typeface="Calibri" pitchFamily="34" charset="0"/>
                          <a:ea typeface="Calibri" pitchFamily="34" charset="-122"/>
                          <a:cs typeface="Calibri" pitchFamily="34" charset="-120"/>
                        </a:rPr>
                        <a:t>460–530 Mbps / 50.8k pps</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4074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39826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Identify by hash, not by version string</a:t>
            </a:r>
            <a:endParaRPr lang="en-US" sz="1550" dirty="0"/>
          </a:p>
        </p:txBody>
      </p:sp>
      <p:sp>
        <p:nvSpPr>
          <p:cNvPr id="9" name="Text 6"/>
          <p:cNvSpPr/>
          <p:nvPr/>
        </p:nvSpPr>
        <p:spPr>
          <a:xfrm>
            <a:off x="1106424" y="473659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sha256, BuildID and size separate the two; --version does not.</a:t>
            </a:r>
            <a:endParaRPr lang="en-US" sz="1250" dirty="0"/>
          </a:p>
        </p:txBody>
      </p:sp>
      <p:sp>
        <p:nvSpPr>
          <p:cNvPr id="10" name="Text 7"/>
          <p:cNvSpPr/>
          <p:nvPr/>
        </p:nvSpPr>
        <p:spPr>
          <a:xfrm>
            <a:off x="777240" y="541324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40410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Past -O3 numbers can be attributed backwards</a:t>
            </a:r>
            <a:endParaRPr lang="en-US" sz="1550" dirty="0"/>
          </a:p>
        </p:txBody>
      </p:sp>
      <p:sp>
        <p:nvSpPr>
          <p:cNvPr id="12" name="Text 9"/>
          <p:cNvSpPr/>
          <p:nvPr/>
        </p:nvSpPr>
        <p:spPr>
          <a:xfrm>
            <a:off x="1106424" y="574243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source SHA is inside the binary's own --version, and that tree is still on disk — so an earlier report calling the -O3 cell unpinnable was wrong.</a:t>
            </a:r>
            <a:endParaRPr lang="en-US" sz="1250" dirty="0"/>
          </a:p>
        </p:txBody>
      </p:sp>
      <p:sp>
        <p:nvSpPr>
          <p:cNvPr id="13" name="Shape 10"/>
          <p:cNvSpPr/>
          <p:nvPr/>
        </p:nvSpPr>
        <p:spPr>
          <a:xfrm>
            <a:off x="8001000" y="2121408"/>
            <a:ext cx="27432" cy="173736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prerequisite, not the test</a:t>
            </a:r>
            <a:endParaRPr lang="en-US" sz="1150" dirty="0"/>
          </a:p>
        </p:txBody>
      </p:sp>
      <p:sp>
        <p:nvSpPr>
          <p:cNvPr id="15" name="Text 12"/>
          <p:cNvSpPr/>
          <p:nvPr/>
        </p:nvSpPr>
        <p:spPr>
          <a:xfrm>
            <a:off x="8202168" y="2359152"/>
            <a:ext cx="3209544" cy="14630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criterion was that the whole L0–L4 suite passes on the fast build. It has not been run. What exists now is the thing that had to come first — being able to say which binary produced a number.</a:t>
            </a:r>
            <a:endParaRPr lang="en-US" sz="1100" dirty="0"/>
          </a:p>
        </p:txBody>
      </p:sp>
      <p:sp>
        <p:nvSpPr>
          <p:cNvPr id="16" name="Shape 13"/>
          <p:cNvSpPr/>
          <p:nvPr/>
        </p:nvSpPr>
        <p:spPr>
          <a:xfrm>
            <a:off x="8001000" y="4096512"/>
            <a:ext cx="27432" cy="1143000"/>
          </a:xfrm>
          <a:prstGeom prst="rect">
            <a:avLst/>
          </a:prstGeom>
          <a:solidFill>
            <a:srgbClr val="065A82"/>
          </a:solidFill>
          <a:ln/>
        </p:spPr>
      </p:sp>
      <p:sp>
        <p:nvSpPr>
          <p:cNvPr id="17" name="Text 14"/>
          <p:cNvSpPr/>
          <p:nvPr/>
        </p:nvSpPr>
        <p:spPr>
          <a:xfrm>
            <a:off x="8202168" y="4059936"/>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seam, not two</a:t>
            </a:r>
            <a:endParaRPr lang="en-US" sz="1150" dirty="0"/>
          </a:p>
        </p:txBody>
      </p:sp>
      <p:sp>
        <p:nvSpPr>
          <p:cNvPr id="18" name="Text 15"/>
          <p:cNvSpPr/>
          <p:nvPr/>
        </p:nvSpPr>
        <p:spPr>
          <a:xfrm>
            <a:off x="8202168" y="4334256"/>
            <a:ext cx="3209544" cy="8686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Choosing a binary happens in one place, shared by both topologies.</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Provenance at 2c8486a, measured at d9f580b.</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sampling-tradeoff.png">    </p:cNvPr>
          <p:cNvPicPr>
            <a:picLocks noChangeAspect="1"/>
          </p:cNvPicPr>
          <p:nvPr/>
        </p:nvPicPr>
        <p:blipFill>
          <a:blip r:embed="rId1"/>
          <a:stretch>
            <a:fillRect/>
          </a:stretch>
        </p:blipFill>
        <p:spPr>
          <a:xfrm>
            <a:off x="550012" y="1101777"/>
            <a:ext cx="11091672" cy="472759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ladder-across-rates.png">    </p:cNvPr>
          <p:cNvPicPr>
            <a:picLocks noChangeAspect="1"/>
          </p:cNvPicPr>
          <p:nvPr/>
        </p:nvPicPr>
        <p:blipFill>
          <a:blip r:embed="rId1"/>
          <a:stretch>
            <a:fillRect/>
          </a:stretch>
        </p:blipFill>
        <p:spPr>
          <a:xfrm>
            <a:off x="550012" y="1148730"/>
            <a:ext cx="11091672" cy="4633692"/>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sampling-ceiling.png">    </p:cNvPr>
          <p:cNvPicPr>
            <a:picLocks noChangeAspect="1"/>
          </p:cNvPicPr>
          <p:nvPr/>
        </p:nvPicPr>
        <p:blipFill>
          <a:blip r:embed="rId1"/>
          <a:stretch>
            <a:fillRect/>
          </a:stretch>
        </p:blipFill>
        <p:spPr>
          <a:xfrm>
            <a:off x="550012" y="1148730"/>
            <a:ext cx="11091672" cy="4633692"/>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who-is-the-bottleneck.png">    </p:cNvPr>
          <p:cNvPicPr>
            <a:picLocks noChangeAspect="1"/>
          </p:cNvPicPr>
          <p:nvPr/>
        </p:nvPicPr>
        <p:blipFill>
          <a:blip r:embed="rId1"/>
          <a:stretch>
            <a:fillRect/>
          </a:stretch>
        </p:blipFill>
        <p:spPr>
          <a:xfrm>
            <a:off x="550012" y="1148730"/>
            <a:ext cx="11091672" cy="4633692"/>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where-the-cpu-goes.png">    </p:cNvPr>
          <p:cNvPicPr>
            <a:picLocks noChangeAspect="1"/>
          </p:cNvPicPr>
          <p:nvPr/>
        </p:nvPicPr>
        <p:blipFill>
          <a:blip r:embed="rId1"/>
          <a:stretch>
            <a:fillRect/>
          </a:stretch>
        </p:blipFill>
        <p:spPr>
          <a:xfrm>
            <a:off x="1115040" y="896112"/>
            <a:ext cx="9961614"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matrix-decomposition.png">    </p:cNvPr>
          <p:cNvPicPr>
            <a:picLocks noChangeAspect="1"/>
          </p:cNvPicPr>
          <p:nvPr/>
        </p:nvPicPr>
        <p:blipFill>
          <a:blip r:embed="rId1"/>
          <a:stretch>
            <a:fillRect/>
          </a:stretch>
        </p:blipFill>
        <p:spPr>
          <a:xfrm>
            <a:off x="550012" y="1076600"/>
            <a:ext cx="11091672" cy="4777951"/>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45-point thread is not sampling cost</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Named from the kernel log of the same boot, not from a thread-id offset — 32× more samples move it by 1%</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903720" cy="914400"/>
        </p:xfrm>
        <a:graphic>
          <a:graphicData uri="http://schemas.openxmlformats.org/drawingml/2006/table">
            <a:tbl>
              <a:tblPr/>
              <a:tblGrid>
                <a:gridCol w="2880360"/>
                <a:gridCol w="1234440"/>
                <a:gridCol w="1234440"/>
                <a:gridCol w="15544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thread</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1/1024</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is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65760">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calFlowPathByQueried</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b="1" dirty="0">
                          <a:solidFill>
                            <a:srgbClr val="9C3B2E"/>
                          </a:solidFill>
                          <a:latin typeface="Calibri" pitchFamily="34" charset="0"/>
                          <a:ea typeface="Calibri" pitchFamily="34" charset="-122"/>
                          <a:cs typeface="Calibri" pitchFamily="34" charset="-120"/>
                        </a:rPr>
                        <a:t>46.31%</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b="1" dirty="0">
                          <a:solidFill>
                            <a:srgbClr val="9C3B2E"/>
                          </a:solidFill>
                          <a:latin typeface="Calibri" pitchFamily="34" charset="0"/>
                          <a:ea typeface="Calibri" pitchFamily="34" charset="-122"/>
                          <a:cs typeface="Calibri" pitchFamily="34" charset="-120"/>
                        </a:rPr>
                        <a:t>46.84%</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alibri" pitchFamily="34" charset="0"/>
                          <a:ea typeface="Calibri" pitchFamily="34" charset="-122"/>
                          <a:cs typeface="Calibri" pitchFamily="34" charset="-120"/>
                        </a:rPr>
                        <a:t>a 1 kHz path recompute</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65760">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run</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3.98%</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065A82"/>
                          </a:solidFill>
                          <a:latin typeface="Calibri" pitchFamily="34" charset="0"/>
                          <a:ea typeface="Calibri" pitchFamily="34" charset="-122"/>
                          <a:cs typeface="Calibri" pitchFamily="34" charset="-120"/>
                        </a:rPr>
                        <a:t>13.86%</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dirty="0">
                          <a:solidFill>
                            <a:srgbClr val="2E2E2E"/>
                          </a:solidFill>
                          <a:latin typeface="Calibri" pitchFamily="34" charset="0"/>
                          <a:ea typeface="Calibri" pitchFamily="34" charset="-122"/>
                          <a:cs typeface="Calibri" pitchFamily="34" charset="-120"/>
                        </a:rPr>
                        <a:t>the sFlow ingest</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1A1A"/>
                          </a:solidFill>
                          <a:latin typeface="Courier New" pitchFamily="34" charset="0"/>
                          <a:ea typeface="Courier New" pitchFamily="34" charset="-122"/>
                          <a:cs typeface="Courier New" pitchFamily="34" charset="-120"/>
                        </a:rPr>
                        <a:t>testCalAvgFlowSendingRates…</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2E2E2E"/>
                          </a:solidFill>
                          <a:latin typeface="Calibri" pitchFamily="34" charset="0"/>
                          <a:ea typeface="Calibri" pitchFamily="34" charset="-122"/>
                          <a:cs typeface="Calibri" pitchFamily="34" charset="-120"/>
                        </a:rPr>
                        <a:t>never runs</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65760">
                <a:tc>
                  <a:txBody>
                    <a:bodyPr/>
                    <a:lstStyle/>
                    <a:p>
                      <a:pPr indent="0" marL="0">
                        <a:buNone/>
                      </a:pPr>
                      <a:r>
                        <a:rPr lang="en-US" sz="950" b="1" dirty="0">
                          <a:solidFill>
                            <a:srgbClr val="1A1A1A"/>
                          </a:solidFill>
                          <a:latin typeface="Courier New" pitchFamily="34" charset="0"/>
                          <a:ea typeface="Courier New" pitchFamily="34" charset="-122"/>
                          <a:cs typeface="Courier New" pitchFamily="34" charset="-120"/>
                        </a:rPr>
                        <a:t>purgeIdleFlows</a:t>
                      </a:r>
                      <a:endParaRPr lang="en-US" sz="950" dirty="0">
                        <a:latin typeface="Courier New" charset="0"/>
                        <a:ea typeface="Courier New" charset="0"/>
                        <a:cs typeface="Courier New"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dirty="0">
                          <a:solidFill>
                            <a:srgbClr val="2E2E2E"/>
                          </a:solidFill>
                          <a:latin typeface="Calibri" pitchFamily="34" charset="0"/>
                          <a:ea typeface="Calibri" pitchFamily="34" charset="-122"/>
                          <a:cs typeface="Calibri" pitchFamily="34" charset="-120"/>
                        </a:rPr>
                        <a:t>never runs</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04164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03250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Thirty-two times the samples moves it by one percent</a:t>
            </a:r>
            <a:endParaRPr lang="en-US" sz="1550" dirty="0"/>
          </a:p>
        </p:txBody>
      </p:sp>
      <p:sp>
        <p:nvSpPr>
          <p:cNvPr id="9" name="Text 6"/>
          <p:cNvSpPr/>
          <p:nvPr/>
        </p:nvSpPr>
        <p:spPr>
          <a:xfrm>
            <a:off x="1106424" y="437083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So those 45 points have nothing to do with sampling. It is a full path recompute running at 1 kHz — and it is inherited: present at 28b8b13.</a:t>
            </a:r>
            <a:endParaRPr lang="en-US" sz="1250" dirty="0"/>
          </a:p>
        </p:txBody>
      </p:sp>
      <p:sp>
        <p:nvSpPr>
          <p:cNvPr id="10" name="Text 7"/>
          <p:cNvSpPr/>
          <p:nvPr/>
        </p:nvSpPr>
        <p:spPr>
          <a:xfrm>
            <a:off x="777240" y="517550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16636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ingest thread is the one that scales</a:t>
            </a:r>
            <a:endParaRPr lang="en-US" sz="1550" dirty="0"/>
          </a:p>
        </p:txBody>
      </p:sp>
      <p:sp>
        <p:nvSpPr>
          <p:cNvPr id="12" name="Text 9"/>
          <p:cNvSpPr/>
          <p:nvPr/>
        </p:nvSpPr>
        <p:spPr>
          <a:xfrm>
            <a:off x="1106424" y="5504688"/>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3.98% → 13.86%, a factor of 3.48 as the sample rate rises. That is what sampling actually costs inside the kernel.</a:t>
            </a:r>
            <a:endParaRPr lang="en-US" sz="1250" dirty="0"/>
          </a:p>
        </p:txBody>
      </p:sp>
      <p:sp>
        <p:nvSpPr>
          <p:cNvPr id="13" name="Shape 10"/>
          <p:cNvSpPr/>
          <p:nvPr/>
        </p:nvSpPr>
        <p:spPr>
          <a:xfrm>
            <a:off x="8001000" y="2121408"/>
            <a:ext cx="27432" cy="173736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the threads could be named at all</a:t>
            </a:r>
            <a:endParaRPr lang="en-US" sz="1150" dirty="0"/>
          </a:p>
        </p:txBody>
      </p:sp>
      <p:sp>
        <p:nvSpPr>
          <p:cNvPr id="15" name="Text 12"/>
          <p:cNvSpPr/>
          <p:nvPr/>
        </p:nvSpPr>
        <p:spPr>
          <a:xfrm>
            <a:off x="8202168" y="2359152"/>
            <a:ext cx="3209544" cy="14630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Both the CPU trace and the kernel log come from the same boot. The earlier round archived no log, and the thread-id offset moves between builds — so those traces can never be mapped back to names.</a:t>
            </a:r>
            <a:endParaRPr lang="en-US" sz="1100" dirty="0"/>
          </a:p>
        </p:txBody>
      </p:sp>
      <p:sp>
        <p:nvSpPr>
          <p:cNvPr id="16" name="Text 13"/>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Measured at 8c0516d. 46.31% falls between the 45.0 and 46.6 published on 20 August — an independent check on the unit conversion.</a:t>
            </a:r>
            <a:endParaRPr lang="en-US" sz="1000" dirty="0"/>
          </a:p>
        </p:txBody>
      </p:sp>
      <p:sp>
        <p:nvSpPr>
          <p:cNvPr id="17" name="Text 1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iperf-competes.png">    </p:cNvPr>
          <p:cNvPicPr>
            <a:picLocks noChangeAspect="1"/>
          </p:cNvPicPr>
          <p:nvPr/>
        </p:nvPicPr>
        <p:blipFill>
          <a:blip r:embed="rId1"/>
          <a:stretch>
            <a:fillRect/>
          </a:stretch>
        </p:blipFill>
        <p:spPr>
          <a:xfrm>
            <a:off x="1288463" y="896112"/>
            <a:ext cx="9614769"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api-concurrency-envelope.png">    </p:cNvPr>
          <p:cNvPicPr>
            <a:picLocks noChangeAspect="1"/>
          </p:cNvPicPr>
          <p:nvPr/>
        </p:nvPicPr>
        <p:blipFill>
          <a:blip r:embed="rId1"/>
          <a:stretch>
            <a:fillRect/>
          </a:stretch>
        </p:blipFill>
        <p:spPr>
          <a:xfrm>
            <a:off x="550012" y="1122938"/>
            <a:ext cx="11091672" cy="4685275"/>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pic>
        <p:nvPicPr>
          <p:cNvPr id="3" name="Image 0" descr="/sessions/hopeful-sharp-hopper/mnt/NDTwin slide material 827/figures/page_ladder-inherited.png">    </p:cNvPr>
          <p:cNvPicPr>
            <a:picLocks noChangeAspect="1"/>
          </p:cNvPicPr>
          <p:nvPr/>
        </p:nvPicPr>
        <p:blipFill>
          <a:blip r:embed="rId1"/>
          <a:stretch>
            <a:fillRect/>
          </a:stretch>
        </p:blipFill>
        <p:spPr>
          <a:xfrm>
            <a:off x="550012" y="937327"/>
            <a:ext cx="11091672" cy="505649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Under concurrency, the twin reads high</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Every 128-host measurement until now carried one flow and loaded three switches in ten — this one loads all ten</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903720" cy="914400"/>
        </p:xfrm>
        <a:graphic>
          <a:graphicData uri="http://schemas.openxmlformats.org/drawingml/2006/table">
            <a:tbl>
              <a:tblPr/>
              <a:tblGrid>
                <a:gridCol w="2148840"/>
                <a:gridCol w="1600200"/>
                <a:gridCol w="1600200"/>
                <a:gridCol w="15544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edge class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 measured</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recounted</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edges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host → switch</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1.26×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62 of 122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switch → host</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1.41×</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62 of 128</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switch → switch</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1.26×</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b="1" dirty="0">
                          <a:solidFill>
                            <a:srgbClr val="9C3B2E"/>
                          </a:solidFill>
                          <a:latin typeface="Calibri" pitchFamily="34" charset="0"/>
                          <a:ea typeface="Calibri" pitchFamily="34" charset="-122"/>
                          <a:cs typeface="Calibri" pitchFamily="34" charset="-120"/>
                        </a:rPr>
                        <a:t>1.33×</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2E2E2E"/>
                          </a:solidFill>
                          <a:latin typeface="Calibri" pitchFamily="34" charset="0"/>
                          <a:ea typeface="Calibri" pitchFamily="34" charset="-122"/>
                          <a:cs typeface="Calibri" pitchFamily="34" charset="-120"/>
                        </a:rPr>
                        <a:t>8 of 32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8404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OVS, 64 flows</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b="1" dirty="0">
                          <a:solidFill>
                            <a:srgbClr val="065A82"/>
                          </a:solidFill>
                          <a:latin typeface="Calibri" pitchFamily="34" charset="0"/>
                          <a:ea typeface="Calibri" pitchFamily="34" charset="-122"/>
                          <a:cs typeface="Calibri" pitchFamily="34" charset="-120"/>
                        </a:rPr>
                        <a:t>flat to 0.2%</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dirty="0">
                          <a:solidFill>
                            <a:srgbClr val="2E2E2E"/>
                          </a:solidFill>
                          <a:latin typeface="Calibri" pitchFamily="34" charset="0"/>
                          <a:ea typeface="Calibri" pitchFamily="34" charset="-122"/>
                          <a:cs typeface="Calibri" pitchFamily="34" charset="-120"/>
                        </a:rPr>
                        <a:t>all three classes</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20624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197096"/>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High on every edge class, well past the noise</a:t>
            </a:r>
            <a:endParaRPr lang="en-US" sz="1550" dirty="0"/>
          </a:p>
        </p:txBody>
      </p:sp>
      <p:sp>
        <p:nvSpPr>
          <p:cNvPr id="9" name="Text 6"/>
          <p:cNvSpPr/>
          <p:nvPr/>
        </p:nvSpPr>
        <p:spPr>
          <a:xfrm>
            <a:off x="1106424" y="4535424"/>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aggregate sampling error floor here is 1.7–2.9%. Twenty-plus points is not it — and four rounds all point the same way.</a:t>
            </a:r>
            <a:endParaRPr lang="en-US" sz="1250" dirty="0"/>
          </a:p>
        </p:txBody>
      </p:sp>
      <p:sp>
        <p:nvSpPr>
          <p:cNvPr id="10" name="Text 7"/>
          <p:cNvSpPr/>
          <p:nvPr/>
        </p:nvSpPr>
        <p:spPr>
          <a:xfrm>
            <a:off x="777240" y="52669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25780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Recounted from the raw with a different method</a:t>
            </a:r>
            <a:endParaRPr lang="en-US" sz="1550" dirty="0"/>
          </a:p>
        </p:txBody>
      </p:sp>
      <p:sp>
        <p:nvSpPr>
          <p:cNvPr id="12" name="Text 9"/>
          <p:cNvSpPr/>
          <p:nvPr/>
        </p:nvSpPr>
        <p:spPr>
          <a:xfrm>
            <a:off x="1106424" y="5596128"/>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Different windows, an independently written interface mapping, no filtering of edges: same direction, same size, same ordering of the three classes.</a:t>
            </a:r>
            <a:endParaRPr lang="en-US" sz="1250" dirty="0"/>
          </a:p>
        </p:txBody>
      </p:sp>
      <p:sp>
        <p:nvSpPr>
          <p:cNvPr id="13" name="Shape 10"/>
          <p:cNvSpPr/>
          <p:nvPr/>
        </p:nvSpPr>
        <p:spPr>
          <a:xfrm>
            <a:off x="8001000" y="2121408"/>
            <a:ext cx="27432" cy="146304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a single ratio is not quoted</a:t>
            </a:r>
            <a:endParaRPr lang="en-US" sz="1150" dirty="0"/>
          </a:p>
        </p:txBody>
      </p:sp>
      <p:sp>
        <p:nvSpPr>
          <p:cNvPr id="15" name="Text 12"/>
          <p:cNvSpPr/>
          <p:nvPr/>
        </p:nvSpPr>
        <p:spPr>
          <a:xfrm>
            <a:off x="8202168" y="2359152"/>
            <a:ext cx="3209544" cy="118872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Sixteen flows, same settings, two fabric generations: 1.19 on one and 1.03–1.05 on the other. Within one generation the repeats agree to four decimals, so that 14% is not run-to-run noise — it is unexplained. Ratios from different generations are never divided.</a:t>
            </a:r>
            <a:endParaRPr lang="en-US" sz="1100" dirty="0"/>
          </a:p>
        </p:txBody>
      </p:sp>
      <p:sp>
        <p:nvSpPr>
          <p:cNvPr id="16" name="Shape 13"/>
          <p:cNvSpPr/>
          <p:nvPr/>
        </p:nvSpPr>
        <p:spPr>
          <a:xfrm>
            <a:off x="8001000" y="3803904"/>
            <a:ext cx="27432" cy="1874520"/>
          </a:xfrm>
          <a:prstGeom prst="rect">
            <a:avLst/>
          </a:prstGeom>
          <a:solidFill>
            <a:srgbClr val="065A82"/>
          </a:solidFill>
          <a:ln/>
        </p:spPr>
      </p:sp>
      <p:sp>
        <p:nvSpPr>
          <p:cNvPr id="17" name="Text 14"/>
          <p:cNvSpPr/>
          <p:nvPr/>
        </p:nvSpPr>
        <p:spPr>
          <a:xfrm>
            <a:off x="8202168" y="3767328"/>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What this does not show</a:t>
            </a:r>
            <a:endParaRPr lang="en-US" sz="1150" dirty="0"/>
          </a:p>
        </p:txBody>
      </p:sp>
      <p:sp>
        <p:nvSpPr>
          <p:cNvPr id="18" name="Text 15"/>
          <p:cNvSpPr/>
          <p:nvPr/>
        </p:nvSpPr>
        <p:spPr>
          <a:xfrm>
            <a:off x="8202168" y="4041648"/>
            <a:ext cx="3209544" cy="16002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Not that scale is the cause. The traffic generator changed at the same time as the host count, so the two are confounded; separating them needs a four-host run with the new generator, which has not been done. The mechanism is unidentified — the shared accounting path is the candidate, on the strength of both planes behaving alike.</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Pre-registered before the run, raw on the audit-raw branch: doc/audit/2026-08-25_large-scale-concurrent/ (dee0512). Recount in the same directory.</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 result we pre-registered, and then withdrew</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Six cells said the same sample count does not mean the same precision — the control says we cannot tell them apart</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1214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11226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What the six cells showed</a:t>
            </a:r>
            <a:endParaRPr lang="en-US" sz="1550" dirty="0"/>
          </a:p>
        </p:txBody>
      </p:sp>
      <p:sp>
        <p:nvSpPr>
          <p:cNvPr id="8" name="Text 6"/>
          <p:cNvSpPr/>
          <p:nvPr/>
        </p:nvSpPr>
        <p:spPr>
          <a:xfrm>
            <a:off x="1106424" y="245059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Two levels, each reached from opposite directions. The pairing worked — sample counts matched to 0.84% and 0.44% — and every cell was healthy.</a:t>
            </a:r>
            <a:endParaRPr lang="en-US" sz="1250" dirty="0"/>
          </a:p>
        </p:txBody>
      </p:sp>
      <p:sp>
        <p:nvSpPr>
          <p:cNvPr id="9" name="Text 7"/>
          <p:cNvSpPr/>
          <p:nvPr/>
        </p:nvSpPr>
        <p:spPr>
          <a:xfrm>
            <a:off x="777240" y="340156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39242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What was about to be claimed</a:t>
            </a:r>
            <a:endParaRPr lang="en-US" sz="1550" dirty="0"/>
          </a:p>
        </p:txBody>
      </p:sp>
      <p:sp>
        <p:nvSpPr>
          <p:cNvPr id="11" name="Text 9"/>
          <p:cNvSpPr/>
          <p:nvPr/>
        </p:nvSpPr>
        <p:spPr>
          <a:xfrm>
            <a:off x="1106424" y="373075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That two cells with the same sample count are not equivalent, so the whole matrix has to be run. It rested on every pair clearing 0.1, and one pair cleared it by 0.040.</a:t>
            </a:r>
            <a:endParaRPr lang="en-US" sz="1250" dirty="0"/>
          </a:p>
        </p:txBody>
      </p:sp>
      <p:sp>
        <p:nvSpPr>
          <p:cNvPr id="12" name="Text 10"/>
          <p:cNvSpPr/>
          <p:nvPr/>
        </p:nvSpPr>
        <p:spPr>
          <a:xfrm>
            <a:off x="777240" y="46817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67258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What the control did to it</a:t>
            </a:r>
            <a:endParaRPr lang="en-US" sz="1550" dirty="0"/>
          </a:p>
        </p:txBody>
      </p:sp>
      <p:sp>
        <p:nvSpPr>
          <p:cNvPr id="14" name="Text 12"/>
          <p:cNvSpPr/>
          <p:nvPr/>
        </p:nvSpPr>
        <p:spPr>
          <a:xfrm>
            <a:off x="1106424" y="501091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Same parameters three times, a full fabric rebuild between each: the spread moved 0.136 on its own, and across the three runs by 0.240. The threshold cannot separate cell from cell.</a:t>
            </a:r>
            <a:endParaRPr lang="en-US" sz="1250" dirty="0"/>
          </a:p>
        </p:txBody>
      </p:sp>
      <p:sp>
        <p:nvSpPr>
          <p:cNvPr id="15" name="Shape 13"/>
          <p:cNvSpPr/>
          <p:nvPr/>
        </p:nvSpPr>
        <p:spPr>
          <a:xfrm>
            <a:off x="7818120" y="2157984"/>
            <a:ext cx="27432" cy="1965960"/>
          </a:xfrm>
          <a:prstGeom prst="rect">
            <a:avLst/>
          </a:prstGeom>
          <a:solidFill>
            <a:srgbClr val="065A82"/>
          </a:solidFill>
          <a:ln/>
        </p:spPr>
      </p:sp>
      <p:sp>
        <p:nvSpPr>
          <p:cNvPr id="16" name="Text 14"/>
          <p:cNvSpPr/>
          <p:nvPr/>
        </p:nvSpPr>
        <p:spPr>
          <a:xfrm>
            <a:off x="8019288" y="2121408"/>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rule that made this decidable</a:t>
            </a:r>
            <a:endParaRPr lang="en-US" sz="1150" dirty="0"/>
          </a:p>
        </p:txBody>
      </p:sp>
      <p:sp>
        <p:nvSpPr>
          <p:cNvPr id="17" name="Text 15"/>
          <p:cNvSpPr/>
          <p:nvPr/>
        </p:nvSpPr>
        <p:spPr>
          <a:xfrm>
            <a:off x="8019288" y="2395728"/>
            <a:ext cx="3392424" cy="1691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threshold was written down before the run. Afterwards there was a reading that would have rescued the claim — widen it to 0.24 — and taking it is exactly what pre-registration exists to forbid. That is next round's hypothesis, with its own registration.</a:t>
            </a:r>
            <a:endParaRPr lang="en-US" sz="1100" dirty="0"/>
          </a:p>
        </p:txBody>
      </p:sp>
      <p:sp>
        <p:nvSpPr>
          <p:cNvPr id="18" name="Shape 16"/>
          <p:cNvSpPr/>
          <p:nvPr/>
        </p:nvSpPr>
        <p:spPr>
          <a:xfrm>
            <a:off x="7818120" y="4334256"/>
            <a:ext cx="27432" cy="1554480"/>
          </a:xfrm>
          <a:prstGeom prst="rect">
            <a:avLst/>
          </a:prstGeom>
          <a:solidFill>
            <a:srgbClr val="065A82"/>
          </a:solidFill>
          <a:ln/>
        </p:spPr>
      </p:sp>
      <p:sp>
        <p:nvSpPr>
          <p:cNvPr id="19" name="Text 17"/>
          <p:cNvSpPr/>
          <p:nvPr/>
        </p:nvSpPr>
        <p:spPr>
          <a:xfrm>
            <a:off x="8019288" y="4297680"/>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this page is here at all</a:t>
            </a:r>
            <a:endParaRPr lang="en-US" sz="1150" dirty="0"/>
          </a:p>
        </p:txBody>
      </p:sp>
      <p:sp>
        <p:nvSpPr>
          <p:cNvPr id="20" name="Text 18"/>
          <p:cNvSpPr/>
          <p:nvPr/>
        </p:nvSpPr>
        <p:spPr>
          <a:xfrm>
            <a:off x="8019288" y="4572000"/>
            <a:ext cx="3392424" cy="12801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reversal had already been written into a draft of this deck. It came out because the control came back — which is worth more than the six cells were.</a:t>
            </a:r>
            <a:endParaRPr lang="en-US" sz="1100" dirty="0"/>
          </a:p>
        </p:txBody>
      </p:sp>
      <p:sp>
        <p:nvSpPr>
          <p:cNvPr id="21" name="Text 19"/>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Pre-registration a7c2bd7; result 8d109f2; control c62bf3e. Sample counts still agree to 1.1%, so the spread is in the measurement, not the design.</a:t>
            </a:r>
            <a:endParaRPr lang="en-US" sz="1000" dirty="0"/>
          </a:p>
        </p:txBody>
      </p:sp>
      <p:sp>
        <p:nvSpPr>
          <p:cNvPr id="22" name="Text 20"/>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ANSWERING THE OPEN QUESTIONS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 boot deadlock, and a same-boot A/B</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Six of ten boots never converged; the dump names two queues full at the same time — mechanism, fix, and the control</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dump names the mechanism</a:t>
            </a:r>
            <a:endParaRPr lang="en-US" sz="1550" dirty="0"/>
          </a:p>
        </p:txBody>
      </p:sp>
      <p:sp>
        <p:nvSpPr>
          <p:cNvPr id="8" name="Text 6"/>
          <p:cNvSpPr/>
          <p:nvPr/>
        </p:nvSpPr>
        <p:spPr>
          <a:xfrm>
            <a:off x="1106424" y="2414016"/>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Two controller event queues full at once, 12 and 43 senders blocked. The damage is not the stall — it is the kernel's topology poll starving behind it.</a:t>
            </a:r>
            <a:endParaRPr lang="en-US" sz="1250" dirty="0"/>
          </a:p>
        </p:txBody>
      </p:sp>
      <p:sp>
        <p:nvSpPr>
          <p:cNvPr id="9" name="Text 7"/>
          <p:cNvSpPr/>
          <p:nvPr/>
        </p:nvSpPr>
        <p:spPr>
          <a:xfrm>
            <a:off x="777240" y="33101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30098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fix gives two unbounded waits a deadline</a:t>
            </a:r>
            <a:endParaRPr lang="en-US" sz="1550" dirty="0"/>
          </a:p>
        </p:txBody>
      </p:sp>
      <p:sp>
        <p:nvSpPr>
          <p:cNvPr id="11" name="Text 9"/>
          <p:cNvSpPr/>
          <p:nvPr/>
        </p:nvSpPr>
        <p:spPr>
          <a:xfrm>
            <a:off x="1106424" y="363931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Both inside the handler. The evidence required to call a link dead is untouched. A second fix moves the work out of the loop entirely.</a:t>
            </a:r>
            <a:endParaRPr lang="en-US" sz="1250" dirty="0"/>
          </a:p>
        </p:txBody>
      </p:sp>
      <p:sp>
        <p:nvSpPr>
          <p:cNvPr id="12" name="Text 10"/>
          <p:cNvSpPr/>
          <p:nvPr/>
        </p:nvSpPr>
        <p:spPr>
          <a:xfrm>
            <a:off x="777240" y="453542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526280"/>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control is a same-boot A/B, within one hour</a:t>
            </a:r>
            <a:endParaRPr lang="en-US" sz="1550" dirty="0"/>
          </a:p>
        </p:txBody>
      </p:sp>
      <p:sp>
        <p:nvSpPr>
          <p:cNvPr id="14" name="Text 12"/>
          <p:cNvSpPr/>
          <p:nvPr/>
        </p:nvSpPr>
        <p:spPr>
          <a:xfrm>
            <a:off x="1106424" y="4864608"/>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Same machine, same defaults, alternating arms — drift is bounded by an hour, not a day.</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818120" y="2121408"/>
          <a:ext cx="3593592" cy="914400"/>
        </p:xfrm>
        <a:graphic>
          <a:graphicData uri="http://schemas.openxmlformats.org/drawingml/2006/table">
            <a:tbl>
              <a:tblPr/>
              <a:tblGrid>
                <a:gridCol w="1234440"/>
                <a:gridCol w="777240"/>
                <a:gridCol w="777240"/>
                <a:gridCol w="804672"/>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arm</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stuck</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fidelity</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invariant</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6576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no fix</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b="1" dirty="0">
                          <a:solidFill>
                            <a:srgbClr val="9C3B2E"/>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9C3B2E"/>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00" dirty="0">
                          <a:solidFill>
                            <a:srgbClr val="9C3B2E"/>
                          </a:solidFill>
                          <a:latin typeface="Calibri" pitchFamily="34" charset="0"/>
                          <a:ea typeface="Calibri" pitchFamily="34" charset="-122"/>
                          <a:cs typeface="Calibri" pitchFamily="34" charset="-120"/>
                        </a:rPr>
                        <a:t>violated</a:t>
                      </a:r>
                      <a:endParaRPr lang="en-US" sz="9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6576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deadline</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0/3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00" dirty="0">
                          <a:solidFill>
                            <a:srgbClr val="4F4F4F"/>
                          </a:solidFill>
                          <a:latin typeface="Calibri" pitchFamily="34" charset="0"/>
                          <a:ea typeface="Calibri" pitchFamily="34" charset="-122"/>
                          <a:cs typeface="Calibri" pitchFamily="34" charset="-120"/>
                        </a:rPr>
                        <a:t>violated</a:t>
                      </a:r>
                      <a:endParaRPr lang="en-US" sz="9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out of loop</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0/3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00" b="1" dirty="0">
                          <a:solidFill>
                            <a:srgbClr val="065A82"/>
                          </a:solidFill>
                          <a:latin typeface="Calibri" pitchFamily="34" charset="0"/>
                          <a:ea typeface="Calibri" pitchFamily="34" charset="-122"/>
                          <a:cs typeface="Calibri" pitchFamily="34" charset="-120"/>
                        </a:rPr>
                        <a:t>holds</a:t>
                      </a:r>
                      <a:endParaRPr lang="en-US" sz="9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16" name="Shape 13"/>
          <p:cNvSpPr/>
          <p:nvPr/>
        </p:nvSpPr>
        <p:spPr>
          <a:xfrm>
            <a:off x="7818120" y="3931920"/>
            <a:ext cx="27432" cy="1188720"/>
          </a:xfrm>
          <a:prstGeom prst="rect">
            <a:avLst/>
          </a:prstGeom>
          <a:solidFill>
            <a:srgbClr val="065A82"/>
          </a:solidFill>
          <a:ln/>
        </p:spPr>
      </p:sp>
      <p:sp>
        <p:nvSpPr>
          <p:cNvPr id="17" name="Text 14"/>
          <p:cNvSpPr/>
          <p:nvPr/>
        </p:nvSpPr>
        <p:spPr>
          <a:xfrm>
            <a:off x="8019288" y="3895344"/>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key cell is not the zero</a:t>
            </a:r>
            <a:endParaRPr lang="en-US" sz="1150" dirty="0"/>
          </a:p>
        </p:txBody>
      </p:sp>
      <p:sp>
        <p:nvSpPr>
          <p:cNvPr id="18" name="Text 15"/>
          <p:cNvSpPr/>
          <p:nvPr/>
        </p:nvSpPr>
        <p:spPr>
          <a:xfrm>
            <a:off x="8019288" y="4169664"/>
            <a:ext cx="3392424" cy="9144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It is the run where the block did happen — 28 timeouts — and the poll came back on its own after 148 s. That is the fix working, not the fault being absent.</a:t>
            </a:r>
            <a:endParaRPr lang="en-US" sz="1100" dirty="0"/>
          </a:p>
        </p:txBody>
      </p:sp>
      <p:sp>
        <p:nvSpPr>
          <p:cNvPr id="19" name="Shape 16"/>
          <p:cNvSpPr/>
          <p:nvPr/>
        </p:nvSpPr>
        <p:spPr>
          <a:xfrm>
            <a:off x="7818120" y="5285232"/>
            <a:ext cx="27432" cy="960120"/>
          </a:xfrm>
          <a:prstGeom prst="rect">
            <a:avLst/>
          </a:prstGeom>
          <a:solidFill>
            <a:srgbClr val="065A82"/>
          </a:solidFill>
          <a:ln/>
        </p:spPr>
      </p:sp>
      <p:sp>
        <p:nvSpPr>
          <p:cNvPr id="20" name="Text 17"/>
          <p:cNvSpPr/>
          <p:nvPr/>
        </p:nvSpPr>
        <p:spPr>
          <a:xfrm>
            <a:off x="8019288" y="5248656"/>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What N = 3 does not buy</a:t>
            </a:r>
            <a:endParaRPr lang="en-US" sz="1150" dirty="0"/>
          </a:p>
        </p:txBody>
      </p:sp>
      <p:sp>
        <p:nvSpPr>
          <p:cNvPr id="21" name="Text 18"/>
          <p:cNvSpPr/>
          <p:nvPr/>
        </p:nvSpPr>
        <p:spPr>
          <a:xfrm>
            <a:off x="8019288" y="5522976"/>
            <a:ext cx="3392424" cy="6858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At the old rate, three clean runs happen 3.7% of the time by chance. A first verification, not a conclusion.</a:t>
            </a:r>
            <a:endParaRPr lang="en-US" sz="1100" dirty="0"/>
          </a:p>
        </p:txBody>
      </p:sp>
      <p:sp>
        <p:nvSpPr>
          <p:cNvPr id="22" name="Text 19"/>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Pre-registered, with both self-tests: doc/audit/2026-08-25_ring-edge-fix/. Fabric: 128 hosts, 288 edges.</a:t>
            </a:r>
            <a:endParaRPr lang="en-US" sz="1000" dirty="0"/>
          </a:p>
        </p:txBody>
      </p:sp>
      <p:sp>
        <p:nvSpPr>
          <p:cNvPr id="23" name="Text 20"/>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2</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Engineering, and what's next</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Bring-up as one command, truncation and batching, and what the next report will carry</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ENGINEERING, AND WHAT'S NEXT</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One command brings the lab up and checks it</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Two data planes start in opposite orders and neither fails loudly when reversed — so this page shows what bring-up now enforces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903720" cy="914400"/>
        </p:xfrm>
        <a:graphic>
          <a:graphicData uri="http://schemas.openxmlformats.org/drawingml/2006/table">
            <a:tbl>
              <a:tblPr/>
              <a:tblGrid>
                <a:gridCol w="1143000"/>
                <a:gridCol w="1874520"/>
                <a:gridCol w="3886200"/>
              </a:tblGrid>
              <a:tr h="292608">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starts first</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and reversing it looks like</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47548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OVS</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the control plane</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950" dirty="0">
                          <a:solidFill>
                            <a:srgbClr val="9C3B2E"/>
                          </a:solidFill>
                          <a:latin typeface="Calibri" pitchFamily="34" charset="0"/>
                          <a:ea typeface="Calibri" pitchFamily="34" charset="-122"/>
                          <a:cs typeface="Calibri" pitchFamily="34" charset="-120"/>
                        </a:rPr>
                        <a:t>switches dial a dead port; no log line mentions the port, only a topology that never converges</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47548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P4</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00" dirty="0">
                          <a:solidFill>
                            <a:srgbClr val="2E2E2E"/>
                          </a:solidFill>
                          <a:latin typeface="Calibri" pitchFamily="34" charset="0"/>
                          <a:ea typeface="Calibri" pitchFamily="34" charset="-122"/>
                          <a:cs typeface="Calibri" pitchFamily="34" charset="-120"/>
                        </a:rPr>
                        <a:t>the data plane</a:t>
                      </a:r>
                      <a:endParaRPr lang="en-US" sz="10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950" dirty="0">
                          <a:solidFill>
                            <a:srgbClr val="9C3B2E"/>
                          </a:solidFill>
                          <a:latin typeface="Calibri" pitchFamily="34" charset="0"/>
                          <a:ea typeface="Calibri" pitchFamily="34" charset="-122"/>
                          <a:cs typeface="Calibri" pitchFamily="34" charset="-120"/>
                        </a:rPr>
                        <a:t>the proxy's first RPC is refused and it exits before opening its own port</a:t>
                      </a:r>
                      <a:endParaRPr lang="en-US" sz="9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34930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348386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One number decides everything downstream</a:t>
            </a:r>
            <a:endParaRPr lang="en-US" sz="1550" dirty="0"/>
          </a:p>
        </p:txBody>
      </p:sp>
      <p:sp>
        <p:nvSpPr>
          <p:cNvPr id="9" name="Text 6"/>
          <p:cNvSpPr/>
          <p:nvPr/>
        </p:nvSpPr>
        <p:spPr>
          <a:xfrm>
            <a:off x="1106424" y="382219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Fabric size and the kernel's model both come from the host count. A 128-host fabric beside a 4-host model happened once, silently.</a:t>
            </a:r>
            <a:endParaRPr lang="en-US" sz="1250" dirty="0"/>
          </a:p>
        </p:txBody>
      </p:sp>
      <p:sp>
        <p:nvSpPr>
          <p:cNvPr id="10" name="Text 7"/>
          <p:cNvSpPr/>
          <p:nvPr/>
        </p:nvSpPr>
        <p:spPr>
          <a:xfrm>
            <a:off x="777240" y="44531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444398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Bring-up ends by sending a real packet</a:t>
            </a:r>
            <a:endParaRPr lang="en-US" sz="1550" dirty="0"/>
          </a:p>
        </p:txBody>
      </p:sp>
      <p:sp>
        <p:nvSpPr>
          <p:cNvPr id="12" name="Text 9"/>
          <p:cNvSpPr/>
          <p:nvPr/>
        </p:nvSpPr>
        <p:spPr>
          <a:xfrm>
            <a:off x="1106424" y="478231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Not by reading a status page. Ten green switches over a network carrying nothing has happened twice.</a:t>
            </a:r>
            <a:endParaRPr lang="en-US" sz="1250" dirty="0"/>
          </a:p>
        </p:txBody>
      </p:sp>
      <p:sp>
        <p:nvSpPr>
          <p:cNvPr id="13" name="Text 10"/>
          <p:cNvSpPr/>
          <p:nvPr/>
        </p:nvSpPr>
        <p:spPr>
          <a:xfrm>
            <a:off x="777240" y="541324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4" name="Text 11"/>
          <p:cNvSpPr/>
          <p:nvPr/>
        </p:nvSpPr>
        <p:spPr>
          <a:xfrm>
            <a:off x="1106424" y="540410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Shutdown proves what it killed</a:t>
            </a:r>
            <a:endParaRPr lang="en-US" sz="1550" dirty="0"/>
          </a:p>
        </p:txBody>
      </p:sp>
      <p:sp>
        <p:nvSpPr>
          <p:cNvPr id="15" name="Text 12"/>
          <p:cNvSpPr/>
          <p:nvPr/>
        </p:nvSpPr>
        <p:spPr>
          <a:xfrm>
            <a:off x="1106424" y="5742432"/>
            <a:ext cx="652881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Process start time against the pidfile's write time. Names and argv are useless — every service is exec'd through a wrapper.</a:t>
            </a:r>
            <a:endParaRPr lang="en-US" sz="1250" dirty="0"/>
          </a:p>
        </p:txBody>
      </p:sp>
      <p:sp>
        <p:nvSpPr>
          <p:cNvPr id="16" name="Shape 13"/>
          <p:cNvSpPr/>
          <p:nvPr/>
        </p:nvSpPr>
        <p:spPr>
          <a:xfrm>
            <a:off x="8001000" y="2121408"/>
            <a:ext cx="27432" cy="1554480"/>
          </a:xfrm>
          <a:prstGeom prst="rect">
            <a:avLst/>
          </a:prstGeom>
          <a:solidFill>
            <a:srgbClr val="065A82"/>
          </a:solidFill>
          <a:ln/>
        </p:spPr>
      </p:sp>
      <p:sp>
        <p:nvSpPr>
          <p:cNvPr id="17" name="Text 14"/>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this belongs in an experiment talk</a:t>
            </a:r>
            <a:endParaRPr lang="en-US" sz="1150" dirty="0"/>
          </a:p>
        </p:txBody>
      </p:sp>
      <p:sp>
        <p:nvSpPr>
          <p:cNvPr id="18" name="Text 15"/>
          <p:cNvSpPr/>
          <p:nvPr/>
        </p:nvSpPr>
        <p:spPr>
          <a:xfrm>
            <a:off x="8202168" y="2359152"/>
            <a:ext cx="3209544" cy="12801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Before it, every number carried an unchecked assumption: that the testbed was the shape the operator believed. This is that assumption becoming enforced.</a:t>
            </a:r>
            <a:endParaRPr lang="en-US" sz="1100" dirty="0"/>
          </a:p>
        </p:txBody>
      </p:sp>
      <p:sp>
        <p:nvSpPr>
          <p:cNvPr id="19" name="Shape 16"/>
          <p:cNvSpPr/>
          <p:nvPr/>
        </p:nvSpPr>
        <p:spPr>
          <a:xfrm>
            <a:off x="8001000" y="3877056"/>
            <a:ext cx="27432" cy="1371600"/>
          </a:xfrm>
          <a:prstGeom prst="rect">
            <a:avLst/>
          </a:prstGeom>
          <a:solidFill>
            <a:srgbClr val="065A82"/>
          </a:solidFill>
          <a:ln/>
        </p:spPr>
      </p:sp>
      <p:sp>
        <p:nvSpPr>
          <p:cNvPr id="20" name="Text 17"/>
          <p:cNvSpPr/>
          <p:nvPr/>
        </p:nvSpPr>
        <p:spPr>
          <a:xfrm>
            <a:off x="8202168" y="3840480"/>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No boot times here, on purpose</a:t>
            </a:r>
            <a:endParaRPr lang="en-US" sz="1150" dirty="0"/>
          </a:p>
        </p:txBody>
      </p:sp>
      <p:sp>
        <p:nvSpPr>
          <p:cNvPr id="21" name="Text 18"/>
          <p:cNvSpPr/>
          <p:nvPr/>
        </p:nvSpPr>
        <p:spPr>
          <a:xfrm>
            <a:off x="8202168" y="4114800"/>
            <a:ext cx="3209544" cy="10972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Ten boots at defaults, six never converged. “How long a successful boot takes” is a floor, not a number — and that defect is the previous page.</a:t>
            </a:r>
            <a:endParaRPr lang="en-US" sz="1100" dirty="0"/>
          </a:p>
        </p:txBody>
      </p:sp>
      <p:sp>
        <p:nvSpPr>
          <p:cNvPr id="22" name="Shape 19"/>
          <p:cNvSpPr/>
          <p:nvPr/>
        </p:nvSpPr>
        <p:spPr>
          <a:xfrm>
            <a:off x="8001000" y="5449824"/>
            <a:ext cx="27432" cy="960120"/>
          </a:xfrm>
          <a:prstGeom prst="rect">
            <a:avLst/>
          </a:prstGeom>
          <a:solidFill>
            <a:srgbClr val="065A82"/>
          </a:solidFill>
          <a:ln/>
        </p:spPr>
      </p:sp>
      <p:sp>
        <p:nvSpPr>
          <p:cNvPr id="23" name="Text 20"/>
          <p:cNvSpPr/>
          <p:nvPr/>
        </p:nvSpPr>
        <p:spPr>
          <a:xfrm>
            <a:off x="8202168" y="5413248"/>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Stated as unfinished</a:t>
            </a:r>
            <a:endParaRPr lang="en-US" sz="1150" dirty="0"/>
          </a:p>
        </p:txBody>
      </p:sp>
      <p:sp>
        <p:nvSpPr>
          <p:cNvPr id="24" name="Text 21"/>
          <p:cNvSpPr/>
          <p:nvPr/>
        </p:nvSpPr>
        <p:spPr>
          <a:xfrm>
            <a:off x="8202168" y="5687568"/>
            <a:ext cx="3209544" cy="6858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claim is a convention, not a lock — it stops the tool's own verbs, not a bare command. Cleanup does not assert what it removed.</a:t>
            </a:r>
            <a:endParaRPr lang="en-US" sz="1100" dirty="0"/>
          </a:p>
        </p:txBody>
      </p:sp>
      <p:sp>
        <p:nvSpPr>
          <p:cNvPr id="25" name="Text 2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ENGINEERING, AND WHAT'S NEXT</a:t>
            </a:r>
            <a:endParaRPr lang="en-US" sz="1050" dirty="0"/>
          </a:p>
        </p:txBody>
      </p:sp>
      <p:pic>
        <p:nvPicPr>
          <p:cNvPr id="3" name="Image 0" descr="/sessions/hopeful-sharp-hopper/mnt/NDTwin slide material 827/figures/page_truncate-bought-nothing.png">    </p:cNvPr>
          <p:cNvPicPr>
            <a:picLocks noChangeAspect="1"/>
          </p:cNvPicPr>
          <p:nvPr/>
        </p:nvPicPr>
        <p:blipFill>
          <a:blip r:embed="rId1"/>
          <a:stretch>
            <a:fillRect/>
          </a:stretch>
        </p:blipFill>
        <p:spPr>
          <a:xfrm>
            <a:off x="550012" y="1148730"/>
            <a:ext cx="11091672" cy="4633692"/>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ENGINEERING, AND WHAT'S NEXT</a:t>
            </a:r>
            <a:endParaRPr lang="en-US" sz="1050" dirty="0"/>
          </a:p>
        </p:txBody>
      </p:sp>
      <p:pic>
        <p:nvPicPr>
          <p:cNvPr id="3" name="Image 0" descr="/sessions/hopeful-sharp-hopper/mnt/NDTwin slide material 827/figures/page_merge-gate.png">    </p:cNvPr>
          <p:cNvPicPr>
            <a:picLocks noChangeAspect="1"/>
          </p:cNvPicPr>
          <p:nvPr/>
        </p:nvPicPr>
        <p:blipFill>
          <a:blip r:embed="rId1"/>
          <a:stretch>
            <a:fillRect/>
          </a:stretch>
        </p:blipFill>
        <p:spPr>
          <a:xfrm>
            <a:off x="550012" y="1148730"/>
            <a:ext cx="11091672" cy="4633692"/>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ENGINEERING, AND WHAT'S NEXT</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Truncation and batching, after the experiments</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One cut the bytes and bought nothing; the other cuts the datagrams and has not been asked the question yet</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1214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112264"/>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Truncation works, and buys nothing</a:t>
            </a:r>
            <a:endParaRPr lang="en-US" sz="1550" dirty="0"/>
          </a:p>
        </p:txBody>
      </p:sp>
      <p:sp>
        <p:nvSpPr>
          <p:cNvPr id="8" name="Text 6"/>
          <p:cNvSpPr/>
          <p:nvPr/>
        </p:nvSpPr>
        <p:spPr>
          <a:xfrm>
            <a:off x="1106424" y="2450592"/>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5.6× fewer gRPC bytes, nothing silent — 35 distinct readings against the control's 32. Yet all four rates move the wrong way. Per-byte was the registered test, and it is out.</a:t>
            </a:r>
            <a:endParaRPr lang="en-US" sz="1250" dirty="0"/>
          </a:p>
        </p:txBody>
      </p:sp>
      <p:sp>
        <p:nvSpPr>
          <p:cNvPr id="9" name="Text 7"/>
          <p:cNvSpPr/>
          <p:nvPr/>
        </p:nvSpPr>
        <p:spPr>
          <a:xfrm>
            <a:off x="777240" y="34198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410712"/>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Merge is wired, and it merges</a:t>
            </a:r>
            <a:endParaRPr lang="en-US" sz="1550" dirty="0"/>
          </a:p>
        </p:txBody>
      </p:sp>
      <p:sp>
        <p:nvSpPr>
          <p:cNvPr id="11" name="Text 9"/>
          <p:cNvSpPr/>
          <p:nvPr/>
        </p:nvSpPr>
        <p:spPr>
          <a:xfrm>
            <a:off x="1106424" y="3749040"/>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One variable, batch 1 against 8: datagrams fall 209.8/s → 30.6/s, while the sample count moves 0.8% and the ratio 1.016 → 1.008. Both of those staying flat was the gate.</a:t>
            </a:r>
            <a:endParaRPr lang="en-US" sz="1250" dirty="0"/>
          </a:p>
        </p:txBody>
      </p:sp>
      <p:sp>
        <p:nvSpPr>
          <p:cNvPr id="12" name="Text 10"/>
          <p:cNvSpPr/>
          <p:nvPr/>
        </p:nvSpPr>
        <p:spPr>
          <a:xfrm>
            <a:off x="777240" y="471830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709160"/>
            <a:ext cx="63916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Whether it moves the wall is the open question</a:t>
            </a:r>
            <a:endParaRPr lang="en-US" sz="1550" dirty="0"/>
          </a:p>
        </p:txBody>
      </p:sp>
      <p:sp>
        <p:nvSpPr>
          <p:cNvPr id="14" name="Text 12"/>
          <p:cNvSpPr/>
          <p:nvPr/>
        </p:nvSpPr>
        <p:spPr>
          <a:xfrm>
            <a:off x="1106424" y="5047488"/>
            <a:ext cx="6391656" cy="786384"/>
          </a:xfrm>
          <a:prstGeom prst="rect">
            <a:avLst/>
          </a:prstGeom>
          <a:noFill/>
          <a:ln/>
        </p:spPr>
        <p:txBody>
          <a:bodyPr wrap="square" lIns="0" tIns="0" rIns="0" bIns="0" rtlCol="0" anchor="t"/>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gate proves it can be done, not that it helps. If the cost sits on the send side the wall moves; if it sits on the receive side it will not, and the next cut is receive-side concurrency.</a:t>
            </a:r>
            <a:endParaRPr lang="en-US" sz="1250" dirty="0"/>
          </a:p>
        </p:txBody>
      </p:sp>
      <p:sp>
        <p:nvSpPr>
          <p:cNvPr id="15" name="Shape 13"/>
          <p:cNvSpPr/>
          <p:nvPr/>
        </p:nvSpPr>
        <p:spPr>
          <a:xfrm>
            <a:off x="7818120" y="2157984"/>
            <a:ext cx="27432" cy="1691640"/>
          </a:xfrm>
          <a:prstGeom prst="rect">
            <a:avLst/>
          </a:prstGeom>
          <a:solidFill>
            <a:srgbClr val="065A82"/>
          </a:solidFill>
          <a:ln/>
        </p:spPr>
      </p:sp>
      <p:sp>
        <p:nvSpPr>
          <p:cNvPr id="16" name="Text 14"/>
          <p:cNvSpPr/>
          <p:nvPr/>
        </p:nvSpPr>
        <p:spPr>
          <a:xfrm>
            <a:off x="8019288" y="2121408"/>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switch-side knob, for contrast</a:t>
            </a:r>
            <a:endParaRPr lang="en-US" sz="1150" dirty="0"/>
          </a:p>
        </p:txBody>
      </p:sp>
      <p:sp>
        <p:nvSpPr>
          <p:cNvPr id="17" name="Text 15"/>
          <p:cNvSpPr/>
          <p:nvPr/>
        </p:nvSpPr>
        <p:spPr>
          <a:xfrm>
            <a:off x="8019288" y="2395728"/>
            <a:ext cx="3392424" cy="141732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Truncating the clone inside the switch reads zero on every edge and reports no error at all. Not an optimisation — an outage. That is why emitter-side truncation is a measured necessity rather than a preference.</a:t>
            </a:r>
            <a:endParaRPr lang="en-US" sz="1100" dirty="0"/>
          </a:p>
        </p:txBody>
      </p:sp>
      <p:sp>
        <p:nvSpPr>
          <p:cNvPr id="18" name="Shape 16"/>
          <p:cNvSpPr/>
          <p:nvPr/>
        </p:nvSpPr>
        <p:spPr>
          <a:xfrm>
            <a:off x="7818120" y="4059936"/>
            <a:ext cx="27432" cy="1051560"/>
          </a:xfrm>
          <a:prstGeom prst="rect">
            <a:avLst/>
          </a:prstGeom>
          <a:solidFill>
            <a:srgbClr val="065A82"/>
          </a:solidFill>
          <a:ln/>
        </p:spPr>
      </p:sp>
      <p:sp>
        <p:nvSpPr>
          <p:cNvPr id="19" name="Text 17"/>
          <p:cNvSpPr/>
          <p:nvPr/>
        </p:nvSpPr>
        <p:spPr>
          <a:xfrm>
            <a:off x="8019288" y="4023360"/>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6.87×, not 8×</a:t>
            </a:r>
            <a:endParaRPr lang="en-US" sz="1150" dirty="0"/>
          </a:p>
        </p:txBody>
      </p:sp>
      <p:sp>
        <p:nvSpPr>
          <p:cNvPr id="20" name="Text 18"/>
          <p:cNvSpPr/>
          <p:nvPr/>
        </p:nvSpPr>
        <p:spPr>
          <a:xfrm>
            <a:off x="8019288" y="4297680"/>
            <a:ext cx="3392424" cy="7772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518 extra datagrams, which is what a 0.2 s age timer flushing part-full batches looks like.</a:t>
            </a:r>
            <a:endParaRPr lang="en-US" sz="1100" dirty="0"/>
          </a:p>
        </p:txBody>
      </p:sp>
      <p:sp>
        <p:nvSpPr>
          <p:cNvPr id="21" name="Shape 19"/>
          <p:cNvSpPr/>
          <p:nvPr/>
        </p:nvSpPr>
        <p:spPr>
          <a:xfrm>
            <a:off x="7818120" y="5321808"/>
            <a:ext cx="27432" cy="914400"/>
          </a:xfrm>
          <a:prstGeom prst="rect">
            <a:avLst/>
          </a:prstGeom>
          <a:solidFill>
            <a:srgbClr val="065A82"/>
          </a:solidFill>
          <a:ln/>
        </p:spPr>
      </p:sp>
      <p:sp>
        <p:nvSpPr>
          <p:cNvPr id="22" name="Text 20"/>
          <p:cNvSpPr/>
          <p:nvPr/>
        </p:nvSpPr>
        <p:spPr>
          <a:xfrm>
            <a:off x="8019288" y="5285232"/>
            <a:ext cx="339242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side effect, recorded not explained</a:t>
            </a:r>
            <a:endParaRPr lang="en-US" sz="1150" dirty="0"/>
          </a:p>
        </p:txBody>
      </p:sp>
      <p:sp>
        <p:nvSpPr>
          <p:cNvPr id="23" name="Text 21"/>
          <p:cNvSpPr/>
          <p:nvPr/>
        </p:nvSpPr>
        <p:spPr>
          <a:xfrm>
            <a:off x="8019288" y="5559552"/>
            <a:ext cx="3392424" cy="6400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Distinct readings 34 → 14. The total is unchanged; the time grain is not.</a:t>
            </a:r>
            <a:endParaRPr lang="en-US" sz="1100" dirty="0"/>
          </a:p>
        </p:txBody>
      </p:sp>
      <p:sp>
        <p:nvSpPr>
          <p:cNvPr id="24" name="Text 22"/>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Extern A/B at 9424535; merge gate at gate_e.out, independently recounted. Effect on the sampling ceiling: not measured — the 1-in-8 cell has not been run.</a:t>
            </a:r>
            <a:endParaRPr lang="en-US" sz="1000" dirty="0"/>
          </a:p>
        </p:txBody>
      </p:sp>
      <p:sp>
        <p:nvSpPr>
          <p:cNvPr id="25" name="Text 23"/>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Planned for the next report</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Three again, in the same format — each with the number it starts from and the test that decides it</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Take the boot-ring result from suggestive to conclusive</a:t>
            </a:r>
            <a:endParaRPr lang="en-US" sz="1500" dirty="0"/>
          </a:p>
        </p:txBody>
      </p:sp>
      <p:sp>
        <p:nvSpPr>
          <p:cNvPr id="7" name="Text 5"/>
          <p:cNvSpPr/>
          <p:nvPr/>
        </p:nvSpPr>
        <p:spPr>
          <a:xfrm>
            <a:off x="777240" y="3054096"/>
            <a:ext cx="3271418" cy="14630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0/3 against 2/3, and the second fix holds the invariant outright — 159 stack samples, no violation. Three clean runs happen by chance 3.7% of the time.</a:t>
            </a:r>
            <a:endParaRPr lang="en-US" sz="1150" dirty="0"/>
          </a:p>
        </p:txBody>
      </p:sp>
      <p:sp>
        <p:nvSpPr>
          <p:cNvPr id="8" name="Shape 6"/>
          <p:cNvSpPr/>
          <p:nvPr/>
        </p:nvSpPr>
        <p:spPr>
          <a:xfrm>
            <a:off x="777240" y="4663440"/>
            <a:ext cx="27432" cy="859536"/>
          </a:xfrm>
          <a:prstGeom prst="rect">
            <a:avLst/>
          </a:prstGeom>
          <a:solidFill>
            <a:srgbClr val="065A82"/>
          </a:solidFill>
          <a:ln/>
        </p:spPr>
      </p:sp>
      <p:sp>
        <p:nvSpPr>
          <p:cNvPr id="9" name="Text 7"/>
          <p:cNvSpPr/>
          <p:nvPr/>
        </p:nvSpPr>
        <p:spPr>
          <a:xfrm>
            <a:off x="996696" y="4626864"/>
            <a:ext cx="3051962" cy="932688"/>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Done when the arms reach 0/6 to 0/8 and the boot-success rate is re-measured on the fixed build.</a:t>
            </a:r>
            <a:endParaRPr lang="en-US" sz="1100" dirty="0"/>
          </a:p>
        </p:txBody>
      </p:sp>
      <p:sp>
        <p:nvSpPr>
          <p:cNvPr id="10" name="Text 8"/>
          <p:cNvSpPr/>
          <p:nvPr/>
        </p:nvSpPr>
        <p:spPr>
          <a:xfrm>
            <a:off x="4460138"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460138"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Finish the third question on its own terms</a:t>
            </a:r>
            <a:endParaRPr lang="en-US" sz="1500" dirty="0"/>
          </a:p>
        </p:txBody>
      </p:sp>
      <p:sp>
        <p:nvSpPr>
          <p:cNvPr id="12" name="Text 10"/>
          <p:cNvSpPr/>
          <p:nvPr/>
        </p:nvSpPr>
        <p:spPr>
          <a:xfrm>
            <a:off x="4460138" y="3054096"/>
            <a:ext cx="3271418" cy="14630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The binaries can be told apart, which was the prerequisite. Swapping the switch binary changes the timing every layer depends on.</a:t>
            </a:r>
            <a:endParaRPr lang="en-US" sz="1150" dirty="0"/>
          </a:p>
        </p:txBody>
      </p:sp>
      <p:sp>
        <p:nvSpPr>
          <p:cNvPr id="13" name="Shape 11"/>
          <p:cNvSpPr/>
          <p:nvPr/>
        </p:nvSpPr>
        <p:spPr>
          <a:xfrm>
            <a:off x="4460138" y="4663440"/>
            <a:ext cx="27432" cy="859536"/>
          </a:xfrm>
          <a:prstGeom prst="rect">
            <a:avLst/>
          </a:prstGeom>
          <a:solidFill>
            <a:srgbClr val="065A82"/>
          </a:solidFill>
          <a:ln/>
        </p:spPr>
      </p:sp>
      <p:sp>
        <p:nvSpPr>
          <p:cNvPr id="14" name="Text 12"/>
          <p:cNvSpPr/>
          <p:nvPr/>
        </p:nvSpPr>
        <p:spPr>
          <a:xfrm>
            <a:off x="4679594" y="4626864"/>
            <a:ext cx="3051962" cy="932688"/>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Done when the whole L0–L4 suite passes on the fast build — the test written down on 20 August.</a:t>
            </a:r>
            <a:endParaRPr lang="en-US" sz="1100" dirty="0"/>
          </a:p>
        </p:txBody>
      </p:sp>
      <p:sp>
        <p:nvSpPr>
          <p:cNvPr id="15" name="Text 13"/>
          <p:cNvSpPr/>
          <p:nvPr/>
        </p:nvSpPr>
        <p:spPr>
          <a:xfrm>
            <a:off x="8143037"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143037"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Ask whether batching moves the ceiling</a:t>
            </a:r>
            <a:endParaRPr lang="en-US" sz="1500" dirty="0"/>
          </a:p>
        </p:txBody>
      </p:sp>
      <p:sp>
        <p:nvSpPr>
          <p:cNvPr id="17" name="Text 15"/>
          <p:cNvSpPr/>
          <p:nvPr/>
        </p:nvSpPr>
        <p:spPr>
          <a:xfrm>
            <a:off x="8143037" y="3054096"/>
            <a:ext cx="3271418" cy="14630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Merge is wired and through its gate: 6.87× fewer datagrams with the sample count and the ratio both flat. What that buys at the wall is the part nobody has measured.</a:t>
            </a:r>
            <a:endParaRPr lang="en-US" sz="1150" dirty="0"/>
          </a:p>
        </p:txBody>
      </p:sp>
      <p:sp>
        <p:nvSpPr>
          <p:cNvPr id="18" name="Shape 16"/>
          <p:cNvSpPr/>
          <p:nvPr/>
        </p:nvSpPr>
        <p:spPr>
          <a:xfrm>
            <a:off x="8143037" y="4663440"/>
            <a:ext cx="27432" cy="859536"/>
          </a:xfrm>
          <a:prstGeom prst="rect">
            <a:avLst/>
          </a:prstGeom>
          <a:solidFill>
            <a:srgbClr val="065A82"/>
          </a:solidFill>
          <a:ln/>
        </p:spPr>
      </p:sp>
      <p:sp>
        <p:nvSpPr>
          <p:cNvPr id="19" name="Text 17"/>
          <p:cNvSpPr/>
          <p:nvPr/>
        </p:nvSpPr>
        <p:spPr>
          <a:xfrm>
            <a:off x="8362493" y="4626864"/>
            <a:ext cx="3051962" cy="932688"/>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Done when the 1-in-8 cell — the first rate that loses packets — is run with batching on and off, and the loss either moves or does not.</a:t>
            </a:r>
            <a:endParaRPr lang="en-US" sz="1100" dirty="0"/>
          </a:p>
        </p:txBody>
      </p:sp>
      <p:sp>
        <p:nvSpPr>
          <p:cNvPr id="20" name="Text 18"/>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Same shape as the 20 August page, so the next report can be checked against it the way this one was.</a:t>
            </a:r>
            <a:endParaRPr lang="en-US" sz="1000" dirty="0"/>
          </a:p>
        </p:txBody>
      </p:sp>
      <p:sp>
        <p:nvSpPr>
          <p:cNvPr id="21" name="Text 1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Where it stands</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What is settled, what is run but not finished, and what is still unknown</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11680"/>
            <a:ext cx="5120640" cy="27432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Settled</a:t>
            </a:r>
            <a:endParaRPr lang="en-US" sz="1400" dirty="0"/>
          </a:p>
        </p:txBody>
      </p:sp>
      <p:sp>
        <p:nvSpPr>
          <p:cNvPr id="6" name="Shape 4"/>
          <p:cNvSpPr/>
          <p:nvPr/>
        </p:nvSpPr>
        <p:spPr>
          <a:xfrm>
            <a:off x="777240" y="2322576"/>
            <a:ext cx="5120640" cy="9144"/>
          </a:xfrm>
          <a:prstGeom prst="line">
            <a:avLst/>
          </a:prstGeom>
          <a:noFill/>
          <a:ln w="12700">
            <a:solidFill>
              <a:srgbClr val="D0D0D0"/>
            </a:solidFill>
            <a:prstDash val="solid"/>
          </a:ln>
        </p:spPr>
      </p:sp>
      <p:sp>
        <p:nvSpPr>
          <p:cNvPr id="7" name="Text 5"/>
          <p:cNvSpPr/>
          <p:nvPr/>
        </p:nvSpPr>
        <p:spPr>
          <a:xfrm>
            <a:off x="777240" y="239572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The 128-host failover budget balances</a:t>
            </a:r>
            <a:endParaRPr lang="en-US" sz="1250" dirty="0"/>
          </a:p>
        </p:txBody>
      </p:sp>
      <p:sp>
        <p:nvSpPr>
          <p:cNvPr id="8" name="Text 6"/>
          <p:cNvSpPr/>
          <p:nvPr/>
        </p:nvSpPr>
        <p:spPr>
          <a:xfrm>
            <a:off x="777240" y="262432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Detection is 87% of it, and the cause is arithmetic: hosts stretch the gap between two probes of one port.</a:t>
            </a:r>
            <a:endParaRPr lang="en-US" sz="1050" dirty="0"/>
          </a:p>
        </p:txBody>
      </p:sp>
      <p:sp>
        <p:nvSpPr>
          <p:cNvPr id="9" name="Text 7"/>
          <p:cNvSpPr/>
          <p:nvPr/>
        </p:nvSpPr>
        <p:spPr>
          <a:xfrm>
            <a:off x="777240" y="303580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Detection is 3.9× faster, threshold untouched</a:t>
            </a:r>
            <a:endParaRPr lang="en-US" sz="1250" dirty="0"/>
          </a:p>
        </p:txBody>
      </p:sp>
      <p:sp>
        <p:nvSpPr>
          <p:cNvPr id="10" name="Text 8"/>
          <p:cNvSpPr/>
          <p:nvPr/>
        </p:nvSpPr>
        <p:spPr>
          <a:xfrm>
            <a:off x="777240" y="326440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One constant. Idle false-positive rate zero across ~10⁵ probe opportunities.</a:t>
            </a:r>
            <a:endParaRPr lang="en-US" sz="1050" dirty="0"/>
          </a:p>
        </p:txBody>
      </p:sp>
      <p:sp>
        <p:nvSpPr>
          <p:cNvPr id="11" name="Text 9"/>
          <p:cNvSpPr/>
          <p:nvPr/>
        </p:nvSpPr>
        <p:spPr>
          <a:xfrm>
            <a:off x="777240" y="367588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A sample has a price — on the kernel and the proxy</a:t>
            </a:r>
            <a:endParaRPr lang="en-US" sz="1250" dirty="0"/>
          </a:p>
        </p:txBody>
      </p:sp>
      <p:sp>
        <p:nvSpPr>
          <p:cNvPr id="12" name="Text 10"/>
          <p:cNvSpPr/>
          <p:nvPr/>
        </p:nvSpPr>
        <p:spPr>
          <a:xfrm>
            <a:off x="777240" y="390448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206 µs per sample inside the range run; flat on the switches across a 4× change in rate.</a:t>
            </a:r>
            <a:endParaRPr lang="en-US" sz="1050" dirty="0"/>
          </a:p>
        </p:txBody>
      </p:sp>
      <p:sp>
        <p:nvSpPr>
          <p:cNvPr id="13" name="Text 11"/>
          <p:cNvSpPr/>
          <p:nvPr/>
        </p:nvSpPr>
        <p:spPr>
          <a:xfrm>
            <a:off x="777240" y="431596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Sampling harder stops paying at 1-in-32</a:t>
            </a:r>
            <a:endParaRPr lang="en-US" sz="1250" dirty="0"/>
          </a:p>
        </p:txBody>
      </p:sp>
      <p:sp>
        <p:nvSpPr>
          <p:cNvPr id="14" name="Text 12"/>
          <p:cNvSpPr/>
          <p:nvPr/>
        </p:nvSpPr>
        <p:spPr>
          <a:xfrm>
            <a:off x="777240" y="454456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Above 1-in-16 it costs throughput instead — 85% of the flow lost at 1-in-1.</a:t>
            </a:r>
            <a:endParaRPr lang="en-US" sz="1050" dirty="0"/>
          </a:p>
        </p:txBody>
      </p:sp>
      <p:sp>
        <p:nvSpPr>
          <p:cNvPr id="15" name="Text 13"/>
          <p:cNvSpPr/>
          <p:nvPr/>
        </p:nvSpPr>
        <p:spPr>
          <a:xfrm>
            <a:off x="777240" y="495604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Truncation is not the fix</a:t>
            </a:r>
            <a:endParaRPr lang="en-US" sz="1250" dirty="0"/>
          </a:p>
        </p:txBody>
      </p:sp>
      <p:sp>
        <p:nvSpPr>
          <p:cNvPr id="16" name="Text 14"/>
          <p:cNvSpPr/>
          <p:nvPr/>
        </p:nvSpPr>
        <p:spPr>
          <a:xfrm>
            <a:off x="777240" y="518464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5.6× fewer bytes moved the ceiling by nothing. The cost is not per byte.</a:t>
            </a:r>
            <a:endParaRPr lang="en-US" sz="1050" dirty="0"/>
          </a:p>
        </p:txBody>
      </p:sp>
      <p:sp>
        <p:nvSpPr>
          <p:cNvPr id="17" name="Text 15"/>
          <p:cNvSpPr/>
          <p:nvPr/>
        </p:nvSpPr>
        <p:spPr>
          <a:xfrm>
            <a:off x="777240" y="5596128"/>
            <a:ext cx="512064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Under concurrency the twin reads high</a:t>
            </a:r>
            <a:endParaRPr lang="en-US" sz="1250" dirty="0"/>
          </a:p>
        </p:txBody>
      </p:sp>
      <p:sp>
        <p:nvSpPr>
          <p:cNvPr id="18" name="Text 16"/>
          <p:cNvSpPr/>
          <p:nvPr/>
        </p:nvSpPr>
        <p:spPr>
          <a:xfrm>
            <a:off x="777240" y="5824728"/>
            <a:ext cx="5120640" cy="365760"/>
          </a:xfrm>
          <a:prstGeom prst="rect">
            <a:avLst/>
          </a:prstGeom>
          <a:noFill/>
          <a:ln/>
        </p:spPr>
        <p:txBody>
          <a:bodyPr wrap="square" lIns="0" tIns="0" rIns="0" bIns="0" rtlCol="0" anchor="t"/>
          <a:lstStyle/>
          <a:p>
            <a:pPr indent="0" marL="0">
              <a:lnSpc>
                <a:spcPct val="114000"/>
              </a:lnSpc>
              <a:buNone/>
            </a:pPr>
            <a:r>
              <a:rPr lang="en-US" sz="1050" dirty="0">
                <a:solidFill>
                  <a:srgbClr val="2E2E2E"/>
                </a:solidFill>
                <a:latin typeface="Calibri" pitchFamily="34" charset="0"/>
                <a:ea typeface="Calibri" pitchFamily="34" charset="-122"/>
                <a:cs typeface="Calibri" pitchFamily="34" charset="-120"/>
              </a:rPr>
              <a:t>Four rounds, three edge classes, and an independent recount agrees. How high is not settled.</a:t>
            </a:r>
            <a:endParaRPr lang="en-US" sz="1050" dirty="0"/>
          </a:p>
        </p:txBody>
      </p:sp>
      <p:sp>
        <p:nvSpPr>
          <p:cNvPr id="19" name="Text 17"/>
          <p:cNvSpPr/>
          <p:nvPr/>
        </p:nvSpPr>
        <p:spPr>
          <a:xfrm>
            <a:off x="6400800" y="2011680"/>
            <a:ext cx="5010912" cy="27432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Open, and stated as open</a:t>
            </a:r>
            <a:endParaRPr lang="en-US" sz="1400" dirty="0"/>
          </a:p>
        </p:txBody>
      </p:sp>
      <p:sp>
        <p:nvSpPr>
          <p:cNvPr id="20" name="Shape 18"/>
          <p:cNvSpPr/>
          <p:nvPr/>
        </p:nvSpPr>
        <p:spPr>
          <a:xfrm>
            <a:off x="6400800" y="2322576"/>
            <a:ext cx="5010912" cy="9144"/>
          </a:xfrm>
          <a:prstGeom prst="line">
            <a:avLst/>
          </a:prstGeom>
          <a:noFill/>
          <a:ln w="12700">
            <a:solidFill>
              <a:srgbClr val="D0D0D0"/>
            </a:solidFill>
            <a:prstDash val="solid"/>
          </a:ln>
        </p:spPr>
      </p:sp>
      <p:sp>
        <p:nvSpPr>
          <p:cNvPr id="21" name="Text 19"/>
          <p:cNvSpPr/>
          <p:nvPr/>
        </p:nvSpPr>
        <p:spPr>
          <a:xfrm>
            <a:off x="6400800" y="2432304"/>
            <a:ext cx="1874520" cy="36576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Boot convergence</a:t>
            </a:r>
            <a:endParaRPr lang="en-US" sz="1100" dirty="0"/>
          </a:p>
        </p:txBody>
      </p:sp>
      <p:sp>
        <p:nvSpPr>
          <p:cNvPr id="22" name="Text 20"/>
          <p:cNvSpPr/>
          <p:nvPr/>
        </p:nvSpPr>
        <p:spPr>
          <a:xfrm>
            <a:off x="8302752" y="2432304"/>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six of ten boots at defaults; fix verified at N = 3 only</a:t>
            </a:r>
            <a:endParaRPr lang="en-US" sz="1050" dirty="0"/>
          </a:p>
        </p:txBody>
      </p:sp>
      <p:sp>
        <p:nvSpPr>
          <p:cNvPr id="23" name="Shape 21"/>
          <p:cNvSpPr/>
          <p:nvPr/>
        </p:nvSpPr>
        <p:spPr>
          <a:xfrm>
            <a:off x="6400800" y="2779776"/>
            <a:ext cx="4736592" cy="9144"/>
          </a:xfrm>
          <a:prstGeom prst="line">
            <a:avLst/>
          </a:prstGeom>
          <a:noFill/>
          <a:ln w="12700">
            <a:solidFill>
              <a:srgbClr val="F0F0F0"/>
            </a:solidFill>
            <a:prstDash val="solid"/>
          </a:ln>
        </p:spPr>
      </p:sp>
      <p:sp>
        <p:nvSpPr>
          <p:cNvPr id="24" name="Text 22"/>
          <p:cNvSpPr/>
          <p:nvPr/>
        </p:nvSpPr>
        <p:spPr>
          <a:xfrm>
            <a:off x="6400800" y="2816352"/>
            <a:ext cx="1874520" cy="36576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Fast build as default</a:t>
            </a:r>
            <a:endParaRPr lang="en-US" sz="1100" dirty="0"/>
          </a:p>
        </p:txBody>
      </p:sp>
      <p:sp>
        <p:nvSpPr>
          <p:cNvPr id="25" name="Text 23"/>
          <p:cNvSpPr/>
          <p:nvPr/>
        </p:nvSpPr>
        <p:spPr>
          <a:xfrm>
            <a:off x="8302752" y="2816352"/>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the L0–L4 acceptance run is scheduled, not done</a:t>
            </a:r>
            <a:endParaRPr lang="en-US" sz="1050" dirty="0"/>
          </a:p>
        </p:txBody>
      </p:sp>
      <p:sp>
        <p:nvSpPr>
          <p:cNvPr id="26" name="Shape 24"/>
          <p:cNvSpPr/>
          <p:nvPr/>
        </p:nvSpPr>
        <p:spPr>
          <a:xfrm>
            <a:off x="6400800" y="3163824"/>
            <a:ext cx="4736592" cy="9144"/>
          </a:xfrm>
          <a:prstGeom prst="line">
            <a:avLst/>
          </a:prstGeom>
          <a:noFill/>
          <a:ln w="12700">
            <a:solidFill>
              <a:srgbClr val="F0F0F0"/>
            </a:solidFill>
            <a:prstDash val="solid"/>
          </a:ln>
        </p:spPr>
      </p:sp>
      <p:sp>
        <p:nvSpPr>
          <p:cNvPr id="27" name="Text 25"/>
          <p:cNvSpPr/>
          <p:nvPr/>
        </p:nvSpPr>
        <p:spPr>
          <a:xfrm>
            <a:off x="6400800" y="3200400"/>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Loaded false positives</a:t>
            </a:r>
            <a:endParaRPr lang="en-US" sz="1100" dirty="0"/>
          </a:p>
        </p:txBody>
      </p:sp>
      <p:sp>
        <p:nvSpPr>
          <p:cNvPr id="28" name="Text 26"/>
          <p:cNvSpPr/>
          <p:nvPr/>
        </p:nvSpPr>
        <p:spPr>
          <a:xfrm>
            <a:off x="8302752" y="3200400"/>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the idle rate is zero; under load it is unmeasured</a:t>
            </a:r>
            <a:endParaRPr lang="en-US" sz="1050" dirty="0"/>
          </a:p>
        </p:txBody>
      </p:sp>
      <p:sp>
        <p:nvSpPr>
          <p:cNvPr id="29" name="Shape 27"/>
          <p:cNvSpPr/>
          <p:nvPr/>
        </p:nvSpPr>
        <p:spPr>
          <a:xfrm>
            <a:off x="6400800" y="3547872"/>
            <a:ext cx="4736592" cy="9144"/>
          </a:xfrm>
          <a:prstGeom prst="line">
            <a:avLst/>
          </a:prstGeom>
          <a:noFill/>
          <a:ln w="12700">
            <a:solidFill>
              <a:srgbClr val="F0F0F0"/>
            </a:solidFill>
            <a:prstDash val="solid"/>
          </a:ln>
        </p:spPr>
      </p:sp>
      <p:sp>
        <p:nvSpPr>
          <p:cNvPr id="30" name="Text 28"/>
          <p:cNvSpPr/>
          <p:nvPr/>
        </p:nvSpPr>
        <p:spPr>
          <a:xfrm>
            <a:off x="6400800" y="3584448"/>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Scale × concurrency</a:t>
            </a:r>
            <a:endParaRPr lang="en-US" sz="1100" dirty="0"/>
          </a:p>
        </p:txBody>
      </p:sp>
      <p:sp>
        <p:nvSpPr>
          <p:cNvPr id="31" name="Text 29"/>
          <p:cNvSpPr/>
          <p:nvPr/>
        </p:nvSpPr>
        <p:spPr>
          <a:xfrm>
            <a:off x="8302752" y="3584448"/>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the direction holds; the size moves 14% between fabric generations</a:t>
            </a:r>
            <a:endParaRPr lang="en-US" sz="1050" dirty="0"/>
          </a:p>
        </p:txBody>
      </p:sp>
      <p:sp>
        <p:nvSpPr>
          <p:cNvPr id="32" name="Shape 30"/>
          <p:cNvSpPr/>
          <p:nvPr/>
        </p:nvSpPr>
        <p:spPr>
          <a:xfrm>
            <a:off x="6400800" y="3931920"/>
            <a:ext cx="4736592" cy="9144"/>
          </a:xfrm>
          <a:prstGeom prst="line">
            <a:avLst/>
          </a:prstGeom>
          <a:noFill/>
          <a:ln w="12700">
            <a:solidFill>
              <a:srgbClr val="F0F0F0"/>
            </a:solidFill>
            <a:prstDash val="solid"/>
          </a:ln>
        </p:spPr>
      </p:sp>
      <p:sp>
        <p:nvSpPr>
          <p:cNvPr id="33" name="Text 31"/>
          <p:cNvSpPr/>
          <p:nvPr/>
        </p:nvSpPr>
        <p:spPr>
          <a:xfrm>
            <a:off x="6400800" y="3968496"/>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The intercept</a:t>
            </a:r>
            <a:endParaRPr lang="en-US" sz="1100" dirty="0"/>
          </a:p>
        </p:txBody>
      </p:sp>
      <p:sp>
        <p:nvSpPr>
          <p:cNvPr id="34" name="Text 32"/>
          <p:cNvSpPr/>
          <p:nvPr/>
        </p:nvSpPr>
        <p:spPr>
          <a:xfrm>
            <a:off x="8302752" y="3968496"/>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206 µs/sample is a marginal cost inside a range, not a ceiling</a:t>
            </a:r>
            <a:endParaRPr lang="en-US" sz="1050" dirty="0"/>
          </a:p>
        </p:txBody>
      </p:sp>
      <p:sp>
        <p:nvSpPr>
          <p:cNvPr id="35" name="Shape 33"/>
          <p:cNvSpPr/>
          <p:nvPr/>
        </p:nvSpPr>
        <p:spPr>
          <a:xfrm>
            <a:off x="6400800" y="4315968"/>
            <a:ext cx="4736592" cy="9144"/>
          </a:xfrm>
          <a:prstGeom prst="line">
            <a:avLst/>
          </a:prstGeom>
          <a:noFill/>
          <a:ln w="12700">
            <a:solidFill>
              <a:srgbClr val="F0F0F0"/>
            </a:solidFill>
            <a:prstDash val="solid"/>
          </a:ln>
        </p:spPr>
      </p:sp>
      <p:sp>
        <p:nvSpPr>
          <p:cNvPr id="36" name="Text 34"/>
          <p:cNvSpPr/>
          <p:nvPr/>
        </p:nvSpPr>
        <p:spPr>
          <a:xfrm>
            <a:off x="6400800" y="4352544"/>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The ceiling's mechanism</a:t>
            </a:r>
            <a:endParaRPr lang="en-US" sz="1100" dirty="0"/>
          </a:p>
        </p:txBody>
      </p:sp>
      <p:sp>
        <p:nvSpPr>
          <p:cNvPr id="37" name="Text 35"/>
          <p:cNvSpPr/>
          <p:nvPr/>
        </p:nvSpPr>
        <p:spPr>
          <a:xfrm>
            <a:off x="8302752" y="4352544"/>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receive-side, per sample — inferred, not identified</a:t>
            </a:r>
            <a:endParaRPr lang="en-US" sz="1050" dirty="0"/>
          </a:p>
        </p:txBody>
      </p:sp>
      <p:sp>
        <p:nvSpPr>
          <p:cNvPr id="38" name="Shape 36"/>
          <p:cNvSpPr/>
          <p:nvPr/>
        </p:nvSpPr>
        <p:spPr>
          <a:xfrm>
            <a:off x="6400800" y="4700016"/>
            <a:ext cx="4736592" cy="9144"/>
          </a:xfrm>
          <a:prstGeom prst="line">
            <a:avLst/>
          </a:prstGeom>
          <a:noFill/>
          <a:ln w="12700">
            <a:solidFill>
              <a:srgbClr val="F0F0F0"/>
            </a:solidFill>
            <a:prstDash val="solid"/>
          </a:ln>
        </p:spPr>
      </p:sp>
      <p:sp>
        <p:nvSpPr>
          <p:cNvPr id="39" name="Text 37"/>
          <p:cNvSpPr/>
          <p:nvPr/>
        </p:nvSpPr>
        <p:spPr>
          <a:xfrm>
            <a:off x="6400800" y="4736592"/>
            <a:ext cx="1874520" cy="36576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Batching (merge)</a:t>
            </a:r>
            <a:endParaRPr lang="en-US" sz="1100" dirty="0"/>
          </a:p>
        </p:txBody>
      </p:sp>
      <p:sp>
        <p:nvSpPr>
          <p:cNvPr id="40" name="Text 38"/>
          <p:cNvSpPr/>
          <p:nvPr/>
        </p:nvSpPr>
        <p:spPr>
          <a:xfrm>
            <a:off x="8302752" y="4736592"/>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wired and gated; what it does to the wall is unmeasured</a:t>
            </a:r>
            <a:endParaRPr lang="en-US" sz="1050" dirty="0"/>
          </a:p>
        </p:txBody>
      </p:sp>
      <p:sp>
        <p:nvSpPr>
          <p:cNvPr id="41" name="Shape 39"/>
          <p:cNvSpPr/>
          <p:nvPr/>
        </p:nvSpPr>
        <p:spPr>
          <a:xfrm>
            <a:off x="6400800" y="5084064"/>
            <a:ext cx="4736592" cy="9144"/>
          </a:xfrm>
          <a:prstGeom prst="line">
            <a:avLst/>
          </a:prstGeom>
          <a:noFill/>
          <a:ln w="12700">
            <a:solidFill>
              <a:srgbClr val="F0F0F0"/>
            </a:solidFill>
            <a:prstDash val="solid"/>
          </a:ln>
        </p:spPr>
      </p:sp>
      <p:sp>
        <p:nvSpPr>
          <p:cNvPr id="42" name="Text 40"/>
          <p:cNvSpPr/>
          <p:nvPr/>
        </p:nvSpPr>
        <p:spPr>
          <a:xfrm>
            <a:off x="6400800" y="5120640"/>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Northbound concurrency</a:t>
            </a:r>
            <a:endParaRPr lang="en-US" sz="1100" dirty="0"/>
          </a:p>
        </p:txBody>
      </p:sp>
      <p:sp>
        <p:nvSpPr>
          <p:cNvPr id="43" name="Text 41"/>
          <p:cNvSpPr/>
          <p:nvPr/>
        </p:nvSpPr>
        <p:spPr>
          <a:xfrm>
            <a:off x="8302752" y="5120640"/>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one lane, measured; not yet a problem, not yet addressed</a:t>
            </a:r>
            <a:endParaRPr lang="en-US" sz="1050" dirty="0"/>
          </a:p>
        </p:txBody>
      </p:sp>
      <p:sp>
        <p:nvSpPr>
          <p:cNvPr id="44" name="Shape 42"/>
          <p:cNvSpPr/>
          <p:nvPr/>
        </p:nvSpPr>
        <p:spPr>
          <a:xfrm>
            <a:off x="6400800" y="5468112"/>
            <a:ext cx="4736592" cy="9144"/>
          </a:xfrm>
          <a:prstGeom prst="line">
            <a:avLst/>
          </a:prstGeom>
          <a:noFill/>
          <a:ln w="12700">
            <a:solidFill>
              <a:srgbClr val="F0F0F0"/>
            </a:solidFill>
            <a:prstDash val="solid"/>
          </a:ln>
        </p:spPr>
      </p:sp>
      <p:sp>
        <p:nvSpPr>
          <p:cNvPr id="45" name="Text 43"/>
          <p:cNvSpPr/>
          <p:nvPr/>
        </p:nvSpPr>
        <p:spPr>
          <a:xfrm>
            <a:off x="6400800" y="5504688"/>
            <a:ext cx="1874520" cy="36576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Residual in the budget</a:t>
            </a:r>
            <a:endParaRPr lang="en-US" sz="1100" dirty="0"/>
          </a:p>
        </p:txBody>
      </p:sp>
      <p:sp>
        <p:nvSpPr>
          <p:cNvPr id="46" name="Text 44"/>
          <p:cNvSpPr/>
          <p:nvPr/>
        </p:nvSpPr>
        <p:spPr>
          <a:xfrm>
            <a:off x="8302752" y="5504688"/>
            <a:ext cx="2834640" cy="365760"/>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3.6 s across noise and an epoch difference — not explained</a:t>
            </a:r>
            <a:endParaRPr lang="en-US" sz="1050" dirty="0"/>
          </a:p>
        </p:txBody>
      </p:sp>
      <p:sp>
        <p:nvSpPr>
          <p:cNvPr id="47" name="Shape 45"/>
          <p:cNvSpPr/>
          <p:nvPr/>
        </p:nvSpPr>
        <p:spPr>
          <a:xfrm>
            <a:off x="6400800" y="5852160"/>
            <a:ext cx="4736592" cy="9144"/>
          </a:xfrm>
          <a:prstGeom prst="line">
            <a:avLst/>
          </a:prstGeom>
          <a:noFill/>
          <a:ln w="12700">
            <a:solidFill>
              <a:srgbClr val="F0F0F0"/>
            </a:solidFill>
            <a:prstDash val="solid"/>
          </a:ln>
        </p:spPr>
      </p:sp>
      <p:sp>
        <p:nvSpPr>
          <p:cNvPr id="48" name="Text 46"/>
          <p:cNvSpPr/>
          <p:nvPr/>
        </p:nvSpPr>
        <p:spPr>
          <a:xfrm>
            <a:off x="6400800" y="6035040"/>
            <a:ext cx="4736592" cy="310896"/>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The three marked items are what the next report answers; the rest are in doc/KNOWN-ISSUES.md.</a:t>
            </a:r>
            <a:endParaRPr lang="en-US" sz="1050" dirty="0"/>
          </a:p>
        </p:txBody>
      </p:sp>
      <p:sp>
        <p:nvSpPr>
          <p:cNvPr id="49" name="Text 4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2026-08-25T17:33:22Z</dcterms:created>
  <dcterms:modified xsi:type="dcterms:W3CDTF">2026-08-25T17:33:22Z</dcterms:modified>
</cp:coreProperties>
</file>