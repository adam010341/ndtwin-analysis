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75104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12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NDTwin Network Digital Twin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77240" y="24688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Manual, Proven End to End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3438144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what one unstated build flag is worth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77240" y="4297680"/>
            <a:ext cx="1005840" cy="914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8704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　·　2026-09-03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335024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408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62456" y="2322576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62456" y="2798064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from the public document, in a clean room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859975" y="23408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 4–6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401568"/>
            <a:ext cx="10637215" cy="9144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56616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62456" y="3547872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experiments say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62456" y="402336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build flag = 8× · capacity depends on flow count · 18 papers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859975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 7–17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626864"/>
            <a:ext cx="10637215" cy="9144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9145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62456" y="477316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and what's next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62456" y="5248656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traffic round · a criterion that measured the wrong thing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859975" y="47914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pp. 18–23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LEFT OFF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written on 27 August · one asked for since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" y="18836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8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06240" y="18836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8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IN ADVANCE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503920" y="1883664"/>
            <a:ext cx="2910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8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50292" cy="7680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" y="2286000"/>
            <a:ext cx="30266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06240" y="228600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from the public document, clean room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67728" y="2487168"/>
            <a:ext cx="1371600" cy="365760"/>
          </a:xfrm>
          <a:prstGeom prst="rect">
            <a:avLst/>
          </a:prstGeom>
          <a:solidFill>
            <a:srgbClr val="EEF3F6"/>
          </a:solidFill>
          <a:ln w="1651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67728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2286000"/>
            <a:ext cx="29105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· and the site is open in the next tab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163824"/>
            <a:ext cx="10637215" cy="9144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291840"/>
            <a:ext cx="50292" cy="76809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3291840"/>
            <a:ext cx="30266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MERGE MOVE THE WALL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06240" y="329184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1-in-8 cell's loss moves, or it does not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67728" y="3493008"/>
            <a:ext cx="1371600" cy="365760"/>
          </a:xfrm>
          <a:prstGeom prst="rect">
            <a:avLst/>
          </a:prstGeom>
          <a:solidFill>
            <a:srgbClr val="EEF3F6"/>
          </a:solidFill>
          <a:ln w="1651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3493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3291840"/>
            <a:ext cx="29105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cells ran — the criterion could not see the wall (p. 19)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" y="4169664"/>
            <a:ext cx="10637215" cy="9144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297680"/>
            <a:ext cx="50292" cy="768096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23" name="Text 21"/>
          <p:cNvSpPr/>
          <p:nvPr/>
        </p:nvSpPr>
        <p:spPr>
          <a:xfrm>
            <a:off x="996696" y="4297680"/>
            <a:ext cx="30266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BUILD DEFAULT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206240" y="429768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L0–L4 suite passes on the fast build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67728" y="4498848"/>
            <a:ext cx="1371600" cy="365760"/>
          </a:xfrm>
          <a:prstGeom prst="rect">
            <a:avLst/>
          </a:prstGeom>
          <a:solidFill>
            <a:srgbClr val="FBF2F0"/>
          </a:solidFill>
          <a:ln w="16510">
            <a:solidFill>
              <a:srgbClr val="9C3B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67728" y="4498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03920" y="4297680"/>
            <a:ext cx="29105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provenance verified · the suite has not run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77240" y="5175504"/>
            <a:ext cx="10637215" cy="9144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303520"/>
            <a:ext cx="50292" cy="768096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30" name="Text 28"/>
          <p:cNvSpPr/>
          <p:nvPr/>
        </p:nvSpPr>
        <p:spPr>
          <a:xfrm>
            <a:off x="996696" y="5303520"/>
            <a:ext cx="30266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BOOT RING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206240" y="530352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to 0/6–0/8 on the fixed build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967728" y="5504688"/>
            <a:ext cx="1371600" cy="365760"/>
          </a:xfrm>
          <a:prstGeom prst="rect">
            <a:avLst/>
          </a:prstGeom>
          <a:solidFill>
            <a:srgbClr val="FBF2F0"/>
          </a:solidFill>
          <a:ln w="16510">
            <a:solidFill>
              <a:srgbClr val="9C3B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55046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03920" y="5303520"/>
            <a:ext cx="291053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deprioritised · carried forward as written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7510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2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48716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manual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4015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from the public document in a clean room — the site itself is the demo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4261104"/>
            <a:ext cx="1005840" cy="914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MANUAL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INSTALLS, AND IT RUNS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clean-room VM · every command as printed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75104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6800" dirty="0"/>
          </a:p>
        </p:txBody>
      </p:sp>
      <p:sp>
        <p:nvSpPr>
          <p:cNvPr id="7" name="Shape 5"/>
          <p:cNvSpPr/>
          <p:nvPr/>
        </p:nvSpPr>
        <p:spPr>
          <a:xfrm>
            <a:off x="777240" y="3072384"/>
            <a:ext cx="1386797" cy="9144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182112"/>
            <a:ext cx="3301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steps run verbatim — zero non-zero exit codes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44898" y="1975104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6800" dirty="0"/>
          </a:p>
        </p:txBody>
      </p:sp>
      <p:sp>
        <p:nvSpPr>
          <p:cNvPr id="10" name="Shape 8"/>
          <p:cNvSpPr/>
          <p:nvPr/>
        </p:nvSpPr>
        <p:spPr>
          <a:xfrm>
            <a:off x="4444898" y="3072384"/>
            <a:ext cx="1386797" cy="9144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4898" y="3182112"/>
            <a:ext cx="3301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reach each other on the fabric the manual builds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12557" y="1975104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29/29</a:t>
            </a:r>
            <a:endParaRPr lang="en-US" sz="6800" dirty="0"/>
          </a:p>
        </p:txBody>
      </p:sp>
      <p:sp>
        <p:nvSpPr>
          <p:cNvPr id="13" name="Shape 11"/>
          <p:cNvSpPr/>
          <p:nvPr/>
        </p:nvSpPr>
        <p:spPr>
          <a:xfrm>
            <a:off x="8112557" y="3072384"/>
            <a:ext cx="1386797" cy="9144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2557" y="3182112"/>
            <a:ext cx="3301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API endpoints exist, with the right methods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77240" y="3941064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800" dirty="0"/>
          </a:p>
        </p:txBody>
      </p:sp>
      <p:sp>
        <p:nvSpPr>
          <p:cNvPr id="16" name="Shape 14"/>
          <p:cNvSpPr/>
          <p:nvPr/>
        </p:nvSpPr>
        <p:spPr>
          <a:xfrm>
            <a:off x="777240" y="5038344"/>
            <a:ext cx="1386797" cy="9144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48072"/>
            <a:ext cx="3301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pass on the optional fast build — the debug install untouched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444898" y="3941064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s</a:t>
            </a:r>
            <a:endParaRPr lang="en-US" sz="6800" dirty="0"/>
          </a:p>
        </p:txBody>
      </p:sp>
      <p:sp>
        <p:nvSpPr>
          <p:cNvPr id="19" name="Shape 17"/>
          <p:cNvSpPr/>
          <p:nvPr/>
        </p:nvSpPr>
        <p:spPr>
          <a:xfrm>
            <a:off x="4444898" y="5038344"/>
            <a:ext cx="1386797" cy="9144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4898" y="5148072"/>
            <a:ext cx="3301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whole stack to converge, on a real clock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112557" y="3941064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800" dirty="0"/>
          </a:p>
        </p:txBody>
      </p:sp>
      <p:sp>
        <p:nvSpPr>
          <p:cNvPr id="22" name="Shape 20"/>
          <p:cNvSpPr/>
          <p:nvPr/>
        </p:nvSpPr>
        <p:spPr>
          <a:xfrm>
            <a:off x="8112557" y="5038344"/>
            <a:ext cx="1386797" cy="9144"/>
          </a:xfrm>
          <a:prstGeom prst="line">
            <a:avLst/>
          </a:prstGeom>
          <a:noFill/>
          <a:ln w="1905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12557" y="5148072"/>
            <a:ext cx="330189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with no page — 29% of the HTTP surface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77240" y="5888736"/>
            <a:ext cx="9951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manual itself, live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MANUAL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RUNNING IT FOUND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the document could not show · four fixed, two open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48256"/>
            <a:ext cx="502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048256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66160" y="2048256"/>
            <a:ext cx="7848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 for the wrong error string · an undocumented interactive prompt · “wait 60 s” measured 80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502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" y="2834640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834640"/>
            <a:ext cx="7848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proxy wrote rules before noticing the port was taken · the lock API accepted malformed requests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3621024"/>
            <a:ext cx="50292" cy="640080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" y="3621024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CHECK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3621024"/>
            <a:ext cx="7848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“model matches fabric: 4 hosts” printed over 128 — it compares the model with the model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4407408"/>
            <a:ext cx="50292" cy="640080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4407408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PHANTOM ROW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4407408"/>
            <a:ext cx="7848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queued, unprogrammed request served as a flow-table row · visible at t = 0 only, on both planes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5193792"/>
            <a:ext cx="50292" cy="640080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" y="5193792"/>
            <a:ext cx="2569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66160" y="5193792"/>
            <a:ext cx="7848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Ubuntu Server variant · twelve undocumented routes, one of them called by the shipping GUI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5888736"/>
            <a:ext cx="9951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two are system defects — found by running the document, not by reading it.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doc/2026-08-30_manual-verification-report.md (798f9f5) · FINDING-01 and FINDING-03 at 569f976 · fixes at 89c1754, e29424e, dff87f9.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7510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2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48716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experiments say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4015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unstated build flag, a capacity that depends on flow count, and eighteen papers that state neither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4261104"/>
            <a:ext cx="1005840" cy="914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gates · three experiments · and where they do not hold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5564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 rungs  ·  clean = loss ≤ 0.5% on 3-rep medians  ·  ±1 rung is the resolution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276856" y="2112264"/>
            <a:ext cx="237744" cy="274320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22576" y="2185416"/>
            <a:ext cx="146304" cy="29261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2322576" y="2258568"/>
            <a:ext cx="146304" cy="29261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2432304" y="2304288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499616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PREREGISTERED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327148" y="3383280"/>
            <a:ext cx="137160" cy="14264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499616" y="499262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intervals, meanings and when to abandon — all before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0" y="2157984"/>
            <a:ext cx="219456" cy="685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4187952" y="2276856"/>
            <a:ext cx="219456" cy="685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MIRRORED ARMS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192524" y="3383280"/>
            <a:ext cx="137160" cy="14264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3364992" y="499262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 is the unit; a rep is a re-read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0" y="2157984"/>
            <a:ext cx="128016" cy="182880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1344" y="2157984"/>
            <a:ext cx="128016" cy="182880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4476" y="2208276"/>
            <a:ext cx="64008" cy="29261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4476" y="2267712"/>
            <a:ext cx="64008" cy="29261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230368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IDENTITY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057900" y="3383280"/>
            <a:ext cx="137160" cy="14264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230368" y="499262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builds print 1.15.3-f0b7d201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91272" y="2148840"/>
            <a:ext cx="201168" cy="201168"/>
          </a:xfrm>
          <a:prstGeom prst="rect">
            <a:avLst/>
          </a:prstGeom>
          <a:solidFill>
            <a:srgbClr val="FFFFFF"/>
          </a:solidFill>
          <a:ln w="17780">
            <a:solidFill>
              <a:srgbClr val="9C3B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36408" y="2203704"/>
            <a:ext cx="54864" cy="29261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29" name="Shape 27"/>
          <p:cNvSpPr/>
          <p:nvPr/>
        </p:nvSpPr>
        <p:spPr>
          <a:xfrm>
            <a:off x="8092440" y="2203704"/>
            <a:ext cx="54864" cy="29261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30" name="Shape 28"/>
          <p:cNvSpPr/>
          <p:nvPr/>
        </p:nvSpPr>
        <p:spPr>
          <a:xfrm>
            <a:off x="7836408" y="2267712"/>
            <a:ext cx="54864" cy="29261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31" name="Shape 29"/>
          <p:cNvSpPr/>
          <p:nvPr/>
        </p:nvSpPr>
        <p:spPr>
          <a:xfrm>
            <a:off x="8092440" y="2267712"/>
            <a:ext cx="54864" cy="29261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32" name="Text 30"/>
          <p:cNvSpPr/>
          <p:nvPr/>
        </p:nvSpPr>
        <p:spPr>
          <a:xfrm>
            <a:off x="7095744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50" b="1" spc="4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GATE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923276" y="3383280"/>
            <a:ext cx="137160" cy="1426464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34" name="Text 32"/>
          <p:cNvSpPr/>
          <p:nvPr/>
        </p:nvSpPr>
        <p:spPr>
          <a:xfrm>
            <a:off x="7095744" y="499262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sampler — on m2 it missed a co-tenant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701784" y="2157984"/>
            <a:ext cx="182880" cy="1828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29800" y="2157984"/>
            <a:ext cx="182880" cy="182880"/>
          </a:xfrm>
          <a:prstGeom prst="ellipse">
            <a:avLst/>
          </a:prstGeom>
          <a:solidFill>
            <a:srgbClr val="EEF3F6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0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READOUT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9788652" y="3383280"/>
            <a:ext cx="137160" cy="14264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8961120" y="499262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drops read 0 while bmv2 lost 79.66%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77240" y="342900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039112" y="352958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2" name="Shape 40"/>
          <p:cNvSpPr/>
          <p:nvPr/>
        </p:nvSpPr>
        <p:spPr>
          <a:xfrm>
            <a:off x="2103120" y="3584448"/>
            <a:ext cx="292608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95728" y="3584448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61104" y="3584448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26480" y="3584448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91856" y="3584448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57232" y="3584448"/>
            <a:ext cx="256032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394106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039112" y="4041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0" name="Shape 48"/>
          <p:cNvSpPr/>
          <p:nvPr/>
        </p:nvSpPr>
        <p:spPr>
          <a:xfrm>
            <a:off x="2103120" y="4096512"/>
            <a:ext cx="292608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95728" y="4096512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61104" y="4096512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26480" y="4096512"/>
            <a:ext cx="1865376" cy="7315"/>
          </a:xfrm>
          <a:prstGeom prst="line">
            <a:avLst/>
          </a:prstGeom>
          <a:noFill/>
          <a:ln w="27940">
            <a:solidFill>
              <a:srgbClr val="065A82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7991856" y="4096512"/>
            <a:ext cx="1865376" cy="7315"/>
          </a:xfrm>
          <a:prstGeom prst="line">
            <a:avLst/>
          </a:prstGeom>
          <a:noFill/>
          <a:ln w="27940">
            <a:solidFill>
              <a:srgbClr val="065A82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9857232" y="4096512"/>
            <a:ext cx="256032" cy="7315"/>
          </a:xfrm>
          <a:prstGeom prst="line">
            <a:avLst/>
          </a:prstGeom>
          <a:noFill/>
          <a:ln w="27940">
            <a:solidFill>
              <a:srgbClr val="065A82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777240" y="445312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039112" y="455371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8" name="Shape 56"/>
          <p:cNvSpPr/>
          <p:nvPr/>
        </p:nvSpPr>
        <p:spPr>
          <a:xfrm>
            <a:off x="2103120" y="4608576"/>
            <a:ext cx="292608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95728" y="4608576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61104" y="4608576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26480" y="4608576"/>
            <a:ext cx="1572768" cy="7315"/>
          </a:xfrm>
          <a:prstGeom prst="line">
            <a:avLst/>
          </a:prstGeom>
          <a:noFill/>
          <a:ln w="27940">
            <a:solidFill>
              <a:srgbClr val="065A82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7731252" y="4503420"/>
            <a:ext cx="210312" cy="210312"/>
          </a:xfrm>
          <a:prstGeom prst="line">
            <a:avLst/>
          </a:prstGeom>
          <a:noFill/>
          <a:ln w="35560">
            <a:solidFill>
              <a:srgbClr val="9C3B2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31252" y="4713732"/>
            <a:ext cx="210312" cy="-210312"/>
          </a:xfrm>
          <a:prstGeom prst="line">
            <a:avLst/>
          </a:prstGeom>
          <a:noFill/>
          <a:ln w="35560">
            <a:solidFill>
              <a:srgbClr val="9C3B2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19872" y="4608576"/>
            <a:ext cx="1737360" cy="7315"/>
          </a:xfrm>
          <a:prstGeom prst="line">
            <a:avLst/>
          </a:prstGeom>
          <a:noFill/>
          <a:ln w="30480">
            <a:solidFill>
              <a:srgbClr val="4F4F4F"/>
            </a:solidFill>
            <a:prstDash val="sysDot"/>
          </a:ln>
        </p:spPr>
      </p:sp>
      <p:sp>
        <p:nvSpPr>
          <p:cNvPr id="65" name="Shape 63"/>
          <p:cNvSpPr/>
          <p:nvPr/>
        </p:nvSpPr>
        <p:spPr>
          <a:xfrm>
            <a:off x="9857232" y="4608576"/>
            <a:ext cx="256032" cy="7315"/>
          </a:xfrm>
          <a:prstGeom prst="line">
            <a:avLst/>
          </a:prstGeom>
          <a:noFill/>
          <a:ln w="30480">
            <a:solidFill>
              <a:srgbClr val="4F4F4F"/>
            </a:solidFill>
            <a:prstDash val="sysDot"/>
          </a:ln>
        </p:spPr>
      </p:sp>
      <p:sp>
        <p:nvSpPr>
          <p:cNvPr id="66" name="Text 64"/>
          <p:cNvSpPr/>
          <p:nvPr/>
        </p:nvSpPr>
        <p:spPr>
          <a:xfrm>
            <a:off x="4407408" y="3273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 per arm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6272784" y="37856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weaker, disclosed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8174736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detector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10168128" y="3438144"/>
            <a:ext cx="7315" cy="1316736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51008" y="3511296"/>
            <a:ext cx="457200" cy="310896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524744" y="3822192"/>
            <a:ext cx="109728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2" name="Shape 70"/>
          <p:cNvSpPr/>
          <p:nvPr/>
        </p:nvSpPr>
        <p:spPr>
          <a:xfrm>
            <a:off x="10415016" y="3886200"/>
            <a:ext cx="329184" cy="45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3" name="Shape 71"/>
          <p:cNvSpPr/>
          <p:nvPr/>
        </p:nvSpPr>
        <p:spPr>
          <a:xfrm>
            <a:off x="10954512" y="3511296"/>
            <a:ext cx="457200" cy="310896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128248" y="3822192"/>
            <a:ext cx="109728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5" name="Shape 73"/>
          <p:cNvSpPr/>
          <p:nvPr/>
        </p:nvSpPr>
        <p:spPr>
          <a:xfrm>
            <a:off x="11018520" y="3886200"/>
            <a:ext cx="329184" cy="45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6" name="Text 74"/>
          <p:cNvSpPr/>
          <p:nvPr/>
        </p:nvSpPr>
        <p:spPr>
          <a:xfrm>
            <a:off x="10351008" y="39867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954512" y="39867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0241280" y="4261104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777240" y="5888736"/>
            <a:ext cx="9951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“we were rigorous” — this is the shape of it, and where it breaks.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Transcribed from paper/abstract §“Three preregistered measurements”. Solid = as registered · dashed = weaker, disclosed · broken = the gate did not exist for that experiment.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OUTCOME HAD A MEANING FIRST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variables · three registered bands each · no “failed experiment”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9339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R = fast ÷ stock,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975104"/>
            <a:ext cx="3011424" cy="47548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975104"/>
            <a:ext cx="286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partly the path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487168"/>
            <a:ext cx="3011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&lt; 9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88864" y="1975104"/>
            <a:ext cx="3011424" cy="47548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2016" y="1975104"/>
            <a:ext cx="286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build property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88864" y="2487168"/>
            <a:ext cx="3011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9 – 20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00288" y="1975104"/>
            <a:ext cx="3011424" cy="47548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3440" y="1975104"/>
            <a:ext cx="286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path was capping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00288" y="2487168"/>
            <a:ext cx="3011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&gt; 20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388864" y="1920240"/>
            <a:ext cx="7315" cy="585216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00288" y="1920240"/>
            <a:ext cx="7315" cy="585216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2798064"/>
            <a:ext cx="9034272" cy="7315"/>
          </a:xfrm>
          <a:prstGeom prst="line">
            <a:avLst/>
          </a:prstGeom>
          <a:noFill/>
          <a:ln w="17780">
            <a:solidFill>
              <a:srgbClr val="4F4F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97298" y="2798064"/>
            <a:ext cx="2112864" cy="7315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97298" y="2706624"/>
            <a:ext cx="7315" cy="182880"/>
          </a:xfrm>
          <a:prstGeom prst="line">
            <a:avLst/>
          </a:prstGeom>
          <a:noFill/>
          <a:ln w="3048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0161" y="2706624"/>
            <a:ext cx="7315" cy="182880"/>
          </a:xfrm>
          <a:prstGeom prst="line">
            <a:avLst/>
          </a:prstGeom>
          <a:noFill/>
          <a:ln w="3048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62821" y="2706624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7021" y="28895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8.0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38177" y="28895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(5.14, 12.0)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71232" y="28895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crosses the cut — a gap we disclose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33284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77240" y="36393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P(1024) ÷ P(64),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pps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77440" y="3310128"/>
            <a:ext cx="3011424" cy="47548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50592" y="3310128"/>
            <a:ext cx="286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bandwidth-limited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77440" y="3822192"/>
            <a:ext cx="3011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 – 0.12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388864" y="3310128"/>
            <a:ext cx="3011424" cy="47548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62016" y="3310128"/>
            <a:ext cx="286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mixed cost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88864" y="3822192"/>
            <a:ext cx="3011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between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400288" y="3310128"/>
            <a:ext cx="3011424" cy="47548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73440" y="3310128"/>
            <a:ext cx="2865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per-packet cost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00288" y="3822192"/>
            <a:ext cx="3011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 – 1.30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388864" y="3255264"/>
            <a:ext cx="7315" cy="585216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00288" y="3255264"/>
            <a:ext cx="7315" cy="585216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4133088"/>
            <a:ext cx="9034272" cy="7315"/>
          </a:xfrm>
          <a:prstGeom prst="line">
            <a:avLst/>
          </a:prstGeom>
          <a:noFill/>
          <a:ln w="17780">
            <a:solidFill>
              <a:srgbClr val="4F4F4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30384" y="4041648"/>
            <a:ext cx="182880" cy="1828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44584" y="42245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377440" y="422452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was registered as a result, not as “inconclusive”  ·  P(256)/P(64) also inside its H1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" y="46634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777240" y="497433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at n = 2,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134104" y="4645152"/>
            <a:ext cx="2760472" cy="475488"/>
          </a:xfrm>
          <a:prstGeom prst="rect">
            <a:avLst/>
          </a:prstGeom>
          <a:solidFill>
            <a:srgbClr val="F7F8F9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34104" y="4645152"/>
            <a:ext cx="2760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134104" y="5157216"/>
            <a:ext cx="276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– 150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4134104" y="4590288"/>
            <a:ext cx="7315" cy="585216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94576" y="4590288"/>
            <a:ext cx="7315" cy="585216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0" y="5468112"/>
            <a:ext cx="9034272" cy="7315"/>
          </a:xfrm>
          <a:prstGeom prst="line">
            <a:avLst/>
          </a:prstGeom>
          <a:noFill/>
          <a:ln w="17780">
            <a:solidFill>
              <a:srgbClr val="4F4F4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94576" y="5468112"/>
            <a:ext cx="3513328" cy="7315"/>
          </a:xfrm>
          <a:prstGeom prst="line">
            <a:avLst/>
          </a:prstGeom>
          <a:noFill/>
          <a:ln w="27940">
            <a:solidFill>
              <a:srgbClr val="4F4F4F"/>
            </a:solidFill>
            <a:prstDash val="sysDot"/>
          </a:ln>
        </p:spPr>
      </p:sp>
      <p:sp>
        <p:nvSpPr>
          <p:cNvPr id="53" name="Shape 51"/>
          <p:cNvSpPr/>
          <p:nvPr/>
        </p:nvSpPr>
        <p:spPr>
          <a:xfrm>
            <a:off x="10316464" y="5376672"/>
            <a:ext cx="182880" cy="182880"/>
          </a:xfrm>
          <a:prstGeom prst="ellipse">
            <a:avLst/>
          </a:prstGeom>
          <a:solidFill>
            <a:srgbClr val="9C3B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53424" y="55595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220.0 · both arms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390384" y="4974336"/>
            <a:ext cx="1737360" cy="365760"/>
          </a:xfrm>
          <a:prstGeom prst="rect">
            <a:avLst/>
          </a:prstGeom>
          <a:solidFill>
            <a:srgbClr val="FBF2F0"/>
          </a:solidFill>
          <a:ln w="16510">
            <a:solidFill>
              <a:srgbClr val="9C3B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90384" y="49743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 RULE FIRED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2377440" y="5559552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that generated every interval was wrong — the curve stands, the intervals do not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77240" y="5888736"/>
            <a:ext cx="9951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is which band it landed in. All three bands were results.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drawn equal-width on purpose: before the data, all three were equally admissible. Intervals transcribed from the three PREREGs; the abandonment rule is 48487ed, written before data.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pic>
        <p:nvPicPr>
          <p:cNvPr id="3" name="Image 0" descr="/sessions/hopeful-sharp-hopper/mnt/Desktop/NDTwin slide material/NDTwin slide material 909/generator/../../NDTwin slide material 903/figures/page_M_cost-and-bene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608" y="457200"/>
            <a:ext cx="10068480" cy="4206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473659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4882896"/>
            <a:ext cx="50292" cy="5303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996696" y="4882896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PRE-REGISTERED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566160" y="4882896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+0.530 s, inside the registered 0.4–0.6 s band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9" name="Text 6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POST-HOC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registered before the data was read — an observation, not a result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ceiling was the access layer; BMv2's is real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9/generator/../../NDTwin slide material 903/figures/page_bandwidth-cei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360" y="987552"/>
            <a:ext cx="8798976" cy="3675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473659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4882896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4882896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SHORT BARS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4882896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ECMP hashed onto the top four — not a capacity floor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0" name="Text 7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53.1 IS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interface-counter rate · 32 TCP flows · one link's ECMP share · host CPU 98.7%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is a function of flow count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9/generator/../../NDTwin slide material 903/figures/fig2_perflow_monot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8675" y="987552"/>
            <a:ext cx="5054346" cy="3675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473659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4882896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4882896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4882896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ladder is iperf3 -u and “clean rate” is read from loss — this is a UDP claim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path on TCP: T(16)/T(1) = 1.222 and 1.108 — no collapse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plane holds its cap; the other collapses below it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9/generator/../../NDTwin slide material 903/figures/_hires/fig7_aggregate_two_pla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0501" y="987552"/>
            <a:ext cx="5670694" cy="3675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473659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4882896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4882896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UDP, BOTH PLANES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4882896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ladders are iperf3 -u -l 1400 · with TCP the collapse does not appear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CLAIM IS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“UDP collapses ≈10×”, not “BMv2 collapses”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data, two units, sixteen times apart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9/generator/../../NDTwin slide material 903/figures/fig1_unit_ambigu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937" y="987552"/>
            <a:ext cx="5585821" cy="42793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5340096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AMBIGUITY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rate moves 1.25× while bit rate moves 16× — Mbit/s without a packet size is a 16× hole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PAPERS, AND WHAT THEY REPORT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them measure BMv2 · counted, not estimated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10637215" cy="914400"/>
        </p:xfrm>
        <a:graphic>
          <a:graphicData uri="http://schemas.openxmlformats.org/drawingml/2006/table">
            <a:tbl>
              <a:tblPr/>
              <a:tblGrid>
                <a:gridCol w="5989320"/>
                <a:gridCol w="1691640"/>
                <a:gridCol w="29535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the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spc="5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a throughput number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measure latency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build flags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variable worth 8× 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a build comparison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the BMv2 variant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E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from one lab lineage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the version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sweeps packet size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flow count as a variable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C3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A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5632704"/>
            <a:ext cx="5029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996696" y="5632704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77440" y="5632704"/>
            <a:ext cx="9037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variable we measured at 8× is the one none of them state — in our sample of 18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doc/2026-08-29_bmv2-performance-study.md §2-1 at b2cd6b5. Every negative is a statement about these 18 papers and the search boundary in §5-4 — not about the literature.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papers, nine reporting dimensions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9/generator/../../NDTwin slide material 903/figures/_hires/fig5_reporting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9919" y="987552"/>
            <a:ext cx="6391858" cy="42793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5340096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GAPS ARE THE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totals are asserted against the survey table — a drift crashes the plot rather than drawing it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headline numbers, one axis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9/generator/../../NDTwin slide material 903/figures/_hires/fig6_twelve_numbers_one_ax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1161" y="987552"/>
            <a:ext cx="5629374" cy="3675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473659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4882896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4882896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CANNOT BE PLACED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4882896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 publish no bit-rate headline · 1/12 is a working point, not a ceiling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10" name="Text 7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WAS CONVERTED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packets-per-second headline stays in packets per second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Self-reported throughputs span ~2,500×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9/generator/../../NDTwin slide material 903/figures/fig4_literature_spr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8029" y="987552"/>
            <a:ext cx="7135637" cy="42793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5340096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SCALE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~0.57 Mbit/s to ~1.4 Gbit/s · one build flag on one machine is worth 8× of that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is not the same as reported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9/generator/../../NDTwin slide material 903/figures/_hires/fig8_known_but_never_repor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806" y="987552"/>
            <a:ext cx="7512083" cy="3675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4736592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4882896"/>
            <a:ext cx="50292" cy="530352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4882896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CHECK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66160" y="4882896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read, not re-measured · BMv2's own page says the debug build is slow, and two papers cite it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0" name="Text 7"/>
          <p:cNvSpPr/>
          <p:nvPr/>
        </p:nvSpPr>
        <p:spPr>
          <a:xfrm>
            <a:off x="996696" y="54864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STILL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6160" y="5486400"/>
            <a:ext cx="78482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states its own build · build flags stated: 0/12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97510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2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48716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Engineering, and what's next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4015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traffic round, a criterion that measured the wrong quantity, and what the next report will carry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4261104"/>
            <a:ext cx="1005840" cy="9144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ENGINEERING, AND WHAT'S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criterion never measured the quantity its name says</a:t>
            </a:r>
            <a:endParaRPr lang="en-US" sz="2400" dirty="0"/>
          </a:p>
        </p:txBody>
      </p:sp>
      <p:pic>
        <p:nvPicPr>
          <p:cNvPr id="4" name="Image 0" descr="/sessions/hopeful-sharp-hopper/mnt/Desktop/NDTwin slide material/NDTwin slide material 909/generator/../../NDTwin slide material 903/figures/page_ceiling-not-read-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8664" y="987552"/>
            <a:ext cx="7354368" cy="30723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413308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4279392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7" name="Text 4"/>
          <p:cNvSpPr/>
          <p:nvPr/>
        </p:nvSpPr>
        <p:spPr>
          <a:xfrm>
            <a:off x="996696" y="4279392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 OUT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06240" y="4279392"/>
            <a:ext cx="7208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fired 0 times in 72 cells · all four arms right-censored · indistinguishable, not equal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4882896"/>
            <a:ext cx="50292" cy="530352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0" name="Text 7"/>
          <p:cNvSpPr/>
          <p:nvPr/>
        </p:nvSpPr>
        <p:spPr>
          <a:xfrm>
            <a:off x="996696" y="4882896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LINE MISLEADS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06240" y="4882896"/>
            <a:ext cx="7208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÷ truth reads 1.009 at the rung that destroys 87–89% of the traffic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5486400"/>
            <a:ext cx="50292" cy="530352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13" name="Text 10"/>
          <p:cNvSpPr/>
          <p:nvPr/>
        </p:nvSpPr>
        <p:spPr>
          <a:xfrm>
            <a:off x="996696" y="5486400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NOT ESTIMABLE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206240" y="5486400"/>
            <a:ext cx="7208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on/off is aliased with leg and time of day — a confound, not noise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ENGINEERING, AND WHAT'S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TRAFFIC ROUND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arms · registered before any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48256"/>
            <a:ext cx="502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048256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DISCRIMINATES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0" y="2048256"/>
            <a:ext cx="7116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endpoint went 8 → 12 under load and tracked the churn — the gate held on both arms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502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" y="2834640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2834640"/>
            <a:ext cx="7116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39/39 against the live kernel, plus a 52-check self-test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3621024"/>
            <a:ext cx="50292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" y="3621024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128-HOST EXAMPLE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3621024"/>
            <a:ext cx="7116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manual's own worked example passes as printed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7240" y="4407408"/>
            <a:ext cx="50292" cy="640080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4407408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HALF NOT ASKED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97680" y="4407408"/>
            <a:ext cx="7116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 question is unanswerable at 128 hosts — one sample costs 735 ms and needs 500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5193792"/>
            <a:ext cx="50292" cy="640080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" y="5193792"/>
            <a:ext cx="3300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NOT BY SAMPLING HARDER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97680" y="5193792"/>
            <a:ext cx="7116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 is slower than the thing it measures · answered at 4 hosts instead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PREREG 5cbd672, written before any data; kernel 1208d22, rebuild byte-identical. One sample = three endpoints, of which all_destination_paths is 699 ms and 931 KB.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ENGINEERING, AND WHAT'S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FLAG, TWO MEANINGS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and an observation, sharing one bit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836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WRITES is_up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212848"/>
            <a:ext cx="5029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996696" y="22128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API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6696" y="25237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— I commanded it off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017520"/>
            <a:ext cx="5029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996696" y="30175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 Hz LIVENESS WORKER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96696" y="332841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observation — it answers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6696" y="384048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bit cannot tell “the wall switch is off” from “the bulb burned out”.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18836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COST, MEASURED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221284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8–13 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686800" y="2194560"/>
            <a:ext cx="272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“on” after the machine was commanded off — the liveness cache writes it back within 0.3–1.5 s. 18/18 across both arms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3346704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vs ON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686800" y="3328416"/>
            <a:ext cx="272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switches equally dead: the commanded one reads OFF, the crashed one reads ON. The endpoint reports the order, not the state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448056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fires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686800" y="4462272"/>
            <a:ext cx="2724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three-state check for “something died that should not have” reads the same bit on both sides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4882896"/>
            <a:ext cx="5029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" y="4882896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40280" y="4882896"/>
            <a:ext cx="9174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admin_state (the command) and reachable (the probe) · is_up stays as an alias for reachable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77240" y="5888736"/>
            <a:ext cx="9951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Decided, not shipped: the fix is dispatched and not yet on trunk.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two-arm run, 9 each, at 7e8d91e0 (merged 85c1a159); raw at audit-raw 19e3ab88. Ruling recorded at b57736cd.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11335" y="274320"/>
            <a:ext cx="2103120" cy="365760"/>
          </a:xfrm>
          <a:prstGeom prst="rect">
            <a:avLst/>
          </a:prstGeom>
          <a:solidFill>
            <a:srgbClr val="EEF3F6"/>
          </a:solidFill>
          <a:ln w="1651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11335" y="274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ENGINEERING, AND WHAT'S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NIGHT ROUND FOUND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endpoints · what they report vs what the switch does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75104"/>
            <a:ext cx="50292" cy="566928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1975104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COMES BACK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1975104"/>
            <a:ext cx="7391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 declared down through the API is silently restored by the 30 s topology poll — 21.5–25.4 s. A real cut never restores itself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50292" cy="566928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" y="26517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KEEPS WRITING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2651760"/>
            <a:ext cx="7391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subsystems stopped. Exiting.” is printed, and 10.7 s of southbound writes follow it — no log line mentions them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3328416"/>
            <a:ext cx="50292" cy="566928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" y="3328416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 COUNTS POSTS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3328416"/>
            <a:ext cx="7391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installs of one match: succeeded +20, the switch +1 · 15 deletes of a match that is not there: succeeded +15, the switch +0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4005072"/>
            <a:ext cx="50292" cy="566928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4005072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200 THAT INSTALLED NOTHING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4005072"/>
            <a:ext cx="7391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reserved group ids answer “200 installed” and never appear in groupdesc · the delete branch of the same code answers 404 honestly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7240" y="4681728"/>
            <a:ext cx="50292" cy="566928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" y="4681728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THAT NEVER MOVES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4681728"/>
            <a:ext cx="7391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switch_count is computed from the static model: identical across 12 paths with 8 of 40 switch-to-switch edges down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77240" y="5358384"/>
            <a:ext cx="50292" cy="566928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" y="5358384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40× FOR THE SAME WRITE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23360" y="5358384"/>
            <a:ext cx="7391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install 1024 ms against group install 20 ms — both are one OpenFlow write, measured at the client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5888736"/>
            <a:ext cx="9951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behaviour only — the fixes were still running when these were taken.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cca5e3e4, helper 6685d3a9; trunk 4088b237 / f943de8f by round. Figures and raw logs in figures/overnight-0904/. The shutdown baseline (~2.4 s idle) is read from another round, on another binary, and is marked as such.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11335" y="274320"/>
            <a:ext cx="2103120" cy="365760"/>
          </a:xfrm>
          <a:prstGeom prst="rect">
            <a:avLst/>
          </a:prstGeom>
          <a:solidFill>
            <a:srgbClr val="EEF3F6"/>
          </a:solidFill>
          <a:ln w="1651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11335" y="274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ENGINEERING, AND WHAT'S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8351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tutorials ask for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" y="877824"/>
            <a:ext cx="8351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exercises · 16 capability dimensions · read, not run</a:t>
            </a:r>
            <a:endParaRPr lang="en-US" sz="1400" dirty="0"/>
          </a:p>
        </p:txBody>
      </p:sp>
      <p:pic>
        <p:nvPicPr>
          <p:cNvPr id="5" name="Image 0" descr="/sessions/hopeful-sharp-hopper/mnt/Desktop/NDTwin slide material/NDTwin slide material 909/generator/../figures/p4-tutorials/_hires/fig_t1_requirements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581" y="1280160"/>
            <a:ext cx="4894534" cy="35112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48646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4992624"/>
            <a:ext cx="50292" cy="4937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996696" y="4992624"/>
            <a:ext cx="3300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LOAD, NOT FEATURES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297680" y="4992624"/>
            <a:ext cx="7116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the 13 want one thing: load the .p4 they ship with · 6 of the 16 dimensions only ask whether NDTwin's own program has a feature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5559552"/>
            <a:ext cx="50292" cy="493776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11" name="Text 8"/>
          <p:cNvSpPr/>
          <p:nvPr/>
        </p:nvSpPr>
        <p:spPr>
          <a:xfrm>
            <a:off x="996696" y="5559552"/>
            <a:ext cx="33009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+ LPM ONLY · 1/13 UNCHANGED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297680" y="5559552"/>
            <a:ext cx="711677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0/13 need meters or digest · only basic runs as-is, and even then the skeleton punts where the exercise drops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9311335" y="274320"/>
            <a:ext cx="2103120" cy="365760"/>
          </a:xfrm>
          <a:prstGeom prst="rect">
            <a:avLst/>
          </a:prstGeom>
          <a:solidFill>
            <a:srgbClr val="FBF2F0"/>
          </a:solidFill>
          <a:ln w="16510">
            <a:solidFill>
              <a:srgbClr val="9C3B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11335" y="274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READ-CODE / NOT RUN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ENGINEERING, AND WHAT'S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8351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five gaps live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" y="877824"/>
            <a:ext cx="8351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side and kernel side · sizes are estimates</a:t>
            </a:r>
            <a:endParaRPr lang="en-US" sz="1400" dirty="0"/>
          </a:p>
        </p:txBody>
      </p:sp>
      <p:pic>
        <p:nvPicPr>
          <p:cNvPr id="5" name="Image 0" descr="/sessions/hopeful-sharp-hopper/mnt/Desktop/NDTwin slide material/NDTwin slide material 909/generator/../figures/p4-tutorials/_hires/fig_t2_gap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2054" y="1280160"/>
            <a:ext cx="7247587" cy="40782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5431536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5559552"/>
            <a:ext cx="50292" cy="4937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996696" y="5559552"/>
            <a:ext cx="21122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LINE WRITTEN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108960" y="5559552"/>
            <a:ext cx="83054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badges are estimated sizes, not progress · border style is the phase, and phase three is the sFlow parser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at trunk 1a284f75 · exercises run 09-08 on their own harness. Line counts estimated in GAP-ANALYSIS §1/§3.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311335" y="274320"/>
            <a:ext cx="2103120" cy="365760"/>
          </a:xfrm>
          <a:prstGeom prst="rect">
            <a:avLst/>
          </a:prstGeom>
          <a:solidFill>
            <a:srgbClr val="FBF2F0"/>
          </a:solidFill>
          <a:ln w="16510">
            <a:solidFill>
              <a:srgbClr val="9C3B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11335" y="274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READ-CODE / NOT RUN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ENGINEERING, AND WHAT'S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ONLY A FOREIGN P4 PROGRAM REVEALS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p4info on ten switches, for months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pic>
        <p:nvPicPr>
          <p:cNvPr id="6" name="Image 0" descr="/sessions/hopeful-sharp-hopper/mnt/Desktop/NDTwin slide material/NDTwin slide material 909/generator/../figures/p4-tutorials/_hires/fig_t3a_silent_z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4687" y="1810512"/>
            <a:ext cx="3916840" cy="3986784"/>
          </a:xfrm>
          <a:prstGeom prst="rect">
            <a:avLst/>
          </a:prstGeom>
        </p:spPr>
      </p:pic>
      <p:pic>
        <p:nvPicPr>
          <p:cNvPr id="7" name="Image 1" descr="/sessions/hopeful-sharp-hopper/mnt/Desktop/NDTwin slide material/NDTwin slide material 909/generator/../figures/p4-tutorials/_hires/fig_t3b_election_wi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168" y="1810512"/>
            <a:ext cx="3916840" cy="39867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04687" y="5870448"/>
            <a:ext cx="391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fields read by position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370168" y="5870448"/>
            <a:ext cx="391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two controllers, one switch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line-checked at sflow_emitter.py:425-429,468-470 and p4_client.py:217,222 — the mechanism, not an observation. ② measured 2026-08-13; bmv2 follows the spec throughout.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ENGINEERING, AND WHAT'S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402336"/>
            <a:ext cx="8351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phases to a regression gate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" y="877824"/>
            <a:ext cx="8351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~675 lines · the gate opens after phase two</a:t>
            </a:r>
            <a:endParaRPr lang="en-US" sz="1400" dirty="0"/>
          </a:p>
        </p:txBody>
      </p:sp>
      <p:pic>
        <p:nvPicPr>
          <p:cNvPr id="5" name="Image 0" descr="/sessions/hopeful-sharp-hopper/mnt/Desktop/NDTwin slide material/NDTwin slide material 909/generator/../figures/p4-tutorials/_hires/fig_t4_ph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801" y="1280160"/>
            <a:ext cx="7800093" cy="35112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48646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4992624"/>
            <a:ext cx="50292" cy="493776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8" name="Text 5"/>
          <p:cNvSpPr/>
          <p:nvPr/>
        </p:nvSpPr>
        <p:spPr>
          <a:xfrm>
            <a:off x="996696" y="4992624"/>
            <a:ext cx="2660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13 ON NDTWIN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657600" y="4992624"/>
            <a:ext cx="77568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2×2 ran on the tutorials' own harness with their switch binary — it shows the exercises behave as expected, not that NDTwin can host them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77240" y="5559552"/>
            <a:ext cx="50292" cy="4937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996696" y="5559552"/>
            <a:ext cx="2660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SKELETONS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657600" y="5559552"/>
            <a:ext cx="77568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expected failure, observed · a gate nobody has seen go red is not a gate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counts estimated in GAP-ANALYSIS §6. Runs 09-08 with /usr/local/bin/simple_switch_grpc (327fa7d1), not the NDTwin build.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311335" y="274320"/>
            <a:ext cx="2103120" cy="365760"/>
          </a:xfrm>
          <a:prstGeom prst="rect">
            <a:avLst/>
          </a:prstGeom>
          <a:solidFill>
            <a:srgbClr val="FBF2F0"/>
          </a:solidFill>
          <a:ln w="16510">
            <a:solidFill>
              <a:srgbClr val="9C3B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11335" y="274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— SEE CHIPS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ENGINEERING, AND WHAT'S NEXT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WRITING UP?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asking, not arguing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56816"/>
            <a:ext cx="50292" cy="5120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1938528"/>
            <a:ext cx="10417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8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96696" y="2231136"/>
            <a:ext cx="104177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anyone quantified what an unstated build flag costs?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2962656"/>
            <a:ext cx="5029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" y="296265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2962656"/>
            <a:ext cx="8305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build flag · 8.0× on a single hop · 12× across three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77240" y="3529584"/>
            <a:ext cx="5029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" y="3529584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08960" y="3529584"/>
            <a:ext cx="8305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ambiguity adds 16× on the same data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96512"/>
            <a:ext cx="5029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409651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08960" y="4096512"/>
            <a:ext cx="8305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0/12 state that flag, in our sample of 18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77240" y="4663440"/>
            <a:ext cx="50292" cy="548640"/>
          </a:xfrm>
          <a:prstGeom prst="rect">
            <a:avLst/>
          </a:prstGeom>
          <a:solidFill>
            <a:srgbClr val="4F4F4F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" y="466344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CHECK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08960" y="4663440"/>
            <a:ext cx="8305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~2,500× spread has no attributable cause — from reading, not measured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77240" y="5230368"/>
            <a:ext cx="50292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" y="523036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08960" y="5230368"/>
            <a:ext cx="8305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find anyone who has done this · a pointer would be the useful answer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77240" y="5888736"/>
            <a:ext cx="9951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that this is unknown — that being known has not made it reported.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FOR THE NEXT REPORT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three, each with the test that settles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27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ceiling with a criterion that can see it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438144"/>
            <a:ext cx="327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never fired in 72 cells, so the arms cannot be told apart.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754880"/>
            <a:ext cx="50292" cy="10607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014984" y="4718304"/>
            <a:ext cx="303367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 a registered criterion reads out a rung the data plane actually fails at.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60138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60138" y="2468880"/>
            <a:ext cx="327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third question on its own terms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60138" y="3438144"/>
            <a:ext cx="327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 build's install and provenance are verified. The functional suite is not.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60138" y="4754880"/>
            <a:ext cx="50292" cy="10607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697882" y="4718304"/>
            <a:ext cx="303367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 the whole L0–L4 suite passes on the fast build.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43037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43037" y="2468880"/>
            <a:ext cx="3271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manual line to publishable grade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43037" y="3438144"/>
            <a:ext cx="32714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whole-stack and API page are green. Four executable pages remain.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43037" y="4754880"/>
            <a:ext cx="50292" cy="10607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380781" y="4718304"/>
            <a:ext cx="303367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 every executable page has been executed.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the 20 and 27 August pages, so the next report can be checked against this one.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· open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8366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8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4983480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88366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8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46520" y="2286000"/>
            <a:ext cx="4983480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42032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0" name="Text 8"/>
          <p:cNvSpPr/>
          <p:nvPr/>
        </p:nvSpPr>
        <p:spPr>
          <a:xfrm>
            <a:off x="996696" y="248716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installs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64408" y="2487168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room · 12/12 up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163824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" y="31089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page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64408" y="310896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29/29 correct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3785616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37307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build flag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64408" y="373075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8.0× · 12× across three hops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4407408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" y="435254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64408" y="4352544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1.25× or 16×, by choice of unit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" y="5029200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2" name="Text 20"/>
          <p:cNvSpPr/>
          <p:nvPr/>
        </p:nvSpPr>
        <p:spPr>
          <a:xfrm>
            <a:off x="996696" y="497433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64408" y="4974336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of flow count (UDP)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" y="5650992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25" name="Text 23"/>
          <p:cNvSpPr/>
          <p:nvPr/>
        </p:nvSpPr>
        <p:spPr>
          <a:xfrm>
            <a:off x="996696" y="559612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64408" y="5596128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0/12 state build flags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46520" y="2542032"/>
            <a:ext cx="50292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665976" y="248716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sampling ceiling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33688" y="2487168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fidelity, not the wall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46520" y="3163824"/>
            <a:ext cx="50292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6665976" y="310896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build as default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33688" y="3108960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L0–L4 has not run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46520" y="3785616"/>
            <a:ext cx="50292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6665976" y="37307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remaining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933688" y="3730752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executable pages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446520" y="4407408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37" name="Text 35"/>
          <p:cNvSpPr/>
          <p:nvPr/>
        </p:nvSpPr>
        <p:spPr>
          <a:xfrm>
            <a:off x="6665976" y="435254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boot ring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33688" y="4352544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never taken to 6–8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446520" y="5029200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40" name="Text 38"/>
          <p:cNvSpPr/>
          <p:nvPr/>
        </p:nvSpPr>
        <p:spPr>
          <a:xfrm>
            <a:off x="6665976" y="497433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933688" y="4974336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aliased with time of day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446520" y="5650992"/>
            <a:ext cx="50292" cy="292608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43" name="Text 41"/>
          <p:cNvSpPr/>
          <p:nvPr/>
        </p:nvSpPr>
        <p:spPr>
          <a:xfrm>
            <a:off x="6665976" y="559612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routes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933688" y="5596128"/>
            <a:ext cx="2496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· one used by the GUI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665976" y="627278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items are what the next report answers.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2026-09-08T09:56:12Z</dcterms:created>
  <dcterms:modified xsi:type="dcterms:W3CDTF">2026-09-08T09:56:12Z</dcterms:modified>
</cp:coreProperties>
</file>