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1。題目採 template 建議句。姓名全名與指導教授姓名待 Adam 填；日期為預定報告日（約 2026-09-03）。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3。素材：CHANGELOG L9-20；doc/2026-07-27_p4_bmv2_support_plan.md。既有系統一句話帶過（A1.1）。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4（整份簡報的敘事鑰匙，建議講滿）。素材：CHANGELOG L376-386 ⚠ 段。296 為 2026-08-13 於 head cfbbf24 重量（git log 28b8b13..HEAD --oneline | wc -l）；單一作者已驗（git log --format=%an | sort -u 只有 Adam010341）。28b8b13 是 6f32bca 的 direct parent（已核實，不是近似值）。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5。素材：CHANGELOG L11-15；p4_proxy/proxy_agent/SPEC.md。Port 佈局（兩輪 live＋程式碼證實）：kernel :8000、P4 proxy :8081、Ryu :8080。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6。素材：CHANGELOG 條目 6；src/ndt_core/routing_management/、power_management/。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7。素材：CHANGELOG 條目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8。素材：p4_proxy/proxy_agent/ 各檔；CHANGELOG 條目 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9。素材：CHANGELOG 條目 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10（可略）。素材：CHANGELOG 條目 9。「編譯過但被默默忽略」是好的口頭故事。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11 ＋ commit 32afeb9 的補充。素材：CHANGELOG 條目 26/27（a8db425）、32afeb9 完整 message。誠實邊界（Q&amp;A 防線）：32afeb9 修的是 proxy 側（違約的是呼叫端，render_switches 的 docstring 本來就寫「連不到的不該出現」）；kernel 側 updateSwitches 對列出的 dpid 仍無條件 isUp=true——是「不再餵它壞資料」，不是「它自己會判斷」。量測手法：10 Hz 取樣看 up-blip 跟著 5s/30s 輪詢節奏出現＝用 cadence 指認寫入者。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12。素材：CHANGELOG L426-431、條目 21；commit ca72d22（端到端驗證）、2c81b26（重算路由；註明既有 Ryu 控制程式的缺陷）。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12b ①–④。素材：doc/2026-07-27_p4_bmv2_support_plan.md Phase 7 節；doc/2026-08-11_phase7_power_mechanism_design.md；commit 949fcba（subchannel pool）、e7d564b、32afeb9、3674ddd。兩輪數據不混講：1.50 秒與 678 筆是 08-12/13 輪（A-live-runbook / W2-live-reverify）；9000/9000 與「helper 回報 stopped 前 0.3 秒停止轉送」是較早那輪 Phase 7 驗收（design doc 的 Live 驗收結果）——投影片已標「早輪驗收」。gRPC 的 channel option 拼錯會被安靜忽略——所以測試明寫完整 option 字串。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12b ⑤ ＋ A2 排除表的 readopt 條（裁定放穩健性頁）。素材：1a7d815（py-spy stack dump 證據、三層修法、live 驗證 /stats/flow/5 503 in 5.004s、switch_state 全程 1.2-1.9ms）、a72a168（readopt 安全失敗）。與 bug 節「API 錯誤處理」頁 ④ 互為一體兩面——兩頁都有明說。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13。素材：CHANGELOG 條目 4、10、11、12、19；8c25dbc（OpResult 接通）。OpResult 放這頁（功能完善）不放 bug 頁——A2 裁定。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14 ＋ ee7233b 當開場引例（補充審查報告建議，A2 已列入）。素材：CHANGELOG L376-386、L388-410；ee7233b 完整 message（兩層已逐字對 28b8b13 驗證：ControllerAndOtherEventHandler.cpp:51/:68 成員未賦值；main.cpp:142/:172 兩個實例）。分寸：陳述事實、不貶前人——無聲缺陷正常使用不會露出來。「11 個」是第一輪驗證的數字（CHANGELOG 原文 eleven defects）；後續審查坐實的追加條目以「其後又坐實多條」帶過，不改 11——S 報告曾請 Adam 裁定是否改總數，初版採此表述。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15 ＋ A2 新增的 f21d7a0（④）。素材：fbd8140、f21d7a0 commit message；CHANGELOG 條目 2、3。④ 的誠實註記已寫進投影片（缺陷是既有的、曝光度是新的——與 ① 的 --no-ai、「併發與生命週期」頁 ② 的週期刷新同款處理）。baseline 驗證：28b8b13:TopologyAndFlowMonitor.cpp:313-314、catch :340/:421/:504。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16（原四條）。素材：CHANGELOG L390-408（themed 條 1、2、4、6）。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16 續（A2 2026-08-13 新增：cbb504a、5054249，皆已對 28b8b13 原文驗證——:857/:879 的 .first、Classifier.cpp:771/:773 的 vlan_vid/vlan_id）。VLAN：Adam 裁定只記錄不修（只修一側比不修更糟）。⑥ 其實也是「只會加、不會刪」家族的近親（mark-and-sweep 停擺）。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17 ＋ 第 5 列（2026-08-13 cfbbf24 查證的最新一例，template 校訂之後才坐實）。歸類照 2c81b26 先例「既有 Ryu 控制程式的缺陷」；要不要上台、以及三個處置選項（只記錄／重連時補重算／連 BFS 可達性一起處理）都等 Adam 裁決，初版先列出並標「未修」。詳見 doc/2026-07-29_HANDOFF.md §2b 第 8 列。素材：CHANGELOG L398-401、條目 28、29；71d27c1、820c2a2、eb9c860。「同一形狀找到多例」展示的是系統性歸納，不只是逐條修——值得口頭強調。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18 ①②③。素材：CHANGELOG 條目 14、15、25；themed 條 7。② 已對 28b8b13 原文驗證。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18 ④ ＋ A2 新增 59dc5d3、916d330 的 baseline 半邊。⚠ ④ 的寫法是本次草稿的裁定候選：template 原 ④（「一律把 graph 改成 caller 要求的狀態」）與 3292653 message（「從未碰過 graph」）的矛盾，已用 baseline 原文解開——兩句都對，指不同 overload：28b8b13 的 :368 三參數版（scrape HTML 後照 action 改 graph、scrape 結果只寫 log）是死碼、零呼叫點；:689→:716 可達版是裸 curl rc==0、不碰 graph。初版合寫成一條完整故事；A2 原本把 3292653 列排除（理由即該矛盾），此寫法待 Adam 確認。59dc5d3 baseline 驗證：:1958/:1972 兩分支寫死同一 IP（投影片上不放 IP）。916d330 的 OpResult 半邊照 8c25dbc 先例在功能頁。好的串場句：這一層就坐在 Phase 7 那條鏈的正上方——helper 沒安裝的 P4 powerOff，對使用者回答「ok」。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A2 新增裁定表首列（034da18）＋ Adam 裁決「單向斷鏈進 bug 頁」。素材：034da18 完整 message；實測數字出自 C-live-ovs-runbook（291 秒）與 W2-live-reverify（P4 側 12.5 秒）。twin 誤報細節：黑洞期間 twin 報該 flow 9–15 Mbps 流動、edges_up 287/288。這條與 Failover 頁的 2c81b26（整支沒有 remove_edge）同源，都註明「既有 Ryu 控制程式的缺陷」。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19（含 A2 裁定的 1a7d815 kernel 半邊＝④，與穩健性頁互為一體兩面，兩頁都有明說）＋ A2 新增 57346f6（⑤）。⑤ 的 A1.3 辨析（重要）：這是產品自己的 Intent Translator 功能在用 OpenAI——不是被禁止的「開發流程」話題，不要砍。baseline 驗證：LLMAgent.cpp:27-32（log 在 null 檢查之前）；DeviceConfigurationAndPowerManager baseline :507 無 --max-time。素材：CHANGELOG 條目 22、23、24、31；themed 條 5；L382；1a7d815、57346f6。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20。素材：CHANGELOG 條目 18、20（d5f5bfa、0596dd1）。44fa86e（m_ipStrToDpidMap operator[] 讀取即插入→dpid 0，已驗 baseline 九處）依 S §5.9 暫不進頁面——要不要擴充由 Adam 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21（可略，但對教授場合是加分頁）。素材：CHANGELOG L412-419；tsv 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22。素材：CMakeLists.txt、p4_proxy/requirements.txt、各 SPEC.md。依 A1 規則，不出現 AI 協作相關字樣。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23。素材：doc/2026-08-07_testing_tools_overview.md 方法論段；CHANGELOG L433-441。「11+」出處：CHANGELOG L438 記 11（2026-08-08 時點）；其後輪次未逐條重數，維持下限表述——A3 重數規則對此條的極限，已如實標注。S 報告另建議加第 ⑤ 點「引用會腐爛」（行號改 symbol、烘進文件的數字移除；佐證：某 runbook 全檔唯一存活的引用就是唯一用 symbol 的那處）——template 校訂未採，要不要加由 Adam 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24。素材：doc/2026-08-07_testing_tools_overview.md（首選）、tools/test_workflow/README.md、tools/contract_test/README.md。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25。數字 2026-08-13 於 head cfbbf24 依 A3.1 指令重量：gtest grep 554（TEST_P=0 已驗，grep 數＝runtime 數；實跑 554/70 suites 一致）、p4_proxy/tests 402（15 檔）、tests/python 232（7 檔，未註冊 ctest、獨立執行）、shell 6。成因（教授若問 426→554 怎麼來的）：密集審查輪為三個實測缺陷各補迴歸測試＋四組新工具（fuzz harness、P4 覆蓋閘門、故障注入、twin 對帳）各帶測試＋test_RequestDeadlines 7 條。素材：CHANGELOG L433-441；doc/audit/ mutation-evidence 系列；fbd8140。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26（可略，一頁帶過）。檔名為現行名（doc/ 已於 2026-08-13 全面改為「建立日期_原名」，投影片省略日期前綴求可讀；口頭可提命名紀律：檔名帶建立日、ls 即時序）。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27（骨架預填，A1.4）。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28（數據已有：A-live-runbook、C-live-ovs-runbook、W2-live-reverify，repo 外 ~/Documents/NDTwin documentation/）。斷鏈手法：s6-eth3↔s9-eth2 tc netem loss 100% 雙端；不用 ifconfig down——它會弄壞整台 bmv2。291 秒那格＝「單向鏈路故障」頁的缺陷（修復前 OVS 路），修復後行為見 034da18 迴歸測試——口頭要講清楚時序。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29（骨架預填）。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30（骨架預填）。理論地板參考（口頭備用）：sFlow 1/256 取樣誤差 196√(1/c)。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31。依 A1.3：敘述用「第三方交叉檢查／獨立驗證流程」，不提執行工具。後續還有一輪 55 條、實質全中零誤判的審查（Tier 1 四條全修）——Adam 已裁決不另開頁、發現併進既有頁、來源不提，故本頁不列；其產出的 baseline 條目已散在第 2 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32。Demo 腳本目前不存在（全 repo find 過零命中）——腳本與畫面待 Adam。三候選皆出自 runbook 可直接演。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Page 33（未完成清單按 2026-08-13 現況核對：Phase 7、8 都已完成——template 校訂前的舊版寫錯方向，這裡已修正）。「誠實列出未完成」在教授場合是加分不是扣分。OVS stale rule 為 cfbbf24 新查證項，template 未及收錄，已按其精神列入。mastership 上報上游前還缺第三方 client 重現（p4runtime_lib 的 MasterArbitrationUpdate 會永遠阻塞，需手寫低階 gRPC）。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47088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NDTwin 數位孿生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7860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P4/bmv2 資料面支援，與它揭露的 baseline 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1868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00" b="0" i="1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實驗室進度報告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12064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Adam　·　指導教授：【待填】　·　2026-09-03（預定）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大綱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19072"/>
            <a:ext cx="475488" cy="475488"/>
          </a:xfrm>
          <a:prstGeom prst="ellipse">
            <a:avLst/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27632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6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新增功能</a:t>
            </a:r>
          </a:p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P4/bmv2 資料面完整接入：strategy pattern、P4 pipeline、proxy agent、liveness、failover、電源管理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51760"/>
            <a:ext cx="475488" cy="475488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6032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6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修復的 baseline bug</a:t>
            </a:r>
          </a:p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接手系統既有的無聲缺陷：crash、資料正確性、狀態破壞、資源類——每條附「為什麼之前沒人發現」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84448"/>
            <a:ext cx="475488" cy="475488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8444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93008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6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使用技術</a:t>
            </a:r>
          </a:p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技術棧總覽，與這次工作真正的重點：方法論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17136"/>
            <a:ext cx="475488" cy="475488"/>
          </a:xfrm>
          <a:prstGeom prst="ellipse">
            <a:avLst/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171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25696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6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測試工具與文件</a:t>
            </a:r>
          </a:p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五層測試架構（L0–L4）、測試資產與品質保證、文件資產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49823"/>
            <a:ext cx="475488" cy="475488"/>
          </a:xfrm>
          <a:prstGeom prst="ellipse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9823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58383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6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實機測試與 demo</a:t>
            </a:r>
          </a:p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L4 差異比對、failover 端到端、壓力測試、精確度量測、demo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背景：NDTwin 是什麼、我的任務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NDTwin＝網路數位孿生：C++ kernel 為核心，7 個外圍元件（GUI、Energy-Saving、Traffic-Engineering…）透過 /ndt/ HTTP API 互動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既有系統支援 OVS/Mininet ＋ Ryu 控制器（實驗室既有成果）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我的任務：讓同一顆 kernel 也能驅動 P4/bmv2 資料面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114800"/>
            <a:ext cx="213969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7 個外圍應用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11480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4114800"/>
            <a:ext cx="19568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/ndt/ HTTP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4114800"/>
            <a:ext cx="213969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C++ Kernel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11480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4114800"/>
            <a:ext cx="223113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OVS/Mininet ＋ Ryu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4480560"/>
            <a:ext cx="548640" cy="0"/>
          </a:xfrm>
          <a:prstGeom prst="line">
            <a:avLst/>
          </a:prstGeom>
          <a:ln w="20320">
            <a:solidFill>
              <a:srgbClr val="2E6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9280" y="4480560"/>
            <a:ext cx="548640" cy="0"/>
          </a:xfrm>
          <a:prstGeom prst="line">
            <a:avLst/>
          </a:prstGeom>
          <a:ln w="20320">
            <a:solidFill>
              <a:srgbClr val="2E6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03920" y="4480560"/>
            <a:ext cx="548640" cy="0"/>
          </a:xfrm>
          <a:prstGeom prst="line">
            <a:avLst/>
          </a:prstGeom>
          <a:ln w="20320">
            <a:solidFill>
              <a:srgbClr val="2E6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52560" y="49560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15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＋ P4/bmv2（本次工作）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工作全貌：一個任務變成兩條主線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642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開工假設：「baseline 功能正確，P4 是純新增」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實測推翻：對真正的 baseline（28b8b13）驗出 11 個既有缺陷——全部無聲：不 crash、不留 log、每個 endpoint 都回 200——這正是假設看起來成立的原因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所以工作是兩件事：P4 支援 ＋ 修好共用路徑。會說謊的 baseline，無法拿來驗證新的資料面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00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296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316382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commits（2026-07-23 → 08-13，全部本人）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06908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416052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000" b="1" i="0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5029200"/>
            <a:ext cx="316382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個無聲的 baseline 既有缺陷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06908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16052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0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5029200"/>
            <a:ext cx="316382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條主線：P4 支援＋共用路徑修復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架構：P4 怎麼接進既有系統——kernel 無感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481328"/>
            <a:ext cx="28712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7 個外圍應用 ＋ Intent Translator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048256"/>
            <a:ext cx="0" cy="283464"/>
          </a:xfrm>
          <a:prstGeom prst="line">
            <a:avLst/>
          </a:prstGeom>
          <a:ln w="15240">
            <a:solidFill>
              <a:srgbClr val="5F71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33172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2331720"/>
            <a:ext cx="2871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C++ Kernel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Classifier / FlowLinkUsageCollector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全部 /ndt/ API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sFlow collector UDP:6343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8308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783080"/>
            <a:ext cx="25968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Ryu 控制器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北向 REST :8080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33756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3337560"/>
            <a:ext cx="25968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 Proxy Agent</a:t>
            </a:r>
          </a:p>
          <a:p>
            <a:pPr algn="ctr">
              <a:lnSpc>
                <a:spcPct val="105000"/>
              </a:lnSpc>
              <a:buNone/>
            </a:pPr>
            <a:r>
              <a:rPr sz="11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模仿 Ryu API :8081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78308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783080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OVS / Mininet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33756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3337560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bmv2 / Mininet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657600" y="2148840"/>
            <a:ext cx="1234440" cy="457200"/>
          </a:xfrm>
          <a:prstGeom prst="line">
            <a:avLst/>
          </a:prstGeom>
          <a:ln w="20320">
            <a:solidFill>
              <a:srgbClr val="2E6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57600" y="3383280"/>
            <a:ext cx="1234440" cy="320040"/>
          </a:xfrm>
          <a:prstGeom prst="line">
            <a:avLst/>
          </a:prstGeom>
          <a:ln w="20320">
            <a:solidFill>
              <a:srgbClr val="0E8A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35240" y="2167128"/>
            <a:ext cx="1371600" cy="0"/>
          </a:xfrm>
          <a:prstGeom prst="line">
            <a:avLst/>
          </a:prstGeom>
          <a:ln w="20320">
            <a:solidFill>
              <a:srgbClr val="2E6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99248" y="18470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OpenFlow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3721608"/>
            <a:ext cx="1371600" cy="0"/>
          </a:xfrm>
          <a:prstGeom prst="line">
            <a:avLst/>
          </a:prstGeom>
          <a:ln w="20320">
            <a:solidFill>
              <a:srgbClr val="0E8A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34015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P4Runtime gRPC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657600" y="2944368"/>
            <a:ext cx="4663440" cy="0"/>
          </a:xfrm>
          <a:prstGeom prst="line">
            <a:avLst/>
          </a:prstGeom>
          <a:ln w="17780">
            <a:solidFill>
              <a:srgbClr val="0E8A7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77639" y="2651760"/>
            <a:ext cx="4206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900" b="0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sFlow v5 回傳 → kernel UDP:6343（OVS 原生／proxy 合成）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224528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 w="12700">
            <a:solidFill>
              <a:srgbClr val="0E8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245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kernel 上層一行都不用改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5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proxy agent 模仿 Ryu 北向 API（topology、/stats/flow、destination paths）——kernel 以為自己還在跟 Ryu 講話</a:t>
            </a:r>
          </a:p>
          <a:p>
            <a:pPr algn="l" marL="228600" indent="-228600">
              <a:lnSpc>
                <a:spcPct val="112000"/>
              </a:lnSpc>
              <a:spcAft>
                <a:spcPts val="5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proxy 自行合成 sFlow v5，打進 kernel 既有 UDP:6343 collector——遙測路徑也零修改</a:t>
            </a:r>
          </a:p>
          <a:p>
            <a:pPr algn="l" marL="228600" indent="-228600">
              <a:lnSpc>
                <a:spcPct val="112000"/>
              </a:lnSpc>
              <a:spcAft>
                <a:spcPts val="500"/>
              </a:spcAft>
              <a:buFont typeface="Microsoft JhengHei"/>
              <a:buChar char="•"/>
            </a:pPr>
            <a:r>
              <a:rPr sz="12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結果：Classifier、FlowLinkUsageCollector、全部 /ndt/ API、7 個外圍應用、Intent Translator 一行都不用改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Strategy pattern 與 SwitchKind 分派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IRoutingStrategy / IPowerStrategy 介面，OVS 與 P4 雙實作——路由與電源各自一條乾淨的分派線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typed SwitchKind（OVS / BMV2 / HARDWARE）取代原本「對拓撲檔名做大小寫敏感的子字串比對」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O(1) 查找；不再對整張圖做逐操作深拷貝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未知 dpid 回錯誤，而非默默轉給 Ryu；載入時驗證拓撲同質性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P4 pipeline（ndtwin_switch.p4）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ternary flow_5tuple 表（帶真正 priority）置於 ipv4_lpm 之前——flow 級規則能蓋過路由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ARP / TCP / UDP / ICMP 解析；L2 表——非 IPv4 frame 不再被默默丟棄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TTL guard；direct / per-port counters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1/256 clone-to-CPU 取樣，供遙測合成 sFlow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p4_proxy/p4_src/ndtwin_switch.p4 · 482 行 · p4_src/SPEC.md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P4 proxy agent（Python 服務）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00" b="0" i="1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模組構成——每個模組對應一件 kernel 期待 Ryu 做的事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25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p4_client.py</a:t>
            </a:r>
          </a:p>
          <a:p>
            <a:pPr algn="l">
              <a:lnSpc>
                <a:spcPct val="110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P4Runtime gRPC client：mastership、pipeline、table 讀寫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75104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25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topology_manager.py</a:t>
            </a:r>
          </a:p>
          <a:p>
            <a:pPr algn="l">
              <a:lnSpc>
                <a:spcPct val="110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拓撲管理 ＋ LLDP beacon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2880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975104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25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ryu_topology.py / ryu_flow_stats.py</a:t>
            </a:r>
          </a:p>
          <a:p>
            <a:pPr algn="l">
              <a:lnSpc>
                <a:spcPct val="110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Ryu 相容 REST（含 string-action 格式的 /stats/flow）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66744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25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kernel_notifier.py</a:t>
            </a:r>
          </a:p>
          <a:p>
            <a:pPr algn="l">
              <a:lnSpc>
                <a:spcPct val="110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switch-entered / link 事件通知 kernel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204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666744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25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sflow_emitter.py</a:t>
            </a:r>
          </a:p>
          <a:p>
            <a:pPr algn="l">
              <a:lnSpc>
                <a:spcPct val="110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sFlow v5 合成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35204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666744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25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FastAPI / uvicorn</a:t>
            </a:r>
          </a:p>
          <a:p>
            <a:pPr algn="l">
              <a:lnSpc>
                <a:spcPct val="110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服務框架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sFlow v5 合成與跨語言驗證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Python 端合成的封包，與 OVS 發出的 byte-layout 相容——kernel 的 collector 分不出來源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證明方式：跨語言 round-trip——把 Python emitter 的真實輸出，餵進 kernel 實際使用的 C++ parser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不是「兩邊各自測」：同一串 bytes 走完整條真實路徑，layout 錯一個 byte 測試就紅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p4_proxy/proxy_agent/sflow_emitter.py ←→ tests/test_SFlowEmitterRoundtrip.cpp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遙測取樣路徑：clone session 與 packet_in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PRE clone session 250 經 P4Runtime 程式化——取樣不佔 pipeline 正常轉發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樣本與真 packet-in 用 packet_in 內的 reason 欄位區分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踩到的坑：第三個 controller header 編譯會過、但被 P4Runtime 默默忽略——它按名字只認 packet_in / packet_out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證據式存活偵測（liveness）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554480"/>
            <a:ext cx="1682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BEDEB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554480"/>
            <a:ext cx="1682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554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554480"/>
            <a:ext cx="19568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30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544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「無法判斷」絕不能報成「死了」——Unknown 不動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11064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bmv2 側：GET /p4/switch_state——P4Runtime round-trip 探測 ＋ LLDP 新鮮度，取代早期的無條件 setVertexUp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死掉的 switch 從 /v1.0/topology/switches 消失，而不是留在清單裡假裝存在——live 驗證：678 筆 10 Hz 取樣、零 up-blip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只有明確的 False 才排除一台：「沒探過」不是死亡證據——否則 fabric 在每次啟動的頭幾秒會全黑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單一 proxy 失聯不能把十台 switch 全標黑；OVS 側套同一套 policy（該側原始行為見第 2 節）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Failover（Phase 6 · 六項全部完成）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switch-entered 通知 · link failure/recovery 通知 · 證據式 liveness · LLDP beacon · Ryu 格式 /stats/flow · destination paths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LLDP beacon 細節：port 由拓撲導出；source MAC 不再與 host 區段衝突；修掉 dpid ≥ 256 的 crash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配套修復：拓撲變化時重算路由——既有 Ryu 控制程式原本整支沒有 remove_edge，斷鏈之後什麼都不會發生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端到端驗證數據 → 第 5 節（bmv2 16.63 秒自癒、復原 hitless）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Phase 7：交換器電源管理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00" b="0" i="1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數位孿生要能回答「關掉這台會怎樣」——就必須真的能關、能開、能重新接管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783080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ndtwin-p4-power helper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關閉整台 bmv2，保留可重啟狀態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POST /p4/readopt/{dpid}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重建 mastership / pipeline /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clone session / 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83080"/>
            <a:ext cx="3291840" cy="96012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83080"/>
            <a:ext cx="31455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死掉的 switch 從拓撲清單消失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不留在清單裡假裝存在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2258568"/>
            <a:ext cx="411480" cy="0"/>
          </a:xfrm>
          <a:prstGeom prst="line">
            <a:avLst/>
          </a:prstGeom>
          <a:ln w="20320">
            <a:solidFill>
              <a:srgbClr val="0E8A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2258568"/>
            <a:ext cx="411480" cy="0"/>
          </a:xfrm>
          <a:prstGeom prst="line">
            <a:avLst/>
          </a:prstGeom>
          <a:ln w="20320">
            <a:solidFill>
              <a:srgbClr val="0E8A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3063240"/>
            <a:ext cx="3383280" cy="13716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54680"/>
            <a:ext cx="316382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26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1.50 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86200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關機 135 秒後，power-on 到重新接管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063240"/>
            <a:ext cx="3383280" cy="13716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154680"/>
            <a:ext cx="316382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26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0 up-blip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886200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678 筆 10 Hz 取樣期間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063240"/>
            <a:ext cx="3291840" cy="137160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154680"/>
            <a:ext cx="307238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26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9000/9000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886200"/>
            <a:ext cx="307238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其餘九台零封包遺失（早輪驗收）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5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誠實一句：readopt 在 LLDP 重新發現鏈路之前，回報「已接管、路由尚未安裝」——約 30 秒空窗，已知且可觀測</a:t>
            </a:r>
          </a:p>
          <a:p>
            <a:pPr algn="l" marL="228600" indent="-228600">
              <a:lnSpc>
                <a:spcPct val="112000"/>
              </a:lnSpc>
              <a:spcAft>
                <a:spcPts val="5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修復故事：修復前關機夠久後 powerOn 必定失敗，錯誤是「Connection refused」——打在一個正常 accept 的 port 上。根因是 gRPC 全域 subchannel pool 讓全新 client 繼承 120 秒 backoff；對照實驗：帶 use_local_subchannel_pool 的 channel 0.00 秒 READY、不帶的 32.56 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4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穩健性：單一 switch 的故障，不該變成全 fabric 的狀態遺失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事件：一台 bmv2 活著但不回應 gRPC → flow-table 端點是 async def，阻塞的 gRPC 讀跑在 event loop 上 → 整個 proxy 被拖死：liveness 端點 1.9 ms → 完全無回應，圖 40/40 → 32/40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指認：對活著的 proxy 取 stack dump，直接指出卡住的那一格；同一份 dump 證明 liveness prober 全程健康、threadpool 全程閒置——證據早就備好了，只是沒人能讀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修法：阻塞工作移出 event loop ＋ streaming gRPC 讀加 deadline → 實測 liveness 全程 1.2–1.9 ms、圖全程 40/40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同頁第二例——readopt：live 驗證抓到「對健康 switch 清表、仍回 success」→ 修成安全失敗（非 primary → 502 不碰 switch；路由全拒 → 502），拒絕與接受兩個方向都補了測試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250" b="0" i="0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⚠ 與第 2 節「無界 curl」是同一事件的兩半：這半在自己寫的 proxy 碼、那半在 baseline 的 kernel 碼——不是重複計數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E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· 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其他功能（快速帶過）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headless 啟動：--mode / --topology / --ai / --no-ai 取代互動式 std::cin——CI 跑得動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 明示自己的極限：group / meter 回 501 unsupported，而非默默轉給 Ryu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全 bmv2 拓撲的 identity ifIndex→port 對應：跳過不認識 bmv2 的 ovs-vsctl；惰性決定，避免與拓撲載入 race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南向失敗可見化：OpResult {ok, httpStatus, message}——200 但 body 是 error 也算失敗；後續把整條鏈接通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前提翻案：baseline 有 11 個無聲缺陷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5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開工假設「模擬器功能正確」——對真正的 baseline（28b8b13）驗證後：11 個缺陷本來就在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50" b="1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共同特徵：全部無聲。不 crash、不留 log、每個 endpoint 都回 200——所以假設看起來成立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5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其後的獨立審查又坐實了多條同樣早於接手的缺陷，本節一併列出；每條都附「為什麼之前沒人發現」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86200"/>
            <a:ext cx="10881360" cy="2057400"/>
          </a:xfrm>
          <a:prstGeom prst="roundRect">
            <a:avLst>
              <a:gd name="adj" fmla="val 10000"/>
            </a:avLst>
          </a:prstGeom>
          <a:solidFill>
            <a:srgbClr val="1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引例：一個功能在五個層次同時是死的（歷史鏈路資料）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  <a:buNone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成員從未賦值（null）· main 建了兩個不同實例、start 的和交出去的不是同一個 · 開關寫了沒人讀 · 建不出目錄就在啟動時丟例外 · 寫入不檢查 is_open——每次執行都往死掉的 stream 附加、什麼都沒寫、一行 log 都沒有</a:t>
            </a:r>
          </a:p>
          <a:p>
            <a:pPr algn="l">
              <a:lnSpc>
                <a:spcPct val="112000"/>
              </a:lnSpc>
              <a:buNone/>
            </a:pPr>
            <a:r>
              <a:rPr sz="1250" b="0" i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「每一層單獨都足以讓功能失效——所以修好任何一層，都不會有任何改善。」修一層的人會以為自己修錯了地方。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Crash 類（4 條）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81328"/>
            <a:ext cx="106344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一個 POST 打死整個 kernel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/ndt/intent_translator/text 對 null translator 解參考——baseline 不用 AI 時 translator 就是 nullptr 且 handler 無 guard；null deref 是 signal，下方的 catch 接不到。修成 guard 回 503。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24327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96896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Ryu 的 table-miss 規則讓 Classifier crash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"actions": [] 對空 vector 呼叫 .front()。陷阱：呼叫點在 SPDLOG_LOGGER_TRACE 裡——spdlog 就算 level 關閉也會先求值參數。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93591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566160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sFlow parser 缺邊界檢查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對外可達的輸入面：任何能對 UDP:6343 發包的東西。ASan 證實拿掉檢查可重現 heap-buffer-overflow。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62856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628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35424"/>
            <a:ext cx="106344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缺欄位的控制平面回應殺掉 kernel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.value("dpid","") → stoull 丟 invalid_argument；唯一的 catch 只接 json::parse_error（三個 ingest 同款）。為什麼沒人發現：baseline 只在啟動抓一次拓撲，曝險就那一次；改成週期輪詢後，每次輪詢都在骰。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資料正確性類（一）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81328"/>
            <a:ext cx="106344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flow table 資料競爭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handlePacket 無鎖查表、find-then-branch 非原子——兩個 sFlow worker 撞同一新 key 時，輸家的賦值蓋掉贏家的 bytes。一個鎖現在涵蓋查找、兩個分支與其間的診斷。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24327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96896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unsigned counter delta 下溢 → 1.8×10¹⁹ bps 直達 API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counterDelta 現在飽和於零。elephant-flow 旗標的清除 else 被註解掉——掉一次 update 就永久鎖死，已還原。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93591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566160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macToUint64 對壞 MAC 默默回錯值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"00:11:22:33:44:5" → 73588229125，查到錯的 host。修成驗證後回 optional，每個呼叫端都繼承檢查。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62856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628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35424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無法解析的 /stats/flow body 回 json::array()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與「這台 switch 沒規則」無法區分——套用後會把該 dpid 的規則全部掃掉。現在回 nullopt。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資料正確性類（二）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600200"/>
            <a:ext cx="106344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丟掉 boost::edge() 的 found 旗標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兩處逐字相同：取 .first、丟 .second——把 miss 包進一個 engaged 的 optional，對「找不到」回答「有」。只要圖上有單向鏈路，per-edge 流量記帳就跑在無效 descriptor 上。不是 race——sanitizer 看不到，也不留 log。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45536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455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118104"/>
            <a:ext cx="1063447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VLAN 欄位名不符：一顆未引爆的地雷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guard 查 vlan_vid、實際讀 vlan_id——後者在 OpenFlow、Ryu 輸出、整個 repo 都不存在。任何人安裝的第一條 VLAN 規則，會讓該 switch 在同一條 flow 上永遠死掉：mark-and-sweep 停擺、排在後面的 switch 全部不再更新。今天沒人發 VLAN match，正是它會以謎題而非回歸的形式出現的原因。已立案 issue #3——只記錄，不修。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00" b="0" i="1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「修一個還沒有人踩到的 bug，並說明為什麼它一定會被踩到。」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「只會加、不會刪」——同一個 bug 形狀重複出現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00" b="0" i="1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每個資料攝取點都該問同一個問題：舊資料什麼時候消失？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56231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5623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28800"/>
            <a:ext cx="10634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拓撲只在啟動抓一次（88 ms）就再也不讀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修成 5s/30s 輪詢。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69464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542032"/>
            <a:ext cx="10634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Classifier 跳過空 flow table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被移除的規則永不被掃掉。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282696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55264"/>
            <a:ext cx="10634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setAllPaths 從不清 map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斷鏈已刪的路徑，還在回答 get_path_switch_count。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959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968496"/>
            <a:ext cx="10634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Answer::from_json——已發現、未修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誠實列出。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709160"/>
            <a:ext cx="310896" cy="310896"/>
          </a:xfrm>
          <a:prstGeom prst="ellipse">
            <a:avLst/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91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681728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OVS 路由規則永不刪除——已查證、刻意未修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既有 Ryu 控制程式零 OFPFC_DELETE、add_flow 不設 timeout；switch 重連也不重算。修法不明顯安全：單向故障時刪規則會把還能走的路徑變成 table miss——處置待裁決。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00" b="1" i="1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共同危害：孿生用已不存在的狀態計算——比空答案更糟，因為它看起來很有自信。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狀態破壞與誤報類（一）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81328"/>
            <a:ext cx="10634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OVS liveness 把整組機組報死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ovs-vsctl list-br「失敗」與「回報零 bridge」不可區分——都是空 vector，pclose 狀態沒人看：一次掉線、十台全標死。且該分支只呼叫 setVertexDown 從不 setVertexUp——「死」是永久的。一次事故 3596 行 log。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437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16352"/>
            <a:ext cx="10634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powerOff 先毀掉 powerOn 要用的紀錄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先用讀不到的（空的）port list 蓋掉 graph 存檔、再刪 bridge——兩份要接回的紀錄都毀了。baseline 的 listPorts 對 popen 失敗回空、pclose 狀態丟棄。修成 std::optional：port list 未知，就拒絕整個操作。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788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151376"/>
            <a:ext cx="10634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synthetic power 報 1.9×10¹⁴ 瓦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uniform_int_distribution&lt;uint64_t&gt;(0, 2⁶⁰) 每次 poll 重擲；還有兩份獨立 RNG，讓兩個 API 對同一台 switch 同時給不同答案。修成種子化的 30–150 W 穩定值。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狀態破壞與誤報類（二）——電源回報家族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81328"/>
            <a:ext cx="10634472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TESTBED 電源：同一個操作、兩份實作，兩份都說謊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可達的那份把 curl 的 exit code 當結果——gateway 回 500 / 401 / 錯誤頁都回報 Success，而且從不更新 graph；另一份會照 caller 要求改 graph、不看 gateway 的答案——但它從寫下那天到刪掉那天都是零呼叫點。修復：判定抽成純函式 interpretRelayResponse，放進真正會跑的路徑。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44951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4495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17520"/>
            <a:ext cx="10634472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十台 switch 共用同一個插座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兩個分支寫死同一個 smart_plug_ip（實為 s2 的）；拓撲檔一直帶著逐台真實指派，載入器直接讀過去。在真硬體上，信任這個端點的消費端會對十台 power-cycle 同一個錯的插座。沒被發現的原因：kernel 自己的電源路徑不用這些欄位——沒有東西會牴觸這個虛構。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98264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982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370831"/>
            <a:ext cx="106344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電源指令回報 ok、不看結果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IntentTranslator 把 setSwitchPowerState 當裸述句呼叫、丟掉回傳的 bool；拓撲解析不出的裝置名，整個跳過呼叫——兩者都掉進共用的 return "ok"。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4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本節最強的一條：單向鏈路故障，讓路由重算永久崩潰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場景：只斷一個方向——控制面看見不對稱，而配對事件永遠不會來：不對稱是穩態，不是暫態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機制：既有 Ryu 控制程式的 DiGraph 進入不對稱穩態 → BFS 撞 KeyError → 路由重算從此永久崩潰、流量無限期黑洞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修法：BFS 只走雙向都存在的邊——繞路自動發生，且嚴格不弱於舊行為（舊 crash 案變繞路、舊不可達案照舊）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3566160" cy="173736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49039"/>
            <a:ext cx="3346704" cy="972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200" b="1" i="0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291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3346704" cy="6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100% 丟包、零自癒（修復前，OVS 路實測）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3566160" cy="173736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3749039"/>
            <a:ext cx="3346704" cy="972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2600" b="1" i="0">
                <a:solidFill>
                  <a:srgbClr val="B3392F"/>
                </a:solidFill>
                <a:latin typeface="Microsoft JhengHei"/>
                <a:ea typeface="Microsoft JhengHei"/>
                <a:cs typeface="Microsoft JhengHei"/>
              </a:rPr>
              <a:t>9–15 Mbps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700016"/>
            <a:ext cx="3346704" cy="6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黑洞期間 twin 同時回報該 flow 的流量；edges_up 287/288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657600"/>
            <a:ext cx="3108960" cy="173736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7" y="3749039"/>
            <a:ext cx="2889504" cy="972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2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12.5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4700016"/>
            <a:ext cx="2889504" cy="6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同款故障，P4 路自癒（第 5 節對照）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缺陷在實驗室既有的 Ryu 控制程式（intelligent_router.py，隨初始 commit 帶進 repo）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API 錯誤處理與資源類（5 條）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53896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538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26464"/>
            <a:ext cx="1063447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客戶端錯誤回 500 家族</a:t>
            </a:r>
          </a:p>
          <a:p>
            <a:pPr algn="l">
              <a:lnSpc>
                <a:spcPct val="108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?src_ip=not.an.ip、?dpid=abc 一路丟到最外層 catch；{not json 回 202「已接受」；hex eth_type（OpenFlow 工具的正常寫法）被 400 拒。修復含 tryParseUint64——stoull 會把 "12abc" 讀成 12、"-1" 繞成 2⁶⁴−1。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59736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597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32304"/>
            <a:ext cx="106344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log 洪水淹掉真正的那一行</a:t>
            </a:r>
          </a:p>
          <a:p>
            <a:pPr algn="l">
              <a:lnSpc>
                <a:spcPct val="108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path-walk 迴圈每毫秒警告一次：一個設錯的 port 產出 270,991 行、41 MB。修成 KeyedFailureLog 邊緣觸發回報。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46120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218688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閒置 100% CPU</a:t>
            </a:r>
          </a:p>
          <a:p>
            <a:pPr algn="l">
              <a:lnSpc>
                <a:spcPct val="108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sFlow 迴圈 poll() 用 0 ms timeout 忙轉。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49624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96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822191"/>
            <a:ext cx="106344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無界的 curl 請求（與穩健性頁是同一事件的兩半）</a:t>
            </a:r>
          </a:p>
          <a:p>
            <a:pPr algn="l">
              <a:lnSpc>
                <a:spcPct val="108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kernel 讀每台 switch flow table 的 curl -s，從 baseline 起就沒有 --max-time，而 sweep 逐台序列——一台不回應，連帶卡住後面每一台。實測（SIGSTOP 一台 bmv2）：請求永不返回。為什麼沒人發現：Ryu/OVS 從不「活著但不回應」——是 P4/bmv2 帶進新故障模式，引爆躺了很久的缺陷。修成 --max-time 8，三個對外請求抽成可斷言的 builder（7 條測試）。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57800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230368"/>
            <a:ext cx="106344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API key 被寫進 log</a:t>
            </a:r>
          </a:p>
          <a:p>
            <a:pPr algn="l">
              <a:lnSpc>
                <a:spcPct val="108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產品的 Intent Translator 啟動即把 OPENAI_API_KEY 以 INFO 寫進 log；且那行跑在 null 檢查之前——沒設 key 時先把 null 餵進 fmt，本該解釋設定錯誤的 ERROR 到不了。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併發與生命週期類（2 條）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600200"/>
            <a:ext cx="106344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FlowDispatcher 三個生命週期缺陷（原本零測試）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stop() 無鎖迭代並清空 workers，而 enqueue() 持鎖插入；running_ 在鎖外寫入——lost wakeup、stop() 自身死鎖；stop() 搬走 map 後 enqueue() 還會生 worker，留下無主的 joinable thread。補 6 個生命週期測試。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7832"/>
            <a:ext cx="310896" cy="310896"/>
          </a:xfrm>
          <a:prstGeom prst="ellipse">
            <a:avLst/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200400"/>
            <a:ext cx="106344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宣告了、但從未使用的 mutex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m_allPathMap / m_switchCountMap 六處存取無同步。誠實帶一句：baseline 是啟動期 race；我加的週期性刷新讓它變成永久 race——缺陷是既有的，曝光度是新的。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B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· Baseline 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調查故事：Ryu flow-stats wedge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症狀：Mininet 活著時重啟 Ryu → /stats/flow 從此永遠回空表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特徵化：兩次重現、151 個樣本（doc/audit/2026-08-07_ryu-wedge-trace.tsv）；四個假說全數證偽——root cause 至今未證明，照實講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不碰 Ryu、修掉危害：wedged 回覆要 1.011 秒（健康 0.027–0.083 秒；1.0 秒正是 ryu/lib/ofctl_utils.py 的 DEFAULT_TIMEOUT）——所以 ≥0.5 秒的空表一律拒收、沿用前值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操作守則：不要單獨重啟 Ryu——要重啟就連 Mininet 一起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50" b="0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這頁展示的方法：假說 → 證偽 → 承認未知 → 只修危害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· 使用技術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技術棧總覽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E9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 i="0">
                <a:solidFill>
                  <a:srgbClr val="2E6FA3"/>
                </a:solidFill>
                <a:latin typeface="Microsoft JhengHei"/>
                <a:ea typeface="Microsoft JhengHei"/>
                <a:cs typeface="Microsoft JhengHei"/>
              </a:rPr>
              <a:t>Kernel（C++23）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CMake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Boost.Beast / Asio / URL（HTTP）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nlohmann::json · spdlog · libssh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GTest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ASan / TSan sanitizer 建置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P4 資料面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1460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P4_16 / v1model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bmv2 simple_switch_grpc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p4c-bm2-ss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P4Runtime（gRPC / protobuf）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PRE clone session · Mininet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9164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9202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Proxy 與控制面（Python）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51460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FastAPI / uvicorn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grpc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Ryu / OpenFlow 1.3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sFlow v5 · LLDP</a:t>
            </a:r>
          </a:p>
          <a:p>
            <a:pPr algn="l" marL="228600" indent="-228600">
              <a:lnSpc>
                <a:spcPct val="112000"/>
              </a:lnSpc>
              <a:spcAft>
                <a:spcPts val="800"/>
              </a:spcAft>
              <a:buFont typeface="Microsoft JhengHei"/>
              <a:buChar char="•"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SNMP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· 使用技術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方法論——本次工作真正的重點技術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81912"/>
            <a:ext cx="310896" cy="31089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554480"/>
            <a:ext cx="106344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差異測試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OVS 路是已知良好的——直接拿它的行為當 P4 的規格（L4 differential）。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69464"/>
            <a:ext cx="310896" cy="31089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42032"/>
            <a:ext cx="106344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Mutation testing 作為驗收關卡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每個測試都要親眼看過它失敗一次才算數：弄壞實作 → 看它紅 → 修回，證據入檔 doc/audit/。這道關卡抓到 11+ 個「通過、但什麼都沒證明」的測試。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39896"/>
            <a:ext cx="310896" cy="31089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398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712464"/>
            <a:ext cx="106344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allowlist 閘門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沒列入白名單的 warning／差異一律 fail——新問題藏不進舊雜訊。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727448"/>
            <a:ext cx="310896" cy="31089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2744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700016"/>
            <a:ext cx="106344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證據式設計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liveness 三態、南向 OpResult——「無法判斷」與「失敗」，都不准偽裝成「成功」。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· 測試與文件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五層測試架構（L0–L4）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914400" cy="713232"/>
          </a:xfrm>
          <a:prstGeom prst="roundRect">
            <a:avLst>
              <a:gd name="adj" fmla="val 8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609344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建置檢查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跨 repo 破壞，分鐘級發現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914400" cy="713232"/>
          </a:xfrm>
          <a:prstGeom prst="roundRect">
            <a:avLst>
              <a:gd name="adj" fmla="val 8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50592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單元測試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ctest 與直接執行兩種方式都跑——各自會漏掉對方能抓的失敗（ctest 每 case 獨立 process，SetUpTestSuite 失敗會被吃掉）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914400" cy="713232"/>
          </a:xfrm>
          <a:prstGeom prst="roundRect">
            <a:avLst>
              <a:gd name="adj" fmla="val 8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9184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API 契約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結構＋語意不變量＋錯誤路徑；期望值從拓撲檔推導，不是寫死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51376"/>
            <a:ext cx="914400" cy="713232"/>
          </a:xfrm>
          <a:prstGeom prst="roundRect">
            <a:avLst>
              <a:gd name="adj" fmla="val 8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51376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3308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元件契約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改一個 endpoint，能回答「誰會壞」——blast radius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92624"/>
            <a:ext cx="914400" cy="713232"/>
          </a:xfrm>
          <a:prstGeom prst="roundRect">
            <a:avLst>
              <a:gd name="adj" fmla="val 8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92624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974336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OVS/P4 差異比對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allowlist 三分類：允許的 P4 限制／數值容忍／其餘就是 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stack.sh 依模式（ovs / p4）用正確順序編排啟動——測試環境本身也是被管理的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· 測試與文件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測試資產規模與品質保證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3346704" cy="870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00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554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32888"/>
            <a:ext cx="3346704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gtest cases · 44 個 .cpp（ctest 與直跑一致）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691640"/>
            <a:ext cx="3346704" cy="870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00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32888"/>
            <a:ext cx="3346704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Python 測試（proxy 402 ＋ kernel 契約 232）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291840" cy="155448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691640"/>
            <a:ext cx="3072384" cy="870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00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532888"/>
            <a:ext cx="3072384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shell 測試（含故障注入 harness）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品質保證是機制、不是數字：每個測試都有 mutation 證據（弄壞過、紅過、修回）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修掉 4 個測試工具自己的假 PASS——例：unittest 把 skipped 算進 Ran N，整檔 skip 也顯示綠燈；另修 3 個從未真正執行的測試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log 判定：allowlist ＋ FORBID ＋ 崩潰偵測——crash 訊息不吃 allowlist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3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成長不是灌水：426 → 554 的主要跳升來自一輪密集審查與 Phase 7——每個修復都帶著自己的迴歸測試進來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506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· 測試與文件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文件資產——接手的人有路可走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40680" cy="19202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full_test_runbook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ovs_manual_test_runbook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p4_manual_test_runbook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environment_gotchas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440680" cy="19202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01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設計／狀態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p4_bmv2_support_plan（分 phase）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phase7_power_mechanism_design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p4_status_and_test_guide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HANDOFF · ndt_api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440680" cy="19202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5020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測試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testing_tools_overview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testing_workflow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test_coverage_gaps（誠實列出還沒測的）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840480"/>
            <a:ext cx="5440680" cy="19202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5020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 i="0">
                <a:solidFill>
                  <a:srgbClr val="50697F"/>
                </a:solidFill>
                <a:latin typeface="Microsoft JhengHei"/>
                <a:ea typeface="Microsoft JhengHei"/>
                <a:cs typeface="Microsoft JhengHei"/>
              </a:rPr>
              <a:t>調查紀錄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4340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doc/audit/：wedge trace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mutation 證據</a:t>
            </a:r>
          </a:p>
          <a:p>
            <a:pPr algn="l" marL="228600" indent="-228600">
              <a:lnSpc>
                <a:spcPct val="112000"/>
              </a:lnSpc>
              <a:spcAft>
                <a:spcPts val="400"/>
              </a:spcAft>
              <a:buFont typeface="Microsoft JhengHei"/>
              <a:buChar char="•"/>
            </a:pPr>
            <a:r>
              <a:rPr sz="11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獨立審查與裁決紀錄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L4 差異比對：P4 對齊 OVS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E8A7D"/>
                </a:solidFill>
                <a:latin typeface="Microsoft JhengHei"/>
                <a:ea typeface="Microsoft JhengHei"/>
                <a:cs typeface="Microsoft JhengHei"/>
              </a:rPr>
              <a:t>結論：PASS</a:t>
            </a:r>
          </a:p>
          <a:p>
            <a:pPr algn="l">
              <a:lnSpc>
                <a:spcPct val="115000"/>
              </a:lnSpc>
              <a:buNone/>
            </a:pPr>
            <a:r>
              <a:rPr sz="13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P4 與 OVS baseline 一致；14 個被接受的差異全部有文字記錄；12 條因 P4 補齊而過時的 allowlist，逐條對活系統驗證後移除。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2651760"/>
          </a:xfrm>
          <a:prstGeom prst="roundRect">
            <a:avLst>
              <a:gd name="adj" fmla="val 9000"/>
            </a:avLst>
          </a:prstGeom>
          <a:solidFill>
            <a:srgbClr val="FDF6E7"/>
          </a:solidFill>
          <a:ln w="12700">
            <a:solidFill>
              <a:srgbClr val="B98A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56432"/>
            <a:ext cx="10607040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B98A1C"/>
                </a:solidFill>
                <a:latin typeface="Microsoft JhengHei"/>
                <a:ea typeface="Microsoft JhengHei"/>
                <a:cs typeface="Microsoft JhengHei"/>
              </a:rPr>
              <a:t>【Adam 後續提供】</a:t>
            </a:r>
          </a:p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比對輸出截圖、14 個被接受差異的分類表。素材指標：commit dac192b；CHANGELOG 條目 17；tools/contract_test/baseline_diff_allowlist.txt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Failover 端到端驗證——同一個故障，兩個資料面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5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注入只斷單一 link 的故障（tc netem loss 100% 雙端），流量改道、恢復後路由回原路，全程孿生狀態正確。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064240" cy="2523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/>
                <a:gridCol w="4206240"/>
                <a:gridCol w="38404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量測</a:t>
                      </a:r>
                    </a:p>
                  </a:txBody>
                  <a:tcPr marL="73152" marR="73152" marT="18288" marB="18288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bmv2（P4）</a:t>
                      </a:r>
                    </a:p>
                  </a:txBody>
                  <a:tcPr marL="73152" marR="73152" marT="18288" marB="18288" anchor="ctr">
                    <a:solidFill>
                      <a:srgbClr val="1329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OVS（對照組）</a:t>
                      </a:r>
                    </a:p>
                  </a:txBody>
                  <a:tcPr marL="73152" marR="73152" marT="18288" marB="18288" anchor="ctr">
                    <a:solidFill>
                      <a:srgbClr val="1329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偵測到 link down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A7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筆通知、零假訊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+42.6 秒、2 筆零假訊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ping 中斷後自癒</a:t>
                      </a:r>
                    </a:p>
                  </a:txBody>
                  <a:tcPr marL="73152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A7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16.63 秒</a:t>
                      </a:r>
                    </a:p>
                  </a:txBody>
                  <a:tcPr marL="73152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52.42 秒</a:t>
                      </a:r>
                    </a:p>
                  </a:txBody>
                  <a:tcPr marL="73152" marR="73152" marT="18288" marB="18288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復原（鏈路回來）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A7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hitless、0 遺失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hitless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繞路後路徑</a:t>
                      </a:r>
                    </a:p>
                  </a:txBody>
                  <a:tcPr marL="73152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→ 6 → 10 → 7 → 4（規則層讀回確認 OUTPUT:3→4）</a:t>
                      </a:r>
                    </a:p>
                  </a:txBody>
                  <a:tcPr marL="73152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73152" marR="73152" marT="18288" marB="18288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單向故障（只斷一個方向）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A7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12.5 秒自癒、規則改 OUTPUT:1→2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B339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 秒 100% 丟包、零自癒（修復前）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 i="1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這張表本身就是敘事：同一個故障形狀，兩個資料面的差異來自實作、而非設定——右下那格正是第 2 節最強的那條 bug。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DF6E7"/>
          </a:solidFill>
          <a:ln w="12700">
            <a:solidFill>
              <a:srgbClr val="B98A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13831"/>
            <a:ext cx="106070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B98A1C"/>
                </a:solidFill>
                <a:latin typeface="Microsoft JhengHei"/>
                <a:ea typeface="Microsoft JhengHei"/>
                <a:cs typeface="Microsoft JhengHei"/>
              </a:rPr>
              <a:t>【Adam 後續提供】</a:t>
            </a:r>
          </a:p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斷鏈前後的路徑圖（數據已備齊，缺視覺化）。素材指標：ca72d22；doc/2026-08-10_p4_manual_test_runbook.md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200 Mbps 壓力測試＋負載下斷鏈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一句話結論：OVS stack 推到 200 Mbps 並在負載下斷鏈，記錄哪些量測撐住、哪些開始失真。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9000"/>
            </a:avLst>
          </a:prstGeom>
          <a:solidFill>
            <a:srgbClr val="FDF6E7"/>
          </a:solidFill>
          <a:ln w="12700">
            <a:solidFill>
              <a:srgbClr val="B98A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07040" cy="296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B98A1C"/>
                </a:solidFill>
                <a:latin typeface="Microsoft JhengHei"/>
                <a:ea typeface="Microsoft JhengHei"/>
                <a:cs typeface="Microsoft JhengHei"/>
              </a:rPr>
              <a:t>【Adam 後續提供】</a:t>
            </a:r>
          </a:p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吞吐／量測誤差圖表。素材指標：commit cc7437a 完整 message。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孿生 flow-rate 精確度量測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一句話結論：量化孿生回報的 flow rate 與實際流量的誤差，以及誤差開始失效的邊界條件。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9000"/>
            </a:avLst>
          </a:prstGeom>
          <a:solidFill>
            <a:srgbClr val="FDF6E7"/>
          </a:solidFill>
          <a:ln w="12700">
            <a:solidFill>
              <a:srgbClr val="B98A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07040" cy="296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B98A1C"/>
                </a:solidFill>
                <a:latin typeface="Microsoft JhengHei"/>
                <a:ea typeface="Microsoft JhengHei"/>
                <a:cs typeface="Microsoft JhengHei"/>
              </a:rPr>
              <a:t>【Adam 後續提供】</a:t>
            </a:r>
          </a:p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誤差曲線、邊界條件表。素材指標：commit d7bf52f 完整 message；doc/audit/ 相關 runbook。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獨立交叉檢查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由不了解實作的第三方視角，對活著的 OVS stack 做 51 次唯讀檢查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12 項發現全數裁定——1 項真 bug（已修），其餘為已記錄行為或誤報，逐條查證後結案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Microsoft JhengHei"/>
              <a:buChar char="•"/>
            </a:pPr>
            <a:r>
              <a:rPr sz="1400" b="0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另一輪 47 項 HIGH 的審查裁定出 21 項真問題——全部逐條查證、逐條有下落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9000"/>
            </a:avLst>
          </a:prstGeom>
          <a:solidFill>
            <a:srgbClr val="FDF6E7"/>
          </a:solidFill>
          <a:ln w="12700">
            <a:solidFill>
              <a:srgbClr val="B98A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87952"/>
            <a:ext cx="10607040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B98A1C"/>
                </a:solidFill>
                <a:latin typeface="Microsoft JhengHei"/>
                <a:ea typeface="Microsoft JhengHei"/>
                <a:cs typeface="Microsoft JhengHei"/>
              </a:rPr>
              <a:t>【Adam 後續提供】</a:t>
            </a:r>
          </a:p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是否深入展開由 Adam 決定，預設一頁帶過。素材指標：commit 2bec2a5、fbd8140。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8FA0AD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13293D"/>
                </a:solidFill>
                <a:latin typeface="Microsoft JhengHei"/>
                <a:ea typeface="Microsoft JhengHei"/>
                <a:cs typeface="Microsoft JhengHei"/>
              </a:rPr>
              <a:t>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9000"/>
            </a:avLst>
          </a:prstGeom>
          <a:solidFill>
            <a:srgbClr val="FDF6E7"/>
          </a:solidFill>
          <a:ln w="12700">
            <a:solidFill>
              <a:srgbClr val="B98A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0704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B98A1C"/>
                </a:solidFill>
                <a:latin typeface="Microsoft JhengHei"/>
                <a:ea typeface="Microsoft JhengHei"/>
                <a:cs typeface="Microsoft JhengHei"/>
              </a:rPr>
              <a:t>【Adam 後續提供】</a:t>
            </a:r>
          </a:p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demo 腳本與畫面。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三個候選場景（皆已在 live 環境驗過可行）：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47872"/>
            <a:ext cx="310896" cy="310896"/>
          </a:xfrm>
          <a:prstGeom prst="ellipse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520440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斷鏈 failover 即時展示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16.63 秒自癒 ＋ hitless 復原，數字現成。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325112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Web-GUI 看 P4 模式拓撲與流量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上層零修改的最直觀證明——GUI 根本不知道下面換成了 bmv2。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157216"/>
            <a:ext cx="310896" cy="310896"/>
          </a:xfrm>
          <a:prstGeom prst="ellipse">
            <a:avLst/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572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129784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300" b="1" i="0">
                <a:solidFill>
                  <a:srgbClr val="22333F"/>
                </a:solidFill>
                <a:latin typeface="Microsoft JhengHei"/>
                <a:ea typeface="Microsoft JhengHei"/>
                <a:cs typeface="Microsoft JhengHei"/>
              </a:rPr>
              <a:t>killed switch 的 liveness 三態變化</a:t>
            </a:r>
          </a:p>
          <a:p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5F7180"/>
                </a:solidFill>
                <a:latin typeface="Microsoft JhengHei"/>
                <a:ea typeface="Microsoft JhengHei"/>
                <a:cs typeface="Microsoft JhengHei"/>
              </a:rPr>
              <a:t>從清單消失、10 Hz 取樣零 up-blip。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050" b="1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5 · 實機測試與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85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NDTwin 進度報告 · 初版草稿 2026-08-13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總結與未完成事項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成果一句話：</a:t>
            </a:r>
          </a:p>
          <a:p>
            <a:pPr algn="l">
              <a:lnSpc>
                <a:spcPct val="115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P4/bmv2 資料面完整接入、上層零修改；baseline 共用路徑的無聲缺陷修復；五層測試架構讓兩個資料面都有可判定的健康標準。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00" b="1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誠實列出未完成：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600"/>
              </a:spcAft>
              <a:buFont typeface="Microsoft JhengHei"/>
              <a:buChar char="•"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Phase 3 未開始（其餘 Phase 完成；Phase 5 counter-sample 半邊未做——與 OVS 行為對等）</a:t>
            </a:r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Font typeface="Microsoft JhengHei"/>
              <a:buChar char="•"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Answer::from_json 第四例、OVS 路由 stale rule——已發現，處置待定</a:t>
            </a:r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Font typeface="Microsoft JhengHei"/>
              <a:buChar char="•"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Ryu wedge root cause 未證明；hopsCounter 分母膨脹已記錄未修</a:t>
            </a:r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Font typeface="Microsoft JhengHei"/>
              <a:buChar char="•"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VLAN 欄位名不符已立案（issue #3）未修</a:t>
            </a:r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Font typeface="Microsoft JhengHei"/>
              <a:buChar char="•"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已知風險：southbound 指令仍以 popen("curl …") 拼接、單引號不跳脫——刻意延後，22 處／3 檔</a:t>
            </a:r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Font typeface="Microsoft JhengHei"/>
              <a:buChar char="•"/>
            </a:pPr>
            <a:r>
              <a:rPr sz="1200" b="0" i="0">
                <a:solidFill>
                  <a:srgbClr val="BFD4E6"/>
                </a:solidFill>
                <a:latin typeface="Microsoft JhengHei"/>
                <a:ea typeface="Microsoft JhengHei"/>
                <a:cs typeface="Microsoft JhengHei"/>
              </a:rPr>
              <a:t>bmv2 本身接受未取得 mastership 的 pipeline push——實測坐實；我們這側已有防護，尚未回報上游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下一步：合併實驗室上游的 sharding 變更（已裁定延至報告後）· 長時 soak／drift 量測 · demo 定稿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