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487168"/>
            <a:ext cx="10058400" cy="868680"/>
          </a:xfrm>
          <a:prstGeom prst="rect">
            <a:avLst/>
          </a:prstGeom>
          <a:noFill/>
          <a:ln/>
        </p:spPr>
        <p:txBody>
          <a:bodyPr wrap="square" lIns="0" tIns="0" rIns="0" bIns="0" rtlCol="0" anchor="ctr"/>
          <a:lstStyle/>
          <a:p>
            <a:pPr indent="0" marL="0">
              <a:buNone/>
            </a:pPr>
            <a:r>
              <a:rPr lang="en-US" sz="4400" b="1" dirty="0">
                <a:solidFill>
                  <a:srgbClr val="1A1A1A"/>
                </a:solidFill>
                <a:latin typeface="Cambria" pitchFamily="34" charset="0"/>
                <a:ea typeface="Cambria" pitchFamily="34" charset="-122"/>
                <a:cs typeface="Cambria" pitchFamily="34" charset="-120"/>
              </a:rPr>
              <a:t>P4 / bmv2 Data-Plane Support</a:t>
            </a:r>
            <a:endParaRPr lang="en-US" sz="4400" dirty="0"/>
          </a:p>
        </p:txBody>
      </p:sp>
      <p:sp>
        <p:nvSpPr>
          <p:cNvPr id="3" name="Text 1"/>
          <p:cNvSpPr/>
          <p:nvPr/>
        </p:nvSpPr>
        <p:spPr>
          <a:xfrm>
            <a:off x="777240" y="3401568"/>
            <a:ext cx="10058400" cy="502920"/>
          </a:xfrm>
          <a:prstGeom prst="rect">
            <a:avLst/>
          </a:prstGeom>
          <a:noFill/>
          <a:ln/>
        </p:spPr>
        <p:txBody>
          <a:bodyPr wrap="square" lIns="0" tIns="0" rIns="0" bIns="0" rtlCol="0" anchor="ctr"/>
          <a:lstStyle/>
          <a:p>
            <a:pPr indent="0" marL="0">
              <a:buNone/>
            </a:pPr>
            <a:r>
              <a:rPr lang="en-US" sz="2200" dirty="0">
                <a:solidFill>
                  <a:srgbClr val="4F4F4F"/>
                </a:solidFill>
                <a:latin typeface="Calibri" pitchFamily="34" charset="0"/>
                <a:ea typeface="Calibri" pitchFamily="34" charset="-122"/>
                <a:cs typeface="Calibri" pitchFamily="34" charset="-120"/>
              </a:rPr>
              <a:t>— a second data plane, with nothing above it changed</a:t>
            </a:r>
            <a:endParaRPr lang="en-US" sz="2200" dirty="0"/>
          </a:p>
        </p:txBody>
      </p:sp>
      <p:sp>
        <p:nvSpPr>
          <p:cNvPr id="4" name="Shape 2"/>
          <p:cNvSpPr/>
          <p:nvPr/>
        </p:nvSpPr>
        <p:spPr>
          <a:xfrm>
            <a:off x="777240" y="4261104"/>
            <a:ext cx="1005840" cy="9144"/>
          </a:xfrm>
          <a:prstGeom prst="line">
            <a:avLst/>
          </a:prstGeom>
          <a:noFill/>
          <a:ln w="25400">
            <a:solidFill>
              <a:srgbClr val="065A82"/>
            </a:solidFill>
            <a:prstDash val="solid"/>
          </a:ln>
        </p:spPr>
      </p:sp>
      <p:sp>
        <p:nvSpPr>
          <p:cNvPr id="5" name="Text 3"/>
          <p:cNvSpPr/>
          <p:nvPr/>
        </p:nvSpPr>
        <p:spPr>
          <a:xfrm>
            <a:off x="777240" y="1975104"/>
            <a:ext cx="10058400" cy="384048"/>
          </a:xfrm>
          <a:prstGeom prst="rect">
            <a:avLst/>
          </a:prstGeom>
          <a:noFill/>
          <a:ln/>
        </p:spPr>
        <p:txBody>
          <a:bodyPr wrap="square" lIns="0" tIns="0" rIns="0" bIns="0" rtlCol="0" anchor="ctr"/>
          <a:lstStyle/>
          <a:p>
            <a:pPr indent="0" marL="0">
              <a:buNone/>
            </a:pPr>
            <a:r>
              <a:rPr lang="en-US" sz="1600" spc="120" kern="0" dirty="0">
                <a:solidFill>
                  <a:srgbClr val="065A82"/>
                </a:solidFill>
                <a:latin typeface="Calibri" pitchFamily="34" charset="0"/>
                <a:ea typeface="Calibri" pitchFamily="34" charset="-122"/>
                <a:cs typeface="Calibri" pitchFamily="34" charset="-120"/>
              </a:rPr>
              <a:t>NDTwin Network Digital Twin</a:t>
            </a:r>
            <a:endParaRPr lang="en-US" sz="1600" dirty="0"/>
          </a:p>
        </p:txBody>
      </p:sp>
      <p:sp>
        <p:nvSpPr>
          <p:cNvPr id="6" name="Text 4"/>
          <p:cNvSpPr/>
          <p:nvPr/>
        </p:nvSpPr>
        <p:spPr>
          <a:xfrm>
            <a:off x="777240" y="5870448"/>
            <a:ext cx="7315200" cy="310896"/>
          </a:xfrm>
          <a:prstGeom prst="rect">
            <a:avLst/>
          </a:prstGeom>
          <a:noFill/>
          <a:ln/>
        </p:spPr>
        <p:txBody>
          <a:bodyPr wrap="square" lIns="0" tIns="0" rIns="0" bIns="0" rtlCol="0" anchor="ctr"/>
          <a:lstStyle/>
          <a:p>
            <a:pPr indent="0" marL="0">
              <a:buNone/>
            </a:pPr>
            <a:r>
              <a:rPr lang="en-US" sz="1300" dirty="0">
                <a:solidFill>
                  <a:srgbClr val="4F4F4F"/>
                </a:solidFill>
                <a:latin typeface="Calibri" pitchFamily="34" charset="0"/>
                <a:ea typeface="Calibri" pitchFamily="34" charset="-122"/>
                <a:cs typeface="Calibri" pitchFamily="34" charset="-120"/>
              </a:rPr>
              <a:t>Adam　·　2026-08-19</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566928"/>
            <a:ext cx="10637215" cy="621792"/>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Outline</a:t>
            </a:r>
            <a:endParaRPr lang="en-US" sz="3000" dirty="0"/>
          </a:p>
        </p:txBody>
      </p:sp>
      <p:sp>
        <p:nvSpPr>
          <p:cNvPr id="3" name="Shape 1"/>
          <p:cNvSpPr/>
          <p:nvPr/>
        </p:nvSpPr>
        <p:spPr>
          <a:xfrm>
            <a:off x="777240" y="1335024"/>
            <a:ext cx="10637215" cy="9144"/>
          </a:xfrm>
          <a:prstGeom prst="line">
            <a:avLst/>
          </a:prstGeom>
          <a:noFill/>
          <a:ln w="12700">
            <a:solidFill>
              <a:srgbClr val="D0D0D0"/>
            </a:solidFill>
            <a:prstDash val="solid"/>
          </a:ln>
        </p:spPr>
      </p:sp>
      <p:sp>
        <p:nvSpPr>
          <p:cNvPr id="4" name="Text 2"/>
          <p:cNvSpPr/>
          <p:nvPr/>
        </p:nvSpPr>
        <p:spPr>
          <a:xfrm>
            <a:off x="777240" y="2176272"/>
            <a:ext cx="365760" cy="310896"/>
          </a:xfrm>
          <a:prstGeom prst="rect">
            <a:avLst/>
          </a:prstGeom>
          <a:noFill/>
          <a:ln/>
        </p:spPr>
        <p:txBody>
          <a:bodyPr wrap="square" lIns="0" tIns="0" rIns="0" bIns="0" rtlCol="0" anchor="ctr"/>
          <a:lstStyle/>
          <a:p>
            <a:pPr indent="0" marL="0">
              <a:buNone/>
            </a:pPr>
            <a:r>
              <a:rPr lang="en-US" sz="1700" b="1" dirty="0">
                <a:solidFill>
                  <a:srgbClr val="065A82"/>
                </a:solidFill>
                <a:latin typeface="Cambria" pitchFamily="34" charset="0"/>
                <a:ea typeface="Cambria" pitchFamily="34" charset="-122"/>
                <a:cs typeface="Cambria" pitchFamily="34" charset="-120"/>
              </a:rPr>
              <a:t>0</a:t>
            </a:r>
            <a:endParaRPr lang="en-US" sz="1700" dirty="0"/>
          </a:p>
        </p:txBody>
      </p:sp>
      <p:sp>
        <p:nvSpPr>
          <p:cNvPr id="5" name="Text 3"/>
          <p:cNvSpPr/>
          <p:nvPr/>
        </p:nvSpPr>
        <p:spPr>
          <a:xfrm>
            <a:off x="1234440" y="2157984"/>
            <a:ext cx="6949440" cy="329184"/>
          </a:xfrm>
          <a:prstGeom prst="rect">
            <a:avLst/>
          </a:prstGeom>
          <a:noFill/>
          <a:ln/>
        </p:spPr>
        <p:txBody>
          <a:bodyPr wrap="square" lIns="0" tIns="0" rIns="0" bIns="0" rtlCol="0" anchor="ctr"/>
          <a:lstStyle/>
          <a:p>
            <a:pPr indent="0" marL="0">
              <a:buNone/>
            </a:pPr>
            <a:r>
              <a:rPr lang="en-US" sz="1800" b="1" dirty="0">
                <a:solidFill>
                  <a:srgbClr val="1A1A1A"/>
                </a:solidFill>
                <a:latin typeface="Calibri" pitchFamily="34" charset="0"/>
                <a:ea typeface="Calibri" pitchFamily="34" charset="-122"/>
                <a:cs typeface="Calibri" pitchFamily="34" charset="-120"/>
              </a:rPr>
              <a:t>Background</a:t>
            </a:r>
            <a:endParaRPr lang="en-US" sz="1800" dirty="0"/>
          </a:p>
        </p:txBody>
      </p:sp>
      <p:sp>
        <p:nvSpPr>
          <p:cNvPr id="6" name="Text 4"/>
          <p:cNvSpPr/>
          <p:nvPr/>
        </p:nvSpPr>
        <p:spPr>
          <a:xfrm>
            <a:off x="1234440" y="2523744"/>
            <a:ext cx="7863840" cy="310896"/>
          </a:xfrm>
          <a:prstGeom prst="rect">
            <a:avLst/>
          </a:prstGeom>
          <a:noFill/>
          <a:ln/>
        </p:spPr>
        <p:txBody>
          <a:bodyPr wrap="square" lIns="0" tIns="0" rIns="0" bIns="0" rtlCol="0" anchor="ctr"/>
          <a:lstStyle/>
          <a:p>
            <a:pPr indent="0" marL="0">
              <a:buNone/>
            </a:pPr>
            <a:r>
              <a:rPr lang="en-US" sz="1250" dirty="0">
                <a:solidFill>
                  <a:srgbClr val="2E2E2E"/>
                </a:solidFill>
                <a:latin typeface="Calibri" pitchFamily="34" charset="0"/>
                <a:ea typeface="Calibri" pitchFamily="34" charset="-122"/>
                <a:cs typeface="Calibri" pitchFamily="34" charset="-120"/>
              </a:rPr>
              <a:t>The system I inherited, the architecture, the stack, and the scale of what changed.</a:t>
            </a:r>
            <a:endParaRPr lang="en-US" sz="1250" dirty="0"/>
          </a:p>
        </p:txBody>
      </p:sp>
      <p:sp>
        <p:nvSpPr>
          <p:cNvPr id="7" name="Text 5"/>
          <p:cNvSpPr/>
          <p:nvPr/>
        </p:nvSpPr>
        <p:spPr>
          <a:xfrm>
            <a:off x="10042855" y="2176272"/>
            <a:ext cx="1371600" cy="310896"/>
          </a:xfrm>
          <a:prstGeom prst="rect">
            <a:avLst/>
          </a:prstGeom>
          <a:noFill/>
          <a:ln/>
        </p:spPr>
        <p:txBody>
          <a:bodyPr wrap="square" lIns="0" tIns="0" rIns="0" bIns="0" rtlCol="0" anchor="ctr"/>
          <a:lstStyle/>
          <a:p>
            <a:pPr algn="r" indent="0" marL="0">
              <a:buNone/>
            </a:pPr>
            <a:r>
              <a:rPr lang="en-US" sz="1200" dirty="0">
                <a:solidFill>
                  <a:srgbClr val="6E6E6E"/>
                </a:solidFill>
                <a:latin typeface="Calibri" pitchFamily="34" charset="0"/>
                <a:ea typeface="Calibri" pitchFamily="34" charset="-122"/>
                <a:cs typeface="Calibri" pitchFamily="34" charset="-120"/>
              </a:rPr>
              <a:t>pp. 4–9</a:t>
            </a:r>
            <a:endParaRPr lang="en-US" sz="1200" dirty="0"/>
          </a:p>
        </p:txBody>
      </p:sp>
      <p:sp>
        <p:nvSpPr>
          <p:cNvPr id="8" name="Shape 6"/>
          <p:cNvSpPr/>
          <p:nvPr/>
        </p:nvSpPr>
        <p:spPr>
          <a:xfrm>
            <a:off x="777240" y="2926080"/>
            <a:ext cx="10637215" cy="9144"/>
          </a:xfrm>
          <a:prstGeom prst="line">
            <a:avLst/>
          </a:prstGeom>
          <a:noFill/>
          <a:ln w="12700">
            <a:solidFill>
              <a:srgbClr val="EFEFEF"/>
            </a:solidFill>
            <a:prstDash val="solid"/>
          </a:ln>
        </p:spPr>
      </p:sp>
      <p:sp>
        <p:nvSpPr>
          <p:cNvPr id="9" name="Text 7"/>
          <p:cNvSpPr/>
          <p:nvPr/>
        </p:nvSpPr>
        <p:spPr>
          <a:xfrm>
            <a:off x="777240" y="3017520"/>
            <a:ext cx="365760" cy="310896"/>
          </a:xfrm>
          <a:prstGeom prst="rect">
            <a:avLst/>
          </a:prstGeom>
          <a:noFill/>
          <a:ln/>
        </p:spPr>
        <p:txBody>
          <a:bodyPr wrap="square" lIns="0" tIns="0" rIns="0" bIns="0" rtlCol="0" anchor="ctr"/>
          <a:lstStyle/>
          <a:p>
            <a:pPr indent="0" marL="0">
              <a:buNone/>
            </a:pPr>
            <a:r>
              <a:rPr lang="en-US" sz="1700" b="1" dirty="0">
                <a:solidFill>
                  <a:srgbClr val="065A82"/>
                </a:solidFill>
                <a:latin typeface="Cambria" pitchFamily="34" charset="0"/>
                <a:ea typeface="Cambria" pitchFamily="34" charset="-122"/>
                <a:cs typeface="Cambria" pitchFamily="34" charset="-120"/>
              </a:rPr>
              <a:t>1</a:t>
            </a:r>
            <a:endParaRPr lang="en-US" sz="1700" dirty="0"/>
          </a:p>
        </p:txBody>
      </p:sp>
      <p:sp>
        <p:nvSpPr>
          <p:cNvPr id="10" name="Text 8"/>
          <p:cNvSpPr/>
          <p:nvPr/>
        </p:nvSpPr>
        <p:spPr>
          <a:xfrm>
            <a:off x="1234440" y="2999232"/>
            <a:ext cx="6949440" cy="329184"/>
          </a:xfrm>
          <a:prstGeom prst="rect">
            <a:avLst/>
          </a:prstGeom>
          <a:noFill/>
          <a:ln/>
        </p:spPr>
        <p:txBody>
          <a:bodyPr wrap="square" lIns="0" tIns="0" rIns="0" bIns="0" rtlCol="0" anchor="ctr"/>
          <a:lstStyle/>
          <a:p>
            <a:pPr indent="0" marL="0">
              <a:buNone/>
            </a:pPr>
            <a:r>
              <a:rPr lang="en-US" sz="1800" b="1" dirty="0">
                <a:solidFill>
                  <a:srgbClr val="1A1A1A"/>
                </a:solidFill>
                <a:latin typeface="Calibri" pitchFamily="34" charset="0"/>
                <a:ea typeface="Calibri" pitchFamily="34" charset="-122"/>
                <a:cs typeface="Calibri" pitchFamily="34" charset="-120"/>
              </a:rPr>
              <a:t>New capabilities</a:t>
            </a:r>
            <a:endParaRPr lang="en-US" sz="1800" dirty="0"/>
          </a:p>
        </p:txBody>
      </p:sp>
      <p:sp>
        <p:nvSpPr>
          <p:cNvPr id="11" name="Text 9"/>
          <p:cNvSpPr/>
          <p:nvPr/>
        </p:nvSpPr>
        <p:spPr>
          <a:xfrm>
            <a:off x="1234440" y="3364992"/>
            <a:ext cx="7863840" cy="310896"/>
          </a:xfrm>
          <a:prstGeom prst="rect">
            <a:avLst/>
          </a:prstGeom>
          <a:noFill/>
          <a:ln/>
        </p:spPr>
        <p:txBody>
          <a:bodyPr wrap="square" lIns="0" tIns="0" rIns="0" bIns="0" rtlCol="0" anchor="ctr"/>
          <a:lstStyle/>
          <a:p>
            <a:pPr indent="0" marL="0">
              <a:buNone/>
            </a:pPr>
            <a:r>
              <a:rPr lang="en-US" sz="1250" dirty="0">
                <a:solidFill>
                  <a:srgbClr val="2E2E2E"/>
                </a:solidFill>
                <a:latin typeface="Calibri" pitchFamily="34" charset="0"/>
                <a:ea typeface="Calibri" pitchFamily="34" charset="-122"/>
                <a:cs typeface="Calibri" pitchFamily="34" charset="-120"/>
              </a:rPr>
              <a:t>The P4 pipeline, the proxy agent, telemetry synthesis, liveness, failover, power.</a:t>
            </a:r>
            <a:endParaRPr lang="en-US" sz="1250" dirty="0"/>
          </a:p>
        </p:txBody>
      </p:sp>
      <p:sp>
        <p:nvSpPr>
          <p:cNvPr id="12" name="Text 10"/>
          <p:cNvSpPr/>
          <p:nvPr/>
        </p:nvSpPr>
        <p:spPr>
          <a:xfrm>
            <a:off x="10042855" y="3017520"/>
            <a:ext cx="1371600" cy="310896"/>
          </a:xfrm>
          <a:prstGeom prst="rect">
            <a:avLst/>
          </a:prstGeom>
          <a:noFill/>
          <a:ln/>
        </p:spPr>
        <p:txBody>
          <a:bodyPr wrap="square" lIns="0" tIns="0" rIns="0" bIns="0" rtlCol="0" anchor="ctr"/>
          <a:lstStyle/>
          <a:p>
            <a:pPr algn="r" indent="0" marL="0">
              <a:buNone/>
            </a:pPr>
            <a:r>
              <a:rPr lang="en-US" sz="1200" dirty="0">
                <a:solidFill>
                  <a:srgbClr val="6E6E6E"/>
                </a:solidFill>
                <a:latin typeface="Calibri" pitchFamily="34" charset="0"/>
                <a:ea typeface="Calibri" pitchFamily="34" charset="-122"/>
                <a:cs typeface="Calibri" pitchFamily="34" charset="-120"/>
              </a:rPr>
              <a:t>pp. 11–18</a:t>
            </a:r>
            <a:endParaRPr lang="en-US" sz="1200" dirty="0"/>
          </a:p>
        </p:txBody>
      </p:sp>
      <p:sp>
        <p:nvSpPr>
          <p:cNvPr id="13" name="Shape 11"/>
          <p:cNvSpPr/>
          <p:nvPr/>
        </p:nvSpPr>
        <p:spPr>
          <a:xfrm>
            <a:off x="777240" y="3767328"/>
            <a:ext cx="10637215" cy="9144"/>
          </a:xfrm>
          <a:prstGeom prst="line">
            <a:avLst/>
          </a:prstGeom>
          <a:noFill/>
          <a:ln w="12700">
            <a:solidFill>
              <a:srgbClr val="EFEFEF"/>
            </a:solidFill>
            <a:prstDash val="solid"/>
          </a:ln>
        </p:spPr>
      </p:sp>
      <p:sp>
        <p:nvSpPr>
          <p:cNvPr id="14" name="Text 12"/>
          <p:cNvSpPr/>
          <p:nvPr/>
        </p:nvSpPr>
        <p:spPr>
          <a:xfrm>
            <a:off x="777240" y="3858768"/>
            <a:ext cx="365760" cy="310896"/>
          </a:xfrm>
          <a:prstGeom prst="rect">
            <a:avLst/>
          </a:prstGeom>
          <a:noFill/>
          <a:ln/>
        </p:spPr>
        <p:txBody>
          <a:bodyPr wrap="square" lIns="0" tIns="0" rIns="0" bIns="0" rtlCol="0" anchor="ctr"/>
          <a:lstStyle/>
          <a:p>
            <a:pPr indent="0" marL="0">
              <a:buNone/>
            </a:pPr>
            <a:r>
              <a:rPr lang="en-US" sz="1700" b="1" dirty="0">
                <a:solidFill>
                  <a:srgbClr val="065A82"/>
                </a:solidFill>
                <a:latin typeface="Cambria" pitchFamily="34" charset="0"/>
                <a:ea typeface="Cambria" pitchFamily="34" charset="-122"/>
                <a:cs typeface="Cambria" pitchFamily="34" charset="-120"/>
              </a:rPr>
              <a:t>2</a:t>
            </a:r>
            <a:endParaRPr lang="en-US" sz="1700" dirty="0"/>
          </a:p>
        </p:txBody>
      </p:sp>
      <p:sp>
        <p:nvSpPr>
          <p:cNvPr id="15" name="Text 13"/>
          <p:cNvSpPr/>
          <p:nvPr/>
        </p:nvSpPr>
        <p:spPr>
          <a:xfrm>
            <a:off x="1234440" y="3840480"/>
            <a:ext cx="6949440" cy="329184"/>
          </a:xfrm>
          <a:prstGeom prst="rect">
            <a:avLst/>
          </a:prstGeom>
          <a:noFill/>
          <a:ln/>
        </p:spPr>
        <p:txBody>
          <a:bodyPr wrap="square" lIns="0" tIns="0" rIns="0" bIns="0" rtlCol="0" anchor="ctr"/>
          <a:lstStyle/>
          <a:p>
            <a:pPr indent="0" marL="0">
              <a:buNone/>
            </a:pPr>
            <a:r>
              <a:rPr lang="en-US" sz="1800" b="1" dirty="0">
                <a:solidFill>
                  <a:srgbClr val="1A1A1A"/>
                </a:solidFill>
                <a:latin typeface="Calibri" pitchFamily="34" charset="0"/>
                <a:ea typeface="Calibri" pitchFamily="34" charset="-122"/>
                <a:cs typeface="Calibri" pitchFamily="34" charset="-120"/>
              </a:rPr>
              <a:t>Test tooling and documentation</a:t>
            </a:r>
            <a:endParaRPr lang="en-US" sz="1800" dirty="0"/>
          </a:p>
        </p:txBody>
      </p:sp>
      <p:sp>
        <p:nvSpPr>
          <p:cNvPr id="16" name="Text 14"/>
          <p:cNvSpPr/>
          <p:nvPr/>
        </p:nvSpPr>
        <p:spPr>
          <a:xfrm>
            <a:off x="1234440" y="4206240"/>
            <a:ext cx="7863840" cy="310896"/>
          </a:xfrm>
          <a:prstGeom prst="rect">
            <a:avLst/>
          </a:prstGeom>
          <a:noFill/>
          <a:ln/>
        </p:spPr>
        <p:txBody>
          <a:bodyPr wrap="square" lIns="0" tIns="0" rIns="0" bIns="0" rtlCol="0" anchor="ctr"/>
          <a:lstStyle/>
          <a:p>
            <a:pPr indent="0" marL="0">
              <a:buNone/>
            </a:pPr>
            <a:r>
              <a:rPr lang="en-US" sz="1250" dirty="0">
                <a:solidFill>
                  <a:srgbClr val="2E2E2E"/>
                </a:solidFill>
                <a:latin typeface="Calibri" pitchFamily="34" charset="0"/>
                <a:ea typeface="Calibri" pitchFamily="34" charset="-122"/>
                <a:cs typeface="Calibri" pitchFamily="34" charset="-120"/>
              </a:rPr>
              <a:t>The methodology, the five-layer harness, and what was written down.</a:t>
            </a:r>
            <a:endParaRPr lang="en-US" sz="1250" dirty="0"/>
          </a:p>
        </p:txBody>
      </p:sp>
      <p:sp>
        <p:nvSpPr>
          <p:cNvPr id="17" name="Text 15"/>
          <p:cNvSpPr/>
          <p:nvPr/>
        </p:nvSpPr>
        <p:spPr>
          <a:xfrm>
            <a:off x="10042855" y="3858768"/>
            <a:ext cx="1371600" cy="310896"/>
          </a:xfrm>
          <a:prstGeom prst="rect">
            <a:avLst/>
          </a:prstGeom>
          <a:noFill/>
          <a:ln/>
        </p:spPr>
        <p:txBody>
          <a:bodyPr wrap="square" lIns="0" tIns="0" rIns="0" bIns="0" rtlCol="0" anchor="ctr"/>
          <a:lstStyle/>
          <a:p>
            <a:pPr algn="r" indent="0" marL="0">
              <a:buNone/>
            </a:pPr>
            <a:r>
              <a:rPr lang="en-US" sz="1200" dirty="0">
                <a:solidFill>
                  <a:srgbClr val="6E6E6E"/>
                </a:solidFill>
                <a:latin typeface="Calibri" pitchFamily="34" charset="0"/>
                <a:ea typeface="Calibri" pitchFamily="34" charset="-122"/>
                <a:cs typeface="Calibri" pitchFamily="34" charset="-120"/>
              </a:rPr>
              <a:t>pp. 20–23</a:t>
            </a:r>
            <a:endParaRPr lang="en-US" sz="1200" dirty="0"/>
          </a:p>
        </p:txBody>
      </p:sp>
      <p:sp>
        <p:nvSpPr>
          <p:cNvPr id="18" name="Shape 16"/>
          <p:cNvSpPr/>
          <p:nvPr/>
        </p:nvSpPr>
        <p:spPr>
          <a:xfrm>
            <a:off x="777240" y="4608576"/>
            <a:ext cx="10637215" cy="9144"/>
          </a:xfrm>
          <a:prstGeom prst="line">
            <a:avLst/>
          </a:prstGeom>
          <a:noFill/>
          <a:ln w="12700">
            <a:solidFill>
              <a:srgbClr val="EFEFEF"/>
            </a:solidFill>
            <a:prstDash val="solid"/>
          </a:ln>
        </p:spPr>
      </p:sp>
      <p:sp>
        <p:nvSpPr>
          <p:cNvPr id="19" name="Text 17"/>
          <p:cNvSpPr/>
          <p:nvPr/>
        </p:nvSpPr>
        <p:spPr>
          <a:xfrm>
            <a:off x="777240" y="4700016"/>
            <a:ext cx="365760" cy="310896"/>
          </a:xfrm>
          <a:prstGeom prst="rect">
            <a:avLst/>
          </a:prstGeom>
          <a:noFill/>
          <a:ln/>
        </p:spPr>
        <p:txBody>
          <a:bodyPr wrap="square" lIns="0" tIns="0" rIns="0" bIns="0" rtlCol="0" anchor="ctr"/>
          <a:lstStyle/>
          <a:p>
            <a:pPr indent="0" marL="0">
              <a:buNone/>
            </a:pPr>
            <a:r>
              <a:rPr lang="en-US" sz="1700" b="1" dirty="0">
                <a:solidFill>
                  <a:srgbClr val="065A82"/>
                </a:solidFill>
                <a:latin typeface="Cambria" pitchFamily="34" charset="0"/>
                <a:ea typeface="Cambria" pitchFamily="34" charset="-122"/>
                <a:cs typeface="Cambria" pitchFamily="34" charset="-120"/>
              </a:rPr>
              <a:t>3</a:t>
            </a:r>
            <a:endParaRPr lang="en-US" sz="1700" dirty="0"/>
          </a:p>
        </p:txBody>
      </p:sp>
      <p:sp>
        <p:nvSpPr>
          <p:cNvPr id="20" name="Text 18"/>
          <p:cNvSpPr/>
          <p:nvPr/>
        </p:nvSpPr>
        <p:spPr>
          <a:xfrm>
            <a:off x="1234440" y="4681728"/>
            <a:ext cx="6949440" cy="329184"/>
          </a:xfrm>
          <a:prstGeom prst="rect">
            <a:avLst/>
          </a:prstGeom>
          <a:noFill/>
          <a:ln/>
        </p:spPr>
        <p:txBody>
          <a:bodyPr wrap="square" lIns="0" tIns="0" rIns="0" bIns="0" rtlCol="0" anchor="ctr"/>
          <a:lstStyle/>
          <a:p>
            <a:pPr indent="0" marL="0">
              <a:buNone/>
            </a:pPr>
            <a:r>
              <a:rPr lang="en-US" sz="1800" b="1" dirty="0">
                <a:solidFill>
                  <a:srgbClr val="1A1A1A"/>
                </a:solidFill>
                <a:latin typeface="Calibri" pitchFamily="34" charset="0"/>
                <a:ea typeface="Calibri" pitchFamily="34" charset="-122"/>
                <a:cs typeface="Calibri" pitchFamily="34" charset="-120"/>
              </a:rPr>
              <a:t>Measured results</a:t>
            </a:r>
            <a:endParaRPr lang="en-US" sz="1800" dirty="0"/>
          </a:p>
        </p:txBody>
      </p:sp>
      <p:sp>
        <p:nvSpPr>
          <p:cNvPr id="21" name="Text 19"/>
          <p:cNvSpPr/>
          <p:nvPr/>
        </p:nvSpPr>
        <p:spPr>
          <a:xfrm>
            <a:off x="1234440" y="5047488"/>
            <a:ext cx="7863840" cy="310896"/>
          </a:xfrm>
          <a:prstGeom prst="rect">
            <a:avLst/>
          </a:prstGeom>
          <a:noFill/>
          <a:ln/>
        </p:spPr>
        <p:txBody>
          <a:bodyPr wrap="square" lIns="0" tIns="0" rIns="0" bIns="0" rtlCol="0" anchor="ctr"/>
          <a:lstStyle/>
          <a:p>
            <a:pPr indent="0" marL="0">
              <a:buNone/>
            </a:pPr>
            <a:r>
              <a:rPr lang="en-US" sz="1250" dirty="0">
                <a:solidFill>
                  <a:srgbClr val="2E2E2E"/>
                </a:solidFill>
                <a:latin typeface="Calibri" pitchFamily="34" charset="0"/>
                <a:ea typeface="Calibri" pitchFamily="34" charset="-122"/>
                <a:cs typeface="Calibri" pitchFamily="34" charset="-120"/>
              </a:rPr>
              <a:t>Differential testing, failover, throughput, load, twin accuracy — and a live demo.</a:t>
            </a:r>
            <a:endParaRPr lang="en-US" sz="1250" dirty="0"/>
          </a:p>
        </p:txBody>
      </p:sp>
      <p:sp>
        <p:nvSpPr>
          <p:cNvPr id="22" name="Text 20"/>
          <p:cNvSpPr/>
          <p:nvPr/>
        </p:nvSpPr>
        <p:spPr>
          <a:xfrm>
            <a:off x="10042855" y="4700016"/>
            <a:ext cx="1371600" cy="310896"/>
          </a:xfrm>
          <a:prstGeom prst="rect">
            <a:avLst/>
          </a:prstGeom>
          <a:noFill/>
          <a:ln/>
        </p:spPr>
        <p:txBody>
          <a:bodyPr wrap="square" lIns="0" tIns="0" rIns="0" bIns="0" rtlCol="0" anchor="ctr"/>
          <a:lstStyle/>
          <a:p>
            <a:pPr algn="r" indent="0" marL="0">
              <a:buNone/>
            </a:pPr>
            <a:r>
              <a:rPr lang="en-US" sz="1200" dirty="0">
                <a:solidFill>
                  <a:srgbClr val="6E6E6E"/>
                </a:solidFill>
                <a:latin typeface="Calibri" pitchFamily="34" charset="0"/>
                <a:ea typeface="Calibri" pitchFamily="34" charset="-122"/>
                <a:cs typeface="Calibri" pitchFamily="34" charset="-120"/>
              </a:rPr>
              <a:t>pp. 25–40</a:t>
            </a:r>
            <a:endParaRPr lang="en-US" sz="1200" dirty="0"/>
          </a:p>
        </p:txBody>
      </p:sp>
      <p:sp>
        <p:nvSpPr>
          <p:cNvPr id="23" name="Text 21"/>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1975104"/>
            <a:ext cx="10058400" cy="384048"/>
          </a:xfrm>
          <a:prstGeom prst="rect">
            <a:avLst/>
          </a:prstGeom>
          <a:noFill/>
          <a:ln/>
        </p:spPr>
        <p:txBody>
          <a:bodyPr wrap="square" lIns="0" tIns="0" rIns="0" bIns="0" rtlCol="0" anchor="ctr"/>
          <a:lstStyle/>
          <a:p>
            <a:pPr indent="0" marL="0">
              <a:buNone/>
            </a:pPr>
            <a:r>
              <a:rPr lang="en-US" sz="1600" spc="120" kern="0" dirty="0">
                <a:solidFill>
                  <a:srgbClr val="065A82"/>
                </a:solidFill>
                <a:latin typeface="Calibri" pitchFamily="34" charset="0"/>
                <a:ea typeface="Calibri" pitchFamily="34" charset="-122"/>
                <a:cs typeface="Calibri" pitchFamily="34" charset="-120"/>
              </a:rPr>
              <a:t>SECTION 0</a:t>
            </a:r>
            <a:endParaRPr lang="en-US" sz="1600" dirty="0"/>
          </a:p>
        </p:txBody>
      </p:sp>
      <p:sp>
        <p:nvSpPr>
          <p:cNvPr id="3" name="Text 1"/>
          <p:cNvSpPr/>
          <p:nvPr/>
        </p:nvSpPr>
        <p:spPr>
          <a:xfrm>
            <a:off x="777240" y="2487168"/>
            <a:ext cx="10058400" cy="868680"/>
          </a:xfrm>
          <a:prstGeom prst="rect">
            <a:avLst/>
          </a:prstGeom>
          <a:noFill/>
          <a:ln/>
        </p:spPr>
        <p:txBody>
          <a:bodyPr wrap="square" lIns="0" tIns="0" rIns="0" bIns="0" rtlCol="0" anchor="ctr"/>
          <a:lstStyle/>
          <a:p>
            <a:pPr indent="0" marL="0">
              <a:buNone/>
            </a:pPr>
            <a:r>
              <a:rPr lang="en-US" sz="4400" b="1" dirty="0">
                <a:solidFill>
                  <a:srgbClr val="1A1A1A"/>
                </a:solidFill>
                <a:latin typeface="Cambria" pitchFamily="34" charset="0"/>
                <a:ea typeface="Cambria" pitchFamily="34" charset="-122"/>
                <a:cs typeface="Cambria" pitchFamily="34" charset="-120"/>
              </a:rPr>
              <a:t>Background</a:t>
            </a:r>
            <a:endParaRPr lang="en-US" sz="4400" dirty="0"/>
          </a:p>
        </p:txBody>
      </p:sp>
      <p:sp>
        <p:nvSpPr>
          <p:cNvPr id="4" name="Text 2"/>
          <p:cNvSpPr/>
          <p:nvPr/>
        </p:nvSpPr>
        <p:spPr>
          <a:xfrm>
            <a:off x="777240" y="3401568"/>
            <a:ext cx="10058400" cy="566928"/>
          </a:xfrm>
          <a:prstGeom prst="rect">
            <a:avLst/>
          </a:prstGeom>
          <a:noFill/>
          <a:ln/>
        </p:spPr>
        <p:txBody>
          <a:bodyPr wrap="square" lIns="0" tIns="0" rIns="0" bIns="0" rtlCol="0" anchor="ctr"/>
          <a:lstStyle/>
          <a:p>
            <a:pPr indent="0" marL="0">
              <a:lnSpc>
                <a:spcPct val="115000"/>
              </a:lnSpc>
              <a:buNone/>
            </a:pPr>
            <a:r>
              <a:rPr lang="en-US" sz="2000" dirty="0">
                <a:solidFill>
                  <a:srgbClr val="4F4F4F"/>
                </a:solidFill>
                <a:latin typeface="Calibri" pitchFamily="34" charset="0"/>
                <a:ea typeface="Calibri" pitchFamily="34" charset="-122"/>
                <a:cs typeface="Calibri" pitchFamily="34" charset="-120"/>
              </a:rPr>
              <a:t>The system I inherited, and where the P4 path attaches to it</a:t>
            </a:r>
            <a:endParaRPr lang="en-US" sz="2000" dirty="0"/>
          </a:p>
        </p:txBody>
      </p:sp>
      <p:sp>
        <p:nvSpPr>
          <p:cNvPr id="5" name="Shape 3"/>
          <p:cNvSpPr/>
          <p:nvPr/>
        </p:nvSpPr>
        <p:spPr>
          <a:xfrm>
            <a:off x="777240" y="4261104"/>
            <a:ext cx="1005840" cy="9144"/>
          </a:xfrm>
          <a:prstGeom prst="line">
            <a:avLst/>
          </a:prstGeom>
          <a:noFill/>
          <a:ln w="25400">
            <a:solidFill>
              <a:srgbClr val="065A82"/>
            </a:solidFill>
            <a:prstDash val="solid"/>
          </a:ln>
        </p:spPr>
      </p:sp>
      <p:sp>
        <p:nvSpPr>
          <p:cNvPr id="6" name="Text 4"/>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566928"/>
            <a:ext cx="10637215" cy="621792"/>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Background: the system, and the task</a:t>
            </a:r>
            <a:endParaRPr lang="en-US" sz="3000" dirty="0"/>
          </a:p>
        </p:txBody>
      </p:sp>
      <p:sp>
        <p:nvSpPr>
          <p:cNvPr id="3" name="Text 1"/>
          <p:cNvSpPr/>
          <p:nvPr/>
        </p:nvSpPr>
        <p:spPr>
          <a:xfrm>
            <a:off x="777240" y="1207008"/>
            <a:ext cx="10637215" cy="347472"/>
          </a:xfrm>
          <a:prstGeom prst="rect">
            <a:avLst/>
          </a:prstGeom>
          <a:noFill/>
          <a:ln/>
        </p:spPr>
        <p:txBody>
          <a:bodyPr wrap="square" lIns="0" tIns="0" rIns="0" bIns="0" rtlCol="0" anchor="ctr"/>
          <a:lstStyle/>
          <a:p>
            <a:pPr indent="0" marL="0">
              <a:buNone/>
            </a:pPr>
            <a:r>
              <a:rPr lang="en-US" sz="1400" dirty="0">
                <a:solidFill>
                  <a:srgbClr val="4F4F4F"/>
                </a:solidFill>
                <a:latin typeface="Calibri" pitchFamily="34" charset="0"/>
                <a:ea typeface="Calibri" pitchFamily="34" charset="-122"/>
                <a:cs typeface="Calibri" pitchFamily="34" charset="-120"/>
              </a:rPr>
              <a:t>NDTwin is a network digital twin — a live model of a running network, kept in step with it</a:t>
            </a:r>
            <a:endParaRPr lang="en-US" sz="1400" dirty="0"/>
          </a:p>
        </p:txBody>
      </p:sp>
      <p:sp>
        <p:nvSpPr>
          <p:cNvPr id="4" name="Shape 2"/>
          <p:cNvSpPr/>
          <p:nvPr/>
        </p:nvSpPr>
        <p:spPr>
          <a:xfrm>
            <a:off x="777240" y="1700784"/>
            <a:ext cx="10637215" cy="9144"/>
          </a:xfrm>
          <a:prstGeom prst="line">
            <a:avLst/>
          </a:prstGeom>
          <a:noFill/>
          <a:ln w="12700">
            <a:solidFill>
              <a:srgbClr val="D0D0D0"/>
            </a:solidFill>
            <a:prstDash val="solid"/>
          </a:ln>
        </p:spPr>
      </p:sp>
      <p:sp>
        <p:nvSpPr>
          <p:cNvPr id="5" name="Text 3"/>
          <p:cNvSpPr/>
          <p:nvPr/>
        </p:nvSpPr>
        <p:spPr>
          <a:xfrm>
            <a:off x="777240" y="2029968"/>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06424" y="2020824"/>
            <a:ext cx="6117336" cy="292608"/>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A C++ kernel holds the model</a:t>
            </a:r>
            <a:endParaRPr lang="en-US" sz="1550" dirty="0"/>
          </a:p>
        </p:txBody>
      </p:sp>
      <p:sp>
        <p:nvSpPr>
          <p:cNvPr id="7" name="Text 5"/>
          <p:cNvSpPr/>
          <p:nvPr/>
        </p:nvSpPr>
        <p:spPr>
          <a:xfrm>
            <a:off x="1106424" y="2350008"/>
            <a:ext cx="6117336" cy="658368"/>
          </a:xfrm>
          <a:prstGeom prst="rect">
            <a:avLst/>
          </a:prstGeom>
          <a:noFill/>
          <a:ln/>
        </p:spPr>
        <p:txBody>
          <a:bodyPr wrap="square" lIns="0" tIns="0" rIns="0" bIns="0" rtlCol="0" anchor="ctr"/>
          <a:lstStyle/>
          <a:p>
            <a:pPr indent="0" marL="0">
              <a:lnSpc>
                <a:spcPct val="122000"/>
              </a:lnSpc>
              <a:buNone/>
            </a:pPr>
            <a:r>
              <a:rPr lang="en-US" sz="1250" dirty="0">
                <a:solidFill>
                  <a:srgbClr val="2E2E2E"/>
                </a:solidFill>
                <a:latin typeface="Calibri" pitchFamily="34" charset="0"/>
                <a:ea typeface="Calibri" pitchFamily="34" charset="-122"/>
                <a:cs typeface="Calibri" pitchFamily="34" charset="-120"/>
              </a:rPr>
              <a:t>It owns the topology graph, ingests sFlow telemetry, tracks flows and link usage, and answers queries about the live network.</a:t>
            </a:r>
            <a:endParaRPr lang="en-US" sz="1250" dirty="0"/>
          </a:p>
        </p:txBody>
      </p:sp>
      <p:sp>
        <p:nvSpPr>
          <p:cNvPr id="8" name="Text 6"/>
          <p:cNvSpPr/>
          <p:nvPr/>
        </p:nvSpPr>
        <p:spPr>
          <a:xfrm>
            <a:off x="777240" y="3090672"/>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1106424" y="3081528"/>
            <a:ext cx="6117336" cy="292608"/>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Seven components depend on it</a:t>
            </a:r>
            <a:endParaRPr lang="en-US" sz="1550" dirty="0"/>
          </a:p>
        </p:txBody>
      </p:sp>
      <p:sp>
        <p:nvSpPr>
          <p:cNvPr id="10" name="Text 8"/>
          <p:cNvSpPr/>
          <p:nvPr/>
        </p:nvSpPr>
        <p:spPr>
          <a:xfrm>
            <a:off x="1106424" y="3410712"/>
            <a:ext cx="6117336" cy="658368"/>
          </a:xfrm>
          <a:prstGeom prst="rect">
            <a:avLst/>
          </a:prstGeom>
          <a:noFill/>
          <a:ln/>
        </p:spPr>
        <p:txBody>
          <a:bodyPr wrap="square" lIns="0" tIns="0" rIns="0" bIns="0" rtlCol="0" anchor="ctr"/>
          <a:lstStyle/>
          <a:p>
            <a:pPr indent="0" marL="0">
              <a:lnSpc>
                <a:spcPct val="122000"/>
              </a:lnSpc>
              <a:buNone/>
            </a:pPr>
            <a:r>
              <a:rPr lang="en-US" sz="1250" dirty="0">
                <a:solidFill>
                  <a:srgbClr val="2E2E2E"/>
                </a:solidFill>
                <a:latin typeface="Calibri" pitchFamily="34" charset="0"/>
                <a:ea typeface="Calibri" pitchFamily="34" charset="-122"/>
                <a:cs typeface="Calibri" pitchFamily="34" charset="-120"/>
              </a:rPr>
              <a:t>Every one of them reaches the kernel only through the /ndt/ HTTP API — no shared memory, no shared files, no other channel.</a:t>
            </a:r>
            <a:endParaRPr lang="en-US" sz="1250" dirty="0"/>
          </a:p>
        </p:txBody>
      </p:sp>
      <p:sp>
        <p:nvSpPr>
          <p:cNvPr id="11" name="Text 9"/>
          <p:cNvSpPr/>
          <p:nvPr/>
        </p:nvSpPr>
        <p:spPr>
          <a:xfrm>
            <a:off x="777240" y="4151376"/>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3</a:t>
            </a:r>
            <a:endParaRPr lang="en-US" sz="1300" dirty="0"/>
          </a:p>
        </p:txBody>
      </p:sp>
      <p:sp>
        <p:nvSpPr>
          <p:cNvPr id="12" name="Text 10"/>
          <p:cNvSpPr/>
          <p:nvPr/>
        </p:nvSpPr>
        <p:spPr>
          <a:xfrm>
            <a:off x="1106424" y="4142232"/>
            <a:ext cx="6117336" cy="292608"/>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The existing system drove OVS</a:t>
            </a:r>
            <a:endParaRPr lang="en-US" sz="1550" dirty="0"/>
          </a:p>
        </p:txBody>
      </p:sp>
      <p:sp>
        <p:nvSpPr>
          <p:cNvPr id="13" name="Text 11"/>
          <p:cNvSpPr/>
          <p:nvPr/>
        </p:nvSpPr>
        <p:spPr>
          <a:xfrm>
            <a:off x="1106424" y="4471416"/>
            <a:ext cx="6117336" cy="658368"/>
          </a:xfrm>
          <a:prstGeom prst="rect">
            <a:avLst/>
          </a:prstGeom>
          <a:noFill/>
          <a:ln/>
        </p:spPr>
        <p:txBody>
          <a:bodyPr wrap="square" lIns="0" tIns="0" rIns="0" bIns="0" rtlCol="0" anchor="ctr"/>
          <a:lstStyle/>
          <a:p>
            <a:pPr indent="0" marL="0">
              <a:lnSpc>
                <a:spcPct val="122000"/>
              </a:lnSpc>
              <a:buNone/>
            </a:pPr>
            <a:r>
              <a:rPr lang="en-US" sz="1250" dirty="0">
                <a:solidFill>
                  <a:srgbClr val="2E2E2E"/>
                </a:solidFill>
                <a:latin typeface="Calibri" pitchFamily="34" charset="0"/>
                <a:ea typeface="Calibri" pitchFamily="34" charset="-122"/>
                <a:cs typeface="Calibri" pitchFamily="34" charset="-120"/>
              </a:rPr>
              <a:t>Mininet with Open vSwitch, controlled by Ryu. Built by the lab before me; treated here as the given starting point.</a:t>
            </a:r>
            <a:endParaRPr lang="en-US" sz="1250" dirty="0"/>
          </a:p>
        </p:txBody>
      </p:sp>
      <p:sp>
        <p:nvSpPr>
          <p:cNvPr id="14" name="Text 12"/>
          <p:cNvSpPr/>
          <p:nvPr/>
        </p:nvSpPr>
        <p:spPr>
          <a:xfrm>
            <a:off x="777240" y="5212080"/>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4</a:t>
            </a:r>
            <a:endParaRPr lang="en-US" sz="1300" dirty="0"/>
          </a:p>
        </p:txBody>
      </p:sp>
      <p:sp>
        <p:nvSpPr>
          <p:cNvPr id="15" name="Text 13"/>
          <p:cNvSpPr/>
          <p:nvPr/>
        </p:nvSpPr>
        <p:spPr>
          <a:xfrm>
            <a:off x="1106424" y="5202936"/>
            <a:ext cx="6117336" cy="292608"/>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My task</a:t>
            </a:r>
            <a:endParaRPr lang="en-US" sz="1550" dirty="0"/>
          </a:p>
        </p:txBody>
      </p:sp>
      <p:sp>
        <p:nvSpPr>
          <p:cNvPr id="16" name="Text 14"/>
          <p:cNvSpPr/>
          <p:nvPr/>
        </p:nvSpPr>
        <p:spPr>
          <a:xfrm>
            <a:off x="1106424" y="5532120"/>
            <a:ext cx="6117336" cy="658368"/>
          </a:xfrm>
          <a:prstGeom prst="rect">
            <a:avLst/>
          </a:prstGeom>
          <a:noFill/>
          <a:ln/>
        </p:spPr>
        <p:txBody>
          <a:bodyPr wrap="square" lIns="0" tIns="0" rIns="0" bIns="0" rtlCol="0" anchor="ctr"/>
          <a:lstStyle/>
          <a:p>
            <a:pPr indent="0" marL="0">
              <a:lnSpc>
                <a:spcPct val="122000"/>
              </a:lnSpc>
              <a:buNone/>
            </a:pPr>
            <a:r>
              <a:rPr lang="en-US" sz="1250" dirty="0">
                <a:solidFill>
                  <a:srgbClr val="2E2E2E"/>
                </a:solidFill>
                <a:latin typeface="Calibri" pitchFamily="34" charset="0"/>
                <a:ea typeface="Calibri" pitchFamily="34" charset="-122"/>
                <a:cs typeface="Calibri" pitchFamily="34" charset="-120"/>
              </a:rPr>
              <a:t>Make the same twin drive a P4 / bmv2 data plane as well — without the seven components having to change.</a:t>
            </a:r>
            <a:endParaRPr lang="en-US" sz="1250" dirty="0"/>
          </a:p>
        </p:txBody>
      </p:sp>
      <p:sp>
        <p:nvSpPr>
          <p:cNvPr id="17" name="Text 15"/>
          <p:cNvSpPr/>
          <p:nvPr/>
        </p:nvSpPr>
        <p:spPr>
          <a:xfrm>
            <a:off x="7726680" y="1993392"/>
            <a:ext cx="3685032" cy="27432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The seven consumers</a:t>
            </a:r>
            <a:endParaRPr lang="en-US" sz="1300" dirty="0"/>
          </a:p>
        </p:txBody>
      </p:sp>
      <p:sp>
        <p:nvSpPr>
          <p:cNvPr id="18" name="Shape 16"/>
          <p:cNvSpPr/>
          <p:nvPr/>
        </p:nvSpPr>
        <p:spPr>
          <a:xfrm>
            <a:off x="7726680" y="2286000"/>
            <a:ext cx="3685032" cy="9144"/>
          </a:xfrm>
          <a:prstGeom prst="line">
            <a:avLst/>
          </a:prstGeom>
          <a:noFill/>
          <a:ln w="12700">
            <a:solidFill>
              <a:srgbClr val="D0D0D0"/>
            </a:solidFill>
            <a:prstDash val="solid"/>
          </a:ln>
        </p:spPr>
      </p:sp>
      <p:sp>
        <p:nvSpPr>
          <p:cNvPr id="19" name="Text 17"/>
          <p:cNvSpPr/>
          <p:nvPr/>
        </p:nvSpPr>
        <p:spPr>
          <a:xfrm>
            <a:off x="7726680" y="2432304"/>
            <a:ext cx="2633472" cy="219456"/>
          </a:xfrm>
          <a:prstGeom prst="rect">
            <a:avLst/>
          </a:prstGeom>
          <a:noFill/>
          <a:ln/>
        </p:spPr>
        <p:txBody>
          <a:bodyPr wrap="square" lIns="0" tIns="0" rIns="0" bIns="0" rtlCol="0" anchor="ctr"/>
          <a:lstStyle/>
          <a:p>
            <a:pPr indent="0" marL="0">
              <a:buNone/>
            </a:pPr>
            <a:r>
              <a:rPr lang="en-US" sz="1150" dirty="0">
                <a:solidFill>
                  <a:srgbClr val="2E2E2E"/>
                </a:solidFill>
                <a:latin typeface="Calibri" pitchFamily="34" charset="0"/>
                <a:ea typeface="Calibri" pitchFamily="34" charset="-122"/>
                <a:cs typeface="Calibri" pitchFamily="34" charset="-120"/>
              </a:rPr>
              <a:t>Energy-Saving-App</a:t>
            </a:r>
            <a:endParaRPr lang="en-US" sz="1150" dirty="0"/>
          </a:p>
        </p:txBody>
      </p:sp>
      <p:sp>
        <p:nvSpPr>
          <p:cNvPr id="20" name="Text 18"/>
          <p:cNvSpPr/>
          <p:nvPr/>
        </p:nvSpPr>
        <p:spPr>
          <a:xfrm>
            <a:off x="10360152" y="2432304"/>
            <a:ext cx="1051560" cy="219456"/>
          </a:xfrm>
          <a:prstGeom prst="rect">
            <a:avLst/>
          </a:prstGeom>
          <a:noFill/>
          <a:ln/>
        </p:spPr>
        <p:txBody>
          <a:bodyPr wrap="square" lIns="0" tIns="0" rIns="0" bIns="0" rtlCol="0" anchor="ctr"/>
          <a:lstStyle/>
          <a:p>
            <a:pPr algn="r" indent="0" marL="0">
              <a:buNone/>
            </a:pPr>
            <a:r>
              <a:rPr lang="en-US" sz="1050" dirty="0">
                <a:solidFill>
                  <a:srgbClr val="6E6E6E"/>
                </a:solidFill>
                <a:latin typeface="Calibri" pitchFamily="34" charset="0"/>
                <a:ea typeface="Calibri" pitchFamily="34" charset="-122"/>
                <a:cs typeface="Calibri" pitchFamily="34" charset="-120"/>
              </a:rPr>
              <a:t>C++</a:t>
            </a:r>
            <a:endParaRPr lang="en-US" sz="1050" dirty="0"/>
          </a:p>
        </p:txBody>
      </p:sp>
      <p:sp>
        <p:nvSpPr>
          <p:cNvPr id="21" name="Text 19"/>
          <p:cNvSpPr/>
          <p:nvPr/>
        </p:nvSpPr>
        <p:spPr>
          <a:xfrm>
            <a:off x="7726680" y="2706624"/>
            <a:ext cx="2633472" cy="219456"/>
          </a:xfrm>
          <a:prstGeom prst="rect">
            <a:avLst/>
          </a:prstGeom>
          <a:noFill/>
          <a:ln/>
        </p:spPr>
        <p:txBody>
          <a:bodyPr wrap="square" lIns="0" tIns="0" rIns="0" bIns="0" rtlCol="0" anchor="ctr"/>
          <a:lstStyle/>
          <a:p>
            <a:pPr indent="0" marL="0">
              <a:buNone/>
            </a:pPr>
            <a:r>
              <a:rPr lang="en-US" sz="1150" dirty="0">
                <a:solidFill>
                  <a:srgbClr val="2E2E2E"/>
                </a:solidFill>
                <a:latin typeface="Calibri" pitchFamily="34" charset="0"/>
                <a:ea typeface="Calibri" pitchFamily="34" charset="-122"/>
                <a:cs typeface="Calibri" pitchFamily="34" charset="-120"/>
              </a:rPr>
              <a:t>Traffic-Engineering-App</a:t>
            </a:r>
            <a:endParaRPr lang="en-US" sz="1150" dirty="0"/>
          </a:p>
        </p:txBody>
      </p:sp>
      <p:sp>
        <p:nvSpPr>
          <p:cNvPr id="22" name="Text 20"/>
          <p:cNvSpPr/>
          <p:nvPr/>
        </p:nvSpPr>
        <p:spPr>
          <a:xfrm>
            <a:off x="10360152" y="2706624"/>
            <a:ext cx="1051560" cy="219456"/>
          </a:xfrm>
          <a:prstGeom prst="rect">
            <a:avLst/>
          </a:prstGeom>
          <a:noFill/>
          <a:ln/>
        </p:spPr>
        <p:txBody>
          <a:bodyPr wrap="square" lIns="0" tIns="0" rIns="0" bIns="0" rtlCol="0" anchor="ctr"/>
          <a:lstStyle/>
          <a:p>
            <a:pPr algn="r" indent="0" marL="0">
              <a:buNone/>
            </a:pPr>
            <a:r>
              <a:rPr lang="en-US" sz="1050" dirty="0">
                <a:solidFill>
                  <a:srgbClr val="6E6E6E"/>
                </a:solidFill>
                <a:latin typeface="Calibri" pitchFamily="34" charset="0"/>
                <a:ea typeface="Calibri" pitchFamily="34" charset="-122"/>
                <a:cs typeface="Calibri" pitchFamily="34" charset="-120"/>
              </a:rPr>
              <a:t>Python</a:t>
            </a:r>
            <a:endParaRPr lang="en-US" sz="1050" dirty="0"/>
          </a:p>
        </p:txBody>
      </p:sp>
      <p:sp>
        <p:nvSpPr>
          <p:cNvPr id="23" name="Text 21"/>
          <p:cNvSpPr/>
          <p:nvPr/>
        </p:nvSpPr>
        <p:spPr>
          <a:xfrm>
            <a:off x="7726680" y="2980944"/>
            <a:ext cx="2633472" cy="219456"/>
          </a:xfrm>
          <a:prstGeom prst="rect">
            <a:avLst/>
          </a:prstGeom>
          <a:noFill/>
          <a:ln/>
        </p:spPr>
        <p:txBody>
          <a:bodyPr wrap="square" lIns="0" tIns="0" rIns="0" bIns="0" rtlCol="0" anchor="ctr"/>
          <a:lstStyle/>
          <a:p>
            <a:pPr indent="0" marL="0">
              <a:buNone/>
            </a:pPr>
            <a:r>
              <a:rPr lang="en-US" sz="1150" dirty="0">
                <a:solidFill>
                  <a:srgbClr val="2E2E2E"/>
                </a:solidFill>
                <a:latin typeface="Calibri" pitchFamily="34" charset="0"/>
                <a:ea typeface="Calibri" pitchFamily="34" charset="-122"/>
                <a:cs typeface="Calibri" pitchFamily="34" charset="-120"/>
              </a:rPr>
              <a:t>Web-GUI</a:t>
            </a:r>
            <a:endParaRPr lang="en-US" sz="1150" dirty="0"/>
          </a:p>
        </p:txBody>
      </p:sp>
      <p:sp>
        <p:nvSpPr>
          <p:cNvPr id="24" name="Text 22"/>
          <p:cNvSpPr/>
          <p:nvPr/>
        </p:nvSpPr>
        <p:spPr>
          <a:xfrm>
            <a:off x="10360152" y="2980944"/>
            <a:ext cx="1051560" cy="219456"/>
          </a:xfrm>
          <a:prstGeom prst="rect">
            <a:avLst/>
          </a:prstGeom>
          <a:noFill/>
          <a:ln/>
        </p:spPr>
        <p:txBody>
          <a:bodyPr wrap="square" lIns="0" tIns="0" rIns="0" bIns="0" rtlCol="0" anchor="ctr"/>
          <a:lstStyle/>
          <a:p>
            <a:pPr algn="r" indent="0" marL="0">
              <a:buNone/>
            </a:pPr>
            <a:r>
              <a:rPr lang="en-US" sz="1050" dirty="0">
                <a:solidFill>
                  <a:srgbClr val="6E6E6E"/>
                </a:solidFill>
                <a:latin typeface="Calibri" pitchFamily="34" charset="0"/>
                <a:ea typeface="Calibri" pitchFamily="34" charset="-122"/>
                <a:cs typeface="Calibri" pitchFamily="34" charset="-120"/>
              </a:rPr>
              <a:t>React / Node</a:t>
            </a:r>
            <a:endParaRPr lang="en-US" sz="1050" dirty="0"/>
          </a:p>
        </p:txBody>
      </p:sp>
      <p:sp>
        <p:nvSpPr>
          <p:cNvPr id="25" name="Text 23"/>
          <p:cNvSpPr/>
          <p:nvPr/>
        </p:nvSpPr>
        <p:spPr>
          <a:xfrm>
            <a:off x="7726680" y="3255264"/>
            <a:ext cx="2633472" cy="219456"/>
          </a:xfrm>
          <a:prstGeom prst="rect">
            <a:avLst/>
          </a:prstGeom>
          <a:noFill/>
          <a:ln/>
        </p:spPr>
        <p:txBody>
          <a:bodyPr wrap="square" lIns="0" tIns="0" rIns="0" bIns="0" rtlCol="0" anchor="ctr"/>
          <a:lstStyle/>
          <a:p>
            <a:pPr indent="0" marL="0">
              <a:buNone/>
            </a:pPr>
            <a:r>
              <a:rPr lang="en-US" sz="1150" dirty="0">
                <a:solidFill>
                  <a:srgbClr val="2E2E2E"/>
                </a:solidFill>
                <a:latin typeface="Calibri" pitchFamily="34" charset="0"/>
                <a:ea typeface="Calibri" pitchFamily="34" charset="-122"/>
                <a:cs typeface="Calibri" pitchFamily="34" charset="-120"/>
              </a:rPr>
              <a:t>Network-Traffic-Visualizer</a:t>
            </a:r>
            <a:endParaRPr lang="en-US" sz="1150" dirty="0"/>
          </a:p>
        </p:txBody>
      </p:sp>
      <p:sp>
        <p:nvSpPr>
          <p:cNvPr id="26" name="Text 24"/>
          <p:cNvSpPr/>
          <p:nvPr/>
        </p:nvSpPr>
        <p:spPr>
          <a:xfrm>
            <a:off x="10360152" y="3255264"/>
            <a:ext cx="1051560" cy="219456"/>
          </a:xfrm>
          <a:prstGeom prst="rect">
            <a:avLst/>
          </a:prstGeom>
          <a:noFill/>
          <a:ln/>
        </p:spPr>
        <p:txBody>
          <a:bodyPr wrap="square" lIns="0" tIns="0" rIns="0" bIns="0" rtlCol="0" anchor="ctr"/>
          <a:lstStyle/>
          <a:p>
            <a:pPr algn="r" indent="0" marL="0">
              <a:buNone/>
            </a:pPr>
            <a:r>
              <a:rPr lang="en-US" sz="1050" dirty="0">
                <a:solidFill>
                  <a:srgbClr val="6E6E6E"/>
                </a:solidFill>
                <a:latin typeface="Calibri" pitchFamily="34" charset="0"/>
                <a:ea typeface="Calibri" pitchFamily="34" charset="-122"/>
                <a:cs typeface="Calibri" pitchFamily="34" charset="-120"/>
              </a:rPr>
              <a:t>JavaFX</a:t>
            </a:r>
            <a:endParaRPr lang="en-US" sz="1050" dirty="0"/>
          </a:p>
        </p:txBody>
      </p:sp>
      <p:sp>
        <p:nvSpPr>
          <p:cNvPr id="27" name="Text 25"/>
          <p:cNvSpPr/>
          <p:nvPr/>
        </p:nvSpPr>
        <p:spPr>
          <a:xfrm>
            <a:off x="7726680" y="3529584"/>
            <a:ext cx="2633472" cy="219456"/>
          </a:xfrm>
          <a:prstGeom prst="rect">
            <a:avLst/>
          </a:prstGeom>
          <a:noFill/>
          <a:ln/>
        </p:spPr>
        <p:txBody>
          <a:bodyPr wrap="square" lIns="0" tIns="0" rIns="0" bIns="0" rtlCol="0" anchor="ctr"/>
          <a:lstStyle/>
          <a:p>
            <a:pPr indent="0" marL="0">
              <a:buNone/>
            </a:pPr>
            <a:r>
              <a:rPr lang="en-US" sz="1150" dirty="0">
                <a:solidFill>
                  <a:srgbClr val="2E2E2E"/>
                </a:solidFill>
                <a:latin typeface="Calibri" pitchFamily="34" charset="0"/>
                <a:ea typeface="Calibri" pitchFamily="34" charset="-122"/>
                <a:cs typeface="Calibri" pitchFamily="34" charset="-120"/>
              </a:rPr>
              <a:t>Network-State-Recorder</a:t>
            </a:r>
            <a:endParaRPr lang="en-US" sz="1150" dirty="0"/>
          </a:p>
        </p:txBody>
      </p:sp>
      <p:sp>
        <p:nvSpPr>
          <p:cNvPr id="28" name="Text 26"/>
          <p:cNvSpPr/>
          <p:nvPr/>
        </p:nvSpPr>
        <p:spPr>
          <a:xfrm>
            <a:off x="10360152" y="3529584"/>
            <a:ext cx="1051560" cy="219456"/>
          </a:xfrm>
          <a:prstGeom prst="rect">
            <a:avLst/>
          </a:prstGeom>
          <a:noFill/>
          <a:ln/>
        </p:spPr>
        <p:txBody>
          <a:bodyPr wrap="square" lIns="0" tIns="0" rIns="0" bIns="0" rtlCol="0" anchor="ctr"/>
          <a:lstStyle/>
          <a:p>
            <a:pPr algn="r" indent="0" marL="0">
              <a:buNone/>
            </a:pPr>
            <a:r>
              <a:rPr lang="en-US" sz="1050" dirty="0">
                <a:solidFill>
                  <a:srgbClr val="6E6E6E"/>
                </a:solidFill>
                <a:latin typeface="Calibri" pitchFamily="34" charset="0"/>
                <a:ea typeface="Calibri" pitchFamily="34" charset="-122"/>
                <a:cs typeface="Calibri" pitchFamily="34" charset="-120"/>
              </a:rPr>
              <a:t>Python</a:t>
            </a:r>
            <a:endParaRPr lang="en-US" sz="1050" dirty="0"/>
          </a:p>
        </p:txBody>
      </p:sp>
      <p:sp>
        <p:nvSpPr>
          <p:cNvPr id="29" name="Text 27"/>
          <p:cNvSpPr/>
          <p:nvPr/>
        </p:nvSpPr>
        <p:spPr>
          <a:xfrm>
            <a:off x="7726680" y="3803904"/>
            <a:ext cx="2633472" cy="219456"/>
          </a:xfrm>
          <a:prstGeom prst="rect">
            <a:avLst/>
          </a:prstGeom>
          <a:noFill/>
          <a:ln/>
        </p:spPr>
        <p:txBody>
          <a:bodyPr wrap="square" lIns="0" tIns="0" rIns="0" bIns="0" rtlCol="0" anchor="ctr"/>
          <a:lstStyle/>
          <a:p>
            <a:pPr indent="0" marL="0">
              <a:buNone/>
            </a:pPr>
            <a:r>
              <a:rPr lang="en-US" sz="1150" dirty="0">
                <a:solidFill>
                  <a:srgbClr val="2E2E2E"/>
                </a:solidFill>
                <a:latin typeface="Calibri" pitchFamily="34" charset="0"/>
                <a:ea typeface="Calibri" pitchFamily="34" charset="-122"/>
                <a:cs typeface="Calibri" pitchFamily="34" charset="-120"/>
              </a:rPr>
              <a:t>Network-Traffic-Generator</a:t>
            </a:r>
            <a:endParaRPr lang="en-US" sz="1150" dirty="0"/>
          </a:p>
        </p:txBody>
      </p:sp>
      <p:sp>
        <p:nvSpPr>
          <p:cNvPr id="30" name="Text 28"/>
          <p:cNvSpPr/>
          <p:nvPr/>
        </p:nvSpPr>
        <p:spPr>
          <a:xfrm>
            <a:off x="10360152" y="3803904"/>
            <a:ext cx="1051560" cy="219456"/>
          </a:xfrm>
          <a:prstGeom prst="rect">
            <a:avLst/>
          </a:prstGeom>
          <a:noFill/>
          <a:ln/>
        </p:spPr>
        <p:txBody>
          <a:bodyPr wrap="square" lIns="0" tIns="0" rIns="0" bIns="0" rtlCol="0" anchor="ctr"/>
          <a:lstStyle/>
          <a:p>
            <a:pPr algn="r" indent="0" marL="0">
              <a:buNone/>
            </a:pPr>
            <a:r>
              <a:rPr lang="en-US" sz="1050" dirty="0">
                <a:solidFill>
                  <a:srgbClr val="6E6E6E"/>
                </a:solidFill>
                <a:latin typeface="Calibri" pitchFamily="34" charset="0"/>
                <a:ea typeface="Calibri" pitchFamily="34" charset="-122"/>
                <a:cs typeface="Calibri" pitchFamily="34" charset="-120"/>
              </a:rPr>
              <a:t>Python</a:t>
            </a:r>
            <a:endParaRPr lang="en-US" sz="1050" dirty="0"/>
          </a:p>
        </p:txBody>
      </p:sp>
      <p:sp>
        <p:nvSpPr>
          <p:cNvPr id="31" name="Text 29"/>
          <p:cNvSpPr/>
          <p:nvPr/>
        </p:nvSpPr>
        <p:spPr>
          <a:xfrm>
            <a:off x="7726680" y="4078224"/>
            <a:ext cx="2633472" cy="219456"/>
          </a:xfrm>
          <a:prstGeom prst="rect">
            <a:avLst/>
          </a:prstGeom>
          <a:noFill/>
          <a:ln/>
        </p:spPr>
        <p:txBody>
          <a:bodyPr wrap="square" lIns="0" tIns="0" rIns="0" bIns="0" rtlCol="0" anchor="ctr"/>
          <a:lstStyle/>
          <a:p>
            <a:pPr indent="0" marL="0">
              <a:buNone/>
            </a:pPr>
            <a:r>
              <a:rPr lang="en-US" sz="1150" dirty="0">
                <a:solidFill>
                  <a:srgbClr val="2E2E2E"/>
                </a:solidFill>
                <a:latin typeface="Calibri" pitchFamily="34" charset="0"/>
                <a:ea typeface="Calibri" pitchFamily="34" charset="-122"/>
                <a:cs typeface="Calibri" pitchFamily="34" charset="-120"/>
              </a:rPr>
              <a:t>Simulation-Platform-Manager</a:t>
            </a:r>
            <a:endParaRPr lang="en-US" sz="1150" dirty="0"/>
          </a:p>
        </p:txBody>
      </p:sp>
      <p:sp>
        <p:nvSpPr>
          <p:cNvPr id="32" name="Text 30"/>
          <p:cNvSpPr/>
          <p:nvPr/>
        </p:nvSpPr>
        <p:spPr>
          <a:xfrm>
            <a:off x="10360152" y="4078224"/>
            <a:ext cx="1051560" cy="219456"/>
          </a:xfrm>
          <a:prstGeom prst="rect">
            <a:avLst/>
          </a:prstGeom>
          <a:noFill/>
          <a:ln/>
        </p:spPr>
        <p:txBody>
          <a:bodyPr wrap="square" lIns="0" tIns="0" rIns="0" bIns="0" rtlCol="0" anchor="ctr"/>
          <a:lstStyle/>
          <a:p>
            <a:pPr algn="r" indent="0" marL="0">
              <a:buNone/>
            </a:pPr>
            <a:r>
              <a:rPr lang="en-US" sz="1050" dirty="0">
                <a:solidFill>
                  <a:srgbClr val="6E6E6E"/>
                </a:solidFill>
                <a:latin typeface="Calibri" pitchFamily="34" charset="0"/>
                <a:ea typeface="Calibri" pitchFamily="34" charset="-122"/>
                <a:cs typeface="Calibri" pitchFamily="34" charset="-120"/>
              </a:rPr>
              <a:t>C++</a:t>
            </a:r>
            <a:endParaRPr lang="en-US" sz="1050" dirty="0"/>
          </a:p>
        </p:txBody>
      </p:sp>
      <p:sp>
        <p:nvSpPr>
          <p:cNvPr id="33" name="Shape 31"/>
          <p:cNvSpPr/>
          <p:nvPr/>
        </p:nvSpPr>
        <p:spPr>
          <a:xfrm>
            <a:off x="7726680" y="4407408"/>
            <a:ext cx="3685032" cy="9144"/>
          </a:xfrm>
          <a:prstGeom prst="line">
            <a:avLst/>
          </a:prstGeom>
          <a:noFill/>
          <a:ln w="12700">
            <a:solidFill>
              <a:srgbClr val="EFEFEF"/>
            </a:solidFill>
            <a:prstDash val="solid"/>
          </a:ln>
        </p:spPr>
      </p:sp>
      <p:sp>
        <p:nvSpPr>
          <p:cNvPr id="34" name="Text 32"/>
          <p:cNvSpPr/>
          <p:nvPr/>
        </p:nvSpPr>
        <p:spPr>
          <a:xfrm>
            <a:off x="7726680" y="4517136"/>
            <a:ext cx="3685032" cy="731520"/>
          </a:xfrm>
          <a:prstGeom prst="rect">
            <a:avLst/>
          </a:prstGeom>
          <a:noFill/>
          <a:ln/>
        </p:spPr>
        <p:txBody>
          <a:bodyPr wrap="square" lIns="0" tIns="0" rIns="0" bIns="0" rtlCol="0" anchor="ctr"/>
          <a:lstStyle/>
          <a:p>
            <a:pPr indent="0" marL="0">
              <a:lnSpc>
                <a:spcPct val="120000"/>
              </a:lnSpc>
              <a:buNone/>
            </a:pPr>
            <a:r>
              <a:rPr lang="en-US" sz="1100" dirty="0">
                <a:solidFill>
                  <a:srgbClr val="4F4F4F"/>
                </a:solidFill>
                <a:latin typeface="Calibri" pitchFamily="34" charset="0"/>
                <a:ea typeface="Calibri" pitchFamily="34" charset="-122"/>
                <a:cs typeface="Calibri" pitchFamily="34" charset="-120"/>
              </a:rPr>
              <a:t>All seven read the graph through /ndt/get_graph_data. If that endpoint breaks, all seven break at once.</a:t>
            </a:r>
            <a:endParaRPr lang="en-US" sz="1100" dirty="0"/>
          </a:p>
        </p:txBody>
      </p:sp>
      <p:sp>
        <p:nvSpPr>
          <p:cNvPr id="35" name="Text 33"/>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74320" y="146304"/>
            <a:ext cx="7315200" cy="310896"/>
          </a:xfrm>
          <a:prstGeom prst="rect">
            <a:avLst/>
          </a:prstGeom>
          <a:noFill/>
          <a:ln/>
        </p:spPr>
        <p:txBody>
          <a:bodyPr wrap="square" lIns="0" tIns="0" rIns="0" bIns="0" rtlCol="0" anchor="ctr"/>
          <a:lstStyle/>
          <a:p>
            <a:pPr algn="l" indent="0" marL="0">
              <a:lnSpc>
                <a:spcPct val="95000"/>
              </a:lnSpc>
              <a:buNone/>
            </a:pPr>
            <a:r>
              <a:rPr lang="en-US" sz="1300" b="1" dirty="0">
                <a:solidFill>
                  <a:srgbClr val="000000"/>
                </a:solidFill>
                <a:latin typeface="Arial" pitchFamily="34" charset="0"/>
                <a:ea typeface="Arial" pitchFamily="34" charset="-122"/>
                <a:cs typeface="Arial" pitchFamily="34" charset="-120"/>
              </a:rPr>
              <a:t>NDTwin: A Framework for Network Digital Twins</a:t>
            </a:r>
            <a:endParaRPr lang="en-US" sz="1300" dirty="0"/>
          </a:p>
        </p:txBody>
      </p:sp>
      <p:sp>
        <p:nvSpPr>
          <p:cNvPr id="3" name="Text 1"/>
          <p:cNvSpPr/>
          <p:nvPr/>
        </p:nvSpPr>
        <p:spPr>
          <a:xfrm>
            <a:off x="219456" y="960120"/>
            <a:ext cx="1362456" cy="338328"/>
          </a:xfrm>
          <a:prstGeom prst="rect">
            <a:avLst/>
          </a:prstGeom>
          <a:noFill/>
          <a:ln/>
        </p:spPr>
        <p:txBody>
          <a:bodyPr wrap="square" lIns="0" tIns="0" rIns="0" bIns="0" rtlCol="0" anchor="ctr"/>
          <a:lstStyle/>
          <a:p>
            <a:pPr algn="l" indent="0" marL="0">
              <a:lnSpc>
                <a:spcPct val="95000"/>
              </a:lnSpc>
              <a:buNone/>
            </a:pPr>
            <a:r>
              <a:rPr lang="en-US" sz="1200" dirty="0">
                <a:solidFill>
                  <a:srgbClr val="000000"/>
                </a:solidFill>
                <a:latin typeface="Arial" pitchFamily="34" charset="0"/>
                <a:ea typeface="Arial" pitchFamily="34" charset="-122"/>
                <a:cs typeface="Arial" pitchFamily="34" charset="-120"/>
              </a:rPr>
              <a:t>NDTwin Apps</a:t>
            </a:r>
            <a:endParaRPr lang="en-US" sz="1200" dirty="0"/>
          </a:p>
        </p:txBody>
      </p:sp>
      <p:sp>
        <p:nvSpPr>
          <p:cNvPr id="4" name="Shape 2"/>
          <p:cNvSpPr/>
          <p:nvPr/>
        </p:nvSpPr>
        <p:spPr>
          <a:xfrm>
            <a:off x="1600200" y="749808"/>
            <a:ext cx="1353312" cy="768096"/>
          </a:xfrm>
          <a:prstGeom prst="rect">
            <a:avLst/>
          </a:prstGeom>
          <a:solidFill>
            <a:srgbClr val="FFFFFF"/>
          </a:solidFill>
          <a:ln w="12700">
            <a:solidFill>
              <a:srgbClr val="000000"/>
            </a:solidFill>
            <a:prstDash val="solid"/>
          </a:ln>
        </p:spPr>
      </p:sp>
      <p:sp>
        <p:nvSpPr>
          <p:cNvPr id="5" name="Text 3"/>
          <p:cNvSpPr/>
          <p:nvPr/>
        </p:nvSpPr>
        <p:spPr>
          <a:xfrm>
            <a:off x="1636776" y="749808"/>
            <a:ext cx="1280160" cy="768096"/>
          </a:xfrm>
          <a:prstGeom prst="rect">
            <a:avLst/>
          </a:prstGeom>
          <a:noFill/>
          <a:ln/>
        </p:spPr>
        <p:txBody>
          <a:bodyPr wrap="square" lIns="0" tIns="0" rIns="0" bIns="0" rtlCol="0" anchor="ctr"/>
          <a:lstStyle/>
          <a:p>
            <a:pPr algn="ctr" indent="0" marL="0">
              <a:lnSpc>
                <a:spcPct val="92000"/>
              </a:lnSpc>
              <a:buNone/>
            </a:pPr>
            <a:r>
              <a:rPr lang="en-US" sz="1050" dirty="0">
                <a:solidFill>
                  <a:srgbClr val="000000"/>
                </a:solidFill>
                <a:latin typeface="Arial" pitchFamily="34" charset="0"/>
                <a:ea typeface="Arial" pitchFamily="34" charset="-122"/>
                <a:cs typeface="Arial" pitchFamily="34" charset="-120"/>
              </a:rPr>
              <a:t>Traffic-engineering App</a:t>
            </a:r>
            <a:endParaRPr lang="en-US" sz="1050" dirty="0"/>
          </a:p>
        </p:txBody>
      </p:sp>
      <p:sp>
        <p:nvSpPr>
          <p:cNvPr id="6" name="Shape 4"/>
          <p:cNvSpPr/>
          <p:nvPr/>
        </p:nvSpPr>
        <p:spPr>
          <a:xfrm>
            <a:off x="3072384" y="768096"/>
            <a:ext cx="1353312" cy="768096"/>
          </a:xfrm>
          <a:prstGeom prst="rect">
            <a:avLst/>
          </a:prstGeom>
          <a:solidFill>
            <a:srgbClr val="FFFFFF"/>
          </a:solidFill>
          <a:ln w="12700">
            <a:solidFill>
              <a:srgbClr val="000000"/>
            </a:solidFill>
            <a:prstDash val="solid"/>
          </a:ln>
        </p:spPr>
      </p:sp>
      <p:sp>
        <p:nvSpPr>
          <p:cNvPr id="7" name="Text 5"/>
          <p:cNvSpPr/>
          <p:nvPr/>
        </p:nvSpPr>
        <p:spPr>
          <a:xfrm>
            <a:off x="3108960" y="768096"/>
            <a:ext cx="1280160" cy="768096"/>
          </a:xfrm>
          <a:prstGeom prst="rect">
            <a:avLst/>
          </a:prstGeom>
          <a:noFill/>
          <a:ln/>
        </p:spPr>
        <p:txBody>
          <a:bodyPr wrap="square" lIns="0" tIns="0" rIns="0" bIns="0" rtlCol="0" anchor="ctr"/>
          <a:lstStyle/>
          <a:p>
            <a:pPr algn="ctr" indent="0" marL="0">
              <a:lnSpc>
                <a:spcPct val="92000"/>
              </a:lnSpc>
              <a:buNone/>
            </a:pPr>
            <a:r>
              <a:rPr lang="en-US" sz="1050" dirty="0">
                <a:solidFill>
                  <a:srgbClr val="000000"/>
                </a:solidFill>
                <a:latin typeface="Arial" pitchFamily="34" charset="0"/>
                <a:ea typeface="Arial" pitchFamily="34" charset="-122"/>
                <a:cs typeface="Arial" pitchFamily="34" charset="-120"/>
              </a:rPr>
              <a:t>Energy-saving App</a:t>
            </a:r>
            <a:endParaRPr lang="en-US" sz="1050" dirty="0"/>
          </a:p>
        </p:txBody>
      </p:sp>
      <p:sp>
        <p:nvSpPr>
          <p:cNvPr id="8" name="Text 6"/>
          <p:cNvSpPr/>
          <p:nvPr/>
        </p:nvSpPr>
        <p:spPr>
          <a:xfrm>
            <a:off x="4498848" y="886968"/>
            <a:ext cx="457200" cy="457200"/>
          </a:xfrm>
          <a:prstGeom prst="rect">
            <a:avLst/>
          </a:prstGeom>
          <a:noFill/>
          <a:ln/>
        </p:spPr>
        <p:txBody>
          <a:bodyPr wrap="square" lIns="0" tIns="0" rIns="0" bIns="0" rtlCol="0" anchor="ctr"/>
          <a:lstStyle/>
          <a:p>
            <a:pPr algn="l" indent="0" marL="0">
              <a:lnSpc>
                <a:spcPct val="95000"/>
              </a:lnSpc>
              <a:buNone/>
            </a:pPr>
            <a:r>
              <a:rPr lang="en-US" sz="1300" dirty="0">
                <a:solidFill>
                  <a:srgbClr val="000000"/>
                </a:solidFill>
                <a:latin typeface="Arial" pitchFamily="34" charset="0"/>
                <a:ea typeface="Arial" pitchFamily="34" charset="-122"/>
                <a:cs typeface="Arial" pitchFamily="34" charset="-120"/>
              </a:rPr>
              <a:t>...</a:t>
            </a:r>
            <a:endParaRPr lang="en-US" sz="1300" dirty="0"/>
          </a:p>
        </p:txBody>
      </p:sp>
      <p:sp>
        <p:nvSpPr>
          <p:cNvPr id="9" name="Shape 7"/>
          <p:cNvSpPr/>
          <p:nvPr/>
        </p:nvSpPr>
        <p:spPr>
          <a:xfrm>
            <a:off x="4873752" y="749808"/>
            <a:ext cx="1929384" cy="768096"/>
          </a:xfrm>
          <a:prstGeom prst="rect">
            <a:avLst/>
          </a:prstGeom>
          <a:solidFill>
            <a:srgbClr val="FFFFFF"/>
          </a:solidFill>
          <a:ln w="12700">
            <a:solidFill>
              <a:srgbClr val="000000"/>
            </a:solidFill>
            <a:prstDash val="solid"/>
          </a:ln>
        </p:spPr>
      </p:sp>
      <p:sp>
        <p:nvSpPr>
          <p:cNvPr id="10" name="Text 8"/>
          <p:cNvSpPr/>
          <p:nvPr/>
        </p:nvSpPr>
        <p:spPr>
          <a:xfrm>
            <a:off x="4910328" y="749808"/>
            <a:ext cx="1856232" cy="768096"/>
          </a:xfrm>
          <a:prstGeom prst="rect">
            <a:avLst/>
          </a:prstGeom>
          <a:noFill/>
          <a:ln/>
        </p:spPr>
        <p:txBody>
          <a:bodyPr wrap="square" lIns="0" tIns="0" rIns="0" bIns="0" rtlCol="0" anchor="ctr"/>
          <a:lstStyle/>
          <a:p>
            <a:pPr algn="ctr" indent="0" marL="0">
              <a:lnSpc>
                <a:spcPct val="92000"/>
              </a:lnSpc>
              <a:buNone/>
            </a:pPr>
            <a:r>
              <a:rPr lang="en-US" sz="1050" dirty="0">
                <a:solidFill>
                  <a:srgbClr val="000000"/>
                </a:solidFill>
                <a:latin typeface="Arial" pitchFamily="34" charset="0"/>
                <a:ea typeface="Arial" pitchFamily="34" charset="-122"/>
                <a:cs typeface="Arial" pitchFamily="34" charset="-120"/>
              </a:rPr>
              <a:t>Apps (using simulation for prediction and optimal control)</a:t>
            </a:r>
            <a:endParaRPr lang="en-US" sz="1050" dirty="0"/>
          </a:p>
        </p:txBody>
      </p:sp>
      <p:sp>
        <p:nvSpPr>
          <p:cNvPr id="11" name="Shape 9"/>
          <p:cNvSpPr/>
          <p:nvPr/>
        </p:nvSpPr>
        <p:spPr>
          <a:xfrm>
            <a:off x="6912864" y="749808"/>
            <a:ext cx="2066544" cy="768096"/>
          </a:xfrm>
          <a:prstGeom prst="rect">
            <a:avLst/>
          </a:prstGeom>
          <a:solidFill>
            <a:srgbClr val="FFFFFF"/>
          </a:solidFill>
          <a:ln w="12700">
            <a:solidFill>
              <a:srgbClr val="000000"/>
            </a:solidFill>
            <a:prstDash val="solid"/>
          </a:ln>
        </p:spPr>
      </p:sp>
      <p:sp>
        <p:nvSpPr>
          <p:cNvPr id="12" name="Text 10"/>
          <p:cNvSpPr/>
          <p:nvPr/>
        </p:nvSpPr>
        <p:spPr>
          <a:xfrm>
            <a:off x="6949440" y="749808"/>
            <a:ext cx="1993392" cy="768096"/>
          </a:xfrm>
          <a:prstGeom prst="rect">
            <a:avLst/>
          </a:prstGeom>
          <a:noFill/>
          <a:ln/>
        </p:spPr>
        <p:txBody>
          <a:bodyPr wrap="square" lIns="0" tIns="0" rIns="0" bIns="0" rtlCol="0" anchor="ctr"/>
          <a:lstStyle/>
          <a:p>
            <a:pPr algn="ctr" indent="0" marL="0">
              <a:lnSpc>
                <a:spcPct val="92000"/>
              </a:lnSpc>
              <a:buNone/>
            </a:pPr>
            <a:r>
              <a:rPr lang="en-US" sz="1050" dirty="0">
                <a:solidFill>
                  <a:srgbClr val="000000"/>
                </a:solidFill>
                <a:latin typeface="Arial" pitchFamily="34" charset="0"/>
                <a:ea typeface="Arial" pitchFamily="34" charset="-122"/>
                <a:cs typeface="Arial" pitchFamily="34" charset="-120"/>
              </a:rPr>
              <a:t>Apps (using AI/ML model inference for prediction and optimal control)</a:t>
            </a:r>
            <a:endParaRPr lang="en-US" sz="1050" dirty="0"/>
          </a:p>
        </p:txBody>
      </p:sp>
      <p:sp>
        <p:nvSpPr>
          <p:cNvPr id="13" name="Shape 11"/>
          <p:cNvSpPr/>
          <p:nvPr/>
        </p:nvSpPr>
        <p:spPr>
          <a:xfrm>
            <a:off x="118872" y="1618488"/>
            <a:ext cx="9043416" cy="3658"/>
          </a:xfrm>
          <a:prstGeom prst="line">
            <a:avLst/>
          </a:prstGeom>
          <a:noFill/>
          <a:ln w="12700">
            <a:solidFill>
              <a:srgbClr val="808080"/>
            </a:solidFill>
            <a:prstDash val="dash"/>
          </a:ln>
        </p:spPr>
      </p:sp>
      <p:sp>
        <p:nvSpPr>
          <p:cNvPr id="14" name="Shape 12"/>
          <p:cNvSpPr/>
          <p:nvPr/>
        </p:nvSpPr>
        <p:spPr>
          <a:xfrm>
            <a:off x="9162288" y="713232"/>
            <a:ext cx="3658" cy="5760720"/>
          </a:xfrm>
          <a:prstGeom prst="line">
            <a:avLst/>
          </a:prstGeom>
          <a:noFill/>
          <a:ln w="12700">
            <a:solidFill>
              <a:srgbClr val="808080"/>
            </a:solidFill>
            <a:prstDash val="dash"/>
          </a:ln>
        </p:spPr>
      </p:sp>
      <p:sp>
        <p:nvSpPr>
          <p:cNvPr id="15" name="Shape 13"/>
          <p:cNvSpPr/>
          <p:nvPr/>
        </p:nvSpPr>
        <p:spPr>
          <a:xfrm>
            <a:off x="265176" y="1819656"/>
            <a:ext cx="8513064" cy="2679192"/>
          </a:xfrm>
          <a:prstGeom prst="rect">
            <a:avLst/>
          </a:prstGeom>
          <a:solidFill>
            <a:srgbClr val="FFFFFF"/>
          </a:solidFill>
          <a:ln w="12700">
            <a:solidFill>
              <a:srgbClr val="000000"/>
            </a:solidFill>
            <a:prstDash val="solid"/>
          </a:ln>
        </p:spPr>
      </p:sp>
      <p:sp>
        <p:nvSpPr>
          <p:cNvPr id="16" name="Text 14"/>
          <p:cNvSpPr/>
          <p:nvPr/>
        </p:nvSpPr>
        <p:spPr>
          <a:xfrm>
            <a:off x="384048" y="1883664"/>
            <a:ext cx="1463040" cy="274320"/>
          </a:xfrm>
          <a:prstGeom prst="rect">
            <a:avLst/>
          </a:prstGeom>
          <a:noFill/>
          <a:ln/>
        </p:spPr>
        <p:txBody>
          <a:bodyPr wrap="square" lIns="0" tIns="0" rIns="0" bIns="0" rtlCol="0" anchor="ctr"/>
          <a:lstStyle/>
          <a:p>
            <a:pPr algn="l" indent="0" marL="0">
              <a:lnSpc>
                <a:spcPct val="95000"/>
              </a:lnSpc>
              <a:buNone/>
            </a:pPr>
            <a:r>
              <a:rPr lang="en-US" sz="1200" dirty="0">
                <a:solidFill>
                  <a:srgbClr val="000000"/>
                </a:solidFill>
                <a:latin typeface="Arial" pitchFamily="34" charset="0"/>
                <a:ea typeface="Arial" pitchFamily="34" charset="-122"/>
                <a:cs typeface="Arial" pitchFamily="34" charset="-120"/>
              </a:rPr>
              <a:t>NDTwin Kernel</a:t>
            </a:r>
            <a:endParaRPr lang="en-US" sz="1200" dirty="0"/>
          </a:p>
        </p:txBody>
      </p:sp>
      <p:sp>
        <p:nvSpPr>
          <p:cNvPr id="17" name="Shape 15"/>
          <p:cNvSpPr/>
          <p:nvPr/>
        </p:nvSpPr>
        <p:spPr>
          <a:xfrm>
            <a:off x="621792" y="2240280"/>
            <a:ext cx="2459736" cy="502920"/>
          </a:xfrm>
          <a:prstGeom prst="rect">
            <a:avLst/>
          </a:prstGeom>
          <a:solidFill>
            <a:srgbClr val="FFFFFF"/>
          </a:solidFill>
          <a:ln w="12700">
            <a:solidFill>
              <a:srgbClr val="000000"/>
            </a:solidFill>
            <a:prstDash val="solid"/>
          </a:ln>
        </p:spPr>
      </p:sp>
      <p:sp>
        <p:nvSpPr>
          <p:cNvPr id="18" name="Text 16"/>
          <p:cNvSpPr/>
          <p:nvPr/>
        </p:nvSpPr>
        <p:spPr>
          <a:xfrm>
            <a:off x="658368" y="2240280"/>
            <a:ext cx="2386584" cy="502920"/>
          </a:xfrm>
          <a:prstGeom prst="rect">
            <a:avLst/>
          </a:prstGeom>
          <a:noFill/>
          <a:ln/>
        </p:spPr>
        <p:txBody>
          <a:bodyPr wrap="square" lIns="0" tIns="0" rIns="0" bIns="0" rtlCol="0" anchor="ctr"/>
          <a:lstStyle/>
          <a:p>
            <a:pPr algn="ctr" indent="0" marL="0">
              <a:lnSpc>
                <a:spcPct val="92000"/>
              </a:lnSpc>
              <a:buNone/>
            </a:pPr>
            <a:r>
              <a:rPr lang="en-US" sz="1050" dirty="0">
                <a:solidFill>
                  <a:srgbClr val="000000"/>
                </a:solidFill>
                <a:latin typeface="Arial" pitchFamily="34" charset="0"/>
                <a:ea typeface="Arial" pitchFamily="34" charset="-122"/>
                <a:cs typeface="Arial" pitchFamily="34" charset="-120"/>
              </a:rPr>
              <a:t>Device configuration and power manager</a:t>
            </a:r>
            <a:endParaRPr lang="en-US" sz="1050" dirty="0"/>
          </a:p>
        </p:txBody>
      </p:sp>
      <p:sp>
        <p:nvSpPr>
          <p:cNvPr id="19" name="Shape 17"/>
          <p:cNvSpPr/>
          <p:nvPr/>
        </p:nvSpPr>
        <p:spPr>
          <a:xfrm>
            <a:off x="3319272" y="2267712"/>
            <a:ext cx="2404872" cy="448056"/>
          </a:xfrm>
          <a:prstGeom prst="rect">
            <a:avLst/>
          </a:prstGeom>
          <a:solidFill>
            <a:srgbClr val="FFFFFF"/>
          </a:solidFill>
          <a:ln w="12700">
            <a:solidFill>
              <a:srgbClr val="000000"/>
            </a:solidFill>
            <a:prstDash val="solid"/>
          </a:ln>
        </p:spPr>
      </p:sp>
      <p:sp>
        <p:nvSpPr>
          <p:cNvPr id="20" name="Text 18"/>
          <p:cNvSpPr/>
          <p:nvPr/>
        </p:nvSpPr>
        <p:spPr>
          <a:xfrm>
            <a:off x="3355848" y="2267712"/>
            <a:ext cx="2331720" cy="448056"/>
          </a:xfrm>
          <a:prstGeom prst="rect">
            <a:avLst/>
          </a:prstGeom>
          <a:noFill/>
          <a:ln/>
        </p:spPr>
        <p:txBody>
          <a:bodyPr wrap="square" lIns="0" tIns="0" rIns="0" bIns="0" rtlCol="0" anchor="ctr"/>
          <a:lstStyle/>
          <a:p>
            <a:pPr algn="ctr" indent="0" marL="0">
              <a:lnSpc>
                <a:spcPct val="92000"/>
              </a:lnSpc>
              <a:buNone/>
            </a:pPr>
            <a:r>
              <a:rPr lang="en-US" sz="1050" dirty="0">
                <a:solidFill>
                  <a:srgbClr val="000000"/>
                </a:solidFill>
                <a:latin typeface="Arial" pitchFamily="34" charset="0"/>
                <a:ea typeface="Arial" pitchFamily="34" charset="-122"/>
                <a:cs typeface="Arial" pitchFamily="34" charset="-120"/>
              </a:rPr>
              <a:t>Application registration and coordination manager</a:t>
            </a:r>
            <a:endParaRPr lang="en-US" sz="1050" dirty="0"/>
          </a:p>
        </p:txBody>
      </p:sp>
      <p:sp>
        <p:nvSpPr>
          <p:cNvPr id="21" name="Shape 19"/>
          <p:cNvSpPr/>
          <p:nvPr/>
        </p:nvSpPr>
        <p:spPr>
          <a:xfrm>
            <a:off x="6053328" y="2267712"/>
            <a:ext cx="2404872" cy="365760"/>
          </a:xfrm>
          <a:prstGeom prst="rect">
            <a:avLst/>
          </a:prstGeom>
          <a:solidFill>
            <a:srgbClr val="FFFFFF"/>
          </a:solidFill>
          <a:ln w="12700">
            <a:solidFill>
              <a:srgbClr val="000000"/>
            </a:solidFill>
            <a:prstDash val="solid"/>
          </a:ln>
        </p:spPr>
      </p:sp>
      <p:sp>
        <p:nvSpPr>
          <p:cNvPr id="22" name="Text 20"/>
          <p:cNvSpPr/>
          <p:nvPr/>
        </p:nvSpPr>
        <p:spPr>
          <a:xfrm>
            <a:off x="6089904" y="2267712"/>
            <a:ext cx="2331720" cy="365760"/>
          </a:xfrm>
          <a:prstGeom prst="rect">
            <a:avLst/>
          </a:prstGeom>
          <a:noFill/>
          <a:ln/>
        </p:spPr>
        <p:txBody>
          <a:bodyPr wrap="square" lIns="0" tIns="0" rIns="0" bIns="0" rtlCol="0" anchor="ctr"/>
          <a:lstStyle/>
          <a:p>
            <a:pPr algn="ctr" indent="0" marL="0">
              <a:lnSpc>
                <a:spcPct val="92000"/>
              </a:lnSpc>
              <a:buNone/>
            </a:pPr>
            <a:r>
              <a:rPr lang="en-US" sz="1050" dirty="0">
                <a:solidFill>
                  <a:srgbClr val="000000"/>
                </a:solidFill>
                <a:latin typeface="Arial" pitchFamily="34" charset="0"/>
                <a:ea typeface="Arial" pitchFamily="34" charset="-122"/>
                <a:cs typeface="Arial" pitchFamily="34" charset="-120"/>
              </a:rPr>
              <a:t>Intent to tasks translator</a:t>
            </a:r>
            <a:endParaRPr lang="en-US" sz="1050" dirty="0"/>
          </a:p>
        </p:txBody>
      </p:sp>
      <p:sp>
        <p:nvSpPr>
          <p:cNvPr id="23" name="Shape 21"/>
          <p:cNvSpPr/>
          <p:nvPr/>
        </p:nvSpPr>
        <p:spPr>
          <a:xfrm>
            <a:off x="594360" y="3054096"/>
            <a:ext cx="2459736" cy="365760"/>
          </a:xfrm>
          <a:prstGeom prst="rect">
            <a:avLst/>
          </a:prstGeom>
          <a:solidFill>
            <a:srgbClr val="FFFFFF"/>
          </a:solidFill>
          <a:ln w="12700">
            <a:solidFill>
              <a:srgbClr val="000000"/>
            </a:solidFill>
            <a:prstDash val="solid"/>
          </a:ln>
        </p:spPr>
      </p:sp>
      <p:sp>
        <p:nvSpPr>
          <p:cNvPr id="24" name="Text 22"/>
          <p:cNvSpPr/>
          <p:nvPr/>
        </p:nvSpPr>
        <p:spPr>
          <a:xfrm>
            <a:off x="630936" y="3054096"/>
            <a:ext cx="2386584" cy="365760"/>
          </a:xfrm>
          <a:prstGeom prst="rect">
            <a:avLst/>
          </a:prstGeom>
          <a:noFill/>
          <a:ln/>
        </p:spPr>
        <p:txBody>
          <a:bodyPr wrap="square" lIns="0" tIns="0" rIns="0" bIns="0" rtlCol="0" anchor="ctr"/>
          <a:lstStyle/>
          <a:p>
            <a:pPr algn="ctr" indent="0" marL="0">
              <a:lnSpc>
                <a:spcPct val="92000"/>
              </a:lnSpc>
              <a:buNone/>
            </a:pPr>
            <a:r>
              <a:rPr lang="en-US" sz="1050" dirty="0">
                <a:solidFill>
                  <a:srgbClr val="000000"/>
                </a:solidFill>
                <a:latin typeface="Arial" pitchFamily="34" charset="0"/>
                <a:ea typeface="Arial" pitchFamily="34" charset="-122"/>
                <a:cs typeface="Arial" pitchFamily="34" charset="-120"/>
              </a:rPr>
              <a:t>Flow routing manager</a:t>
            </a:r>
            <a:endParaRPr lang="en-US" sz="1050" dirty="0"/>
          </a:p>
        </p:txBody>
      </p:sp>
      <p:sp>
        <p:nvSpPr>
          <p:cNvPr id="25" name="Shape 23"/>
          <p:cNvSpPr/>
          <p:nvPr/>
        </p:nvSpPr>
        <p:spPr>
          <a:xfrm>
            <a:off x="3328416" y="3054096"/>
            <a:ext cx="2404872" cy="457200"/>
          </a:xfrm>
          <a:prstGeom prst="rect">
            <a:avLst/>
          </a:prstGeom>
          <a:solidFill>
            <a:srgbClr val="FFFFFF"/>
          </a:solidFill>
          <a:ln w="12700">
            <a:solidFill>
              <a:srgbClr val="000000"/>
            </a:solidFill>
            <a:prstDash val="solid"/>
          </a:ln>
        </p:spPr>
      </p:sp>
      <p:sp>
        <p:nvSpPr>
          <p:cNvPr id="26" name="Text 24"/>
          <p:cNvSpPr/>
          <p:nvPr/>
        </p:nvSpPr>
        <p:spPr>
          <a:xfrm>
            <a:off x="3364992" y="3054096"/>
            <a:ext cx="2331720" cy="457200"/>
          </a:xfrm>
          <a:prstGeom prst="rect">
            <a:avLst/>
          </a:prstGeom>
          <a:noFill/>
          <a:ln/>
        </p:spPr>
        <p:txBody>
          <a:bodyPr wrap="square" lIns="0" tIns="0" rIns="0" bIns="0" rtlCol="0" anchor="ctr"/>
          <a:lstStyle/>
          <a:p>
            <a:pPr algn="ctr" indent="0" marL="0">
              <a:lnSpc>
                <a:spcPct val="92000"/>
              </a:lnSpc>
              <a:buNone/>
            </a:pPr>
            <a:r>
              <a:rPr lang="en-US" sz="1050" dirty="0">
                <a:solidFill>
                  <a:srgbClr val="000000"/>
                </a:solidFill>
                <a:latin typeface="Arial" pitchFamily="34" charset="0"/>
                <a:ea typeface="Arial" pitchFamily="34" charset="-122"/>
                <a:cs typeface="Arial" pitchFamily="34" charset="-120"/>
              </a:rPr>
              <a:t>Simulation request and reply manager</a:t>
            </a:r>
            <a:endParaRPr lang="en-US" sz="1050" dirty="0"/>
          </a:p>
        </p:txBody>
      </p:sp>
      <p:sp>
        <p:nvSpPr>
          <p:cNvPr id="27" name="Shape 25"/>
          <p:cNvSpPr/>
          <p:nvPr/>
        </p:nvSpPr>
        <p:spPr>
          <a:xfrm>
            <a:off x="6099048" y="3063240"/>
            <a:ext cx="2404872" cy="365760"/>
          </a:xfrm>
          <a:prstGeom prst="rect">
            <a:avLst/>
          </a:prstGeom>
          <a:solidFill>
            <a:srgbClr val="FFFFFF"/>
          </a:solidFill>
          <a:ln w="12700">
            <a:solidFill>
              <a:srgbClr val="000000"/>
            </a:solidFill>
            <a:prstDash val="solid"/>
          </a:ln>
        </p:spPr>
      </p:sp>
      <p:sp>
        <p:nvSpPr>
          <p:cNvPr id="28" name="Text 26"/>
          <p:cNvSpPr/>
          <p:nvPr/>
        </p:nvSpPr>
        <p:spPr>
          <a:xfrm>
            <a:off x="6135624" y="3063240"/>
            <a:ext cx="2331720" cy="365760"/>
          </a:xfrm>
          <a:prstGeom prst="rect">
            <a:avLst/>
          </a:prstGeom>
          <a:noFill/>
          <a:ln/>
        </p:spPr>
        <p:txBody>
          <a:bodyPr wrap="square" lIns="0" tIns="0" rIns="0" bIns="0" rtlCol="0" anchor="ctr"/>
          <a:lstStyle/>
          <a:p>
            <a:pPr algn="ctr" indent="0" marL="0">
              <a:lnSpc>
                <a:spcPct val="92000"/>
              </a:lnSpc>
              <a:buNone/>
            </a:pPr>
            <a:r>
              <a:rPr lang="en-US" sz="1050" dirty="0">
                <a:solidFill>
                  <a:srgbClr val="000000"/>
                </a:solidFill>
                <a:latin typeface="Arial" pitchFamily="34" charset="0"/>
                <a:ea typeface="Arial" pitchFamily="34" charset="-122"/>
                <a:cs typeface="Arial" pitchFamily="34" charset="-120"/>
              </a:rPr>
              <a:t>Topology and flow monitor</a:t>
            </a:r>
            <a:endParaRPr lang="en-US" sz="1050" dirty="0"/>
          </a:p>
        </p:txBody>
      </p:sp>
      <p:sp>
        <p:nvSpPr>
          <p:cNvPr id="29" name="Shape 27"/>
          <p:cNvSpPr/>
          <p:nvPr/>
        </p:nvSpPr>
        <p:spPr>
          <a:xfrm>
            <a:off x="667512" y="3721608"/>
            <a:ext cx="2404872" cy="502920"/>
          </a:xfrm>
          <a:prstGeom prst="rect">
            <a:avLst/>
          </a:prstGeom>
          <a:solidFill>
            <a:srgbClr val="FFFFFF"/>
          </a:solidFill>
          <a:ln w="12700">
            <a:solidFill>
              <a:srgbClr val="000000"/>
            </a:solidFill>
            <a:prstDash val="solid"/>
          </a:ln>
        </p:spPr>
      </p:sp>
      <p:sp>
        <p:nvSpPr>
          <p:cNvPr id="30" name="Text 28"/>
          <p:cNvSpPr/>
          <p:nvPr/>
        </p:nvSpPr>
        <p:spPr>
          <a:xfrm>
            <a:off x="704088" y="3721608"/>
            <a:ext cx="2331720" cy="502920"/>
          </a:xfrm>
          <a:prstGeom prst="rect">
            <a:avLst/>
          </a:prstGeom>
          <a:noFill/>
          <a:ln/>
        </p:spPr>
        <p:txBody>
          <a:bodyPr wrap="square" lIns="0" tIns="0" rIns="0" bIns="0" rtlCol="0" anchor="ctr"/>
          <a:lstStyle/>
          <a:p>
            <a:pPr algn="ctr" indent="0" marL="0">
              <a:lnSpc>
                <a:spcPct val="92000"/>
              </a:lnSpc>
              <a:buNone/>
            </a:pPr>
            <a:r>
              <a:rPr lang="en-US" sz="1050" dirty="0">
                <a:solidFill>
                  <a:srgbClr val="000000"/>
                </a:solidFill>
                <a:latin typeface="Arial" pitchFamily="34" charset="0"/>
                <a:ea typeface="Arial" pitchFamily="34" charset="-122"/>
                <a:cs typeface="Arial" pitchFamily="34" charset="-120"/>
              </a:rPr>
              <a:t>Data cache manager</a:t>
            </a:r>
            <a:endParaRPr lang="en-US" sz="1050" dirty="0"/>
          </a:p>
        </p:txBody>
      </p:sp>
      <p:sp>
        <p:nvSpPr>
          <p:cNvPr id="31" name="Shape 29"/>
          <p:cNvSpPr/>
          <p:nvPr/>
        </p:nvSpPr>
        <p:spPr>
          <a:xfrm>
            <a:off x="3337560" y="3749040"/>
            <a:ext cx="2414016" cy="502920"/>
          </a:xfrm>
          <a:prstGeom prst="rect">
            <a:avLst/>
          </a:prstGeom>
          <a:solidFill>
            <a:srgbClr val="FFFFFF"/>
          </a:solidFill>
          <a:ln w="12700">
            <a:solidFill>
              <a:srgbClr val="000000"/>
            </a:solidFill>
            <a:prstDash val="solid"/>
          </a:ln>
        </p:spPr>
      </p:sp>
      <p:sp>
        <p:nvSpPr>
          <p:cNvPr id="32" name="Text 30"/>
          <p:cNvSpPr/>
          <p:nvPr/>
        </p:nvSpPr>
        <p:spPr>
          <a:xfrm>
            <a:off x="3374136" y="3749040"/>
            <a:ext cx="2340864" cy="502920"/>
          </a:xfrm>
          <a:prstGeom prst="rect">
            <a:avLst/>
          </a:prstGeom>
          <a:noFill/>
          <a:ln/>
        </p:spPr>
        <p:txBody>
          <a:bodyPr wrap="square" lIns="0" tIns="0" rIns="0" bIns="0" rtlCol="0" anchor="ctr"/>
          <a:lstStyle/>
          <a:p>
            <a:pPr algn="ctr" indent="0" marL="0">
              <a:lnSpc>
                <a:spcPct val="92000"/>
              </a:lnSpc>
              <a:buNone/>
            </a:pPr>
            <a:r>
              <a:rPr lang="en-US" sz="1050" dirty="0">
                <a:solidFill>
                  <a:srgbClr val="000000"/>
                </a:solidFill>
                <a:latin typeface="Arial" pitchFamily="34" charset="0"/>
                <a:ea typeface="Arial" pitchFamily="34" charset="-122"/>
                <a:cs typeface="Arial" pitchFamily="34" charset="-120"/>
              </a:rPr>
              <a:t>Controller and other events handler</a:t>
            </a:r>
            <a:endParaRPr lang="en-US" sz="1050" dirty="0"/>
          </a:p>
        </p:txBody>
      </p:sp>
      <p:sp>
        <p:nvSpPr>
          <p:cNvPr id="33" name="Shape 31"/>
          <p:cNvSpPr/>
          <p:nvPr/>
        </p:nvSpPr>
        <p:spPr>
          <a:xfrm>
            <a:off x="6099048" y="3758184"/>
            <a:ext cx="2404872" cy="502920"/>
          </a:xfrm>
          <a:prstGeom prst="rect">
            <a:avLst/>
          </a:prstGeom>
          <a:solidFill>
            <a:srgbClr val="FFFFFF"/>
          </a:solidFill>
          <a:ln w="12700">
            <a:solidFill>
              <a:srgbClr val="000000"/>
            </a:solidFill>
            <a:prstDash val="solid"/>
          </a:ln>
        </p:spPr>
      </p:sp>
      <p:sp>
        <p:nvSpPr>
          <p:cNvPr id="34" name="Text 32"/>
          <p:cNvSpPr/>
          <p:nvPr/>
        </p:nvSpPr>
        <p:spPr>
          <a:xfrm>
            <a:off x="6135624" y="3758184"/>
            <a:ext cx="2331720" cy="502920"/>
          </a:xfrm>
          <a:prstGeom prst="rect">
            <a:avLst/>
          </a:prstGeom>
          <a:noFill/>
          <a:ln/>
        </p:spPr>
        <p:txBody>
          <a:bodyPr wrap="square" lIns="0" tIns="0" rIns="0" bIns="0" rtlCol="0" anchor="ctr"/>
          <a:lstStyle/>
          <a:p>
            <a:pPr algn="ctr" indent="0" marL="0">
              <a:lnSpc>
                <a:spcPct val="92000"/>
              </a:lnSpc>
              <a:buNone/>
            </a:pPr>
            <a:r>
              <a:rPr lang="en-US" sz="1050" dirty="0">
                <a:solidFill>
                  <a:srgbClr val="000000"/>
                </a:solidFill>
                <a:latin typeface="Arial" pitchFamily="34" charset="0"/>
                <a:ea typeface="Arial" pitchFamily="34" charset="-122"/>
                <a:cs typeface="Arial" pitchFamily="34" charset="-120"/>
              </a:rPr>
              <a:t>Flow information and link bandwidth usage collector</a:t>
            </a:r>
            <a:endParaRPr lang="en-US" sz="1050" dirty="0"/>
          </a:p>
        </p:txBody>
      </p:sp>
      <p:sp>
        <p:nvSpPr>
          <p:cNvPr id="35" name="Shape 33"/>
          <p:cNvSpPr/>
          <p:nvPr/>
        </p:nvSpPr>
        <p:spPr>
          <a:xfrm>
            <a:off x="4727448" y="1490472"/>
            <a:ext cx="7315" cy="283464"/>
          </a:xfrm>
          <a:prstGeom prst="line">
            <a:avLst/>
          </a:prstGeom>
          <a:noFill/>
          <a:ln w="13970">
            <a:solidFill>
              <a:srgbClr val="000000"/>
            </a:solidFill>
            <a:prstDash val="solid"/>
            <a:headEnd type="triangle"/>
            <a:tailEnd type="triangle"/>
          </a:ln>
        </p:spPr>
      </p:sp>
      <p:sp>
        <p:nvSpPr>
          <p:cNvPr id="36" name="Text 34"/>
          <p:cNvSpPr/>
          <p:nvPr/>
        </p:nvSpPr>
        <p:spPr>
          <a:xfrm>
            <a:off x="9390888" y="1115568"/>
            <a:ext cx="1463040" cy="338328"/>
          </a:xfrm>
          <a:prstGeom prst="rect">
            <a:avLst/>
          </a:prstGeom>
          <a:noFill/>
          <a:ln/>
        </p:spPr>
        <p:txBody>
          <a:bodyPr wrap="square" lIns="0" tIns="0" rIns="0" bIns="0" rtlCol="0" anchor="ctr"/>
          <a:lstStyle/>
          <a:p>
            <a:pPr algn="l" indent="0" marL="0">
              <a:lnSpc>
                <a:spcPct val="95000"/>
              </a:lnSpc>
              <a:buNone/>
            </a:pPr>
            <a:r>
              <a:rPr lang="en-US" sz="1200" dirty="0">
                <a:solidFill>
                  <a:srgbClr val="000000"/>
                </a:solidFill>
                <a:latin typeface="Arial" pitchFamily="34" charset="0"/>
                <a:ea typeface="Arial" pitchFamily="34" charset="-122"/>
                <a:cs typeface="Arial" pitchFamily="34" charset="-120"/>
              </a:rPr>
              <a:t>NDTwin Tools</a:t>
            </a:r>
            <a:endParaRPr lang="en-US" sz="1200" dirty="0"/>
          </a:p>
        </p:txBody>
      </p:sp>
      <p:sp>
        <p:nvSpPr>
          <p:cNvPr id="37" name="Shape 35"/>
          <p:cNvSpPr/>
          <p:nvPr/>
        </p:nvSpPr>
        <p:spPr>
          <a:xfrm>
            <a:off x="9445752" y="1773936"/>
            <a:ext cx="2532888" cy="457200"/>
          </a:xfrm>
          <a:prstGeom prst="rect">
            <a:avLst/>
          </a:prstGeom>
          <a:solidFill>
            <a:srgbClr val="FFFFFF"/>
          </a:solidFill>
          <a:ln w="12700">
            <a:solidFill>
              <a:srgbClr val="000000"/>
            </a:solidFill>
            <a:prstDash val="solid"/>
          </a:ln>
        </p:spPr>
      </p:sp>
      <p:sp>
        <p:nvSpPr>
          <p:cNvPr id="38" name="Text 36"/>
          <p:cNvSpPr/>
          <p:nvPr/>
        </p:nvSpPr>
        <p:spPr>
          <a:xfrm>
            <a:off x="9482328" y="1773936"/>
            <a:ext cx="2459736" cy="457200"/>
          </a:xfrm>
          <a:prstGeom prst="rect">
            <a:avLst/>
          </a:prstGeom>
          <a:noFill/>
          <a:ln/>
        </p:spPr>
        <p:txBody>
          <a:bodyPr wrap="square" lIns="0" tIns="0" rIns="0" bIns="0" rtlCol="0" anchor="ctr"/>
          <a:lstStyle/>
          <a:p>
            <a:pPr algn="ctr" indent="0" marL="0">
              <a:lnSpc>
                <a:spcPct val="92000"/>
              </a:lnSpc>
              <a:buNone/>
            </a:pPr>
            <a:r>
              <a:rPr lang="en-US" sz="1050" dirty="0">
                <a:solidFill>
                  <a:srgbClr val="000000"/>
                </a:solidFill>
                <a:latin typeface="Arial" pitchFamily="34" charset="0"/>
                <a:ea typeface="Arial" pitchFamily="34" charset="-122"/>
                <a:cs typeface="Arial" pitchFamily="34" charset="-120"/>
              </a:rPr>
              <a:t>Local LLM (fine-tuning)</a:t>
            </a:r>
            <a:endParaRPr lang="en-US" sz="1050" dirty="0"/>
          </a:p>
        </p:txBody>
      </p:sp>
      <p:sp>
        <p:nvSpPr>
          <p:cNvPr id="39" name="Shape 37"/>
          <p:cNvSpPr/>
          <p:nvPr/>
        </p:nvSpPr>
        <p:spPr>
          <a:xfrm>
            <a:off x="9445752" y="2368296"/>
            <a:ext cx="2532888" cy="457200"/>
          </a:xfrm>
          <a:prstGeom prst="rect">
            <a:avLst/>
          </a:prstGeom>
          <a:solidFill>
            <a:srgbClr val="FFFFFF"/>
          </a:solidFill>
          <a:ln w="12700">
            <a:solidFill>
              <a:srgbClr val="000000"/>
            </a:solidFill>
            <a:prstDash val="solid"/>
          </a:ln>
        </p:spPr>
      </p:sp>
      <p:sp>
        <p:nvSpPr>
          <p:cNvPr id="40" name="Text 38"/>
          <p:cNvSpPr/>
          <p:nvPr/>
        </p:nvSpPr>
        <p:spPr>
          <a:xfrm>
            <a:off x="9482328" y="2368296"/>
            <a:ext cx="2459736" cy="457200"/>
          </a:xfrm>
          <a:prstGeom prst="rect">
            <a:avLst/>
          </a:prstGeom>
          <a:noFill/>
          <a:ln/>
        </p:spPr>
        <p:txBody>
          <a:bodyPr wrap="square" lIns="0" tIns="0" rIns="0" bIns="0" rtlCol="0" anchor="ctr"/>
          <a:lstStyle/>
          <a:p>
            <a:pPr algn="ctr" indent="0" marL="0">
              <a:lnSpc>
                <a:spcPct val="92000"/>
              </a:lnSpc>
              <a:buNone/>
            </a:pPr>
            <a:r>
              <a:rPr lang="en-US" sz="1050" dirty="0">
                <a:solidFill>
                  <a:srgbClr val="000000"/>
                </a:solidFill>
                <a:latin typeface="Arial" pitchFamily="34" charset="0"/>
                <a:ea typeface="Arial" pitchFamily="34" charset="-122"/>
                <a:cs typeface="Arial" pitchFamily="34" charset="-120"/>
              </a:rPr>
              <a:t>On-line LLM (e.g., ChatGPT)</a:t>
            </a:r>
            <a:endParaRPr lang="en-US" sz="1050" dirty="0"/>
          </a:p>
        </p:txBody>
      </p:sp>
      <p:sp>
        <p:nvSpPr>
          <p:cNvPr id="41" name="Shape 39"/>
          <p:cNvSpPr/>
          <p:nvPr/>
        </p:nvSpPr>
        <p:spPr>
          <a:xfrm>
            <a:off x="9445752" y="2935224"/>
            <a:ext cx="2532888" cy="384048"/>
          </a:xfrm>
          <a:prstGeom prst="rect">
            <a:avLst/>
          </a:prstGeom>
          <a:solidFill>
            <a:srgbClr val="FFFFFF"/>
          </a:solidFill>
          <a:ln w="12700">
            <a:solidFill>
              <a:srgbClr val="000000"/>
            </a:solidFill>
            <a:prstDash val="solid"/>
          </a:ln>
        </p:spPr>
      </p:sp>
      <p:sp>
        <p:nvSpPr>
          <p:cNvPr id="42" name="Text 40"/>
          <p:cNvSpPr/>
          <p:nvPr/>
        </p:nvSpPr>
        <p:spPr>
          <a:xfrm>
            <a:off x="9482328" y="2935224"/>
            <a:ext cx="2459736" cy="384048"/>
          </a:xfrm>
          <a:prstGeom prst="rect">
            <a:avLst/>
          </a:prstGeom>
          <a:noFill/>
          <a:ln/>
        </p:spPr>
        <p:txBody>
          <a:bodyPr wrap="square" lIns="0" tIns="0" rIns="0" bIns="0" rtlCol="0" anchor="ctr"/>
          <a:lstStyle/>
          <a:p>
            <a:pPr algn="ctr" indent="0" marL="0">
              <a:lnSpc>
                <a:spcPct val="92000"/>
              </a:lnSpc>
              <a:buNone/>
            </a:pPr>
            <a:r>
              <a:rPr lang="en-US" sz="1050" dirty="0">
                <a:solidFill>
                  <a:srgbClr val="000000"/>
                </a:solidFill>
                <a:latin typeface="Arial" pitchFamily="34" charset="0"/>
                <a:ea typeface="Arial" pitchFamily="34" charset="-122"/>
                <a:cs typeface="Arial" pitchFamily="34" charset="-120"/>
              </a:rPr>
              <a:t>Simulation platform manager</a:t>
            </a:r>
            <a:endParaRPr lang="en-US" sz="1050" dirty="0"/>
          </a:p>
        </p:txBody>
      </p:sp>
      <p:sp>
        <p:nvSpPr>
          <p:cNvPr id="43" name="Shape 41"/>
          <p:cNvSpPr/>
          <p:nvPr/>
        </p:nvSpPr>
        <p:spPr>
          <a:xfrm>
            <a:off x="9445752" y="3447288"/>
            <a:ext cx="2532888" cy="384048"/>
          </a:xfrm>
          <a:prstGeom prst="rect">
            <a:avLst/>
          </a:prstGeom>
          <a:solidFill>
            <a:srgbClr val="FFFFFF"/>
          </a:solidFill>
          <a:ln w="12700">
            <a:solidFill>
              <a:srgbClr val="000000"/>
            </a:solidFill>
            <a:prstDash val="solid"/>
          </a:ln>
        </p:spPr>
      </p:sp>
      <p:sp>
        <p:nvSpPr>
          <p:cNvPr id="44" name="Text 42"/>
          <p:cNvSpPr/>
          <p:nvPr/>
        </p:nvSpPr>
        <p:spPr>
          <a:xfrm>
            <a:off x="9482328" y="3447288"/>
            <a:ext cx="2459736" cy="384048"/>
          </a:xfrm>
          <a:prstGeom prst="rect">
            <a:avLst/>
          </a:prstGeom>
          <a:noFill/>
          <a:ln/>
        </p:spPr>
        <p:txBody>
          <a:bodyPr wrap="square" lIns="0" tIns="0" rIns="0" bIns="0" rtlCol="0" anchor="ctr"/>
          <a:lstStyle/>
          <a:p>
            <a:pPr algn="ctr" indent="0" marL="0">
              <a:lnSpc>
                <a:spcPct val="92000"/>
              </a:lnSpc>
              <a:buNone/>
            </a:pPr>
            <a:r>
              <a:rPr lang="en-US" sz="1050" dirty="0">
                <a:solidFill>
                  <a:srgbClr val="000000"/>
                </a:solidFill>
                <a:latin typeface="Arial" pitchFamily="34" charset="0"/>
                <a:ea typeface="Arial" pitchFamily="34" charset="-122"/>
                <a:cs typeface="Arial" pitchFamily="34" charset="-120"/>
              </a:rPr>
              <a:t>Network traffic visualizer</a:t>
            </a:r>
            <a:endParaRPr lang="en-US" sz="1050" dirty="0"/>
          </a:p>
        </p:txBody>
      </p:sp>
      <p:sp>
        <p:nvSpPr>
          <p:cNvPr id="45" name="Shape 43"/>
          <p:cNvSpPr/>
          <p:nvPr/>
        </p:nvSpPr>
        <p:spPr>
          <a:xfrm>
            <a:off x="9445752" y="3950208"/>
            <a:ext cx="2532888" cy="457200"/>
          </a:xfrm>
          <a:prstGeom prst="rect">
            <a:avLst/>
          </a:prstGeom>
          <a:solidFill>
            <a:srgbClr val="FFFFFF"/>
          </a:solidFill>
          <a:ln w="12700">
            <a:solidFill>
              <a:srgbClr val="000000"/>
            </a:solidFill>
            <a:prstDash val="solid"/>
          </a:ln>
        </p:spPr>
      </p:sp>
      <p:sp>
        <p:nvSpPr>
          <p:cNvPr id="46" name="Text 44"/>
          <p:cNvSpPr/>
          <p:nvPr/>
        </p:nvSpPr>
        <p:spPr>
          <a:xfrm>
            <a:off x="9482328" y="3950208"/>
            <a:ext cx="2459736" cy="457200"/>
          </a:xfrm>
          <a:prstGeom prst="rect">
            <a:avLst/>
          </a:prstGeom>
          <a:noFill/>
          <a:ln/>
        </p:spPr>
        <p:txBody>
          <a:bodyPr wrap="square" lIns="0" tIns="0" rIns="0" bIns="0" rtlCol="0" anchor="ctr"/>
          <a:lstStyle/>
          <a:p>
            <a:pPr algn="ctr" indent="0" marL="0">
              <a:lnSpc>
                <a:spcPct val="92000"/>
              </a:lnSpc>
              <a:buNone/>
            </a:pPr>
            <a:r>
              <a:rPr lang="en-US" sz="1050" dirty="0">
                <a:solidFill>
                  <a:srgbClr val="000000"/>
                </a:solidFill>
                <a:latin typeface="Arial" pitchFamily="34" charset="0"/>
                <a:ea typeface="Arial" pitchFamily="34" charset="-122"/>
                <a:cs typeface="Arial" pitchFamily="34" charset="-120"/>
              </a:rPr>
              <a:t>Web GUI (supporting intent inputs)</a:t>
            </a:r>
            <a:endParaRPr lang="en-US" sz="1050" dirty="0"/>
          </a:p>
        </p:txBody>
      </p:sp>
      <p:sp>
        <p:nvSpPr>
          <p:cNvPr id="47" name="Shape 45"/>
          <p:cNvSpPr/>
          <p:nvPr/>
        </p:nvSpPr>
        <p:spPr>
          <a:xfrm>
            <a:off x="9445752" y="4544568"/>
            <a:ext cx="2532888" cy="384048"/>
          </a:xfrm>
          <a:prstGeom prst="rect">
            <a:avLst/>
          </a:prstGeom>
          <a:solidFill>
            <a:srgbClr val="FFFFFF"/>
          </a:solidFill>
          <a:ln w="12700">
            <a:solidFill>
              <a:srgbClr val="000000"/>
            </a:solidFill>
            <a:prstDash val="solid"/>
          </a:ln>
        </p:spPr>
      </p:sp>
      <p:sp>
        <p:nvSpPr>
          <p:cNvPr id="48" name="Text 46"/>
          <p:cNvSpPr/>
          <p:nvPr/>
        </p:nvSpPr>
        <p:spPr>
          <a:xfrm>
            <a:off x="9482328" y="4544568"/>
            <a:ext cx="2459736" cy="384048"/>
          </a:xfrm>
          <a:prstGeom prst="rect">
            <a:avLst/>
          </a:prstGeom>
          <a:noFill/>
          <a:ln/>
        </p:spPr>
        <p:txBody>
          <a:bodyPr wrap="square" lIns="0" tIns="0" rIns="0" bIns="0" rtlCol="0" anchor="ctr"/>
          <a:lstStyle/>
          <a:p>
            <a:pPr algn="ctr" indent="0" marL="0">
              <a:lnSpc>
                <a:spcPct val="92000"/>
              </a:lnSpc>
              <a:buNone/>
            </a:pPr>
            <a:r>
              <a:rPr lang="en-US" sz="1050" dirty="0">
                <a:solidFill>
                  <a:srgbClr val="000000"/>
                </a:solidFill>
                <a:latin typeface="Arial" pitchFamily="34" charset="0"/>
                <a:ea typeface="Arial" pitchFamily="34" charset="-122"/>
                <a:cs typeface="Arial" pitchFamily="34" charset="-120"/>
              </a:rPr>
              <a:t>Network state recorder</a:t>
            </a:r>
            <a:endParaRPr lang="en-US" sz="1050" dirty="0"/>
          </a:p>
        </p:txBody>
      </p:sp>
      <p:sp>
        <p:nvSpPr>
          <p:cNvPr id="49" name="Shape 47"/>
          <p:cNvSpPr/>
          <p:nvPr/>
        </p:nvSpPr>
        <p:spPr>
          <a:xfrm>
            <a:off x="8805672" y="3355848"/>
            <a:ext cx="640080" cy="7315"/>
          </a:xfrm>
          <a:prstGeom prst="line">
            <a:avLst/>
          </a:prstGeom>
          <a:noFill/>
          <a:ln w="13970">
            <a:solidFill>
              <a:srgbClr val="000000"/>
            </a:solidFill>
            <a:prstDash val="solid"/>
            <a:headEnd type="triangle"/>
            <a:tailEnd type="triangle"/>
          </a:ln>
        </p:spPr>
      </p:sp>
      <p:sp>
        <p:nvSpPr>
          <p:cNvPr id="50" name="Shape 48"/>
          <p:cNvSpPr/>
          <p:nvPr/>
        </p:nvSpPr>
        <p:spPr>
          <a:xfrm>
            <a:off x="9427464" y="5779008"/>
            <a:ext cx="2532888" cy="457200"/>
          </a:xfrm>
          <a:prstGeom prst="rect">
            <a:avLst/>
          </a:prstGeom>
          <a:solidFill>
            <a:srgbClr val="FFFFFF"/>
          </a:solidFill>
          <a:ln w="12700">
            <a:solidFill>
              <a:srgbClr val="000000"/>
            </a:solidFill>
            <a:prstDash val="solid"/>
          </a:ln>
        </p:spPr>
      </p:sp>
      <p:sp>
        <p:nvSpPr>
          <p:cNvPr id="51" name="Text 49"/>
          <p:cNvSpPr/>
          <p:nvPr/>
        </p:nvSpPr>
        <p:spPr>
          <a:xfrm>
            <a:off x="9464040" y="5779008"/>
            <a:ext cx="2459736" cy="457200"/>
          </a:xfrm>
          <a:prstGeom prst="rect">
            <a:avLst/>
          </a:prstGeom>
          <a:noFill/>
          <a:ln/>
        </p:spPr>
        <p:txBody>
          <a:bodyPr wrap="square" lIns="0" tIns="0" rIns="0" bIns="0" rtlCol="0" anchor="ctr"/>
          <a:lstStyle/>
          <a:p>
            <a:pPr algn="ctr" indent="0" marL="0">
              <a:lnSpc>
                <a:spcPct val="92000"/>
              </a:lnSpc>
              <a:buNone/>
            </a:pPr>
            <a:r>
              <a:rPr lang="en-US" sz="1050" dirty="0">
                <a:solidFill>
                  <a:srgbClr val="000000"/>
                </a:solidFill>
                <a:latin typeface="Arial" pitchFamily="34" charset="0"/>
                <a:ea typeface="Arial" pitchFamily="34" charset="-122"/>
                <a:cs typeface="Arial" pitchFamily="34" charset="-120"/>
              </a:rPr>
              <a:t>Network traffic generator</a:t>
            </a:r>
            <a:endParaRPr lang="en-US" sz="1050" dirty="0"/>
          </a:p>
        </p:txBody>
      </p:sp>
      <p:sp>
        <p:nvSpPr>
          <p:cNvPr id="52" name="Shape 50"/>
          <p:cNvSpPr/>
          <p:nvPr/>
        </p:nvSpPr>
        <p:spPr>
          <a:xfrm>
            <a:off x="3319272" y="4745736"/>
            <a:ext cx="2404872" cy="365760"/>
          </a:xfrm>
          <a:prstGeom prst="rect">
            <a:avLst/>
          </a:prstGeom>
          <a:solidFill>
            <a:srgbClr val="FFFFFF"/>
          </a:solidFill>
          <a:ln w="12700">
            <a:solidFill>
              <a:srgbClr val="000000"/>
            </a:solidFill>
            <a:prstDash val="solid"/>
          </a:ln>
        </p:spPr>
      </p:sp>
      <p:sp>
        <p:nvSpPr>
          <p:cNvPr id="53" name="Text 51"/>
          <p:cNvSpPr/>
          <p:nvPr/>
        </p:nvSpPr>
        <p:spPr>
          <a:xfrm>
            <a:off x="3355848" y="4745736"/>
            <a:ext cx="2331720" cy="365760"/>
          </a:xfrm>
          <a:prstGeom prst="rect">
            <a:avLst/>
          </a:prstGeom>
          <a:noFill/>
          <a:ln/>
        </p:spPr>
        <p:txBody>
          <a:bodyPr wrap="square" lIns="0" tIns="0" rIns="0" bIns="0" rtlCol="0" anchor="ctr"/>
          <a:lstStyle/>
          <a:p>
            <a:pPr algn="ctr" indent="0" marL="0">
              <a:lnSpc>
                <a:spcPct val="92000"/>
              </a:lnSpc>
              <a:buNone/>
            </a:pPr>
            <a:r>
              <a:rPr lang="en-US" sz="1100" dirty="0">
                <a:solidFill>
                  <a:srgbClr val="000000"/>
                </a:solidFill>
                <a:latin typeface="Arial" pitchFamily="34" charset="0"/>
                <a:ea typeface="Arial" pitchFamily="34" charset="-122"/>
                <a:cs typeface="Arial" pitchFamily="34" charset="-120"/>
              </a:rPr>
              <a:t>SDN controller</a:t>
            </a:r>
            <a:endParaRPr lang="en-US" sz="1100" dirty="0"/>
          </a:p>
        </p:txBody>
      </p:sp>
      <p:sp>
        <p:nvSpPr>
          <p:cNvPr id="54" name="Shape 52"/>
          <p:cNvSpPr/>
          <p:nvPr/>
        </p:nvSpPr>
        <p:spPr>
          <a:xfrm>
            <a:off x="4526280" y="4507992"/>
            <a:ext cx="7315" cy="237744"/>
          </a:xfrm>
          <a:prstGeom prst="line">
            <a:avLst/>
          </a:prstGeom>
          <a:noFill/>
          <a:ln w="13970">
            <a:solidFill>
              <a:srgbClr val="000000"/>
            </a:solidFill>
            <a:prstDash val="solid"/>
            <a:headEnd type="triangle"/>
            <a:tailEnd type="triangle"/>
          </a:ln>
        </p:spPr>
      </p:sp>
      <p:sp>
        <p:nvSpPr>
          <p:cNvPr id="55" name="Shape 53"/>
          <p:cNvSpPr/>
          <p:nvPr/>
        </p:nvSpPr>
        <p:spPr>
          <a:xfrm flipV="1">
            <a:off x="1929384" y="4599432"/>
            <a:ext cx="7315" cy="1014984"/>
          </a:xfrm>
          <a:prstGeom prst="line">
            <a:avLst/>
          </a:prstGeom>
          <a:noFill/>
          <a:ln w="13970">
            <a:solidFill>
              <a:srgbClr val="000000"/>
            </a:solidFill>
            <a:prstDash val="solid"/>
            <a:tailEnd type="triangle"/>
          </a:ln>
        </p:spPr>
      </p:sp>
      <p:sp>
        <p:nvSpPr>
          <p:cNvPr id="56" name="Text 54"/>
          <p:cNvSpPr/>
          <p:nvPr/>
        </p:nvSpPr>
        <p:spPr>
          <a:xfrm>
            <a:off x="2029968" y="4828032"/>
            <a:ext cx="822960" cy="310896"/>
          </a:xfrm>
          <a:prstGeom prst="rect">
            <a:avLst/>
          </a:prstGeom>
          <a:noFill/>
          <a:ln/>
        </p:spPr>
        <p:txBody>
          <a:bodyPr wrap="square" lIns="0" tIns="0" rIns="0" bIns="0" rtlCol="0" anchor="ctr"/>
          <a:lstStyle/>
          <a:p>
            <a:pPr algn="l" indent="0" marL="0">
              <a:lnSpc>
                <a:spcPct val="95000"/>
              </a:lnSpc>
              <a:buNone/>
            </a:pPr>
            <a:r>
              <a:rPr lang="en-US" sz="1100" dirty="0">
                <a:solidFill>
                  <a:srgbClr val="000000"/>
                </a:solidFill>
                <a:latin typeface="Arial" pitchFamily="34" charset="0"/>
                <a:ea typeface="Arial" pitchFamily="34" charset="-122"/>
                <a:cs typeface="Arial" pitchFamily="34" charset="-120"/>
              </a:rPr>
              <a:t>sFlow</a:t>
            </a:r>
            <a:endParaRPr lang="en-US" sz="1100" dirty="0"/>
          </a:p>
        </p:txBody>
      </p:sp>
      <p:sp>
        <p:nvSpPr>
          <p:cNvPr id="57" name="Shape 55"/>
          <p:cNvSpPr/>
          <p:nvPr/>
        </p:nvSpPr>
        <p:spPr>
          <a:xfrm flipV="1">
            <a:off x="7644384" y="4599432"/>
            <a:ext cx="7315" cy="996696"/>
          </a:xfrm>
          <a:prstGeom prst="line">
            <a:avLst/>
          </a:prstGeom>
          <a:noFill/>
          <a:ln w="13970">
            <a:solidFill>
              <a:srgbClr val="000000"/>
            </a:solidFill>
            <a:prstDash val="solid"/>
            <a:tailEnd type="triangle"/>
          </a:ln>
        </p:spPr>
      </p:sp>
      <p:sp>
        <p:nvSpPr>
          <p:cNvPr id="58" name="Text 56"/>
          <p:cNvSpPr/>
          <p:nvPr/>
        </p:nvSpPr>
        <p:spPr>
          <a:xfrm>
            <a:off x="7744968" y="4800600"/>
            <a:ext cx="822960" cy="310896"/>
          </a:xfrm>
          <a:prstGeom prst="rect">
            <a:avLst/>
          </a:prstGeom>
          <a:noFill/>
          <a:ln/>
        </p:spPr>
        <p:txBody>
          <a:bodyPr wrap="square" lIns="0" tIns="0" rIns="0" bIns="0" rtlCol="0" anchor="ctr"/>
          <a:lstStyle/>
          <a:p>
            <a:pPr algn="l" indent="0" marL="0">
              <a:lnSpc>
                <a:spcPct val="95000"/>
              </a:lnSpc>
              <a:buNone/>
            </a:pPr>
            <a:r>
              <a:rPr lang="en-US" sz="1100" dirty="0">
                <a:solidFill>
                  <a:srgbClr val="000000"/>
                </a:solidFill>
                <a:latin typeface="Arial" pitchFamily="34" charset="0"/>
                <a:ea typeface="Arial" pitchFamily="34" charset="-122"/>
                <a:cs typeface="Arial" pitchFamily="34" charset="-120"/>
              </a:rPr>
              <a:t>sFlow</a:t>
            </a:r>
            <a:endParaRPr lang="en-US" sz="1100" dirty="0"/>
          </a:p>
        </p:txBody>
      </p:sp>
      <p:sp>
        <p:nvSpPr>
          <p:cNvPr id="59" name="Shape 57"/>
          <p:cNvSpPr/>
          <p:nvPr/>
        </p:nvSpPr>
        <p:spPr>
          <a:xfrm flipH="1">
            <a:off x="3803904" y="5166360"/>
            <a:ext cx="347472" cy="566928"/>
          </a:xfrm>
          <a:prstGeom prst="line">
            <a:avLst/>
          </a:prstGeom>
          <a:noFill/>
          <a:ln w="13970">
            <a:solidFill>
              <a:srgbClr val="000000"/>
            </a:solidFill>
            <a:prstDash val="solid"/>
            <a:tailEnd type="triangle"/>
          </a:ln>
        </p:spPr>
      </p:sp>
      <p:sp>
        <p:nvSpPr>
          <p:cNvPr id="60" name="Shape 58"/>
          <p:cNvSpPr/>
          <p:nvPr/>
        </p:nvSpPr>
        <p:spPr>
          <a:xfrm>
            <a:off x="5029200" y="5166360"/>
            <a:ext cx="402336" cy="612648"/>
          </a:xfrm>
          <a:prstGeom prst="line">
            <a:avLst/>
          </a:prstGeom>
          <a:noFill/>
          <a:ln w="13970">
            <a:solidFill>
              <a:srgbClr val="000000"/>
            </a:solidFill>
            <a:prstDash val="solid"/>
            <a:tailEnd type="triangle"/>
          </a:ln>
        </p:spPr>
      </p:sp>
      <p:sp>
        <p:nvSpPr>
          <p:cNvPr id="61" name="Text 59"/>
          <p:cNvSpPr/>
          <p:nvPr/>
        </p:nvSpPr>
        <p:spPr>
          <a:xfrm>
            <a:off x="2889504" y="5349240"/>
            <a:ext cx="960120" cy="292608"/>
          </a:xfrm>
          <a:prstGeom prst="rect">
            <a:avLst/>
          </a:prstGeom>
          <a:noFill/>
          <a:ln/>
        </p:spPr>
        <p:txBody>
          <a:bodyPr wrap="square" lIns="0" tIns="0" rIns="0" bIns="0" rtlCol="0" anchor="ctr"/>
          <a:lstStyle/>
          <a:p>
            <a:pPr algn="l" indent="0" marL="0">
              <a:lnSpc>
                <a:spcPct val="95000"/>
              </a:lnSpc>
              <a:buNone/>
            </a:pPr>
            <a:r>
              <a:rPr lang="en-US" sz="1050" dirty="0">
                <a:solidFill>
                  <a:srgbClr val="000000"/>
                </a:solidFill>
                <a:latin typeface="Arial" pitchFamily="34" charset="0"/>
                <a:ea typeface="Arial" pitchFamily="34" charset="-122"/>
                <a:cs typeface="Arial" pitchFamily="34" charset="-120"/>
              </a:rPr>
              <a:t>OpenFlow</a:t>
            </a:r>
            <a:endParaRPr lang="en-US" sz="1050" dirty="0"/>
          </a:p>
        </p:txBody>
      </p:sp>
      <p:sp>
        <p:nvSpPr>
          <p:cNvPr id="62" name="Text 60"/>
          <p:cNvSpPr/>
          <p:nvPr/>
        </p:nvSpPr>
        <p:spPr>
          <a:xfrm>
            <a:off x="5303520" y="5340096"/>
            <a:ext cx="960120" cy="292608"/>
          </a:xfrm>
          <a:prstGeom prst="rect">
            <a:avLst/>
          </a:prstGeom>
          <a:noFill/>
          <a:ln/>
        </p:spPr>
        <p:txBody>
          <a:bodyPr wrap="square" lIns="0" tIns="0" rIns="0" bIns="0" rtlCol="0" anchor="ctr"/>
          <a:lstStyle/>
          <a:p>
            <a:pPr algn="l" indent="0" marL="0">
              <a:lnSpc>
                <a:spcPct val="95000"/>
              </a:lnSpc>
              <a:buNone/>
            </a:pPr>
            <a:r>
              <a:rPr lang="en-US" sz="1050" dirty="0">
                <a:solidFill>
                  <a:srgbClr val="000000"/>
                </a:solidFill>
                <a:latin typeface="Arial" pitchFamily="34" charset="0"/>
                <a:ea typeface="Arial" pitchFamily="34" charset="-122"/>
                <a:cs typeface="Arial" pitchFamily="34" charset="-120"/>
              </a:rPr>
              <a:t>OpenFlow</a:t>
            </a:r>
            <a:endParaRPr lang="en-US" sz="1050" dirty="0"/>
          </a:p>
        </p:txBody>
      </p:sp>
      <p:sp>
        <p:nvSpPr>
          <p:cNvPr id="63" name="Shape 61"/>
          <p:cNvSpPr/>
          <p:nvPr/>
        </p:nvSpPr>
        <p:spPr>
          <a:xfrm>
            <a:off x="0" y="5358384"/>
            <a:ext cx="9189720" cy="3658"/>
          </a:xfrm>
          <a:prstGeom prst="line">
            <a:avLst/>
          </a:prstGeom>
          <a:noFill/>
          <a:ln w="12700">
            <a:solidFill>
              <a:srgbClr val="808080"/>
            </a:solidFill>
            <a:prstDash val="dash"/>
          </a:ln>
        </p:spPr>
      </p:sp>
      <p:sp>
        <p:nvSpPr>
          <p:cNvPr id="64" name="Shape 62"/>
          <p:cNvSpPr/>
          <p:nvPr/>
        </p:nvSpPr>
        <p:spPr>
          <a:xfrm>
            <a:off x="274320" y="5705856"/>
            <a:ext cx="4014216" cy="1051560"/>
          </a:xfrm>
          <a:prstGeom prst="cloud">
            <a:avLst/>
          </a:prstGeom>
          <a:solidFill>
            <a:srgbClr val="FFFFFF"/>
          </a:solidFill>
          <a:ln w="12700">
            <a:solidFill>
              <a:srgbClr val="000000"/>
            </a:solidFill>
            <a:prstDash val="solid"/>
          </a:ln>
        </p:spPr>
      </p:sp>
      <p:sp>
        <p:nvSpPr>
          <p:cNvPr id="65" name="Text 63"/>
          <p:cNvSpPr/>
          <p:nvPr/>
        </p:nvSpPr>
        <p:spPr>
          <a:xfrm>
            <a:off x="36576" y="5349240"/>
            <a:ext cx="1737360" cy="502920"/>
          </a:xfrm>
          <a:prstGeom prst="rect">
            <a:avLst/>
          </a:prstGeom>
          <a:noFill/>
          <a:ln/>
        </p:spPr>
        <p:txBody>
          <a:bodyPr wrap="square" lIns="0" tIns="0" rIns="0" bIns="0" rtlCol="0" anchor="ctr"/>
          <a:lstStyle/>
          <a:p>
            <a:pPr algn="l" indent="0" marL="0">
              <a:lnSpc>
                <a:spcPct val="95000"/>
              </a:lnSpc>
              <a:buNone/>
            </a:pPr>
            <a:r>
              <a:rPr lang="en-US" sz="1100" dirty="0">
                <a:solidFill>
                  <a:srgbClr val="000000"/>
                </a:solidFill>
                <a:latin typeface="Arial" pitchFamily="34" charset="0"/>
                <a:ea typeface="Arial" pitchFamily="34" charset="-122"/>
                <a:cs typeface="Arial" pitchFamily="34" charset="-120"/>
              </a:rPr>
              <a:t>Emulated Network</a:t>
            </a:r>
            <a:endParaRPr lang="en-US" sz="1100" dirty="0"/>
          </a:p>
          <a:p>
            <a:pPr algn="l" indent="0" marL="0">
              <a:lnSpc>
                <a:spcPct val="95000"/>
              </a:lnSpc>
              <a:buNone/>
            </a:pPr>
            <a:r>
              <a:rPr lang="en-US" sz="1100" dirty="0">
                <a:solidFill>
                  <a:srgbClr val="000000"/>
                </a:solidFill>
                <a:latin typeface="Arial" pitchFamily="34" charset="0"/>
                <a:ea typeface="Arial" pitchFamily="34" charset="-122"/>
                <a:cs typeface="Arial" pitchFamily="34" charset="-120"/>
              </a:rPr>
              <a:t>(Mininet)</a:t>
            </a:r>
            <a:endParaRPr lang="en-US" sz="1100" dirty="0"/>
          </a:p>
        </p:txBody>
      </p:sp>
      <p:sp>
        <p:nvSpPr>
          <p:cNvPr id="66" name="Shape 64"/>
          <p:cNvSpPr/>
          <p:nvPr/>
        </p:nvSpPr>
        <p:spPr>
          <a:xfrm>
            <a:off x="795528" y="5961888"/>
            <a:ext cx="658368" cy="448056"/>
          </a:xfrm>
          <a:prstGeom prst="rect">
            <a:avLst/>
          </a:prstGeom>
          <a:solidFill>
            <a:srgbClr val="FFFFFF"/>
          </a:solidFill>
          <a:ln w="12700">
            <a:solidFill>
              <a:srgbClr val="000000"/>
            </a:solidFill>
            <a:prstDash val="solid"/>
          </a:ln>
        </p:spPr>
      </p:sp>
      <p:sp>
        <p:nvSpPr>
          <p:cNvPr id="67" name="Text 65"/>
          <p:cNvSpPr/>
          <p:nvPr/>
        </p:nvSpPr>
        <p:spPr>
          <a:xfrm>
            <a:off x="832104" y="5961888"/>
            <a:ext cx="585216" cy="448056"/>
          </a:xfrm>
          <a:prstGeom prst="rect">
            <a:avLst/>
          </a:prstGeom>
          <a:noFill/>
          <a:ln/>
        </p:spPr>
        <p:txBody>
          <a:bodyPr wrap="square" lIns="0" tIns="0" rIns="0" bIns="0" rtlCol="0" anchor="ctr"/>
          <a:lstStyle/>
          <a:p>
            <a:pPr algn="ctr" indent="0" marL="0">
              <a:lnSpc>
                <a:spcPct val="92000"/>
              </a:lnSpc>
              <a:buNone/>
            </a:pPr>
            <a:r>
              <a:rPr lang="en-US" sz="900" dirty="0">
                <a:solidFill>
                  <a:srgbClr val="000000"/>
                </a:solidFill>
                <a:latin typeface="Arial" pitchFamily="34" charset="0"/>
                <a:ea typeface="Arial" pitchFamily="34" charset="-122"/>
                <a:cs typeface="Arial" pitchFamily="34" charset="-120"/>
              </a:rPr>
              <a:t>Open vSwitch</a:t>
            </a:r>
            <a:endParaRPr lang="en-US" sz="900" dirty="0"/>
          </a:p>
        </p:txBody>
      </p:sp>
      <p:sp>
        <p:nvSpPr>
          <p:cNvPr id="68" name="Shape 66"/>
          <p:cNvSpPr/>
          <p:nvPr/>
        </p:nvSpPr>
        <p:spPr>
          <a:xfrm>
            <a:off x="1874520" y="6135624"/>
            <a:ext cx="731520" cy="448056"/>
          </a:xfrm>
          <a:prstGeom prst="rect">
            <a:avLst/>
          </a:prstGeom>
          <a:solidFill>
            <a:srgbClr val="FFFFFF"/>
          </a:solidFill>
          <a:ln w="12700">
            <a:solidFill>
              <a:srgbClr val="000000"/>
            </a:solidFill>
            <a:prstDash val="solid"/>
          </a:ln>
        </p:spPr>
      </p:sp>
      <p:sp>
        <p:nvSpPr>
          <p:cNvPr id="69" name="Text 67"/>
          <p:cNvSpPr/>
          <p:nvPr/>
        </p:nvSpPr>
        <p:spPr>
          <a:xfrm>
            <a:off x="1911096" y="6135624"/>
            <a:ext cx="658368" cy="448056"/>
          </a:xfrm>
          <a:prstGeom prst="rect">
            <a:avLst/>
          </a:prstGeom>
          <a:noFill/>
          <a:ln/>
        </p:spPr>
        <p:txBody>
          <a:bodyPr wrap="square" lIns="0" tIns="0" rIns="0" bIns="0" rtlCol="0" anchor="ctr"/>
          <a:lstStyle/>
          <a:p>
            <a:pPr algn="ctr" indent="0" marL="0">
              <a:lnSpc>
                <a:spcPct val="92000"/>
              </a:lnSpc>
              <a:buNone/>
            </a:pPr>
            <a:r>
              <a:rPr lang="en-US" sz="900" dirty="0">
                <a:solidFill>
                  <a:srgbClr val="000000"/>
                </a:solidFill>
                <a:latin typeface="Arial" pitchFamily="34" charset="0"/>
                <a:ea typeface="Arial" pitchFamily="34" charset="-122"/>
                <a:cs typeface="Arial" pitchFamily="34" charset="-120"/>
              </a:rPr>
              <a:t>Open vSwitch</a:t>
            </a:r>
            <a:endParaRPr lang="en-US" sz="900" dirty="0"/>
          </a:p>
        </p:txBody>
      </p:sp>
      <p:sp>
        <p:nvSpPr>
          <p:cNvPr id="70" name="Shape 68"/>
          <p:cNvSpPr/>
          <p:nvPr/>
        </p:nvSpPr>
        <p:spPr>
          <a:xfrm>
            <a:off x="2916936" y="5824728"/>
            <a:ext cx="768096" cy="429768"/>
          </a:xfrm>
          <a:prstGeom prst="rect">
            <a:avLst/>
          </a:prstGeom>
          <a:solidFill>
            <a:srgbClr val="FFFFFF"/>
          </a:solidFill>
          <a:ln w="12700">
            <a:solidFill>
              <a:srgbClr val="000000"/>
            </a:solidFill>
            <a:prstDash val="solid"/>
          </a:ln>
        </p:spPr>
      </p:sp>
      <p:sp>
        <p:nvSpPr>
          <p:cNvPr id="71" name="Text 69"/>
          <p:cNvSpPr/>
          <p:nvPr/>
        </p:nvSpPr>
        <p:spPr>
          <a:xfrm>
            <a:off x="2953512" y="5824728"/>
            <a:ext cx="694944" cy="429768"/>
          </a:xfrm>
          <a:prstGeom prst="rect">
            <a:avLst/>
          </a:prstGeom>
          <a:noFill/>
          <a:ln/>
        </p:spPr>
        <p:txBody>
          <a:bodyPr wrap="square" lIns="0" tIns="0" rIns="0" bIns="0" rtlCol="0" anchor="ctr"/>
          <a:lstStyle/>
          <a:p>
            <a:pPr algn="ctr" indent="0" marL="0">
              <a:lnSpc>
                <a:spcPct val="92000"/>
              </a:lnSpc>
              <a:buNone/>
            </a:pPr>
            <a:r>
              <a:rPr lang="en-US" sz="900" dirty="0">
                <a:solidFill>
                  <a:srgbClr val="000000"/>
                </a:solidFill>
                <a:latin typeface="Arial" pitchFamily="34" charset="0"/>
                <a:ea typeface="Arial" pitchFamily="34" charset="-122"/>
                <a:cs typeface="Arial" pitchFamily="34" charset="-120"/>
              </a:rPr>
              <a:t>Open vSwitch</a:t>
            </a:r>
            <a:endParaRPr lang="en-US" sz="900" dirty="0"/>
          </a:p>
        </p:txBody>
      </p:sp>
      <p:sp>
        <p:nvSpPr>
          <p:cNvPr id="72" name="Shape 70"/>
          <p:cNvSpPr/>
          <p:nvPr/>
        </p:nvSpPr>
        <p:spPr>
          <a:xfrm>
            <a:off x="1453896" y="6227064"/>
            <a:ext cx="420624" cy="91440"/>
          </a:xfrm>
          <a:prstGeom prst="line">
            <a:avLst/>
          </a:prstGeom>
          <a:noFill/>
          <a:ln w="15240">
            <a:solidFill>
              <a:srgbClr val="000000"/>
            </a:solidFill>
            <a:prstDash val="solid"/>
          </a:ln>
        </p:spPr>
      </p:sp>
      <p:sp>
        <p:nvSpPr>
          <p:cNvPr id="73" name="Shape 71"/>
          <p:cNvSpPr/>
          <p:nvPr/>
        </p:nvSpPr>
        <p:spPr>
          <a:xfrm>
            <a:off x="1453896" y="5943600"/>
            <a:ext cx="1463040" cy="146304"/>
          </a:xfrm>
          <a:prstGeom prst="line">
            <a:avLst/>
          </a:prstGeom>
          <a:noFill/>
          <a:ln w="15240">
            <a:solidFill>
              <a:srgbClr val="000000"/>
            </a:solidFill>
            <a:prstDash val="solid"/>
          </a:ln>
        </p:spPr>
      </p:sp>
      <p:sp>
        <p:nvSpPr>
          <p:cNvPr id="74" name="Shape 72"/>
          <p:cNvSpPr/>
          <p:nvPr/>
        </p:nvSpPr>
        <p:spPr>
          <a:xfrm flipV="1">
            <a:off x="2606040" y="6035040"/>
            <a:ext cx="310896" cy="256032"/>
          </a:xfrm>
          <a:prstGeom prst="line">
            <a:avLst/>
          </a:prstGeom>
          <a:noFill/>
          <a:ln w="15240">
            <a:solidFill>
              <a:srgbClr val="000000"/>
            </a:solidFill>
            <a:prstDash val="solid"/>
          </a:ln>
        </p:spPr>
      </p:sp>
      <p:sp>
        <p:nvSpPr>
          <p:cNvPr id="75" name="Text 73"/>
          <p:cNvSpPr/>
          <p:nvPr/>
        </p:nvSpPr>
        <p:spPr>
          <a:xfrm>
            <a:off x="4315968" y="5833872"/>
            <a:ext cx="548640" cy="457200"/>
          </a:xfrm>
          <a:prstGeom prst="rect">
            <a:avLst/>
          </a:prstGeom>
          <a:noFill/>
          <a:ln/>
        </p:spPr>
        <p:txBody>
          <a:bodyPr wrap="square" lIns="0" tIns="0" rIns="0" bIns="0" rtlCol="0" anchor="ctr"/>
          <a:lstStyle/>
          <a:p>
            <a:pPr algn="ctr" indent="0" marL="0">
              <a:lnSpc>
                <a:spcPct val="95000"/>
              </a:lnSpc>
              <a:buNone/>
            </a:pPr>
            <a:r>
              <a:rPr lang="en-US" sz="1300" dirty="0">
                <a:solidFill>
                  <a:srgbClr val="000000"/>
                </a:solidFill>
                <a:latin typeface="Arial" pitchFamily="34" charset="0"/>
                <a:ea typeface="Arial" pitchFamily="34" charset="-122"/>
                <a:cs typeface="Arial" pitchFamily="34" charset="-120"/>
              </a:rPr>
              <a:t>or</a:t>
            </a:r>
            <a:endParaRPr lang="en-US" sz="1300" dirty="0"/>
          </a:p>
        </p:txBody>
      </p:sp>
      <p:sp>
        <p:nvSpPr>
          <p:cNvPr id="76" name="Shape 74"/>
          <p:cNvSpPr/>
          <p:nvPr/>
        </p:nvSpPr>
        <p:spPr>
          <a:xfrm>
            <a:off x="4892040" y="5696712"/>
            <a:ext cx="4014216" cy="1051560"/>
          </a:xfrm>
          <a:prstGeom prst="cloud">
            <a:avLst/>
          </a:prstGeom>
          <a:solidFill>
            <a:srgbClr val="FFFFFF"/>
          </a:solidFill>
          <a:ln w="12700">
            <a:solidFill>
              <a:srgbClr val="000000"/>
            </a:solidFill>
            <a:prstDash val="solid"/>
          </a:ln>
        </p:spPr>
      </p:sp>
      <p:sp>
        <p:nvSpPr>
          <p:cNvPr id="77" name="Text 75"/>
          <p:cNvSpPr/>
          <p:nvPr/>
        </p:nvSpPr>
        <p:spPr>
          <a:xfrm>
            <a:off x="8220456" y="5312664"/>
            <a:ext cx="1280160" cy="502920"/>
          </a:xfrm>
          <a:prstGeom prst="rect">
            <a:avLst/>
          </a:prstGeom>
          <a:noFill/>
          <a:ln/>
        </p:spPr>
        <p:txBody>
          <a:bodyPr wrap="square" lIns="0" tIns="0" rIns="0" bIns="0" rtlCol="0" anchor="ctr"/>
          <a:lstStyle/>
          <a:p>
            <a:pPr algn="l" indent="0" marL="0">
              <a:lnSpc>
                <a:spcPct val="95000"/>
              </a:lnSpc>
              <a:buNone/>
            </a:pPr>
            <a:r>
              <a:rPr lang="en-US" sz="1100" dirty="0">
                <a:solidFill>
                  <a:srgbClr val="000000"/>
                </a:solidFill>
                <a:latin typeface="Arial" pitchFamily="34" charset="0"/>
                <a:ea typeface="Arial" pitchFamily="34" charset="-122"/>
                <a:cs typeface="Arial" pitchFamily="34" charset="-120"/>
              </a:rPr>
              <a:t>Physical</a:t>
            </a:r>
            <a:endParaRPr lang="en-US" sz="1100" dirty="0"/>
          </a:p>
          <a:p>
            <a:pPr algn="l" indent="0" marL="0">
              <a:lnSpc>
                <a:spcPct val="95000"/>
              </a:lnSpc>
              <a:buNone/>
            </a:pPr>
            <a:r>
              <a:rPr lang="en-US" sz="1100" dirty="0">
                <a:solidFill>
                  <a:srgbClr val="000000"/>
                </a:solidFill>
                <a:latin typeface="Arial" pitchFamily="34" charset="0"/>
                <a:ea typeface="Arial" pitchFamily="34" charset="-122"/>
                <a:cs typeface="Arial" pitchFamily="34" charset="-120"/>
              </a:rPr>
              <a:t>Network</a:t>
            </a:r>
            <a:endParaRPr lang="en-US" sz="1100" dirty="0"/>
          </a:p>
        </p:txBody>
      </p:sp>
      <p:sp>
        <p:nvSpPr>
          <p:cNvPr id="78" name="Shape 76"/>
          <p:cNvSpPr/>
          <p:nvPr/>
        </p:nvSpPr>
        <p:spPr>
          <a:xfrm>
            <a:off x="5330952" y="5998464"/>
            <a:ext cx="804672" cy="448056"/>
          </a:xfrm>
          <a:prstGeom prst="rect">
            <a:avLst/>
          </a:prstGeom>
          <a:solidFill>
            <a:srgbClr val="FFFFFF"/>
          </a:solidFill>
          <a:ln w="12700">
            <a:solidFill>
              <a:srgbClr val="000000"/>
            </a:solidFill>
            <a:prstDash val="solid"/>
          </a:ln>
        </p:spPr>
      </p:sp>
      <p:sp>
        <p:nvSpPr>
          <p:cNvPr id="79" name="Text 77"/>
          <p:cNvSpPr/>
          <p:nvPr/>
        </p:nvSpPr>
        <p:spPr>
          <a:xfrm>
            <a:off x="5367528" y="5998464"/>
            <a:ext cx="731520" cy="448056"/>
          </a:xfrm>
          <a:prstGeom prst="rect">
            <a:avLst/>
          </a:prstGeom>
          <a:noFill/>
          <a:ln/>
        </p:spPr>
        <p:txBody>
          <a:bodyPr wrap="square" lIns="0" tIns="0" rIns="0" bIns="0" rtlCol="0" anchor="ctr"/>
          <a:lstStyle/>
          <a:p>
            <a:pPr algn="ctr" indent="0" marL="0">
              <a:lnSpc>
                <a:spcPct val="92000"/>
              </a:lnSpc>
              <a:buNone/>
            </a:pPr>
            <a:r>
              <a:rPr lang="en-US" sz="900" dirty="0">
                <a:solidFill>
                  <a:srgbClr val="000000"/>
                </a:solidFill>
                <a:latin typeface="Arial" pitchFamily="34" charset="0"/>
                <a:ea typeface="Arial" pitchFamily="34" charset="-122"/>
                <a:cs typeface="Arial" pitchFamily="34" charset="-120"/>
              </a:rPr>
              <a:t>Hardware switch</a:t>
            </a:r>
            <a:endParaRPr lang="en-US" sz="900" dirty="0"/>
          </a:p>
        </p:txBody>
      </p:sp>
      <p:sp>
        <p:nvSpPr>
          <p:cNvPr id="80" name="Shape 78"/>
          <p:cNvSpPr/>
          <p:nvPr/>
        </p:nvSpPr>
        <p:spPr>
          <a:xfrm>
            <a:off x="6510528" y="6163056"/>
            <a:ext cx="850392" cy="448056"/>
          </a:xfrm>
          <a:prstGeom prst="rect">
            <a:avLst/>
          </a:prstGeom>
          <a:solidFill>
            <a:srgbClr val="FFFFFF"/>
          </a:solidFill>
          <a:ln w="12700">
            <a:solidFill>
              <a:srgbClr val="000000"/>
            </a:solidFill>
            <a:prstDash val="solid"/>
          </a:ln>
        </p:spPr>
      </p:sp>
      <p:sp>
        <p:nvSpPr>
          <p:cNvPr id="81" name="Text 79"/>
          <p:cNvSpPr/>
          <p:nvPr/>
        </p:nvSpPr>
        <p:spPr>
          <a:xfrm>
            <a:off x="6547104" y="6163056"/>
            <a:ext cx="777240" cy="448056"/>
          </a:xfrm>
          <a:prstGeom prst="rect">
            <a:avLst/>
          </a:prstGeom>
          <a:noFill/>
          <a:ln/>
        </p:spPr>
        <p:txBody>
          <a:bodyPr wrap="square" lIns="0" tIns="0" rIns="0" bIns="0" rtlCol="0" anchor="ctr"/>
          <a:lstStyle/>
          <a:p>
            <a:pPr algn="ctr" indent="0" marL="0">
              <a:lnSpc>
                <a:spcPct val="92000"/>
              </a:lnSpc>
              <a:buNone/>
            </a:pPr>
            <a:r>
              <a:rPr lang="en-US" sz="900" dirty="0">
                <a:solidFill>
                  <a:srgbClr val="000000"/>
                </a:solidFill>
                <a:latin typeface="Arial" pitchFamily="34" charset="0"/>
                <a:ea typeface="Arial" pitchFamily="34" charset="-122"/>
                <a:cs typeface="Arial" pitchFamily="34" charset="-120"/>
              </a:rPr>
              <a:t>Hardware switch</a:t>
            </a:r>
            <a:endParaRPr lang="en-US" sz="900" dirty="0"/>
          </a:p>
        </p:txBody>
      </p:sp>
      <p:sp>
        <p:nvSpPr>
          <p:cNvPr id="82" name="Shape 80"/>
          <p:cNvSpPr/>
          <p:nvPr/>
        </p:nvSpPr>
        <p:spPr>
          <a:xfrm>
            <a:off x="7543800" y="5833872"/>
            <a:ext cx="768096" cy="448056"/>
          </a:xfrm>
          <a:prstGeom prst="rect">
            <a:avLst/>
          </a:prstGeom>
          <a:solidFill>
            <a:srgbClr val="FFFFFF"/>
          </a:solidFill>
          <a:ln w="12700">
            <a:solidFill>
              <a:srgbClr val="000000"/>
            </a:solidFill>
            <a:prstDash val="solid"/>
          </a:ln>
        </p:spPr>
      </p:sp>
      <p:sp>
        <p:nvSpPr>
          <p:cNvPr id="83" name="Text 81"/>
          <p:cNvSpPr/>
          <p:nvPr/>
        </p:nvSpPr>
        <p:spPr>
          <a:xfrm>
            <a:off x="7580376" y="5833872"/>
            <a:ext cx="694944" cy="448056"/>
          </a:xfrm>
          <a:prstGeom prst="rect">
            <a:avLst/>
          </a:prstGeom>
          <a:noFill/>
          <a:ln/>
        </p:spPr>
        <p:txBody>
          <a:bodyPr wrap="square" lIns="0" tIns="0" rIns="0" bIns="0" rtlCol="0" anchor="ctr"/>
          <a:lstStyle/>
          <a:p>
            <a:pPr algn="ctr" indent="0" marL="0">
              <a:lnSpc>
                <a:spcPct val="92000"/>
              </a:lnSpc>
              <a:buNone/>
            </a:pPr>
            <a:r>
              <a:rPr lang="en-US" sz="900" dirty="0">
                <a:solidFill>
                  <a:srgbClr val="000000"/>
                </a:solidFill>
                <a:latin typeface="Arial" pitchFamily="34" charset="0"/>
                <a:ea typeface="Arial" pitchFamily="34" charset="-122"/>
                <a:cs typeface="Arial" pitchFamily="34" charset="-120"/>
              </a:rPr>
              <a:t>Hardware switch</a:t>
            </a:r>
            <a:endParaRPr lang="en-US" sz="900" dirty="0"/>
          </a:p>
        </p:txBody>
      </p:sp>
      <p:sp>
        <p:nvSpPr>
          <p:cNvPr id="84" name="Shape 82"/>
          <p:cNvSpPr/>
          <p:nvPr/>
        </p:nvSpPr>
        <p:spPr>
          <a:xfrm>
            <a:off x="6144768" y="6281928"/>
            <a:ext cx="356616" cy="91440"/>
          </a:xfrm>
          <a:prstGeom prst="line">
            <a:avLst/>
          </a:prstGeom>
          <a:noFill/>
          <a:ln w="15240">
            <a:solidFill>
              <a:srgbClr val="000000"/>
            </a:solidFill>
            <a:prstDash val="solid"/>
          </a:ln>
        </p:spPr>
      </p:sp>
      <p:sp>
        <p:nvSpPr>
          <p:cNvPr id="85" name="Shape 83"/>
          <p:cNvSpPr/>
          <p:nvPr/>
        </p:nvSpPr>
        <p:spPr>
          <a:xfrm>
            <a:off x="6144768" y="5943600"/>
            <a:ext cx="1399032" cy="155448"/>
          </a:xfrm>
          <a:prstGeom prst="line">
            <a:avLst/>
          </a:prstGeom>
          <a:noFill/>
          <a:ln w="15240">
            <a:solidFill>
              <a:srgbClr val="000000"/>
            </a:solidFill>
            <a:prstDash val="solid"/>
          </a:ln>
        </p:spPr>
      </p:sp>
      <p:sp>
        <p:nvSpPr>
          <p:cNvPr id="86" name="Shape 84"/>
          <p:cNvSpPr/>
          <p:nvPr/>
        </p:nvSpPr>
        <p:spPr>
          <a:xfrm flipV="1">
            <a:off x="7370064" y="6062472"/>
            <a:ext cx="182880" cy="310896"/>
          </a:xfrm>
          <a:prstGeom prst="line">
            <a:avLst/>
          </a:prstGeom>
          <a:noFill/>
          <a:ln w="15240">
            <a:solidFill>
              <a:srgbClr val="000000"/>
            </a:solidFill>
            <a:prstDash val="solid"/>
          </a:ln>
        </p:spPr>
      </p:sp>
      <p:sp>
        <p:nvSpPr>
          <p:cNvPr id="87" name="Shape 85"/>
          <p:cNvSpPr/>
          <p:nvPr/>
        </p:nvSpPr>
        <p:spPr>
          <a:xfrm>
            <a:off x="8860536" y="5998464"/>
            <a:ext cx="566928" cy="7315"/>
          </a:xfrm>
          <a:prstGeom prst="line">
            <a:avLst/>
          </a:prstGeom>
          <a:noFill/>
          <a:ln w="13970">
            <a:solidFill>
              <a:srgbClr val="000000"/>
            </a:solidFill>
            <a:prstDash val="solid"/>
            <a:headEnd type="triangle"/>
            <a:tailEnd type="triangle"/>
          </a:ln>
        </p:spPr>
      </p:sp>
      <p:sp>
        <p:nvSpPr>
          <p:cNvPr id="88" name="Text 86"/>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74320" y="146304"/>
            <a:ext cx="7315200" cy="310896"/>
          </a:xfrm>
          <a:prstGeom prst="rect">
            <a:avLst/>
          </a:prstGeom>
          <a:noFill/>
          <a:ln/>
        </p:spPr>
        <p:txBody>
          <a:bodyPr wrap="square" lIns="0" tIns="0" rIns="0" bIns="0" rtlCol="0" anchor="ctr"/>
          <a:lstStyle/>
          <a:p>
            <a:pPr algn="l" indent="0" marL="0">
              <a:lnSpc>
                <a:spcPct val="95000"/>
              </a:lnSpc>
              <a:buNone/>
            </a:pPr>
            <a:r>
              <a:rPr lang="en-US" sz="1300" b="1" dirty="0">
                <a:solidFill>
                  <a:srgbClr val="000000"/>
                </a:solidFill>
                <a:latin typeface="Arial" pitchFamily="34" charset="0"/>
                <a:ea typeface="Arial" pitchFamily="34" charset="-122"/>
                <a:cs typeface="Arial" pitchFamily="34" charset="-120"/>
              </a:rPr>
              <a:t>NDTwin: A Framework for Network Digital Twins</a:t>
            </a:r>
            <a:endParaRPr lang="en-US" sz="1300" dirty="0"/>
          </a:p>
        </p:txBody>
      </p:sp>
      <p:sp>
        <p:nvSpPr>
          <p:cNvPr id="3" name="Text 1"/>
          <p:cNvSpPr/>
          <p:nvPr/>
        </p:nvSpPr>
        <p:spPr>
          <a:xfrm>
            <a:off x="219456" y="960120"/>
            <a:ext cx="1362456" cy="338328"/>
          </a:xfrm>
          <a:prstGeom prst="rect">
            <a:avLst/>
          </a:prstGeom>
          <a:noFill/>
          <a:ln/>
        </p:spPr>
        <p:txBody>
          <a:bodyPr wrap="square" lIns="0" tIns="0" rIns="0" bIns="0" rtlCol="0" anchor="ctr"/>
          <a:lstStyle/>
          <a:p>
            <a:pPr algn="l" indent="0" marL="0">
              <a:lnSpc>
                <a:spcPct val="95000"/>
              </a:lnSpc>
              <a:buNone/>
            </a:pPr>
            <a:r>
              <a:rPr lang="en-US" sz="1200" dirty="0">
                <a:solidFill>
                  <a:srgbClr val="000000"/>
                </a:solidFill>
                <a:latin typeface="Arial" pitchFamily="34" charset="0"/>
                <a:ea typeface="Arial" pitchFamily="34" charset="-122"/>
                <a:cs typeface="Arial" pitchFamily="34" charset="-120"/>
              </a:rPr>
              <a:t>NDTwin Apps</a:t>
            </a:r>
            <a:endParaRPr lang="en-US" sz="1200" dirty="0"/>
          </a:p>
        </p:txBody>
      </p:sp>
      <p:sp>
        <p:nvSpPr>
          <p:cNvPr id="4" name="Shape 2"/>
          <p:cNvSpPr/>
          <p:nvPr/>
        </p:nvSpPr>
        <p:spPr>
          <a:xfrm>
            <a:off x="1600200" y="749808"/>
            <a:ext cx="1353312" cy="768096"/>
          </a:xfrm>
          <a:prstGeom prst="rect">
            <a:avLst/>
          </a:prstGeom>
          <a:solidFill>
            <a:srgbClr val="FFFFFF"/>
          </a:solidFill>
          <a:ln w="12700">
            <a:solidFill>
              <a:srgbClr val="000000"/>
            </a:solidFill>
            <a:prstDash val="solid"/>
          </a:ln>
        </p:spPr>
      </p:sp>
      <p:sp>
        <p:nvSpPr>
          <p:cNvPr id="5" name="Text 3"/>
          <p:cNvSpPr/>
          <p:nvPr/>
        </p:nvSpPr>
        <p:spPr>
          <a:xfrm>
            <a:off x="1636776" y="749808"/>
            <a:ext cx="1280160" cy="768096"/>
          </a:xfrm>
          <a:prstGeom prst="rect">
            <a:avLst/>
          </a:prstGeom>
          <a:noFill/>
          <a:ln/>
        </p:spPr>
        <p:txBody>
          <a:bodyPr wrap="square" lIns="0" tIns="0" rIns="0" bIns="0" rtlCol="0" anchor="ctr"/>
          <a:lstStyle/>
          <a:p>
            <a:pPr algn="ctr" indent="0" marL="0">
              <a:lnSpc>
                <a:spcPct val="92000"/>
              </a:lnSpc>
              <a:buNone/>
            </a:pPr>
            <a:r>
              <a:rPr lang="en-US" sz="1050" dirty="0">
                <a:solidFill>
                  <a:srgbClr val="000000"/>
                </a:solidFill>
                <a:latin typeface="Arial" pitchFamily="34" charset="0"/>
                <a:ea typeface="Arial" pitchFamily="34" charset="-122"/>
                <a:cs typeface="Arial" pitchFamily="34" charset="-120"/>
              </a:rPr>
              <a:t>Traffic-engineering App</a:t>
            </a:r>
            <a:endParaRPr lang="en-US" sz="1050" dirty="0"/>
          </a:p>
        </p:txBody>
      </p:sp>
      <p:sp>
        <p:nvSpPr>
          <p:cNvPr id="6" name="Shape 4"/>
          <p:cNvSpPr/>
          <p:nvPr/>
        </p:nvSpPr>
        <p:spPr>
          <a:xfrm>
            <a:off x="3072384" y="768096"/>
            <a:ext cx="1353312" cy="768096"/>
          </a:xfrm>
          <a:prstGeom prst="rect">
            <a:avLst/>
          </a:prstGeom>
          <a:solidFill>
            <a:srgbClr val="FFFFFF"/>
          </a:solidFill>
          <a:ln w="12700">
            <a:solidFill>
              <a:srgbClr val="000000"/>
            </a:solidFill>
            <a:prstDash val="solid"/>
          </a:ln>
        </p:spPr>
      </p:sp>
      <p:sp>
        <p:nvSpPr>
          <p:cNvPr id="7" name="Text 5"/>
          <p:cNvSpPr/>
          <p:nvPr/>
        </p:nvSpPr>
        <p:spPr>
          <a:xfrm>
            <a:off x="3108960" y="768096"/>
            <a:ext cx="1280160" cy="768096"/>
          </a:xfrm>
          <a:prstGeom prst="rect">
            <a:avLst/>
          </a:prstGeom>
          <a:noFill/>
          <a:ln/>
        </p:spPr>
        <p:txBody>
          <a:bodyPr wrap="square" lIns="0" tIns="0" rIns="0" bIns="0" rtlCol="0" anchor="ctr"/>
          <a:lstStyle/>
          <a:p>
            <a:pPr algn="ctr" indent="0" marL="0">
              <a:lnSpc>
                <a:spcPct val="92000"/>
              </a:lnSpc>
              <a:buNone/>
            </a:pPr>
            <a:r>
              <a:rPr lang="en-US" sz="1050" dirty="0">
                <a:solidFill>
                  <a:srgbClr val="000000"/>
                </a:solidFill>
                <a:latin typeface="Arial" pitchFamily="34" charset="0"/>
                <a:ea typeface="Arial" pitchFamily="34" charset="-122"/>
                <a:cs typeface="Arial" pitchFamily="34" charset="-120"/>
              </a:rPr>
              <a:t>Energy-saving App</a:t>
            </a:r>
            <a:endParaRPr lang="en-US" sz="1050" dirty="0"/>
          </a:p>
        </p:txBody>
      </p:sp>
      <p:sp>
        <p:nvSpPr>
          <p:cNvPr id="8" name="Text 6"/>
          <p:cNvSpPr/>
          <p:nvPr/>
        </p:nvSpPr>
        <p:spPr>
          <a:xfrm>
            <a:off x="4498848" y="886968"/>
            <a:ext cx="457200" cy="457200"/>
          </a:xfrm>
          <a:prstGeom prst="rect">
            <a:avLst/>
          </a:prstGeom>
          <a:noFill/>
          <a:ln/>
        </p:spPr>
        <p:txBody>
          <a:bodyPr wrap="square" lIns="0" tIns="0" rIns="0" bIns="0" rtlCol="0" anchor="ctr"/>
          <a:lstStyle/>
          <a:p>
            <a:pPr algn="l" indent="0" marL="0">
              <a:lnSpc>
                <a:spcPct val="95000"/>
              </a:lnSpc>
              <a:buNone/>
            </a:pPr>
            <a:r>
              <a:rPr lang="en-US" sz="1300" dirty="0">
                <a:solidFill>
                  <a:srgbClr val="000000"/>
                </a:solidFill>
                <a:latin typeface="Arial" pitchFamily="34" charset="0"/>
                <a:ea typeface="Arial" pitchFamily="34" charset="-122"/>
                <a:cs typeface="Arial" pitchFamily="34" charset="-120"/>
              </a:rPr>
              <a:t>...</a:t>
            </a:r>
            <a:endParaRPr lang="en-US" sz="1300" dirty="0"/>
          </a:p>
        </p:txBody>
      </p:sp>
      <p:sp>
        <p:nvSpPr>
          <p:cNvPr id="9" name="Shape 7"/>
          <p:cNvSpPr/>
          <p:nvPr/>
        </p:nvSpPr>
        <p:spPr>
          <a:xfrm>
            <a:off x="4873752" y="749808"/>
            <a:ext cx="1929384" cy="768096"/>
          </a:xfrm>
          <a:prstGeom prst="rect">
            <a:avLst/>
          </a:prstGeom>
          <a:solidFill>
            <a:srgbClr val="FFFFFF"/>
          </a:solidFill>
          <a:ln w="12700">
            <a:solidFill>
              <a:srgbClr val="000000"/>
            </a:solidFill>
            <a:prstDash val="solid"/>
          </a:ln>
        </p:spPr>
      </p:sp>
      <p:sp>
        <p:nvSpPr>
          <p:cNvPr id="10" name="Text 8"/>
          <p:cNvSpPr/>
          <p:nvPr/>
        </p:nvSpPr>
        <p:spPr>
          <a:xfrm>
            <a:off x="4910328" y="749808"/>
            <a:ext cx="1856232" cy="768096"/>
          </a:xfrm>
          <a:prstGeom prst="rect">
            <a:avLst/>
          </a:prstGeom>
          <a:noFill/>
          <a:ln/>
        </p:spPr>
        <p:txBody>
          <a:bodyPr wrap="square" lIns="0" tIns="0" rIns="0" bIns="0" rtlCol="0" anchor="ctr"/>
          <a:lstStyle/>
          <a:p>
            <a:pPr algn="ctr" indent="0" marL="0">
              <a:lnSpc>
                <a:spcPct val="92000"/>
              </a:lnSpc>
              <a:buNone/>
            </a:pPr>
            <a:r>
              <a:rPr lang="en-US" sz="1050" dirty="0">
                <a:solidFill>
                  <a:srgbClr val="000000"/>
                </a:solidFill>
                <a:latin typeface="Arial" pitchFamily="34" charset="0"/>
                <a:ea typeface="Arial" pitchFamily="34" charset="-122"/>
                <a:cs typeface="Arial" pitchFamily="34" charset="-120"/>
              </a:rPr>
              <a:t>Apps (using simulation for prediction and optimal control)</a:t>
            </a:r>
            <a:endParaRPr lang="en-US" sz="1050" dirty="0"/>
          </a:p>
        </p:txBody>
      </p:sp>
      <p:sp>
        <p:nvSpPr>
          <p:cNvPr id="11" name="Shape 9"/>
          <p:cNvSpPr/>
          <p:nvPr/>
        </p:nvSpPr>
        <p:spPr>
          <a:xfrm>
            <a:off x="6912864" y="749808"/>
            <a:ext cx="2066544" cy="768096"/>
          </a:xfrm>
          <a:prstGeom prst="rect">
            <a:avLst/>
          </a:prstGeom>
          <a:solidFill>
            <a:srgbClr val="FFFFFF"/>
          </a:solidFill>
          <a:ln w="12700">
            <a:solidFill>
              <a:srgbClr val="000000"/>
            </a:solidFill>
            <a:prstDash val="solid"/>
          </a:ln>
        </p:spPr>
      </p:sp>
      <p:sp>
        <p:nvSpPr>
          <p:cNvPr id="12" name="Text 10"/>
          <p:cNvSpPr/>
          <p:nvPr/>
        </p:nvSpPr>
        <p:spPr>
          <a:xfrm>
            <a:off x="6949440" y="749808"/>
            <a:ext cx="1993392" cy="768096"/>
          </a:xfrm>
          <a:prstGeom prst="rect">
            <a:avLst/>
          </a:prstGeom>
          <a:noFill/>
          <a:ln/>
        </p:spPr>
        <p:txBody>
          <a:bodyPr wrap="square" lIns="0" tIns="0" rIns="0" bIns="0" rtlCol="0" anchor="ctr"/>
          <a:lstStyle/>
          <a:p>
            <a:pPr algn="ctr" indent="0" marL="0">
              <a:lnSpc>
                <a:spcPct val="92000"/>
              </a:lnSpc>
              <a:buNone/>
            </a:pPr>
            <a:r>
              <a:rPr lang="en-US" sz="1050" dirty="0">
                <a:solidFill>
                  <a:srgbClr val="000000"/>
                </a:solidFill>
                <a:latin typeface="Arial" pitchFamily="34" charset="0"/>
                <a:ea typeface="Arial" pitchFamily="34" charset="-122"/>
                <a:cs typeface="Arial" pitchFamily="34" charset="-120"/>
              </a:rPr>
              <a:t>Apps (using AI/ML model inference for prediction and optimal control)</a:t>
            </a:r>
            <a:endParaRPr lang="en-US" sz="1050" dirty="0"/>
          </a:p>
        </p:txBody>
      </p:sp>
      <p:sp>
        <p:nvSpPr>
          <p:cNvPr id="13" name="Shape 11"/>
          <p:cNvSpPr/>
          <p:nvPr/>
        </p:nvSpPr>
        <p:spPr>
          <a:xfrm>
            <a:off x="118872" y="1618488"/>
            <a:ext cx="9043416" cy="3658"/>
          </a:xfrm>
          <a:prstGeom prst="line">
            <a:avLst/>
          </a:prstGeom>
          <a:noFill/>
          <a:ln w="12700">
            <a:solidFill>
              <a:srgbClr val="808080"/>
            </a:solidFill>
            <a:prstDash val="dash"/>
          </a:ln>
        </p:spPr>
      </p:sp>
      <p:sp>
        <p:nvSpPr>
          <p:cNvPr id="14" name="Shape 12"/>
          <p:cNvSpPr/>
          <p:nvPr/>
        </p:nvSpPr>
        <p:spPr>
          <a:xfrm>
            <a:off x="9162288" y="713232"/>
            <a:ext cx="3658" cy="5760720"/>
          </a:xfrm>
          <a:prstGeom prst="line">
            <a:avLst/>
          </a:prstGeom>
          <a:noFill/>
          <a:ln w="12700">
            <a:solidFill>
              <a:srgbClr val="808080"/>
            </a:solidFill>
            <a:prstDash val="dash"/>
          </a:ln>
        </p:spPr>
      </p:sp>
      <p:sp>
        <p:nvSpPr>
          <p:cNvPr id="15" name="Shape 13"/>
          <p:cNvSpPr/>
          <p:nvPr/>
        </p:nvSpPr>
        <p:spPr>
          <a:xfrm>
            <a:off x="265176" y="1819656"/>
            <a:ext cx="8513064" cy="2679192"/>
          </a:xfrm>
          <a:prstGeom prst="rect">
            <a:avLst/>
          </a:prstGeom>
          <a:solidFill>
            <a:srgbClr val="FFFFFF"/>
          </a:solidFill>
          <a:ln w="12700">
            <a:solidFill>
              <a:srgbClr val="000000"/>
            </a:solidFill>
            <a:prstDash val="solid"/>
          </a:ln>
        </p:spPr>
      </p:sp>
      <p:sp>
        <p:nvSpPr>
          <p:cNvPr id="16" name="Text 14"/>
          <p:cNvSpPr/>
          <p:nvPr/>
        </p:nvSpPr>
        <p:spPr>
          <a:xfrm>
            <a:off x="384048" y="1883664"/>
            <a:ext cx="1463040" cy="274320"/>
          </a:xfrm>
          <a:prstGeom prst="rect">
            <a:avLst/>
          </a:prstGeom>
          <a:noFill/>
          <a:ln/>
        </p:spPr>
        <p:txBody>
          <a:bodyPr wrap="square" lIns="0" tIns="0" rIns="0" bIns="0" rtlCol="0" anchor="ctr"/>
          <a:lstStyle/>
          <a:p>
            <a:pPr algn="l" indent="0" marL="0">
              <a:lnSpc>
                <a:spcPct val="95000"/>
              </a:lnSpc>
              <a:buNone/>
            </a:pPr>
            <a:r>
              <a:rPr lang="en-US" sz="1200" dirty="0">
                <a:solidFill>
                  <a:srgbClr val="000000"/>
                </a:solidFill>
                <a:latin typeface="Arial" pitchFamily="34" charset="0"/>
                <a:ea typeface="Arial" pitchFamily="34" charset="-122"/>
                <a:cs typeface="Arial" pitchFamily="34" charset="-120"/>
              </a:rPr>
              <a:t>NDTwin Kernel</a:t>
            </a:r>
            <a:endParaRPr lang="en-US" sz="1200" dirty="0"/>
          </a:p>
        </p:txBody>
      </p:sp>
      <p:sp>
        <p:nvSpPr>
          <p:cNvPr id="17" name="Shape 15"/>
          <p:cNvSpPr/>
          <p:nvPr/>
        </p:nvSpPr>
        <p:spPr>
          <a:xfrm>
            <a:off x="621792" y="2240280"/>
            <a:ext cx="2459736" cy="502920"/>
          </a:xfrm>
          <a:prstGeom prst="rect">
            <a:avLst/>
          </a:prstGeom>
          <a:solidFill>
            <a:srgbClr val="FFFFFF"/>
          </a:solidFill>
          <a:ln w="12700">
            <a:solidFill>
              <a:srgbClr val="000000"/>
            </a:solidFill>
            <a:prstDash val="solid"/>
          </a:ln>
        </p:spPr>
      </p:sp>
      <p:sp>
        <p:nvSpPr>
          <p:cNvPr id="18" name="Text 16"/>
          <p:cNvSpPr/>
          <p:nvPr/>
        </p:nvSpPr>
        <p:spPr>
          <a:xfrm>
            <a:off x="658368" y="2240280"/>
            <a:ext cx="2386584" cy="502920"/>
          </a:xfrm>
          <a:prstGeom prst="rect">
            <a:avLst/>
          </a:prstGeom>
          <a:noFill/>
          <a:ln/>
        </p:spPr>
        <p:txBody>
          <a:bodyPr wrap="square" lIns="0" tIns="0" rIns="0" bIns="0" rtlCol="0" anchor="ctr"/>
          <a:lstStyle/>
          <a:p>
            <a:pPr algn="ctr" indent="0" marL="0">
              <a:lnSpc>
                <a:spcPct val="92000"/>
              </a:lnSpc>
              <a:buNone/>
            </a:pPr>
            <a:r>
              <a:rPr lang="en-US" sz="1050" dirty="0">
                <a:solidFill>
                  <a:srgbClr val="000000"/>
                </a:solidFill>
                <a:latin typeface="Arial" pitchFamily="34" charset="0"/>
                <a:ea typeface="Arial" pitchFamily="34" charset="-122"/>
                <a:cs typeface="Arial" pitchFamily="34" charset="-120"/>
              </a:rPr>
              <a:t>Device configuration and power manager</a:t>
            </a:r>
            <a:endParaRPr lang="en-US" sz="1050" dirty="0"/>
          </a:p>
        </p:txBody>
      </p:sp>
      <p:sp>
        <p:nvSpPr>
          <p:cNvPr id="19" name="Shape 17"/>
          <p:cNvSpPr/>
          <p:nvPr/>
        </p:nvSpPr>
        <p:spPr>
          <a:xfrm>
            <a:off x="3319272" y="2267712"/>
            <a:ext cx="2404872" cy="448056"/>
          </a:xfrm>
          <a:prstGeom prst="rect">
            <a:avLst/>
          </a:prstGeom>
          <a:solidFill>
            <a:srgbClr val="FFFFFF"/>
          </a:solidFill>
          <a:ln w="12700">
            <a:solidFill>
              <a:srgbClr val="000000"/>
            </a:solidFill>
            <a:prstDash val="solid"/>
          </a:ln>
        </p:spPr>
      </p:sp>
      <p:sp>
        <p:nvSpPr>
          <p:cNvPr id="20" name="Text 18"/>
          <p:cNvSpPr/>
          <p:nvPr/>
        </p:nvSpPr>
        <p:spPr>
          <a:xfrm>
            <a:off x="3355848" y="2267712"/>
            <a:ext cx="2331720" cy="448056"/>
          </a:xfrm>
          <a:prstGeom prst="rect">
            <a:avLst/>
          </a:prstGeom>
          <a:noFill/>
          <a:ln/>
        </p:spPr>
        <p:txBody>
          <a:bodyPr wrap="square" lIns="0" tIns="0" rIns="0" bIns="0" rtlCol="0" anchor="ctr"/>
          <a:lstStyle/>
          <a:p>
            <a:pPr algn="ctr" indent="0" marL="0">
              <a:lnSpc>
                <a:spcPct val="92000"/>
              </a:lnSpc>
              <a:buNone/>
            </a:pPr>
            <a:r>
              <a:rPr lang="en-US" sz="1050" dirty="0">
                <a:solidFill>
                  <a:srgbClr val="000000"/>
                </a:solidFill>
                <a:latin typeface="Arial" pitchFamily="34" charset="0"/>
                <a:ea typeface="Arial" pitchFamily="34" charset="-122"/>
                <a:cs typeface="Arial" pitchFamily="34" charset="-120"/>
              </a:rPr>
              <a:t>Application registration and coordination manager</a:t>
            </a:r>
            <a:endParaRPr lang="en-US" sz="1050" dirty="0"/>
          </a:p>
        </p:txBody>
      </p:sp>
      <p:sp>
        <p:nvSpPr>
          <p:cNvPr id="21" name="Shape 19"/>
          <p:cNvSpPr/>
          <p:nvPr/>
        </p:nvSpPr>
        <p:spPr>
          <a:xfrm>
            <a:off x="6053328" y="2267712"/>
            <a:ext cx="2404872" cy="365760"/>
          </a:xfrm>
          <a:prstGeom prst="rect">
            <a:avLst/>
          </a:prstGeom>
          <a:solidFill>
            <a:srgbClr val="FFFFFF"/>
          </a:solidFill>
          <a:ln w="12700">
            <a:solidFill>
              <a:srgbClr val="000000"/>
            </a:solidFill>
            <a:prstDash val="solid"/>
          </a:ln>
        </p:spPr>
      </p:sp>
      <p:sp>
        <p:nvSpPr>
          <p:cNvPr id="22" name="Text 20"/>
          <p:cNvSpPr/>
          <p:nvPr/>
        </p:nvSpPr>
        <p:spPr>
          <a:xfrm>
            <a:off x="6089904" y="2267712"/>
            <a:ext cx="2331720" cy="365760"/>
          </a:xfrm>
          <a:prstGeom prst="rect">
            <a:avLst/>
          </a:prstGeom>
          <a:noFill/>
          <a:ln/>
        </p:spPr>
        <p:txBody>
          <a:bodyPr wrap="square" lIns="0" tIns="0" rIns="0" bIns="0" rtlCol="0" anchor="ctr"/>
          <a:lstStyle/>
          <a:p>
            <a:pPr algn="ctr" indent="0" marL="0">
              <a:lnSpc>
                <a:spcPct val="92000"/>
              </a:lnSpc>
              <a:buNone/>
            </a:pPr>
            <a:r>
              <a:rPr lang="en-US" sz="1050" dirty="0">
                <a:solidFill>
                  <a:srgbClr val="000000"/>
                </a:solidFill>
                <a:latin typeface="Arial" pitchFamily="34" charset="0"/>
                <a:ea typeface="Arial" pitchFamily="34" charset="-122"/>
                <a:cs typeface="Arial" pitchFamily="34" charset="-120"/>
              </a:rPr>
              <a:t>Intent to tasks translator</a:t>
            </a:r>
            <a:endParaRPr lang="en-US" sz="1050" dirty="0"/>
          </a:p>
        </p:txBody>
      </p:sp>
      <p:sp>
        <p:nvSpPr>
          <p:cNvPr id="23" name="Shape 21"/>
          <p:cNvSpPr/>
          <p:nvPr/>
        </p:nvSpPr>
        <p:spPr>
          <a:xfrm>
            <a:off x="594360" y="3054096"/>
            <a:ext cx="2459736" cy="365760"/>
          </a:xfrm>
          <a:prstGeom prst="rect">
            <a:avLst/>
          </a:prstGeom>
          <a:solidFill>
            <a:srgbClr val="FFFFFF"/>
          </a:solidFill>
          <a:ln w="12700">
            <a:solidFill>
              <a:srgbClr val="000000"/>
            </a:solidFill>
            <a:prstDash val="solid"/>
          </a:ln>
        </p:spPr>
      </p:sp>
      <p:sp>
        <p:nvSpPr>
          <p:cNvPr id="24" name="Text 22"/>
          <p:cNvSpPr/>
          <p:nvPr/>
        </p:nvSpPr>
        <p:spPr>
          <a:xfrm>
            <a:off x="630936" y="3054096"/>
            <a:ext cx="2386584" cy="365760"/>
          </a:xfrm>
          <a:prstGeom prst="rect">
            <a:avLst/>
          </a:prstGeom>
          <a:noFill/>
          <a:ln/>
        </p:spPr>
        <p:txBody>
          <a:bodyPr wrap="square" lIns="0" tIns="0" rIns="0" bIns="0" rtlCol="0" anchor="ctr"/>
          <a:lstStyle/>
          <a:p>
            <a:pPr algn="ctr" indent="0" marL="0">
              <a:lnSpc>
                <a:spcPct val="92000"/>
              </a:lnSpc>
              <a:buNone/>
            </a:pPr>
            <a:r>
              <a:rPr lang="en-US" sz="1050" dirty="0">
                <a:solidFill>
                  <a:srgbClr val="000000"/>
                </a:solidFill>
                <a:latin typeface="Arial" pitchFamily="34" charset="0"/>
                <a:ea typeface="Arial" pitchFamily="34" charset="-122"/>
                <a:cs typeface="Arial" pitchFamily="34" charset="-120"/>
              </a:rPr>
              <a:t>Flow routing manager</a:t>
            </a:r>
            <a:endParaRPr lang="en-US" sz="1050" dirty="0"/>
          </a:p>
        </p:txBody>
      </p:sp>
      <p:sp>
        <p:nvSpPr>
          <p:cNvPr id="25" name="Shape 23"/>
          <p:cNvSpPr/>
          <p:nvPr/>
        </p:nvSpPr>
        <p:spPr>
          <a:xfrm>
            <a:off x="3328416" y="3054096"/>
            <a:ext cx="2404872" cy="457200"/>
          </a:xfrm>
          <a:prstGeom prst="rect">
            <a:avLst/>
          </a:prstGeom>
          <a:solidFill>
            <a:srgbClr val="FFFFFF"/>
          </a:solidFill>
          <a:ln w="12700">
            <a:solidFill>
              <a:srgbClr val="000000"/>
            </a:solidFill>
            <a:prstDash val="solid"/>
          </a:ln>
        </p:spPr>
      </p:sp>
      <p:sp>
        <p:nvSpPr>
          <p:cNvPr id="26" name="Text 24"/>
          <p:cNvSpPr/>
          <p:nvPr/>
        </p:nvSpPr>
        <p:spPr>
          <a:xfrm>
            <a:off x="3364992" y="3054096"/>
            <a:ext cx="2331720" cy="457200"/>
          </a:xfrm>
          <a:prstGeom prst="rect">
            <a:avLst/>
          </a:prstGeom>
          <a:noFill/>
          <a:ln/>
        </p:spPr>
        <p:txBody>
          <a:bodyPr wrap="square" lIns="0" tIns="0" rIns="0" bIns="0" rtlCol="0" anchor="ctr"/>
          <a:lstStyle/>
          <a:p>
            <a:pPr algn="ctr" indent="0" marL="0">
              <a:lnSpc>
                <a:spcPct val="92000"/>
              </a:lnSpc>
              <a:buNone/>
            </a:pPr>
            <a:r>
              <a:rPr lang="en-US" sz="1050" dirty="0">
                <a:solidFill>
                  <a:srgbClr val="000000"/>
                </a:solidFill>
                <a:latin typeface="Arial" pitchFamily="34" charset="0"/>
                <a:ea typeface="Arial" pitchFamily="34" charset="-122"/>
                <a:cs typeface="Arial" pitchFamily="34" charset="-120"/>
              </a:rPr>
              <a:t>Simulation request and reply manager</a:t>
            </a:r>
            <a:endParaRPr lang="en-US" sz="1050" dirty="0"/>
          </a:p>
        </p:txBody>
      </p:sp>
      <p:sp>
        <p:nvSpPr>
          <p:cNvPr id="27" name="Shape 25"/>
          <p:cNvSpPr/>
          <p:nvPr/>
        </p:nvSpPr>
        <p:spPr>
          <a:xfrm>
            <a:off x="6099048" y="3063240"/>
            <a:ext cx="2404872" cy="365760"/>
          </a:xfrm>
          <a:prstGeom prst="rect">
            <a:avLst/>
          </a:prstGeom>
          <a:solidFill>
            <a:srgbClr val="FFFFFF"/>
          </a:solidFill>
          <a:ln w="12700">
            <a:solidFill>
              <a:srgbClr val="000000"/>
            </a:solidFill>
            <a:prstDash val="solid"/>
          </a:ln>
        </p:spPr>
      </p:sp>
      <p:sp>
        <p:nvSpPr>
          <p:cNvPr id="28" name="Text 26"/>
          <p:cNvSpPr/>
          <p:nvPr/>
        </p:nvSpPr>
        <p:spPr>
          <a:xfrm>
            <a:off x="6135624" y="3063240"/>
            <a:ext cx="2331720" cy="365760"/>
          </a:xfrm>
          <a:prstGeom prst="rect">
            <a:avLst/>
          </a:prstGeom>
          <a:noFill/>
          <a:ln/>
        </p:spPr>
        <p:txBody>
          <a:bodyPr wrap="square" lIns="0" tIns="0" rIns="0" bIns="0" rtlCol="0" anchor="ctr"/>
          <a:lstStyle/>
          <a:p>
            <a:pPr algn="ctr" indent="0" marL="0">
              <a:lnSpc>
                <a:spcPct val="92000"/>
              </a:lnSpc>
              <a:buNone/>
            </a:pPr>
            <a:r>
              <a:rPr lang="en-US" sz="1050" dirty="0">
                <a:solidFill>
                  <a:srgbClr val="000000"/>
                </a:solidFill>
                <a:latin typeface="Arial" pitchFamily="34" charset="0"/>
                <a:ea typeface="Arial" pitchFamily="34" charset="-122"/>
                <a:cs typeface="Arial" pitchFamily="34" charset="-120"/>
              </a:rPr>
              <a:t>Topology and flow monitor</a:t>
            </a:r>
            <a:endParaRPr lang="en-US" sz="1050" dirty="0"/>
          </a:p>
        </p:txBody>
      </p:sp>
      <p:sp>
        <p:nvSpPr>
          <p:cNvPr id="29" name="Shape 27"/>
          <p:cNvSpPr/>
          <p:nvPr/>
        </p:nvSpPr>
        <p:spPr>
          <a:xfrm>
            <a:off x="667512" y="3721608"/>
            <a:ext cx="2404872" cy="502920"/>
          </a:xfrm>
          <a:prstGeom prst="rect">
            <a:avLst/>
          </a:prstGeom>
          <a:solidFill>
            <a:srgbClr val="FFFFFF"/>
          </a:solidFill>
          <a:ln w="12700">
            <a:solidFill>
              <a:srgbClr val="000000"/>
            </a:solidFill>
            <a:prstDash val="solid"/>
          </a:ln>
        </p:spPr>
      </p:sp>
      <p:sp>
        <p:nvSpPr>
          <p:cNvPr id="30" name="Text 28"/>
          <p:cNvSpPr/>
          <p:nvPr/>
        </p:nvSpPr>
        <p:spPr>
          <a:xfrm>
            <a:off x="704088" y="3721608"/>
            <a:ext cx="2331720" cy="502920"/>
          </a:xfrm>
          <a:prstGeom prst="rect">
            <a:avLst/>
          </a:prstGeom>
          <a:noFill/>
          <a:ln/>
        </p:spPr>
        <p:txBody>
          <a:bodyPr wrap="square" lIns="0" tIns="0" rIns="0" bIns="0" rtlCol="0" anchor="ctr"/>
          <a:lstStyle/>
          <a:p>
            <a:pPr algn="ctr" indent="0" marL="0">
              <a:lnSpc>
                <a:spcPct val="92000"/>
              </a:lnSpc>
              <a:buNone/>
            </a:pPr>
            <a:r>
              <a:rPr lang="en-US" sz="1050" dirty="0">
                <a:solidFill>
                  <a:srgbClr val="000000"/>
                </a:solidFill>
                <a:latin typeface="Arial" pitchFamily="34" charset="0"/>
                <a:ea typeface="Arial" pitchFamily="34" charset="-122"/>
                <a:cs typeface="Arial" pitchFamily="34" charset="-120"/>
              </a:rPr>
              <a:t>Data cache manager</a:t>
            </a:r>
            <a:endParaRPr lang="en-US" sz="1050" dirty="0"/>
          </a:p>
        </p:txBody>
      </p:sp>
      <p:sp>
        <p:nvSpPr>
          <p:cNvPr id="31" name="Shape 29"/>
          <p:cNvSpPr/>
          <p:nvPr/>
        </p:nvSpPr>
        <p:spPr>
          <a:xfrm>
            <a:off x="3337560" y="3749040"/>
            <a:ext cx="2414016" cy="502920"/>
          </a:xfrm>
          <a:prstGeom prst="rect">
            <a:avLst/>
          </a:prstGeom>
          <a:solidFill>
            <a:srgbClr val="FFFFFF"/>
          </a:solidFill>
          <a:ln w="12700">
            <a:solidFill>
              <a:srgbClr val="000000"/>
            </a:solidFill>
            <a:prstDash val="solid"/>
          </a:ln>
        </p:spPr>
      </p:sp>
      <p:sp>
        <p:nvSpPr>
          <p:cNvPr id="32" name="Text 30"/>
          <p:cNvSpPr/>
          <p:nvPr/>
        </p:nvSpPr>
        <p:spPr>
          <a:xfrm>
            <a:off x="3374136" y="3749040"/>
            <a:ext cx="2340864" cy="502920"/>
          </a:xfrm>
          <a:prstGeom prst="rect">
            <a:avLst/>
          </a:prstGeom>
          <a:noFill/>
          <a:ln/>
        </p:spPr>
        <p:txBody>
          <a:bodyPr wrap="square" lIns="0" tIns="0" rIns="0" bIns="0" rtlCol="0" anchor="ctr"/>
          <a:lstStyle/>
          <a:p>
            <a:pPr algn="ctr" indent="0" marL="0">
              <a:lnSpc>
                <a:spcPct val="92000"/>
              </a:lnSpc>
              <a:buNone/>
            </a:pPr>
            <a:r>
              <a:rPr lang="en-US" sz="1050" dirty="0">
                <a:solidFill>
                  <a:srgbClr val="000000"/>
                </a:solidFill>
                <a:latin typeface="Arial" pitchFamily="34" charset="0"/>
                <a:ea typeface="Arial" pitchFamily="34" charset="-122"/>
                <a:cs typeface="Arial" pitchFamily="34" charset="-120"/>
              </a:rPr>
              <a:t>Controller and other events handler</a:t>
            </a:r>
            <a:endParaRPr lang="en-US" sz="1050" dirty="0"/>
          </a:p>
        </p:txBody>
      </p:sp>
      <p:sp>
        <p:nvSpPr>
          <p:cNvPr id="33" name="Shape 31"/>
          <p:cNvSpPr/>
          <p:nvPr/>
        </p:nvSpPr>
        <p:spPr>
          <a:xfrm>
            <a:off x="6099048" y="3758184"/>
            <a:ext cx="2404872" cy="502920"/>
          </a:xfrm>
          <a:prstGeom prst="rect">
            <a:avLst/>
          </a:prstGeom>
          <a:solidFill>
            <a:srgbClr val="FFFFFF"/>
          </a:solidFill>
          <a:ln w="12700">
            <a:solidFill>
              <a:srgbClr val="000000"/>
            </a:solidFill>
            <a:prstDash val="solid"/>
          </a:ln>
        </p:spPr>
      </p:sp>
      <p:sp>
        <p:nvSpPr>
          <p:cNvPr id="34" name="Text 32"/>
          <p:cNvSpPr/>
          <p:nvPr/>
        </p:nvSpPr>
        <p:spPr>
          <a:xfrm>
            <a:off x="6135624" y="3758184"/>
            <a:ext cx="2331720" cy="502920"/>
          </a:xfrm>
          <a:prstGeom prst="rect">
            <a:avLst/>
          </a:prstGeom>
          <a:noFill/>
          <a:ln/>
        </p:spPr>
        <p:txBody>
          <a:bodyPr wrap="square" lIns="0" tIns="0" rIns="0" bIns="0" rtlCol="0" anchor="ctr"/>
          <a:lstStyle/>
          <a:p>
            <a:pPr algn="ctr" indent="0" marL="0">
              <a:lnSpc>
                <a:spcPct val="92000"/>
              </a:lnSpc>
              <a:buNone/>
            </a:pPr>
            <a:r>
              <a:rPr lang="en-US" sz="1050" dirty="0">
                <a:solidFill>
                  <a:srgbClr val="000000"/>
                </a:solidFill>
                <a:latin typeface="Arial" pitchFamily="34" charset="0"/>
                <a:ea typeface="Arial" pitchFamily="34" charset="-122"/>
                <a:cs typeface="Arial" pitchFamily="34" charset="-120"/>
              </a:rPr>
              <a:t>Flow information and link bandwidth usage collector</a:t>
            </a:r>
            <a:endParaRPr lang="en-US" sz="1050" dirty="0"/>
          </a:p>
        </p:txBody>
      </p:sp>
      <p:sp>
        <p:nvSpPr>
          <p:cNvPr id="35" name="Shape 33"/>
          <p:cNvSpPr/>
          <p:nvPr/>
        </p:nvSpPr>
        <p:spPr>
          <a:xfrm>
            <a:off x="4727448" y="1490472"/>
            <a:ext cx="7315" cy="283464"/>
          </a:xfrm>
          <a:prstGeom prst="line">
            <a:avLst/>
          </a:prstGeom>
          <a:noFill/>
          <a:ln w="13970">
            <a:solidFill>
              <a:srgbClr val="000000"/>
            </a:solidFill>
            <a:prstDash val="solid"/>
            <a:headEnd type="triangle"/>
            <a:tailEnd type="triangle"/>
          </a:ln>
        </p:spPr>
      </p:sp>
      <p:sp>
        <p:nvSpPr>
          <p:cNvPr id="36" name="Text 34"/>
          <p:cNvSpPr/>
          <p:nvPr/>
        </p:nvSpPr>
        <p:spPr>
          <a:xfrm>
            <a:off x="9390888" y="1115568"/>
            <a:ext cx="1463040" cy="338328"/>
          </a:xfrm>
          <a:prstGeom prst="rect">
            <a:avLst/>
          </a:prstGeom>
          <a:noFill/>
          <a:ln/>
        </p:spPr>
        <p:txBody>
          <a:bodyPr wrap="square" lIns="0" tIns="0" rIns="0" bIns="0" rtlCol="0" anchor="ctr"/>
          <a:lstStyle/>
          <a:p>
            <a:pPr algn="l" indent="0" marL="0">
              <a:lnSpc>
                <a:spcPct val="95000"/>
              </a:lnSpc>
              <a:buNone/>
            </a:pPr>
            <a:r>
              <a:rPr lang="en-US" sz="1200" dirty="0">
                <a:solidFill>
                  <a:srgbClr val="000000"/>
                </a:solidFill>
                <a:latin typeface="Arial" pitchFamily="34" charset="0"/>
                <a:ea typeface="Arial" pitchFamily="34" charset="-122"/>
                <a:cs typeface="Arial" pitchFamily="34" charset="-120"/>
              </a:rPr>
              <a:t>NDTwin Tools</a:t>
            </a:r>
            <a:endParaRPr lang="en-US" sz="1200" dirty="0"/>
          </a:p>
        </p:txBody>
      </p:sp>
      <p:sp>
        <p:nvSpPr>
          <p:cNvPr id="37" name="Shape 35"/>
          <p:cNvSpPr/>
          <p:nvPr/>
        </p:nvSpPr>
        <p:spPr>
          <a:xfrm>
            <a:off x="9445752" y="1773936"/>
            <a:ext cx="2532888" cy="457200"/>
          </a:xfrm>
          <a:prstGeom prst="rect">
            <a:avLst/>
          </a:prstGeom>
          <a:solidFill>
            <a:srgbClr val="FFFFFF"/>
          </a:solidFill>
          <a:ln w="12700">
            <a:solidFill>
              <a:srgbClr val="000000"/>
            </a:solidFill>
            <a:prstDash val="solid"/>
          </a:ln>
        </p:spPr>
      </p:sp>
      <p:sp>
        <p:nvSpPr>
          <p:cNvPr id="38" name="Text 36"/>
          <p:cNvSpPr/>
          <p:nvPr/>
        </p:nvSpPr>
        <p:spPr>
          <a:xfrm>
            <a:off x="9482328" y="1773936"/>
            <a:ext cx="2459736" cy="457200"/>
          </a:xfrm>
          <a:prstGeom prst="rect">
            <a:avLst/>
          </a:prstGeom>
          <a:noFill/>
          <a:ln/>
        </p:spPr>
        <p:txBody>
          <a:bodyPr wrap="square" lIns="0" tIns="0" rIns="0" bIns="0" rtlCol="0" anchor="ctr"/>
          <a:lstStyle/>
          <a:p>
            <a:pPr algn="ctr" indent="0" marL="0">
              <a:lnSpc>
                <a:spcPct val="92000"/>
              </a:lnSpc>
              <a:buNone/>
            </a:pPr>
            <a:r>
              <a:rPr lang="en-US" sz="1050" dirty="0">
                <a:solidFill>
                  <a:srgbClr val="000000"/>
                </a:solidFill>
                <a:latin typeface="Arial" pitchFamily="34" charset="0"/>
                <a:ea typeface="Arial" pitchFamily="34" charset="-122"/>
                <a:cs typeface="Arial" pitchFamily="34" charset="-120"/>
              </a:rPr>
              <a:t>Local LLM (fine-tuning)</a:t>
            </a:r>
            <a:endParaRPr lang="en-US" sz="1050" dirty="0"/>
          </a:p>
        </p:txBody>
      </p:sp>
      <p:sp>
        <p:nvSpPr>
          <p:cNvPr id="39" name="Shape 37"/>
          <p:cNvSpPr/>
          <p:nvPr/>
        </p:nvSpPr>
        <p:spPr>
          <a:xfrm>
            <a:off x="9445752" y="2368296"/>
            <a:ext cx="2532888" cy="457200"/>
          </a:xfrm>
          <a:prstGeom prst="rect">
            <a:avLst/>
          </a:prstGeom>
          <a:solidFill>
            <a:srgbClr val="FFFFFF"/>
          </a:solidFill>
          <a:ln w="12700">
            <a:solidFill>
              <a:srgbClr val="000000"/>
            </a:solidFill>
            <a:prstDash val="solid"/>
          </a:ln>
        </p:spPr>
      </p:sp>
      <p:sp>
        <p:nvSpPr>
          <p:cNvPr id="40" name="Text 38"/>
          <p:cNvSpPr/>
          <p:nvPr/>
        </p:nvSpPr>
        <p:spPr>
          <a:xfrm>
            <a:off x="9482328" y="2368296"/>
            <a:ext cx="2459736" cy="457200"/>
          </a:xfrm>
          <a:prstGeom prst="rect">
            <a:avLst/>
          </a:prstGeom>
          <a:noFill/>
          <a:ln/>
        </p:spPr>
        <p:txBody>
          <a:bodyPr wrap="square" lIns="0" tIns="0" rIns="0" bIns="0" rtlCol="0" anchor="ctr"/>
          <a:lstStyle/>
          <a:p>
            <a:pPr algn="ctr" indent="0" marL="0">
              <a:lnSpc>
                <a:spcPct val="92000"/>
              </a:lnSpc>
              <a:buNone/>
            </a:pPr>
            <a:r>
              <a:rPr lang="en-US" sz="1050" dirty="0">
                <a:solidFill>
                  <a:srgbClr val="000000"/>
                </a:solidFill>
                <a:latin typeface="Arial" pitchFamily="34" charset="0"/>
                <a:ea typeface="Arial" pitchFamily="34" charset="-122"/>
                <a:cs typeface="Arial" pitchFamily="34" charset="-120"/>
              </a:rPr>
              <a:t>On-line LLM (e.g., ChatGPT)</a:t>
            </a:r>
            <a:endParaRPr lang="en-US" sz="1050" dirty="0"/>
          </a:p>
        </p:txBody>
      </p:sp>
      <p:sp>
        <p:nvSpPr>
          <p:cNvPr id="41" name="Shape 39"/>
          <p:cNvSpPr/>
          <p:nvPr/>
        </p:nvSpPr>
        <p:spPr>
          <a:xfrm>
            <a:off x="9445752" y="2935224"/>
            <a:ext cx="2532888" cy="384048"/>
          </a:xfrm>
          <a:prstGeom prst="rect">
            <a:avLst/>
          </a:prstGeom>
          <a:solidFill>
            <a:srgbClr val="FFFFFF"/>
          </a:solidFill>
          <a:ln w="12700">
            <a:solidFill>
              <a:srgbClr val="000000"/>
            </a:solidFill>
            <a:prstDash val="solid"/>
          </a:ln>
        </p:spPr>
      </p:sp>
      <p:sp>
        <p:nvSpPr>
          <p:cNvPr id="42" name="Text 40"/>
          <p:cNvSpPr/>
          <p:nvPr/>
        </p:nvSpPr>
        <p:spPr>
          <a:xfrm>
            <a:off x="9482328" y="2935224"/>
            <a:ext cx="2459736" cy="384048"/>
          </a:xfrm>
          <a:prstGeom prst="rect">
            <a:avLst/>
          </a:prstGeom>
          <a:noFill/>
          <a:ln/>
        </p:spPr>
        <p:txBody>
          <a:bodyPr wrap="square" lIns="0" tIns="0" rIns="0" bIns="0" rtlCol="0" anchor="ctr"/>
          <a:lstStyle/>
          <a:p>
            <a:pPr algn="ctr" indent="0" marL="0">
              <a:lnSpc>
                <a:spcPct val="92000"/>
              </a:lnSpc>
              <a:buNone/>
            </a:pPr>
            <a:r>
              <a:rPr lang="en-US" sz="1050" dirty="0">
                <a:solidFill>
                  <a:srgbClr val="000000"/>
                </a:solidFill>
                <a:latin typeface="Arial" pitchFamily="34" charset="0"/>
                <a:ea typeface="Arial" pitchFamily="34" charset="-122"/>
                <a:cs typeface="Arial" pitchFamily="34" charset="-120"/>
              </a:rPr>
              <a:t>Simulation platform manager</a:t>
            </a:r>
            <a:endParaRPr lang="en-US" sz="1050" dirty="0"/>
          </a:p>
        </p:txBody>
      </p:sp>
      <p:sp>
        <p:nvSpPr>
          <p:cNvPr id="43" name="Shape 41"/>
          <p:cNvSpPr/>
          <p:nvPr/>
        </p:nvSpPr>
        <p:spPr>
          <a:xfrm>
            <a:off x="9445752" y="3447288"/>
            <a:ext cx="2532888" cy="384048"/>
          </a:xfrm>
          <a:prstGeom prst="rect">
            <a:avLst/>
          </a:prstGeom>
          <a:solidFill>
            <a:srgbClr val="FFFFFF"/>
          </a:solidFill>
          <a:ln w="12700">
            <a:solidFill>
              <a:srgbClr val="000000"/>
            </a:solidFill>
            <a:prstDash val="solid"/>
          </a:ln>
        </p:spPr>
      </p:sp>
      <p:sp>
        <p:nvSpPr>
          <p:cNvPr id="44" name="Text 42"/>
          <p:cNvSpPr/>
          <p:nvPr/>
        </p:nvSpPr>
        <p:spPr>
          <a:xfrm>
            <a:off x="9482328" y="3447288"/>
            <a:ext cx="2459736" cy="384048"/>
          </a:xfrm>
          <a:prstGeom prst="rect">
            <a:avLst/>
          </a:prstGeom>
          <a:noFill/>
          <a:ln/>
        </p:spPr>
        <p:txBody>
          <a:bodyPr wrap="square" lIns="0" tIns="0" rIns="0" bIns="0" rtlCol="0" anchor="ctr"/>
          <a:lstStyle/>
          <a:p>
            <a:pPr algn="ctr" indent="0" marL="0">
              <a:lnSpc>
                <a:spcPct val="92000"/>
              </a:lnSpc>
              <a:buNone/>
            </a:pPr>
            <a:r>
              <a:rPr lang="en-US" sz="1050" dirty="0">
                <a:solidFill>
                  <a:srgbClr val="000000"/>
                </a:solidFill>
                <a:latin typeface="Arial" pitchFamily="34" charset="0"/>
                <a:ea typeface="Arial" pitchFamily="34" charset="-122"/>
                <a:cs typeface="Arial" pitchFamily="34" charset="-120"/>
              </a:rPr>
              <a:t>Network traffic visualizer</a:t>
            </a:r>
            <a:endParaRPr lang="en-US" sz="1050" dirty="0"/>
          </a:p>
        </p:txBody>
      </p:sp>
      <p:sp>
        <p:nvSpPr>
          <p:cNvPr id="45" name="Shape 43"/>
          <p:cNvSpPr/>
          <p:nvPr/>
        </p:nvSpPr>
        <p:spPr>
          <a:xfrm>
            <a:off x="9445752" y="3950208"/>
            <a:ext cx="2532888" cy="457200"/>
          </a:xfrm>
          <a:prstGeom prst="rect">
            <a:avLst/>
          </a:prstGeom>
          <a:solidFill>
            <a:srgbClr val="FFFFFF"/>
          </a:solidFill>
          <a:ln w="12700">
            <a:solidFill>
              <a:srgbClr val="000000"/>
            </a:solidFill>
            <a:prstDash val="solid"/>
          </a:ln>
        </p:spPr>
      </p:sp>
      <p:sp>
        <p:nvSpPr>
          <p:cNvPr id="46" name="Text 44"/>
          <p:cNvSpPr/>
          <p:nvPr/>
        </p:nvSpPr>
        <p:spPr>
          <a:xfrm>
            <a:off x="9482328" y="3950208"/>
            <a:ext cx="2459736" cy="457200"/>
          </a:xfrm>
          <a:prstGeom prst="rect">
            <a:avLst/>
          </a:prstGeom>
          <a:noFill/>
          <a:ln/>
        </p:spPr>
        <p:txBody>
          <a:bodyPr wrap="square" lIns="0" tIns="0" rIns="0" bIns="0" rtlCol="0" anchor="ctr"/>
          <a:lstStyle/>
          <a:p>
            <a:pPr algn="ctr" indent="0" marL="0">
              <a:lnSpc>
                <a:spcPct val="92000"/>
              </a:lnSpc>
              <a:buNone/>
            </a:pPr>
            <a:r>
              <a:rPr lang="en-US" sz="1050" dirty="0">
                <a:solidFill>
                  <a:srgbClr val="000000"/>
                </a:solidFill>
                <a:latin typeface="Arial" pitchFamily="34" charset="0"/>
                <a:ea typeface="Arial" pitchFamily="34" charset="-122"/>
                <a:cs typeface="Arial" pitchFamily="34" charset="-120"/>
              </a:rPr>
              <a:t>Web GUI (supporting intent inputs)</a:t>
            </a:r>
            <a:endParaRPr lang="en-US" sz="1050" dirty="0"/>
          </a:p>
        </p:txBody>
      </p:sp>
      <p:sp>
        <p:nvSpPr>
          <p:cNvPr id="47" name="Shape 45"/>
          <p:cNvSpPr/>
          <p:nvPr/>
        </p:nvSpPr>
        <p:spPr>
          <a:xfrm>
            <a:off x="9445752" y="4544568"/>
            <a:ext cx="2532888" cy="384048"/>
          </a:xfrm>
          <a:prstGeom prst="rect">
            <a:avLst/>
          </a:prstGeom>
          <a:solidFill>
            <a:srgbClr val="FFFFFF"/>
          </a:solidFill>
          <a:ln w="12700">
            <a:solidFill>
              <a:srgbClr val="000000"/>
            </a:solidFill>
            <a:prstDash val="solid"/>
          </a:ln>
        </p:spPr>
      </p:sp>
      <p:sp>
        <p:nvSpPr>
          <p:cNvPr id="48" name="Text 46"/>
          <p:cNvSpPr/>
          <p:nvPr/>
        </p:nvSpPr>
        <p:spPr>
          <a:xfrm>
            <a:off x="9482328" y="4544568"/>
            <a:ext cx="2459736" cy="384048"/>
          </a:xfrm>
          <a:prstGeom prst="rect">
            <a:avLst/>
          </a:prstGeom>
          <a:noFill/>
          <a:ln/>
        </p:spPr>
        <p:txBody>
          <a:bodyPr wrap="square" lIns="0" tIns="0" rIns="0" bIns="0" rtlCol="0" anchor="ctr"/>
          <a:lstStyle/>
          <a:p>
            <a:pPr algn="ctr" indent="0" marL="0">
              <a:lnSpc>
                <a:spcPct val="92000"/>
              </a:lnSpc>
              <a:buNone/>
            </a:pPr>
            <a:r>
              <a:rPr lang="en-US" sz="1050" dirty="0">
                <a:solidFill>
                  <a:srgbClr val="000000"/>
                </a:solidFill>
                <a:latin typeface="Arial" pitchFamily="34" charset="0"/>
                <a:ea typeface="Arial" pitchFamily="34" charset="-122"/>
                <a:cs typeface="Arial" pitchFamily="34" charset="-120"/>
              </a:rPr>
              <a:t>Network state recorder</a:t>
            </a:r>
            <a:endParaRPr lang="en-US" sz="1050" dirty="0"/>
          </a:p>
        </p:txBody>
      </p:sp>
      <p:sp>
        <p:nvSpPr>
          <p:cNvPr id="49" name="Shape 47"/>
          <p:cNvSpPr/>
          <p:nvPr/>
        </p:nvSpPr>
        <p:spPr>
          <a:xfrm>
            <a:off x="8805672" y="3355848"/>
            <a:ext cx="640080" cy="7315"/>
          </a:xfrm>
          <a:prstGeom prst="line">
            <a:avLst/>
          </a:prstGeom>
          <a:noFill/>
          <a:ln w="13970">
            <a:solidFill>
              <a:srgbClr val="000000"/>
            </a:solidFill>
            <a:prstDash val="solid"/>
            <a:headEnd type="triangle"/>
            <a:tailEnd type="triangle"/>
          </a:ln>
        </p:spPr>
      </p:sp>
      <p:sp>
        <p:nvSpPr>
          <p:cNvPr id="50" name="Shape 48"/>
          <p:cNvSpPr/>
          <p:nvPr/>
        </p:nvSpPr>
        <p:spPr>
          <a:xfrm>
            <a:off x="9427464" y="5779008"/>
            <a:ext cx="2532888" cy="457200"/>
          </a:xfrm>
          <a:prstGeom prst="rect">
            <a:avLst/>
          </a:prstGeom>
          <a:solidFill>
            <a:srgbClr val="FFFFFF"/>
          </a:solidFill>
          <a:ln w="12700">
            <a:solidFill>
              <a:srgbClr val="000000"/>
            </a:solidFill>
            <a:prstDash val="solid"/>
          </a:ln>
        </p:spPr>
      </p:sp>
      <p:sp>
        <p:nvSpPr>
          <p:cNvPr id="51" name="Text 49"/>
          <p:cNvSpPr/>
          <p:nvPr/>
        </p:nvSpPr>
        <p:spPr>
          <a:xfrm>
            <a:off x="9464040" y="5779008"/>
            <a:ext cx="2459736" cy="457200"/>
          </a:xfrm>
          <a:prstGeom prst="rect">
            <a:avLst/>
          </a:prstGeom>
          <a:noFill/>
          <a:ln/>
        </p:spPr>
        <p:txBody>
          <a:bodyPr wrap="square" lIns="0" tIns="0" rIns="0" bIns="0" rtlCol="0" anchor="ctr"/>
          <a:lstStyle/>
          <a:p>
            <a:pPr algn="ctr" indent="0" marL="0">
              <a:lnSpc>
                <a:spcPct val="92000"/>
              </a:lnSpc>
              <a:buNone/>
            </a:pPr>
            <a:r>
              <a:rPr lang="en-US" sz="1050" dirty="0">
                <a:solidFill>
                  <a:srgbClr val="000000"/>
                </a:solidFill>
                <a:latin typeface="Arial" pitchFamily="34" charset="0"/>
                <a:ea typeface="Arial" pitchFamily="34" charset="-122"/>
                <a:cs typeface="Arial" pitchFamily="34" charset="-120"/>
              </a:rPr>
              <a:t>Network traffic generator</a:t>
            </a:r>
            <a:endParaRPr lang="en-US" sz="1050" dirty="0"/>
          </a:p>
        </p:txBody>
      </p:sp>
      <p:sp>
        <p:nvSpPr>
          <p:cNvPr id="52" name="Shape 50"/>
          <p:cNvSpPr/>
          <p:nvPr/>
        </p:nvSpPr>
        <p:spPr>
          <a:xfrm>
            <a:off x="1417320" y="4864608"/>
            <a:ext cx="2194560" cy="384048"/>
          </a:xfrm>
          <a:prstGeom prst="rect">
            <a:avLst/>
          </a:prstGeom>
          <a:solidFill>
            <a:srgbClr val="FFFFFF"/>
          </a:solidFill>
          <a:ln w="12700">
            <a:solidFill>
              <a:srgbClr val="000000"/>
            </a:solidFill>
            <a:prstDash val="solid"/>
          </a:ln>
        </p:spPr>
      </p:sp>
      <p:sp>
        <p:nvSpPr>
          <p:cNvPr id="53" name="Text 51"/>
          <p:cNvSpPr/>
          <p:nvPr/>
        </p:nvSpPr>
        <p:spPr>
          <a:xfrm>
            <a:off x="1453896" y="4864608"/>
            <a:ext cx="2121408" cy="384048"/>
          </a:xfrm>
          <a:prstGeom prst="rect">
            <a:avLst/>
          </a:prstGeom>
          <a:noFill/>
          <a:ln/>
        </p:spPr>
        <p:txBody>
          <a:bodyPr wrap="square" lIns="0" tIns="0" rIns="0" bIns="0" rtlCol="0" anchor="ctr"/>
          <a:lstStyle/>
          <a:p>
            <a:pPr algn="ctr" indent="0" marL="0">
              <a:lnSpc>
                <a:spcPct val="92000"/>
              </a:lnSpc>
              <a:buNone/>
            </a:pPr>
            <a:r>
              <a:rPr lang="en-US" sz="1100" dirty="0">
                <a:solidFill>
                  <a:srgbClr val="000000"/>
                </a:solidFill>
                <a:latin typeface="Arial" pitchFamily="34" charset="0"/>
                <a:ea typeface="Arial" pitchFamily="34" charset="-122"/>
                <a:cs typeface="Arial" pitchFamily="34" charset="-120"/>
              </a:rPr>
              <a:t>SDN controller (Ryu)</a:t>
            </a:r>
            <a:endParaRPr lang="en-US" sz="1100" dirty="0"/>
          </a:p>
        </p:txBody>
      </p:sp>
      <p:sp>
        <p:nvSpPr>
          <p:cNvPr id="54" name="Shape 52"/>
          <p:cNvSpPr/>
          <p:nvPr/>
        </p:nvSpPr>
        <p:spPr>
          <a:xfrm>
            <a:off x="2514600" y="4535424"/>
            <a:ext cx="7315" cy="329184"/>
          </a:xfrm>
          <a:prstGeom prst="line">
            <a:avLst/>
          </a:prstGeom>
          <a:noFill/>
          <a:ln w="13970">
            <a:solidFill>
              <a:srgbClr val="000000"/>
            </a:solidFill>
            <a:prstDash val="solid"/>
            <a:headEnd type="triangle"/>
            <a:tailEnd type="triangle"/>
          </a:ln>
        </p:spPr>
      </p:sp>
      <p:sp>
        <p:nvSpPr>
          <p:cNvPr id="55" name="Shape 53"/>
          <p:cNvSpPr/>
          <p:nvPr/>
        </p:nvSpPr>
        <p:spPr>
          <a:xfrm>
            <a:off x="5349240" y="4864608"/>
            <a:ext cx="2377440" cy="384048"/>
          </a:xfrm>
          <a:prstGeom prst="rect">
            <a:avLst/>
          </a:prstGeom>
          <a:solidFill>
            <a:srgbClr val="FFFFFF"/>
          </a:solidFill>
          <a:ln w="22225">
            <a:solidFill>
              <a:srgbClr val="065A82"/>
            </a:solidFill>
            <a:prstDash val="solid"/>
          </a:ln>
        </p:spPr>
      </p:sp>
      <p:sp>
        <p:nvSpPr>
          <p:cNvPr id="56" name="Text 54"/>
          <p:cNvSpPr/>
          <p:nvPr/>
        </p:nvSpPr>
        <p:spPr>
          <a:xfrm>
            <a:off x="5385816" y="4864608"/>
            <a:ext cx="2304288" cy="384048"/>
          </a:xfrm>
          <a:prstGeom prst="rect">
            <a:avLst/>
          </a:prstGeom>
          <a:noFill/>
          <a:ln/>
        </p:spPr>
        <p:txBody>
          <a:bodyPr wrap="square" lIns="0" tIns="0" rIns="0" bIns="0" rtlCol="0" anchor="ctr"/>
          <a:lstStyle/>
          <a:p>
            <a:pPr algn="ctr" indent="0" marL="0">
              <a:lnSpc>
                <a:spcPct val="92000"/>
              </a:lnSpc>
              <a:buNone/>
            </a:pPr>
            <a:r>
              <a:rPr lang="en-US" sz="1100" b="1" dirty="0">
                <a:solidFill>
                  <a:srgbClr val="000000"/>
                </a:solidFill>
                <a:latin typeface="Arial" pitchFamily="34" charset="0"/>
                <a:ea typeface="Arial" pitchFamily="34" charset="-122"/>
                <a:cs typeface="Arial" pitchFamily="34" charset="-120"/>
              </a:rPr>
              <a:t>P4 proxy agent</a:t>
            </a:r>
            <a:endParaRPr lang="en-US" sz="1100" dirty="0"/>
          </a:p>
        </p:txBody>
      </p:sp>
      <p:sp>
        <p:nvSpPr>
          <p:cNvPr id="57" name="Text 55"/>
          <p:cNvSpPr/>
          <p:nvPr/>
        </p:nvSpPr>
        <p:spPr>
          <a:xfrm>
            <a:off x="7790688" y="4846320"/>
            <a:ext cx="822960" cy="219456"/>
          </a:xfrm>
          <a:prstGeom prst="rect">
            <a:avLst/>
          </a:prstGeom>
          <a:noFill/>
          <a:ln/>
        </p:spPr>
        <p:txBody>
          <a:bodyPr wrap="square" lIns="0" tIns="0" rIns="0" bIns="0" rtlCol="0" anchor="ctr"/>
          <a:lstStyle/>
          <a:p>
            <a:pPr algn="l" indent="0" marL="0">
              <a:lnSpc>
                <a:spcPct val="95000"/>
              </a:lnSpc>
              <a:buNone/>
            </a:pPr>
            <a:r>
              <a:rPr lang="en-US" sz="950" dirty="0">
                <a:solidFill>
                  <a:srgbClr val="065A82"/>
                </a:solidFill>
                <a:latin typeface="Arial" pitchFamily="34" charset="0"/>
                <a:ea typeface="Arial" pitchFamily="34" charset="-122"/>
                <a:cs typeface="Arial" pitchFamily="34" charset="-120"/>
              </a:rPr>
              <a:t>new</a:t>
            </a:r>
            <a:endParaRPr lang="en-US" sz="950" dirty="0"/>
          </a:p>
        </p:txBody>
      </p:sp>
      <p:sp>
        <p:nvSpPr>
          <p:cNvPr id="58" name="Shape 56"/>
          <p:cNvSpPr/>
          <p:nvPr/>
        </p:nvSpPr>
        <p:spPr>
          <a:xfrm>
            <a:off x="5897880" y="4535424"/>
            <a:ext cx="7315" cy="329184"/>
          </a:xfrm>
          <a:prstGeom prst="line">
            <a:avLst/>
          </a:prstGeom>
          <a:noFill/>
          <a:ln w="13970">
            <a:solidFill>
              <a:srgbClr val="000000"/>
            </a:solidFill>
            <a:prstDash val="solid"/>
            <a:headEnd type="triangle"/>
            <a:tailEnd type="triangle"/>
          </a:ln>
        </p:spPr>
      </p:sp>
      <p:sp>
        <p:nvSpPr>
          <p:cNvPr id="59" name="Text 57"/>
          <p:cNvSpPr/>
          <p:nvPr/>
        </p:nvSpPr>
        <p:spPr>
          <a:xfrm>
            <a:off x="4069080" y="4572000"/>
            <a:ext cx="1755648" cy="256032"/>
          </a:xfrm>
          <a:prstGeom prst="rect">
            <a:avLst/>
          </a:prstGeom>
          <a:noFill/>
          <a:ln/>
        </p:spPr>
        <p:txBody>
          <a:bodyPr wrap="square" lIns="0" tIns="0" rIns="0" bIns="0" rtlCol="0" anchor="ctr"/>
          <a:lstStyle/>
          <a:p>
            <a:pPr algn="r" indent="0" marL="0">
              <a:lnSpc>
                <a:spcPct val="95000"/>
              </a:lnSpc>
              <a:buNone/>
            </a:pPr>
            <a:r>
              <a:rPr lang="en-US" sz="850" dirty="0">
                <a:solidFill>
                  <a:srgbClr val="000000"/>
                </a:solidFill>
                <a:latin typeface="Arial" pitchFamily="34" charset="0"/>
                <a:ea typeface="Arial" pitchFamily="34" charset="-122"/>
                <a:cs typeface="Arial" pitchFamily="34" charset="-120"/>
              </a:rPr>
              <a:t>Ryu-compatible REST</a:t>
            </a:r>
            <a:endParaRPr lang="en-US" sz="850" dirty="0"/>
          </a:p>
        </p:txBody>
      </p:sp>
      <p:sp>
        <p:nvSpPr>
          <p:cNvPr id="60" name="Shape 58"/>
          <p:cNvSpPr/>
          <p:nvPr/>
        </p:nvSpPr>
        <p:spPr>
          <a:xfrm flipV="1">
            <a:off x="7269480" y="4535424"/>
            <a:ext cx="7315" cy="329184"/>
          </a:xfrm>
          <a:prstGeom prst="line">
            <a:avLst/>
          </a:prstGeom>
          <a:noFill/>
          <a:ln w="13970">
            <a:solidFill>
              <a:srgbClr val="000000"/>
            </a:solidFill>
            <a:prstDash val="solid"/>
            <a:tailEnd type="triangle"/>
          </a:ln>
        </p:spPr>
      </p:sp>
      <p:sp>
        <p:nvSpPr>
          <p:cNvPr id="61" name="Text 59"/>
          <p:cNvSpPr/>
          <p:nvPr/>
        </p:nvSpPr>
        <p:spPr>
          <a:xfrm>
            <a:off x="7370064" y="4572000"/>
            <a:ext cx="1737360" cy="256032"/>
          </a:xfrm>
          <a:prstGeom prst="rect">
            <a:avLst/>
          </a:prstGeom>
          <a:noFill/>
          <a:ln/>
        </p:spPr>
        <p:txBody>
          <a:bodyPr wrap="square" lIns="0" tIns="0" rIns="0" bIns="0" rtlCol="0" anchor="ctr"/>
          <a:lstStyle/>
          <a:p>
            <a:pPr algn="l" indent="0" marL="0">
              <a:lnSpc>
                <a:spcPct val="95000"/>
              </a:lnSpc>
              <a:buNone/>
            </a:pPr>
            <a:r>
              <a:rPr lang="en-US" sz="850" dirty="0">
                <a:solidFill>
                  <a:srgbClr val="065A82"/>
                </a:solidFill>
                <a:latin typeface="Arial" pitchFamily="34" charset="0"/>
                <a:ea typeface="Arial" pitchFamily="34" charset="-122"/>
                <a:cs typeface="Arial" pitchFamily="34" charset="-120"/>
              </a:rPr>
              <a:t>sFlow (synthesised)</a:t>
            </a:r>
            <a:endParaRPr lang="en-US" sz="850" dirty="0"/>
          </a:p>
        </p:txBody>
      </p:sp>
      <p:sp>
        <p:nvSpPr>
          <p:cNvPr id="62" name="Shape 60"/>
          <p:cNvSpPr/>
          <p:nvPr/>
        </p:nvSpPr>
        <p:spPr>
          <a:xfrm flipV="1">
            <a:off x="868680" y="4535424"/>
            <a:ext cx="7315" cy="1225296"/>
          </a:xfrm>
          <a:prstGeom prst="line">
            <a:avLst/>
          </a:prstGeom>
          <a:noFill/>
          <a:ln w="13970">
            <a:solidFill>
              <a:srgbClr val="000000"/>
            </a:solidFill>
            <a:prstDash val="solid"/>
            <a:tailEnd type="triangle"/>
          </a:ln>
        </p:spPr>
      </p:sp>
      <p:sp>
        <p:nvSpPr>
          <p:cNvPr id="63" name="Text 61"/>
          <p:cNvSpPr/>
          <p:nvPr/>
        </p:nvSpPr>
        <p:spPr>
          <a:xfrm>
            <a:off x="969264" y="4901184"/>
            <a:ext cx="822960" cy="274320"/>
          </a:xfrm>
          <a:prstGeom prst="rect">
            <a:avLst/>
          </a:prstGeom>
          <a:noFill/>
          <a:ln/>
        </p:spPr>
        <p:txBody>
          <a:bodyPr wrap="square" lIns="0" tIns="0" rIns="0" bIns="0" rtlCol="0" anchor="ctr"/>
          <a:lstStyle/>
          <a:p>
            <a:pPr algn="l" indent="0" marL="0">
              <a:lnSpc>
                <a:spcPct val="95000"/>
              </a:lnSpc>
              <a:buNone/>
            </a:pPr>
            <a:r>
              <a:rPr lang="en-US" sz="1100" dirty="0">
                <a:solidFill>
                  <a:srgbClr val="000000"/>
                </a:solidFill>
                <a:latin typeface="Arial" pitchFamily="34" charset="0"/>
                <a:ea typeface="Arial" pitchFamily="34" charset="-122"/>
                <a:cs typeface="Arial" pitchFamily="34" charset="-120"/>
              </a:rPr>
              <a:t>sFlow</a:t>
            </a:r>
            <a:endParaRPr lang="en-US" sz="1100" dirty="0"/>
          </a:p>
        </p:txBody>
      </p:sp>
      <p:sp>
        <p:nvSpPr>
          <p:cNvPr id="64" name="Shape 62"/>
          <p:cNvSpPr/>
          <p:nvPr/>
        </p:nvSpPr>
        <p:spPr>
          <a:xfrm>
            <a:off x="2514600" y="5248656"/>
            <a:ext cx="7315" cy="512064"/>
          </a:xfrm>
          <a:prstGeom prst="line">
            <a:avLst/>
          </a:prstGeom>
          <a:noFill/>
          <a:ln w="13970">
            <a:solidFill>
              <a:srgbClr val="000000"/>
            </a:solidFill>
            <a:prstDash val="solid"/>
            <a:tailEnd type="triangle"/>
          </a:ln>
        </p:spPr>
      </p:sp>
      <p:sp>
        <p:nvSpPr>
          <p:cNvPr id="65" name="Text 63"/>
          <p:cNvSpPr/>
          <p:nvPr/>
        </p:nvSpPr>
        <p:spPr>
          <a:xfrm>
            <a:off x="2615184" y="5431536"/>
            <a:ext cx="960120" cy="274320"/>
          </a:xfrm>
          <a:prstGeom prst="rect">
            <a:avLst/>
          </a:prstGeom>
          <a:noFill/>
          <a:ln/>
        </p:spPr>
        <p:txBody>
          <a:bodyPr wrap="square" lIns="0" tIns="0" rIns="0" bIns="0" rtlCol="0" anchor="ctr"/>
          <a:lstStyle/>
          <a:p>
            <a:pPr algn="l" indent="0" marL="0">
              <a:lnSpc>
                <a:spcPct val="95000"/>
              </a:lnSpc>
              <a:buNone/>
            </a:pPr>
            <a:r>
              <a:rPr lang="en-US" sz="1050" dirty="0">
                <a:solidFill>
                  <a:srgbClr val="000000"/>
                </a:solidFill>
                <a:latin typeface="Arial" pitchFamily="34" charset="0"/>
                <a:ea typeface="Arial" pitchFamily="34" charset="-122"/>
                <a:cs typeface="Arial" pitchFamily="34" charset="-120"/>
              </a:rPr>
              <a:t>OpenFlow</a:t>
            </a:r>
            <a:endParaRPr lang="en-US" sz="1050" dirty="0"/>
          </a:p>
        </p:txBody>
      </p:sp>
      <p:sp>
        <p:nvSpPr>
          <p:cNvPr id="66" name="Shape 64"/>
          <p:cNvSpPr/>
          <p:nvPr/>
        </p:nvSpPr>
        <p:spPr>
          <a:xfrm>
            <a:off x="6537960" y="5248656"/>
            <a:ext cx="7315" cy="512064"/>
          </a:xfrm>
          <a:prstGeom prst="line">
            <a:avLst/>
          </a:prstGeom>
          <a:noFill/>
          <a:ln w="13970">
            <a:solidFill>
              <a:srgbClr val="065A82"/>
            </a:solidFill>
            <a:prstDash val="solid"/>
            <a:tailEnd type="triangle"/>
          </a:ln>
        </p:spPr>
      </p:sp>
      <p:sp>
        <p:nvSpPr>
          <p:cNvPr id="67" name="Text 65"/>
          <p:cNvSpPr/>
          <p:nvPr/>
        </p:nvSpPr>
        <p:spPr>
          <a:xfrm>
            <a:off x="6638544" y="5431536"/>
            <a:ext cx="1097280" cy="274320"/>
          </a:xfrm>
          <a:prstGeom prst="rect">
            <a:avLst/>
          </a:prstGeom>
          <a:noFill/>
          <a:ln/>
        </p:spPr>
        <p:txBody>
          <a:bodyPr wrap="square" lIns="0" tIns="0" rIns="0" bIns="0" rtlCol="0" anchor="ctr"/>
          <a:lstStyle/>
          <a:p>
            <a:pPr algn="l" indent="0" marL="0">
              <a:lnSpc>
                <a:spcPct val="95000"/>
              </a:lnSpc>
              <a:buNone/>
            </a:pPr>
            <a:r>
              <a:rPr lang="en-US" sz="1050" dirty="0">
                <a:solidFill>
                  <a:srgbClr val="065A82"/>
                </a:solidFill>
                <a:latin typeface="Arial" pitchFamily="34" charset="0"/>
                <a:ea typeface="Arial" pitchFamily="34" charset="-122"/>
                <a:cs typeface="Arial" pitchFamily="34" charset="-120"/>
              </a:rPr>
              <a:t>P4Runtime</a:t>
            </a:r>
            <a:endParaRPr lang="en-US" sz="1050" dirty="0"/>
          </a:p>
        </p:txBody>
      </p:sp>
      <p:sp>
        <p:nvSpPr>
          <p:cNvPr id="68" name="Shape 66"/>
          <p:cNvSpPr/>
          <p:nvPr/>
        </p:nvSpPr>
        <p:spPr>
          <a:xfrm>
            <a:off x="0" y="5358384"/>
            <a:ext cx="9189720" cy="3658"/>
          </a:xfrm>
          <a:prstGeom prst="line">
            <a:avLst/>
          </a:prstGeom>
          <a:noFill/>
          <a:ln w="12700">
            <a:solidFill>
              <a:srgbClr val="808080"/>
            </a:solidFill>
            <a:prstDash val="dash"/>
          </a:ln>
        </p:spPr>
      </p:sp>
      <p:sp>
        <p:nvSpPr>
          <p:cNvPr id="69" name="Shape 67"/>
          <p:cNvSpPr/>
          <p:nvPr/>
        </p:nvSpPr>
        <p:spPr>
          <a:xfrm>
            <a:off x="320040" y="5760720"/>
            <a:ext cx="3703320" cy="1005840"/>
          </a:xfrm>
          <a:prstGeom prst="cloud">
            <a:avLst/>
          </a:prstGeom>
          <a:solidFill>
            <a:srgbClr val="FFFFFF"/>
          </a:solidFill>
          <a:ln w="12700">
            <a:solidFill>
              <a:srgbClr val="000000"/>
            </a:solidFill>
            <a:prstDash val="solid"/>
          </a:ln>
        </p:spPr>
      </p:sp>
      <p:sp>
        <p:nvSpPr>
          <p:cNvPr id="70" name="Text 68"/>
          <p:cNvSpPr/>
          <p:nvPr/>
        </p:nvSpPr>
        <p:spPr>
          <a:xfrm>
            <a:off x="54864" y="5413248"/>
            <a:ext cx="1737360" cy="475488"/>
          </a:xfrm>
          <a:prstGeom prst="rect">
            <a:avLst/>
          </a:prstGeom>
          <a:noFill/>
          <a:ln/>
        </p:spPr>
        <p:txBody>
          <a:bodyPr wrap="square" lIns="0" tIns="0" rIns="0" bIns="0" rtlCol="0" anchor="ctr"/>
          <a:lstStyle/>
          <a:p>
            <a:pPr algn="l" indent="0" marL="0">
              <a:lnSpc>
                <a:spcPct val="95000"/>
              </a:lnSpc>
              <a:buNone/>
            </a:pPr>
            <a:r>
              <a:rPr lang="en-US" sz="1100" dirty="0">
                <a:solidFill>
                  <a:srgbClr val="000000"/>
                </a:solidFill>
                <a:latin typeface="Arial" pitchFamily="34" charset="0"/>
                <a:ea typeface="Arial" pitchFamily="34" charset="-122"/>
                <a:cs typeface="Arial" pitchFamily="34" charset="-120"/>
              </a:rPr>
              <a:t>Emulated Network</a:t>
            </a:r>
            <a:endParaRPr lang="en-US" sz="1100" dirty="0"/>
          </a:p>
          <a:p>
            <a:pPr algn="l" indent="0" marL="0">
              <a:lnSpc>
                <a:spcPct val="95000"/>
              </a:lnSpc>
              <a:buNone/>
            </a:pPr>
            <a:r>
              <a:rPr lang="en-US" sz="1100" dirty="0">
                <a:solidFill>
                  <a:srgbClr val="000000"/>
                </a:solidFill>
                <a:latin typeface="Arial" pitchFamily="34" charset="0"/>
                <a:ea typeface="Arial" pitchFamily="34" charset="-122"/>
                <a:cs typeface="Arial" pitchFamily="34" charset="-120"/>
              </a:rPr>
              <a:t>(Mininet)</a:t>
            </a:r>
            <a:endParaRPr lang="en-US" sz="1100" dirty="0"/>
          </a:p>
        </p:txBody>
      </p:sp>
      <p:sp>
        <p:nvSpPr>
          <p:cNvPr id="71" name="Shape 69"/>
          <p:cNvSpPr/>
          <p:nvPr/>
        </p:nvSpPr>
        <p:spPr>
          <a:xfrm>
            <a:off x="804672" y="5989320"/>
            <a:ext cx="658368" cy="420624"/>
          </a:xfrm>
          <a:prstGeom prst="rect">
            <a:avLst/>
          </a:prstGeom>
          <a:solidFill>
            <a:srgbClr val="FFFFFF"/>
          </a:solidFill>
          <a:ln w="12700">
            <a:solidFill>
              <a:srgbClr val="000000"/>
            </a:solidFill>
            <a:prstDash val="solid"/>
          </a:ln>
        </p:spPr>
      </p:sp>
      <p:sp>
        <p:nvSpPr>
          <p:cNvPr id="72" name="Text 70"/>
          <p:cNvSpPr/>
          <p:nvPr/>
        </p:nvSpPr>
        <p:spPr>
          <a:xfrm>
            <a:off x="841248" y="5989320"/>
            <a:ext cx="585216" cy="420624"/>
          </a:xfrm>
          <a:prstGeom prst="rect">
            <a:avLst/>
          </a:prstGeom>
          <a:noFill/>
          <a:ln/>
        </p:spPr>
        <p:txBody>
          <a:bodyPr wrap="square" lIns="0" tIns="0" rIns="0" bIns="0" rtlCol="0" anchor="ctr"/>
          <a:lstStyle/>
          <a:p>
            <a:pPr algn="ctr" indent="0" marL="0">
              <a:lnSpc>
                <a:spcPct val="92000"/>
              </a:lnSpc>
              <a:buNone/>
            </a:pPr>
            <a:r>
              <a:rPr lang="en-US" sz="900" dirty="0">
                <a:solidFill>
                  <a:srgbClr val="000000"/>
                </a:solidFill>
                <a:latin typeface="Arial" pitchFamily="34" charset="0"/>
                <a:ea typeface="Arial" pitchFamily="34" charset="-122"/>
                <a:cs typeface="Arial" pitchFamily="34" charset="-120"/>
              </a:rPr>
              <a:t>Open vSwitch</a:t>
            </a:r>
            <a:endParaRPr lang="en-US" sz="900" dirty="0"/>
          </a:p>
        </p:txBody>
      </p:sp>
      <p:sp>
        <p:nvSpPr>
          <p:cNvPr id="73" name="Shape 71"/>
          <p:cNvSpPr/>
          <p:nvPr/>
        </p:nvSpPr>
        <p:spPr>
          <a:xfrm>
            <a:off x="1810512" y="6163056"/>
            <a:ext cx="713232" cy="420624"/>
          </a:xfrm>
          <a:prstGeom prst="rect">
            <a:avLst/>
          </a:prstGeom>
          <a:solidFill>
            <a:srgbClr val="FFFFFF"/>
          </a:solidFill>
          <a:ln w="12700">
            <a:solidFill>
              <a:srgbClr val="000000"/>
            </a:solidFill>
            <a:prstDash val="solid"/>
          </a:ln>
        </p:spPr>
      </p:sp>
      <p:sp>
        <p:nvSpPr>
          <p:cNvPr id="74" name="Text 72"/>
          <p:cNvSpPr/>
          <p:nvPr/>
        </p:nvSpPr>
        <p:spPr>
          <a:xfrm>
            <a:off x="1847088" y="6163056"/>
            <a:ext cx="640080" cy="420624"/>
          </a:xfrm>
          <a:prstGeom prst="rect">
            <a:avLst/>
          </a:prstGeom>
          <a:noFill/>
          <a:ln/>
        </p:spPr>
        <p:txBody>
          <a:bodyPr wrap="square" lIns="0" tIns="0" rIns="0" bIns="0" rtlCol="0" anchor="ctr"/>
          <a:lstStyle/>
          <a:p>
            <a:pPr algn="ctr" indent="0" marL="0">
              <a:lnSpc>
                <a:spcPct val="92000"/>
              </a:lnSpc>
              <a:buNone/>
            </a:pPr>
            <a:r>
              <a:rPr lang="en-US" sz="900" dirty="0">
                <a:solidFill>
                  <a:srgbClr val="000000"/>
                </a:solidFill>
                <a:latin typeface="Arial" pitchFamily="34" charset="0"/>
                <a:ea typeface="Arial" pitchFamily="34" charset="-122"/>
                <a:cs typeface="Arial" pitchFamily="34" charset="-120"/>
              </a:rPr>
              <a:t>Open vSwitch</a:t>
            </a:r>
            <a:endParaRPr lang="en-US" sz="900" dirty="0"/>
          </a:p>
        </p:txBody>
      </p:sp>
      <p:sp>
        <p:nvSpPr>
          <p:cNvPr id="75" name="Shape 73"/>
          <p:cNvSpPr/>
          <p:nvPr/>
        </p:nvSpPr>
        <p:spPr>
          <a:xfrm>
            <a:off x="2788920" y="5879592"/>
            <a:ext cx="731520" cy="420624"/>
          </a:xfrm>
          <a:prstGeom prst="rect">
            <a:avLst/>
          </a:prstGeom>
          <a:solidFill>
            <a:srgbClr val="FFFFFF"/>
          </a:solidFill>
          <a:ln w="12700">
            <a:solidFill>
              <a:srgbClr val="000000"/>
            </a:solidFill>
            <a:prstDash val="solid"/>
          </a:ln>
        </p:spPr>
      </p:sp>
      <p:sp>
        <p:nvSpPr>
          <p:cNvPr id="76" name="Text 74"/>
          <p:cNvSpPr/>
          <p:nvPr/>
        </p:nvSpPr>
        <p:spPr>
          <a:xfrm>
            <a:off x="2825496" y="5879592"/>
            <a:ext cx="658368" cy="420624"/>
          </a:xfrm>
          <a:prstGeom prst="rect">
            <a:avLst/>
          </a:prstGeom>
          <a:noFill/>
          <a:ln/>
        </p:spPr>
        <p:txBody>
          <a:bodyPr wrap="square" lIns="0" tIns="0" rIns="0" bIns="0" rtlCol="0" anchor="ctr"/>
          <a:lstStyle/>
          <a:p>
            <a:pPr algn="ctr" indent="0" marL="0">
              <a:lnSpc>
                <a:spcPct val="92000"/>
              </a:lnSpc>
              <a:buNone/>
            </a:pPr>
            <a:r>
              <a:rPr lang="en-US" sz="900" dirty="0">
                <a:solidFill>
                  <a:srgbClr val="000000"/>
                </a:solidFill>
                <a:latin typeface="Arial" pitchFamily="34" charset="0"/>
                <a:ea typeface="Arial" pitchFamily="34" charset="-122"/>
                <a:cs typeface="Arial" pitchFamily="34" charset="-120"/>
              </a:rPr>
              <a:t>Open vSwitch</a:t>
            </a:r>
            <a:endParaRPr lang="en-US" sz="900" dirty="0"/>
          </a:p>
        </p:txBody>
      </p:sp>
      <p:sp>
        <p:nvSpPr>
          <p:cNvPr id="77" name="Shape 75"/>
          <p:cNvSpPr/>
          <p:nvPr/>
        </p:nvSpPr>
        <p:spPr>
          <a:xfrm>
            <a:off x="1463040" y="6254496"/>
            <a:ext cx="347472" cy="91440"/>
          </a:xfrm>
          <a:prstGeom prst="line">
            <a:avLst/>
          </a:prstGeom>
          <a:noFill/>
          <a:ln w="15240">
            <a:solidFill>
              <a:srgbClr val="000000"/>
            </a:solidFill>
            <a:prstDash val="solid"/>
          </a:ln>
        </p:spPr>
      </p:sp>
      <p:sp>
        <p:nvSpPr>
          <p:cNvPr id="78" name="Shape 76"/>
          <p:cNvSpPr/>
          <p:nvPr/>
        </p:nvSpPr>
        <p:spPr>
          <a:xfrm>
            <a:off x="1463040" y="5989320"/>
            <a:ext cx="1325880" cy="128016"/>
          </a:xfrm>
          <a:prstGeom prst="line">
            <a:avLst/>
          </a:prstGeom>
          <a:noFill/>
          <a:ln w="15240">
            <a:solidFill>
              <a:srgbClr val="000000"/>
            </a:solidFill>
            <a:prstDash val="solid"/>
          </a:ln>
        </p:spPr>
      </p:sp>
      <p:sp>
        <p:nvSpPr>
          <p:cNvPr id="79" name="Shape 77"/>
          <p:cNvSpPr/>
          <p:nvPr/>
        </p:nvSpPr>
        <p:spPr>
          <a:xfrm flipV="1">
            <a:off x="2523744" y="6089904"/>
            <a:ext cx="265176" cy="256032"/>
          </a:xfrm>
          <a:prstGeom prst="line">
            <a:avLst/>
          </a:prstGeom>
          <a:noFill/>
          <a:ln w="15240">
            <a:solidFill>
              <a:srgbClr val="000000"/>
            </a:solidFill>
            <a:prstDash val="solid"/>
          </a:ln>
        </p:spPr>
      </p:sp>
      <p:sp>
        <p:nvSpPr>
          <p:cNvPr id="80" name="Text 78"/>
          <p:cNvSpPr/>
          <p:nvPr/>
        </p:nvSpPr>
        <p:spPr>
          <a:xfrm>
            <a:off x="4160520" y="5907024"/>
            <a:ext cx="548640" cy="457200"/>
          </a:xfrm>
          <a:prstGeom prst="rect">
            <a:avLst/>
          </a:prstGeom>
          <a:noFill/>
          <a:ln/>
        </p:spPr>
        <p:txBody>
          <a:bodyPr wrap="square" lIns="0" tIns="0" rIns="0" bIns="0" rtlCol="0" anchor="ctr"/>
          <a:lstStyle/>
          <a:p>
            <a:pPr algn="ctr" indent="0" marL="0">
              <a:lnSpc>
                <a:spcPct val="95000"/>
              </a:lnSpc>
              <a:buNone/>
            </a:pPr>
            <a:r>
              <a:rPr lang="en-US" sz="1300" dirty="0">
                <a:solidFill>
                  <a:srgbClr val="000000"/>
                </a:solidFill>
                <a:latin typeface="Arial" pitchFamily="34" charset="0"/>
                <a:ea typeface="Arial" pitchFamily="34" charset="-122"/>
                <a:cs typeface="Arial" pitchFamily="34" charset="-120"/>
              </a:rPr>
              <a:t>or</a:t>
            </a:r>
            <a:endParaRPr lang="en-US" sz="1300" dirty="0"/>
          </a:p>
        </p:txBody>
      </p:sp>
      <p:sp>
        <p:nvSpPr>
          <p:cNvPr id="81" name="Shape 79"/>
          <p:cNvSpPr/>
          <p:nvPr/>
        </p:nvSpPr>
        <p:spPr>
          <a:xfrm>
            <a:off x="4846320" y="5760720"/>
            <a:ext cx="3703320" cy="1005840"/>
          </a:xfrm>
          <a:prstGeom prst="cloud">
            <a:avLst/>
          </a:prstGeom>
          <a:solidFill>
            <a:srgbClr val="FFFFFF"/>
          </a:solidFill>
          <a:ln w="12700">
            <a:solidFill>
              <a:srgbClr val="000000"/>
            </a:solidFill>
            <a:prstDash val="solid"/>
          </a:ln>
        </p:spPr>
      </p:sp>
      <p:sp>
        <p:nvSpPr>
          <p:cNvPr id="82" name="Text 80"/>
          <p:cNvSpPr/>
          <p:nvPr/>
        </p:nvSpPr>
        <p:spPr>
          <a:xfrm>
            <a:off x="7635240" y="5413248"/>
            <a:ext cx="1481328" cy="475488"/>
          </a:xfrm>
          <a:prstGeom prst="rect">
            <a:avLst/>
          </a:prstGeom>
          <a:noFill/>
          <a:ln/>
        </p:spPr>
        <p:txBody>
          <a:bodyPr wrap="square" lIns="0" tIns="0" rIns="0" bIns="0" rtlCol="0" anchor="ctr"/>
          <a:lstStyle/>
          <a:p>
            <a:pPr algn="l" indent="0" marL="0">
              <a:lnSpc>
                <a:spcPct val="95000"/>
              </a:lnSpc>
              <a:buNone/>
            </a:pPr>
            <a:r>
              <a:rPr lang="en-US" sz="1100" dirty="0">
                <a:solidFill>
                  <a:srgbClr val="065A82"/>
                </a:solidFill>
                <a:latin typeface="Arial" pitchFamily="34" charset="0"/>
                <a:ea typeface="Arial" pitchFamily="34" charset="-122"/>
                <a:cs typeface="Arial" pitchFamily="34" charset="-120"/>
              </a:rPr>
              <a:t>Emulated Network</a:t>
            </a:r>
            <a:endParaRPr lang="en-US" sz="1100" dirty="0"/>
          </a:p>
          <a:p>
            <a:pPr algn="l" indent="0" marL="0">
              <a:lnSpc>
                <a:spcPct val="95000"/>
              </a:lnSpc>
              <a:buNone/>
            </a:pPr>
            <a:r>
              <a:rPr lang="en-US" sz="1100" dirty="0">
                <a:solidFill>
                  <a:srgbClr val="065A82"/>
                </a:solidFill>
                <a:latin typeface="Arial" pitchFamily="34" charset="0"/>
                <a:ea typeface="Arial" pitchFamily="34" charset="-122"/>
                <a:cs typeface="Arial" pitchFamily="34" charset="-120"/>
              </a:rPr>
              <a:t>(Mininet, bmv2)</a:t>
            </a:r>
            <a:endParaRPr lang="en-US" sz="1100" dirty="0"/>
          </a:p>
        </p:txBody>
      </p:sp>
      <p:sp>
        <p:nvSpPr>
          <p:cNvPr id="83" name="Shape 81"/>
          <p:cNvSpPr/>
          <p:nvPr/>
        </p:nvSpPr>
        <p:spPr>
          <a:xfrm>
            <a:off x="5321808" y="5989320"/>
            <a:ext cx="713232" cy="420624"/>
          </a:xfrm>
          <a:prstGeom prst="rect">
            <a:avLst/>
          </a:prstGeom>
          <a:solidFill>
            <a:srgbClr val="FFFFFF"/>
          </a:solidFill>
          <a:ln w="19050">
            <a:solidFill>
              <a:srgbClr val="065A82"/>
            </a:solidFill>
            <a:prstDash val="solid"/>
          </a:ln>
        </p:spPr>
      </p:sp>
      <p:sp>
        <p:nvSpPr>
          <p:cNvPr id="84" name="Text 82"/>
          <p:cNvSpPr/>
          <p:nvPr/>
        </p:nvSpPr>
        <p:spPr>
          <a:xfrm>
            <a:off x="5358384" y="5989320"/>
            <a:ext cx="640080" cy="420624"/>
          </a:xfrm>
          <a:prstGeom prst="rect">
            <a:avLst/>
          </a:prstGeom>
          <a:noFill/>
          <a:ln/>
        </p:spPr>
        <p:txBody>
          <a:bodyPr wrap="square" lIns="0" tIns="0" rIns="0" bIns="0" rtlCol="0" anchor="ctr"/>
          <a:lstStyle/>
          <a:p>
            <a:pPr algn="ctr" indent="0" marL="0">
              <a:lnSpc>
                <a:spcPct val="92000"/>
              </a:lnSpc>
              <a:buNone/>
            </a:pPr>
            <a:r>
              <a:rPr lang="en-US" sz="900" dirty="0">
                <a:solidFill>
                  <a:srgbClr val="000000"/>
                </a:solidFill>
                <a:latin typeface="Arial" pitchFamily="34" charset="0"/>
                <a:ea typeface="Arial" pitchFamily="34" charset="-122"/>
                <a:cs typeface="Arial" pitchFamily="34" charset="-120"/>
              </a:rPr>
              <a:t>bmv2 switch</a:t>
            </a:r>
            <a:endParaRPr lang="en-US" sz="900" dirty="0"/>
          </a:p>
        </p:txBody>
      </p:sp>
      <p:sp>
        <p:nvSpPr>
          <p:cNvPr id="85" name="Shape 83"/>
          <p:cNvSpPr/>
          <p:nvPr/>
        </p:nvSpPr>
        <p:spPr>
          <a:xfrm>
            <a:off x="6355080" y="6163056"/>
            <a:ext cx="713232" cy="420624"/>
          </a:xfrm>
          <a:prstGeom prst="rect">
            <a:avLst/>
          </a:prstGeom>
          <a:solidFill>
            <a:srgbClr val="FFFFFF"/>
          </a:solidFill>
          <a:ln w="19050">
            <a:solidFill>
              <a:srgbClr val="065A82"/>
            </a:solidFill>
            <a:prstDash val="solid"/>
          </a:ln>
        </p:spPr>
      </p:sp>
      <p:sp>
        <p:nvSpPr>
          <p:cNvPr id="86" name="Text 84"/>
          <p:cNvSpPr/>
          <p:nvPr/>
        </p:nvSpPr>
        <p:spPr>
          <a:xfrm>
            <a:off x="6391656" y="6163056"/>
            <a:ext cx="640080" cy="420624"/>
          </a:xfrm>
          <a:prstGeom prst="rect">
            <a:avLst/>
          </a:prstGeom>
          <a:noFill/>
          <a:ln/>
        </p:spPr>
        <p:txBody>
          <a:bodyPr wrap="square" lIns="0" tIns="0" rIns="0" bIns="0" rtlCol="0" anchor="ctr"/>
          <a:lstStyle/>
          <a:p>
            <a:pPr algn="ctr" indent="0" marL="0">
              <a:lnSpc>
                <a:spcPct val="92000"/>
              </a:lnSpc>
              <a:buNone/>
            </a:pPr>
            <a:r>
              <a:rPr lang="en-US" sz="900" dirty="0">
                <a:solidFill>
                  <a:srgbClr val="000000"/>
                </a:solidFill>
                <a:latin typeface="Arial" pitchFamily="34" charset="0"/>
                <a:ea typeface="Arial" pitchFamily="34" charset="-122"/>
                <a:cs typeface="Arial" pitchFamily="34" charset="-120"/>
              </a:rPr>
              <a:t>bmv2 switch</a:t>
            </a:r>
            <a:endParaRPr lang="en-US" sz="900" dirty="0"/>
          </a:p>
        </p:txBody>
      </p:sp>
      <p:sp>
        <p:nvSpPr>
          <p:cNvPr id="87" name="Shape 85"/>
          <p:cNvSpPr/>
          <p:nvPr/>
        </p:nvSpPr>
        <p:spPr>
          <a:xfrm>
            <a:off x="7333488" y="5879592"/>
            <a:ext cx="713232" cy="420624"/>
          </a:xfrm>
          <a:prstGeom prst="rect">
            <a:avLst/>
          </a:prstGeom>
          <a:solidFill>
            <a:srgbClr val="FFFFFF"/>
          </a:solidFill>
          <a:ln w="19050">
            <a:solidFill>
              <a:srgbClr val="065A82"/>
            </a:solidFill>
            <a:prstDash val="solid"/>
          </a:ln>
        </p:spPr>
      </p:sp>
      <p:sp>
        <p:nvSpPr>
          <p:cNvPr id="88" name="Text 86"/>
          <p:cNvSpPr/>
          <p:nvPr/>
        </p:nvSpPr>
        <p:spPr>
          <a:xfrm>
            <a:off x="7370064" y="5879592"/>
            <a:ext cx="640080" cy="420624"/>
          </a:xfrm>
          <a:prstGeom prst="rect">
            <a:avLst/>
          </a:prstGeom>
          <a:noFill/>
          <a:ln/>
        </p:spPr>
        <p:txBody>
          <a:bodyPr wrap="square" lIns="0" tIns="0" rIns="0" bIns="0" rtlCol="0" anchor="ctr"/>
          <a:lstStyle/>
          <a:p>
            <a:pPr algn="ctr" indent="0" marL="0">
              <a:lnSpc>
                <a:spcPct val="92000"/>
              </a:lnSpc>
              <a:buNone/>
            </a:pPr>
            <a:r>
              <a:rPr lang="en-US" sz="900" dirty="0">
                <a:solidFill>
                  <a:srgbClr val="000000"/>
                </a:solidFill>
                <a:latin typeface="Arial" pitchFamily="34" charset="0"/>
                <a:ea typeface="Arial" pitchFamily="34" charset="-122"/>
                <a:cs typeface="Arial" pitchFamily="34" charset="-120"/>
              </a:rPr>
              <a:t>bmv2 switch</a:t>
            </a:r>
            <a:endParaRPr lang="en-US" sz="900" dirty="0"/>
          </a:p>
        </p:txBody>
      </p:sp>
      <p:sp>
        <p:nvSpPr>
          <p:cNvPr id="89" name="Shape 87"/>
          <p:cNvSpPr/>
          <p:nvPr/>
        </p:nvSpPr>
        <p:spPr>
          <a:xfrm>
            <a:off x="6035040" y="6254496"/>
            <a:ext cx="320040" cy="91440"/>
          </a:xfrm>
          <a:prstGeom prst="line">
            <a:avLst/>
          </a:prstGeom>
          <a:noFill/>
          <a:ln w="15240">
            <a:solidFill>
              <a:srgbClr val="000000"/>
            </a:solidFill>
            <a:prstDash val="solid"/>
          </a:ln>
        </p:spPr>
      </p:sp>
      <p:sp>
        <p:nvSpPr>
          <p:cNvPr id="90" name="Shape 88"/>
          <p:cNvSpPr/>
          <p:nvPr/>
        </p:nvSpPr>
        <p:spPr>
          <a:xfrm>
            <a:off x="6035040" y="5989320"/>
            <a:ext cx="1298448" cy="128016"/>
          </a:xfrm>
          <a:prstGeom prst="line">
            <a:avLst/>
          </a:prstGeom>
          <a:noFill/>
          <a:ln w="15240">
            <a:solidFill>
              <a:srgbClr val="000000"/>
            </a:solidFill>
            <a:prstDash val="solid"/>
          </a:ln>
        </p:spPr>
      </p:sp>
      <p:sp>
        <p:nvSpPr>
          <p:cNvPr id="91" name="Shape 89"/>
          <p:cNvSpPr/>
          <p:nvPr/>
        </p:nvSpPr>
        <p:spPr>
          <a:xfrm flipV="1">
            <a:off x="7068312" y="6089904"/>
            <a:ext cx="265176" cy="256032"/>
          </a:xfrm>
          <a:prstGeom prst="line">
            <a:avLst/>
          </a:prstGeom>
          <a:noFill/>
          <a:ln w="15240">
            <a:solidFill>
              <a:srgbClr val="000000"/>
            </a:solidFill>
            <a:prstDash val="solid"/>
          </a:ln>
        </p:spPr>
      </p:sp>
      <p:sp>
        <p:nvSpPr>
          <p:cNvPr id="92" name="Text 90"/>
          <p:cNvSpPr/>
          <p:nvPr/>
        </p:nvSpPr>
        <p:spPr>
          <a:xfrm>
            <a:off x="9445752" y="5047488"/>
            <a:ext cx="2532888" cy="658368"/>
          </a:xfrm>
          <a:prstGeom prst="rect">
            <a:avLst/>
          </a:prstGeom>
          <a:noFill/>
          <a:ln/>
        </p:spPr>
        <p:txBody>
          <a:bodyPr wrap="square" lIns="0" tIns="0" rIns="0" bIns="0" rtlCol="0" anchor="ctr"/>
          <a:lstStyle/>
          <a:p>
            <a:pPr indent="0" marL="0">
              <a:lnSpc>
                <a:spcPct val="106000"/>
              </a:lnSpc>
              <a:buNone/>
            </a:pPr>
            <a:r>
              <a:rPr lang="en-US" sz="900" b="1" dirty="0">
                <a:solidFill>
                  <a:srgbClr val="000000"/>
                </a:solidFill>
                <a:latin typeface="Arial" pitchFamily="34" charset="0"/>
                <a:ea typeface="Arial" pitchFamily="34" charset="-122"/>
                <a:cs typeface="Arial" pitchFamily="34" charset="-120"/>
              </a:rPr>
              <a:t>bmv2 emits no sFlow of its own.</a:t>
            </a:r>
            <a:endParaRPr lang="en-US" sz="900" dirty="0"/>
          </a:p>
          <a:p>
            <a:pPr indent="0" marL="0">
              <a:lnSpc>
                <a:spcPct val="106000"/>
              </a:lnSpc>
              <a:buNone/>
            </a:pPr>
            <a:r>
              <a:rPr lang="en-US" sz="900" dirty="0">
                <a:solidFill>
                  <a:srgbClr val="000000"/>
                </a:solidFill>
                <a:latin typeface="Arial" pitchFamily="34" charset="0"/>
                <a:ea typeface="Arial" pitchFamily="34" charset="-122"/>
                <a:cs typeface="Arial" pitchFamily="34" charset="-120"/>
              </a:rPr>
              <a:t>The proxy synthesises it, so the kernel's collector cannot tell the two fabrics apart.</a:t>
            </a:r>
            <a:endParaRPr lang="en-US" sz="900" dirty="0"/>
          </a:p>
        </p:txBody>
      </p:sp>
      <p:sp>
        <p:nvSpPr>
          <p:cNvPr id="93" name="Text 91"/>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566928"/>
            <a:ext cx="10637215" cy="621792"/>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Architecture: how P4 attaches to the existing system</a:t>
            </a:r>
            <a:endParaRPr lang="en-US" sz="3000" dirty="0"/>
          </a:p>
        </p:txBody>
      </p:sp>
      <p:sp>
        <p:nvSpPr>
          <p:cNvPr id="3" name="Text 1"/>
          <p:cNvSpPr/>
          <p:nvPr/>
        </p:nvSpPr>
        <p:spPr>
          <a:xfrm>
            <a:off x="777240" y="1207008"/>
            <a:ext cx="10637215" cy="347472"/>
          </a:xfrm>
          <a:prstGeom prst="rect">
            <a:avLst/>
          </a:prstGeom>
          <a:noFill/>
          <a:ln/>
        </p:spPr>
        <p:txBody>
          <a:bodyPr wrap="square" lIns="0" tIns="0" rIns="0" bIns="0" rtlCol="0" anchor="ctr"/>
          <a:lstStyle/>
          <a:p>
            <a:pPr indent="0" marL="0">
              <a:buNone/>
            </a:pPr>
            <a:r>
              <a:rPr lang="en-US" sz="1400" dirty="0">
                <a:solidFill>
                  <a:srgbClr val="4F4F4F"/>
                </a:solidFill>
                <a:latin typeface="Calibri" pitchFamily="34" charset="0"/>
                <a:ea typeface="Calibri" pitchFamily="34" charset="-122"/>
                <a:cs typeface="Calibri" pitchFamily="34" charset="-120"/>
              </a:rPr>
              <a:t>The proxy agent impersonates Ryu's northbound API — nothing above the kernel changes</a:t>
            </a:r>
            <a:endParaRPr lang="en-US" sz="1400" dirty="0"/>
          </a:p>
        </p:txBody>
      </p:sp>
      <p:sp>
        <p:nvSpPr>
          <p:cNvPr id="4" name="Shape 2"/>
          <p:cNvSpPr/>
          <p:nvPr/>
        </p:nvSpPr>
        <p:spPr>
          <a:xfrm>
            <a:off x="777240" y="1700784"/>
            <a:ext cx="10637215" cy="9144"/>
          </a:xfrm>
          <a:prstGeom prst="line">
            <a:avLst/>
          </a:prstGeom>
          <a:noFill/>
          <a:ln w="12700">
            <a:solidFill>
              <a:srgbClr val="D0D0D0"/>
            </a:solidFill>
            <a:prstDash val="solid"/>
          </a:ln>
        </p:spPr>
      </p:sp>
      <p:sp>
        <p:nvSpPr>
          <p:cNvPr id="5" name="Text 3"/>
          <p:cNvSpPr/>
          <p:nvPr/>
        </p:nvSpPr>
        <p:spPr>
          <a:xfrm>
            <a:off x="777240" y="2066544"/>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06424" y="2057400"/>
            <a:ext cx="5157216" cy="292608"/>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The proxy speaks Ryu, not the kernel</a:t>
            </a:r>
            <a:endParaRPr lang="en-US" sz="1550" dirty="0"/>
          </a:p>
        </p:txBody>
      </p:sp>
      <p:sp>
        <p:nvSpPr>
          <p:cNvPr id="7" name="Text 5"/>
          <p:cNvSpPr/>
          <p:nvPr/>
        </p:nvSpPr>
        <p:spPr>
          <a:xfrm>
            <a:off x="1106424" y="2395728"/>
            <a:ext cx="5157216" cy="822960"/>
          </a:xfrm>
          <a:prstGeom prst="rect">
            <a:avLst/>
          </a:prstGeom>
          <a:noFill/>
          <a:ln/>
        </p:spPr>
        <p:txBody>
          <a:bodyPr wrap="square" lIns="0" tIns="0" rIns="0" bIns="0" rtlCol="0" anchor="ctr"/>
          <a:lstStyle/>
          <a:p>
            <a:pPr indent="0" marL="0">
              <a:lnSpc>
                <a:spcPct val="124000"/>
              </a:lnSpc>
              <a:buNone/>
            </a:pPr>
            <a:r>
              <a:rPr lang="en-US" sz="1250" dirty="0">
                <a:solidFill>
                  <a:srgbClr val="2E2E2E"/>
                </a:solidFill>
                <a:latin typeface="Calibri" pitchFamily="34" charset="0"/>
                <a:ea typeface="Calibri" pitchFamily="34" charset="-122"/>
                <a:cs typeface="Calibri" pitchFamily="34" charset="-120"/>
              </a:rPr>
              <a:t>Topology, /stats/flow and destination paths are returned in Ryu's data shapes, so the kernel issues exactly the requests it has always issued.</a:t>
            </a:r>
            <a:endParaRPr lang="en-US" sz="1250" dirty="0"/>
          </a:p>
        </p:txBody>
      </p:sp>
      <p:sp>
        <p:nvSpPr>
          <p:cNvPr id="8" name="Text 6"/>
          <p:cNvSpPr/>
          <p:nvPr/>
        </p:nvSpPr>
        <p:spPr>
          <a:xfrm>
            <a:off x="777240" y="3383280"/>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1106424" y="3374136"/>
            <a:ext cx="5157216" cy="292608"/>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sFlow v5 synthesised in the proxy</a:t>
            </a:r>
            <a:endParaRPr lang="en-US" sz="1550" dirty="0"/>
          </a:p>
        </p:txBody>
      </p:sp>
      <p:sp>
        <p:nvSpPr>
          <p:cNvPr id="10" name="Text 8"/>
          <p:cNvSpPr/>
          <p:nvPr/>
        </p:nvSpPr>
        <p:spPr>
          <a:xfrm>
            <a:off x="1106424" y="3712464"/>
            <a:ext cx="5157216" cy="822960"/>
          </a:xfrm>
          <a:prstGeom prst="rect">
            <a:avLst/>
          </a:prstGeom>
          <a:noFill/>
          <a:ln/>
        </p:spPr>
        <p:txBody>
          <a:bodyPr wrap="square" lIns="0" tIns="0" rIns="0" bIns="0" rtlCol="0" anchor="ctr"/>
          <a:lstStyle/>
          <a:p>
            <a:pPr indent="0" marL="0">
              <a:lnSpc>
                <a:spcPct val="124000"/>
              </a:lnSpc>
              <a:buNone/>
            </a:pPr>
            <a:r>
              <a:rPr lang="en-US" sz="1250" dirty="0">
                <a:solidFill>
                  <a:srgbClr val="2E2E2E"/>
                </a:solidFill>
                <a:latin typeface="Calibri" pitchFamily="34" charset="0"/>
                <a:ea typeface="Calibri" pitchFamily="34" charset="-122"/>
                <a:cs typeface="Calibri" pitchFamily="34" charset="-120"/>
              </a:rPr>
              <a:t>bmv2's sampled packets are synthesised into sFlow v5 and sent to the kernel's existing UDP:6343 collector, byte-layout compatible with OVS.</a:t>
            </a:r>
            <a:endParaRPr lang="en-US" sz="1250" dirty="0"/>
          </a:p>
        </p:txBody>
      </p:sp>
      <p:sp>
        <p:nvSpPr>
          <p:cNvPr id="11" name="Text 9"/>
          <p:cNvSpPr/>
          <p:nvPr/>
        </p:nvSpPr>
        <p:spPr>
          <a:xfrm>
            <a:off x="777240" y="4700016"/>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3</a:t>
            </a:r>
            <a:endParaRPr lang="en-US" sz="1300" dirty="0"/>
          </a:p>
        </p:txBody>
      </p:sp>
      <p:sp>
        <p:nvSpPr>
          <p:cNvPr id="12" name="Text 10"/>
          <p:cNvSpPr/>
          <p:nvPr/>
        </p:nvSpPr>
        <p:spPr>
          <a:xfrm>
            <a:off x="1106424" y="4690872"/>
            <a:ext cx="5157216" cy="292608"/>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Result: zero changes above the kernel</a:t>
            </a:r>
            <a:endParaRPr lang="en-US" sz="1550" dirty="0"/>
          </a:p>
        </p:txBody>
      </p:sp>
      <p:sp>
        <p:nvSpPr>
          <p:cNvPr id="13" name="Text 11"/>
          <p:cNvSpPr/>
          <p:nvPr/>
        </p:nvSpPr>
        <p:spPr>
          <a:xfrm>
            <a:off x="1106424" y="5029200"/>
            <a:ext cx="5157216" cy="822960"/>
          </a:xfrm>
          <a:prstGeom prst="rect">
            <a:avLst/>
          </a:prstGeom>
          <a:noFill/>
          <a:ln/>
        </p:spPr>
        <p:txBody>
          <a:bodyPr wrap="square" lIns="0" tIns="0" rIns="0" bIns="0" rtlCol="0" anchor="ctr"/>
          <a:lstStyle/>
          <a:p>
            <a:pPr indent="0" marL="0">
              <a:lnSpc>
                <a:spcPct val="124000"/>
              </a:lnSpc>
              <a:buNone/>
            </a:pPr>
            <a:r>
              <a:rPr lang="en-US" sz="1250" dirty="0">
                <a:solidFill>
                  <a:srgbClr val="2E2E2E"/>
                </a:solidFill>
                <a:latin typeface="Calibri" pitchFamily="34" charset="0"/>
                <a:ea typeface="Calibri" pitchFamily="34" charset="-122"/>
                <a:cs typeface="Calibri" pitchFamily="34" charset="-120"/>
              </a:rPr>
              <a:t>Classifier, FlowLinkUsageCollector, every /ndt/ endpoint, the Intent Translator and all 7 downstream apps are untouched.</a:t>
            </a:r>
            <a:endParaRPr lang="en-US" sz="1250" dirty="0"/>
          </a:p>
        </p:txBody>
      </p:sp>
      <p:sp>
        <p:nvSpPr>
          <p:cNvPr id="14" name="Shape 12"/>
          <p:cNvSpPr/>
          <p:nvPr/>
        </p:nvSpPr>
        <p:spPr>
          <a:xfrm>
            <a:off x="6720840" y="2029968"/>
            <a:ext cx="4709160" cy="512064"/>
          </a:xfrm>
          <a:prstGeom prst="rect">
            <a:avLst/>
          </a:prstGeom>
          <a:solidFill>
            <a:srgbClr val="F7F8F9"/>
          </a:solidFill>
          <a:ln w="12700">
            <a:solidFill>
              <a:srgbClr val="D0D0D0"/>
            </a:solidFill>
            <a:prstDash val="solid"/>
          </a:ln>
        </p:spPr>
      </p:sp>
      <p:sp>
        <p:nvSpPr>
          <p:cNvPr id="15" name="Text 13"/>
          <p:cNvSpPr/>
          <p:nvPr/>
        </p:nvSpPr>
        <p:spPr>
          <a:xfrm>
            <a:off x="6793992" y="2029968"/>
            <a:ext cx="4562856" cy="512064"/>
          </a:xfrm>
          <a:prstGeom prst="rect">
            <a:avLst/>
          </a:prstGeom>
          <a:noFill/>
          <a:ln/>
        </p:spPr>
        <p:txBody>
          <a:bodyPr wrap="square" lIns="0" tIns="0" rIns="0" bIns="0" rtlCol="0" anchor="ctr"/>
          <a:lstStyle/>
          <a:p>
            <a:pPr algn="ctr" indent="0" marL="0">
              <a:lnSpc>
                <a:spcPct val="110000"/>
              </a:lnSpc>
              <a:buNone/>
            </a:pPr>
            <a:r>
              <a:rPr lang="en-US" sz="1250" b="1" dirty="0">
                <a:solidFill>
                  <a:srgbClr val="1A1A1A"/>
                </a:solidFill>
                <a:latin typeface="Calibri" pitchFamily="34" charset="0"/>
                <a:ea typeface="Calibri" pitchFamily="34" charset="-122"/>
                <a:cs typeface="Calibri" pitchFamily="34" charset="-120"/>
              </a:rPr>
              <a:t>7 downstream apps</a:t>
            </a:r>
            <a:endParaRPr lang="en-US" sz="1250" dirty="0"/>
          </a:p>
        </p:txBody>
      </p:sp>
      <p:sp>
        <p:nvSpPr>
          <p:cNvPr id="16" name="Shape 14"/>
          <p:cNvSpPr/>
          <p:nvPr/>
        </p:nvSpPr>
        <p:spPr>
          <a:xfrm flipV="1">
            <a:off x="9075420" y="2542032"/>
            <a:ext cx="9144" cy="329184"/>
          </a:xfrm>
          <a:prstGeom prst="line">
            <a:avLst/>
          </a:prstGeom>
          <a:noFill/>
          <a:ln w="19050">
            <a:solidFill>
              <a:srgbClr val="B4BEC4"/>
            </a:solidFill>
            <a:prstDash val="solid"/>
            <a:tailEnd type="triangle"/>
          </a:ln>
        </p:spPr>
      </p:sp>
      <p:sp>
        <p:nvSpPr>
          <p:cNvPr id="17" name="Shape 15"/>
          <p:cNvSpPr/>
          <p:nvPr/>
        </p:nvSpPr>
        <p:spPr>
          <a:xfrm>
            <a:off x="6720840" y="2871216"/>
            <a:ext cx="4709160" cy="475488"/>
          </a:xfrm>
          <a:prstGeom prst="rect">
            <a:avLst/>
          </a:prstGeom>
          <a:solidFill>
            <a:srgbClr val="F7F8F9"/>
          </a:solidFill>
          <a:ln w="12700">
            <a:solidFill>
              <a:srgbClr val="D0D0D0"/>
            </a:solidFill>
            <a:prstDash val="solid"/>
          </a:ln>
        </p:spPr>
      </p:sp>
      <p:sp>
        <p:nvSpPr>
          <p:cNvPr id="18" name="Text 16"/>
          <p:cNvSpPr/>
          <p:nvPr/>
        </p:nvSpPr>
        <p:spPr>
          <a:xfrm>
            <a:off x="6793992" y="2871216"/>
            <a:ext cx="4562856" cy="475488"/>
          </a:xfrm>
          <a:prstGeom prst="rect">
            <a:avLst/>
          </a:prstGeom>
          <a:noFill/>
          <a:ln/>
        </p:spPr>
        <p:txBody>
          <a:bodyPr wrap="square" lIns="0" tIns="0" rIns="0" bIns="0" rtlCol="0" anchor="ctr"/>
          <a:lstStyle/>
          <a:p>
            <a:pPr algn="ctr" indent="0" marL="0">
              <a:lnSpc>
                <a:spcPct val="110000"/>
              </a:lnSpc>
              <a:buNone/>
            </a:pPr>
            <a:r>
              <a:rPr lang="en-US" sz="1250" b="1" dirty="0">
                <a:solidFill>
                  <a:srgbClr val="1A1A1A"/>
                </a:solidFill>
                <a:latin typeface="Calibri" pitchFamily="34" charset="0"/>
                <a:ea typeface="Calibri" pitchFamily="34" charset="-122"/>
                <a:cs typeface="Calibri" pitchFamily="34" charset="-120"/>
              </a:rPr>
              <a:t>/ndt/*  HTTP API</a:t>
            </a:r>
            <a:endParaRPr lang="en-US" sz="1250" dirty="0"/>
          </a:p>
        </p:txBody>
      </p:sp>
      <p:sp>
        <p:nvSpPr>
          <p:cNvPr id="19" name="Shape 17"/>
          <p:cNvSpPr/>
          <p:nvPr/>
        </p:nvSpPr>
        <p:spPr>
          <a:xfrm flipV="1">
            <a:off x="9075420" y="3346704"/>
            <a:ext cx="9144" cy="329184"/>
          </a:xfrm>
          <a:prstGeom prst="line">
            <a:avLst/>
          </a:prstGeom>
          <a:noFill/>
          <a:ln w="19050">
            <a:solidFill>
              <a:srgbClr val="B4BEC4"/>
            </a:solidFill>
            <a:prstDash val="solid"/>
            <a:tailEnd type="triangle"/>
          </a:ln>
        </p:spPr>
      </p:sp>
      <p:sp>
        <p:nvSpPr>
          <p:cNvPr id="20" name="Shape 18"/>
          <p:cNvSpPr/>
          <p:nvPr/>
        </p:nvSpPr>
        <p:spPr>
          <a:xfrm>
            <a:off x="6720840" y="3675888"/>
            <a:ext cx="4709160" cy="713232"/>
          </a:xfrm>
          <a:prstGeom prst="rect">
            <a:avLst/>
          </a:prstGeom>
          <a:solidFill>
            <a:srgbClr val="EEF3F6"/>
          </a:solidFill>
          <a:ln w="19050">
            <a:solidFill>
              <a:srgbClr val="065A82"/>
            </a:solidFill>
            <a:prstDash val="solid"/>
          </a:ln>
        </p:spPr>
      </p:sp>
      <p:sp>
        <p:nvSpPr>
          <p:cNvPr id="21" name="Text 19"/>
          <p:cNvSpPr/>
          <p:nvPr/>
        </p:nvSpPr>
        <p:spPr>
          <a:xfrm>
            <a:off x="6793992" y="3675888"/>
            <a:ext cx="4562856" cy="713232"/>
          </a:xfrm>
          <a:prstGeom prst="rect">
            <a:avLst/>
          </a:prstGeom>
          <a:noFill/>
          <a:ln/>
        </p:spPr>
        <p:txBody>
          <a:bodyPr wrap="square" lIns="0" tIns="0" rIns="0" bIns="0" rtlCol="0" anchor="ctr"/>
          <a:lstStyle/>
          <a:p>
            <a:pPr algn="ctr" indent="0" marL="0">
              <a:lnSpc>
                <a:spcPct val="110000"/>
              </a:lnSpc>
              <a:buNone/>
            </a:pPr>
            <a:r>
              <a:rPr lang="en-US" sz="1500" b="1" dirty="0">
                <a:solidFill>
                  <a:srgbClr val="065A82"/>
                </a:solidFill>
                <a:latin typeface="Calibri" pitchFamily="34" charset="0"/>
                <a:ea typeface="Calibri" pitchFamily="34" charset="-122"/>
                <a:cs typeface="Calibri" pitchFamily="34" charset="-120"/>
              </a:rPr>
              <a:t>NDTwin Kernel</a:t>
            </a:r>
            <a:endParaRPr lang="en-US" sz="1500" dirty="0"/>
          </a:p>
          <a:p>
            <a:pPr algn="ctr" indent="0" marL="0">
              <a:lnSpc>
                <a:spcPct val="110000"/>
              </a:lnSpc>
              <a:buNone/>
            </a:pPr>
            <a:r>
              <a:rPr lang="en-US" sz="1200" dirty="0">
                <a:solidFill>
                  <a:srgbClr val="065A82"/>
                </a:solidFill>
                <a:latin typeface="Calibri" pitchFamily="34" charset="0"/>
                <a:ea typeface="Calibri" pitchFamily="34" charset="-122"/>
                <a:cs typeface="Calibri" pitchFamily="34" charset="-120"/>
              </a:rPr>
              <a:t>unchanged</a:t>
            </a:r>
            <a:endParaRPr lang="en-US" sz="1500" dirty="0"/>
          </a:p>
        </p:txBody>
      </p:sp>
      <p:sp>
        <p:nvSpPr>
          <p:cNvPr id="22" name="Shape 20"/>
          <p:cNvSpPr/>
          <p:nvPr/>
        </p:nvSpPr>
        <p:spPr>
          <a:xfrm flipV="1">
            <a:off x="7847838" y="4389120"/>
            <a:ext cx="9144" cy="365760"/>
          </a:xfrm>
          <a:prstGeom prst="line">
            <a:avLst/>
          </a:prstGeom>
          <a:noFill/>
          <a:ln w="19050">
            <a:solidFill>
              <a:srgbClr val="B4BEC4"/>
            </a:solidFill>
            <a:prstDash val="solid"/>
            <a:tailEnd type="triangle"/>
          </a:ln>
        </p:spPr>
      </p:sp>
      <p:sp>
        <p:nvSpPr>
          <p:cNvPr id="23" name="Shape 21"/>
          <p:cNvSpPr/>
          <p:nvPr/>
        </p:nvSpPr>
        <p:spPr>
          <a:xfrm flipV="1">
            <a:off x="10303002" y="4389120"/>
            <a:ext cx="9144" cy="365760"/>
          </a:xfrm>
          <a:prstGeom prst="line">
            <a:avLst/>
          </a:prstGeom>
          <a:noFill/>
          <a:ln w="19050">
            <a:solidFill>
              <a:srgbClr val="B4BEC4"/>
            </a:solidFill>
            <a:prstDash val="solid"/>
            <a:tailEnd type="triangle"/>
          </a:ln>
        </p:spPr>
      </p:sp>
      <p:sp>
        <p:nvSpPr>
          <p:cNvPr id="24" name="Shape 22"/>
          <p:cNvSpPr/>
          <p:nvPr/>
        </p:nvSpPr>
        <p:spPr>
          <a:xfrm>
            <a:off x="6720840" y="4754880"/>
            <a:ext cx="2253996" cy="621792"/>
          </a:xfrm>
          <a:prstGeom prst="rect">
            <a:avLst/>
          </a:prstGeom>
          <a:solidFill>
            <a:srgbClr val="FFFFFF"/>
          </a:solidFill>
          <a:ln w="12700">
            <a:solidFill>
              <a:srgbClr val="D0D0D0"/>
            </a:solidFill>
            <a:prstDash val="solid"/>
          </a:ln>
        </p:spPr>
      </p:sp>
      <p:sp>
        <p:nvSpPr>
          <p:cNvPr id="25" name="Text 23"/>
          <p:cNvSpPr/>
          <p:nvPr/>
        </p:nvSpPr>
        <p:spPr>
          <a:xfrm>
            <a:off x="6793992" y="4754880"/>
            <a:ext cx="2107692" cy="621792"/>
          </a:xfrm>
          <a:prstGeom prst="rect">
            <a:avLst/>
          </a:prstGeom>
          <a:noFill/>
          <a:ln/>
        </p:spPr>
        <p:txBody>
          <a:bodyPr wrap="square" lIns="0" tIns="0" rIns="0" bIns="0" rtlCol="0" anchor="ctr"/>
          <a:lstStyle/>
          <a:p>
            <a:pPr algn="ctr" indent="0" marL="0">
              <a:lnSpc>
                <a:spcPct val="110000"/>
              </a:lnSpc>
              <a:buNone/>
            </a:pPr>
            <a:r>
              <a:rPr lang="en-US" sz="1250" b="1" dirty="0">
                <a:solidFill>
                  <a:srgbClr val="1A1A1A"/>
                </a:solidFill>
                <a:latin typeface="Calibri" pitchFamily="34" charset="0"/>
                <a:ea typeface="Calibri" pitchFamily="34" charset="-122"/>
                <a:cs typeface="Calibri" pitchFamily="34" charset="-120"/>
              </a:rPr>
              <a:t>Ryu controller</a:t>
            </a:r>
            <a:endParaRPr lang="en-US" sz="1250" dirty="0"/>
          </a:p>
          <a:p>
            <a:pPr algn="ctr" indent="0" marL="0">
              <a:lnSpc>
                <a:spcPct val="110000"/>
              </a:lnSpc>
              <a:buNone/>
            </a:pPr>
            <a:r>
              <a:rPr lang="en-US" sz="950" dirty="0">
                <a:solidFill>
                  <a:srgbClr val="4F4F4F"/>
                </a:solidFill>
                <a:latin typeface="Calibri" pitchFamily="34" charset="0"/>
                <a:ea typeface="Calibri" pitchFamily="34" charset="-122"/>
                <a:cs typeface="Calibri" pitchFamily="34" charset="-120"/>
              </a:rPr>
              <a:t>existing</a:t>
            </a:r>
            <a:endParaRPr lang="en-US" sz="1250" dirty="0"/>
          </a:p>
        </p:txBody>
      </p:sp>
      <p:sp>
        <p:nvSpPr>
          <p:cNvPr id="26" name="Shape 24"/>
          <p:cNvSpPr/>
          <p:nvPr/>
        </p:nvSpPr>
        <p:spPr>
          <a:xfrm>
            <a:off x="9176004" y="4754880"/>
            <a:ext cx="2253996" cy="621792"/>
          </a:xfrm>
          <a:prstGeom prst="rect">
            <a:avLst/>
          </a:prstGeom>
          <a:solidFill>
            <a:srgbClr val="FFFFFF"/>
          </a:solidFill>
          <a:ln w="12700">
            <a:solidFill>
              <a:srgbClr val="D0D0D0"/>
            </a:solidFill>
            <a:prstDash val="solid"/>
          </a:ln>
        </p:spPr>
      </p:sp>
      <p:sp>
        <p:nvSpPr>
          <p:cNvPr id="27" name="Text 25"/>
          <p:cNvSpPr/>
          <p:nvPr/>
        </p:nvSpPr>
        <p:spPr>
          <a:xfrm>
            <a:off x="9249156" y="4754880"/>
            <a:ext cx="2107692" cy="621792"/>
          </a:xfrm>
          <a:prstGeom prst="rect">
            <a:avLst/>
          </a:prstGeom>
          <a:noFill/>
          <a:ln/>
        </p:spPr>
        <p:txBody>
          <a:bodyPr wrap="square" lIns="0" tIns="0" rIns="0" bIns="0" rtlCol="0" anchor="ctr"/>
          <a:lstStyle/>
          <a:p>
            <a:pPr algn="ctr" indent="0" marL="0">
              <a:lnSpc>
                <a:spcPct val="110000"/>
              </a:lnSpc>
              <a:buNone/>
            </a:pPr>
            <a:r>
              <a:rPr lang="en-US" sz="1250" b="1" dirty="0">
                <a:solidFill>
                  <a:srgbClr val="1A1A1A"/>
                </a:solidFill>
                <a:latin typeface="Calibri" pitchFamily="34" charset="0"/>
                <a:ea typeface="Calibri" pitchFamily="34" charset="-122"/>
                <a:cs typeface="Calibri" pitchFamily="34" charset="-120"/>
              </a:rPr>
              <a:t>P4 proxy agent</a:t>
            </a:r>
            <a:endParaRPr lang="en-US" sz="1250" dirty="0"/>
          </a:p>
          <a:p>
            <a:pPr algn="ctr" indent="0" marL="0">
              <a:lnSpc>
                <a:spcPct val="110000"/>
              </a:lnSpc>
              <a:buNone/>
            </a:pPr>
            <a:r>
              <a:rPr lang="en-US" sz="950" dirty="0">
                <a:solidFill>
                  <a:srgbClr val="4F4F4F"/>
                </a:solidFill>
                <a:latin typeface="Calibri" pitchFamily="34" charset="0"/>
                <a:ea typeface="Calibri" pitchFamily="34" charset="-122"/>
                <a:cs typeface="Calibri" pitchFamily="34" charset="-120"/>
              </a:rPr>
              <a:t>new</a:t>
            </a:r>
            <a:endParaRPr lang="en-US" sz="1250" dirty="0"/>
          </a:p>
        </p:txBody>
      </p:sp>
      <p:sp>
        <p:nvSpPr>
          <p:cNvPr id="28" name="Shape 26"/>
          <p:cNvSpPr/>
          <p:nvPr/>
        </p:nvSpPr>
        <p:spPr>
          <a:xfrm flipV="1">
            <a:off x="7847838" y="5376672"/>
            <a:ext cx="9144" cy="310896"/>
          </a:xfrm>
          <a:prstGeom prst="line">
            <a:avLst/>
          </a:prstGeom>
          <a:noFill/>
          <a:ln w="19050">
            <a:solidFill>
              <a:srgbClr val="B4BEC4"/>
            </a:solidFill>
            <a:prstDash val="solid"/>
            <a:tailEnd type="triangle"/>
          </a:ln>
        </p:spPr>
      </p:sp>
      <p:sp>
        <p:nvSpPr>
          <p:cNvPr id="29" name="Shape 27"/>
          <p:cNvSpPr/>
          <p:nvPr/>
        </p:nvSpPr>
        <p:spPr>
          <a:xfrm flipV="1">
            <a:off x="10303002" y="5376672"/>
            <a:ext cx="9144" cy="310896"/>
          </a:xfrm>
          <a:prstGeom prst="line">
            <a:avLst/>
          </a:prstGeom>
          <a:noFill/>
          <a:ln w="19050">
            <a:solidFill>
              <a:srgbClr val="B4BEC4"/>
            </a:solidFill>
            <a:prstDash val="solid"/>
            <a:tailEnd type="triangle"/>
          </a:ln>
        </p:spPr>
      </p:sp>
      <p:sp>
        <p:nvSpPr>
          <p:cNvPr id="30" name="Shape 28"/>
          <p:cNvSpPr/>
          <p:nvPr/>
        </p:nvSpPr>
        <p:spPr>
          <a:xfrm>
            <a:off x="6720840" y="5687568"/>
            <a:ext cx="2253996" cy="457200"/>
          </a:xfrm>
          <a:prstGeom prst="rect">
            <a:avLst/>
          </a:prstGeom>
          <a:solidFill>
            <a:srgbClr val="FFFFFF"/>
          </a:solidFill>
          <a:ln w="12700">
            <a:solidFill>
              <a:srgbClr val="D0D0D0"/>
            </a:solidFill>
            <a:prstDash val="solid"/>
          </a:ln>
        </p:spPr>
      </p:sp>
      <p:sp>
        <p:nvSpPr>
          <p:cNvPr id="31" name="Text 29"/>
          <p:cNvSpPr/>
          <p:nvPr/>
        </p:nvSpPr>
        <p:spPr>
          <a:xfrm>
            <a:off x="6793992" y="5687568"/>
            <a:ext cx="2107692" cy="457200"/>
          </a:xfrm>
          <a:prstGeom prst="rect">
            <a:avLst/>
          </a:prstGeom>
          <a:noFill/>
          <a:ln/>
        </p:spPr>
        <p:txBody>
          <a:bodyPr wrap="square" lIns="0" tIns="0" rIns="0" bIns="0" rtlCol="0" anchor="ctr"/>
          <a:lstStyle/>
          <a:p>
            <a:pPr algn="ctr" indent="0" marL="0">
              <a:lnSpc>
                <a:spcPct val="110000"/>
              </a:lnSpc>
              <a:buNone/>
            </a:pPr>
            <a:r>
              <a:rPr lang="en-US" sz="1150" b="1" dirty="0">
                <a:solidFill>
                  <a:srgbClr val="1A1A1A"/>
                </a:solidFill>
                <a:latin typeface="Calibri" pitchFamily="34" charset="0"/>
                <a:ea typeface="Calibri" pitchFamily="34" charset="-122"/>
                <a:cs typeface="Calibri" pitchFamily="34" charset="-120"/>
              </a:rPr>
              <a:t>OVS switches</a:t>
            </a:r>
            <a:endParaRPr lang="en-US" sz="1150" dirty="0"/>
          </a:p>
        </p:txBody>
      </p:sp>
      <p:sp>
        <p:nvSpPr>
          <p:cNvPr id="32" name="Shape 30"/>
          <p:cNvSpPr/>
          <p:nvPr/>
        </p:nvSpPr>
        <p:spPr>
          <a:xfrm>
            <a:off x="9176004" y="5687568"/>
            <a:ext cx="2253996" cy="457200"/>
          </a:xfrm>
          <a:prstGeom prst="rect">
            <a:avLst/>
          </a:prstGeom>
          <a:solidFill>
            <a:srgbClr val="FFFFFF"/>
          </a:solidFill>
          <a:ln w="12700">
            <a:solidFill>
              <a:srgbClr val="D0D0D0"/>
            </a:solidFill>
            <a:prstDash val="solid"/>
          </a:ln>
        </p:spPr>
      </p:sp>
      <p:sp>
        <p:nvSpPr>
          <p:cNvPr id="33" name="Text 31"/>
          <p:cNvSpPr/>
          <p:nvPr/>
        </p:nvSpPr>
        <p:spPr>
          <a:xfrm>
            <a:off x="9249156" y="5687568"/>
            <a:ext cx="2107692" cy="457200"/>
          </a:xfrm>
          <a:prstGeom prst="rect">
            <a:avLst/>
          </a:prstGeom>
          <a:noFill/>
          <a:ln/>
        </p:spPr>
        <p:txBody>
          <a:bodyPr wrap="square" lIns="0" tIns="0" rIns="0" bIns="0" rtlCol="0" anchor="ctr"/>
          <a:lstStyle/>
          <a:p>
            <a:pPr algn="ctr" indent="0" marL="0">
              <a:lnSpc>
                <a:spcPct val="110000"/>
              </a:lnSpc>
              <a:buNone/>
            </a:pPr>
            <a:r>
              <a:rPr lang="en-US" sz="1150" b="1" dirty="0">
                <a:solidFill>
                  <a:srgbClr val="1A1A1A"/>
                </a:solidFill>
                <a:latin typeface="Calibri" pitchFamily="34" charset="0"/>
                <a:ea typeface="Calibri" pitchFamily="34" charset="-122"/>
                <a:cs typeface="Calibri" pitchFamily="34" charset="-120"/>
              </a:rPr>
              <a:t>bmv2 switches</a:t>
            </a:r>
            <a:endParaRPr lang="en-US" sz="1150" dirty="0"/>
          </a:p>
        </p:txBody>
      </p:sp>
      <p:sp>
        <p:nvSpPr>
          <p:cNvPr id="34" name="Text 32"/>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566928"/>
            <a:ext cx="10637215" cy="621792"/>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The stack</a:t>
            </a:r>
            <a:endParaRPr lang="en-US" sz="3000" dirty="0"/>
          </a:p>
        </p:txBody>
      </p:sp>
      <p:sp>
        <p:nvSpPr>
          <p:cNvPr id="3" name="Text 1"/>
          <p:cNvSpPr/>
          <p:nvPr/>
        </p:nvSpPr>
        <p:spPr>
          <a:xfrm>
            <a:off x="777240" y="1207008"/>
            <a:ext cx="10637215" cy="347472"/>
          </a:xfrm>
          <a:prstGeom prst="rect">
            <a:avLst/>
          </a:prstGeom>
          <a:noFill/>
          <a:ln/>
        </p:spPr>
        <p:txBody>
          <a:bodyPr wrap="square" lIns="0" tIns="0" rIns="0" bIns="0" rtlCol="0" anchor="ctr"/>
          <a:lstStyle/>
          <a:p>
            <a:pPr indent="0" marL="0">
              <a:buNone/>
            </a:pPr>
            <a:r>
              <a:rPr lang="en-US" sz="1400" dirty="0">
                <a:solidFill>
                  <a:srgbClr val="4F4F4F"/>
                </a:solidFill>
                <a:latin typeface="Calibri" pitchFamily="34" charset="0"/>
                <a:ea typeface="Calibri" pitchFamily="34" charset="-122"/>
                <a:cs typeface="Calibri" pitchFamily="34" charset="-120"/>
              </a:rPr>
              <a:t>What the two data planes and the layer between them are built out of</a:t>
            </a:r>
            <a:endParaRPr lang="en-US" sz="1400" dirty="0"/>
          </a:p>
        </p:txBody>
      </p:sp>
      <p:sp>
        <p:nvSpPr>
          <p:cNvPr id="4" name="Shape 2"/>
          <p:cNvSpPr/>
          <p:nvPr/>
        </p:nvSpPr>
        <p:spPr>
          <a:xfrm>
            <a:off x="777240" y="1700784"/>
            <a:ext cx="10637215" cy="9144"/>
          </a:xfrm>
          <a:prstGeom prst="line">
            <a:avLst/>
          </a:prstGeom>
          <a:noFill/>
          <a:ln w="12700">
            <a:solidFill>
              <a:srgbClr val="D0D0D0"/>
            </a:solidFill>
            <a:prstDash val="solid"/>
          </a:ln>
        </p:spPr>
      </p:sp>
      <p:sp>
        <p:nvSpPr>
          <p:cNvPr id="5" name="Text 3"/>
          <p:cNvSpPr/>
          <p:nvPr/>
        </p:nvSpPr>
        <p:spPr>
          <a:xfrm>
            <a:off x="777240" y="1883664"/>
            <a:ext cx="2357018" cy="292608"/>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Kernel</a:t>
            </a:r>
            <a:endParaRPr lang="en-US" sz="1500" dirty="0"/>
          </a:p>
        </p:txBody>
      </p:sp>
      <p:sp>
        <p:nvSpPr>
          <p:cNvPr id="6" name="Text 4"/>
          <p:cNvSpPr/>
          <p:nvPr/>
        </p:nvSpPr>
        <p:spPr>
          <a:xfrm>
            <a:off x="3134258" y="1901952"/>
            <a:ext cx="914400" cy="274320"/>
          </a:xfrm>
          <a:prstGeom prst="rect">
            <a:avLst/>
          </a:prstGeom>
          <a:noFill/>
          <a:ln/>
        </p:spPr>
        <p:txBody>
          <a:bodyPr wrap="square" lIns="0" tIns="0" rIns="0" bIns="0" rtlCol="0" anchor="ctr"/>
          <a:lstStyle/>
          <a:p>
            <a:pPr algn="r" indent="0" marL="0">
              <a:buNone/>
            </a:pPr>
            <a:r>
              <a:rPr lang="en-US" sz="1100" dirty="0">
                <a:solidFill>
                  <a:srgbClr val="065A82"/>
                </a:solidFill>
                <a:latin typeface="Courier New" pitchFamily="34" charset="0"/>
                <a:ea typeface="Courier New" pitchFamily="34" charset="-122"/>
                <a:cs typeface="Courier New" pitchFamily="34" charset="-120"/>
              </a:rPr>
              <a:t>C++23</a:t>
            </a:r>
            <a:endParaRPr lang="en-US" sz="1100" dirty="0"/>
          </a:p>
        </p:txBody>
      </p:sp>
      <p:sp>
        <p:nvSpPr>
          <p:cNvPr id="7" name="Shape 5"/>
          <p:cNvSpPr/>
          <p:nvPr/>
        </p:nvSpPr>
        <p:spPr>
          <a:xfrm>
            <a:off x="777240" y="2231136"/>
            <a:ext cx="3271418" cy="9144"/>
          </a:xfrm>
          <a:prstGeom prst="line">
            <a:avLst/>
          </a:prstGeom>
          <a:noFill/>
          <a:ln w="12700">
            <a:solidFill>
              <a:srgbClr val="D0D0D0"/>
            </a:solidFill>
            <a:prstDash val="solid"/>
          </a:ln>
        </p:spPr>
      </p:sp>
      <p:sp>
        <p:nvSpPr>
          <p:cNvPr id="8" name="Text 6"/>
          <p:cNvSpPr/>
          <p:nvPr/>
        </p:nvSpPr>
        <p:spPr>
          <a:xfrm>
            <a:off x="777240" y="2359152"/>
            <a:ext cx="3271418" cy="219456"/>
          </a:xfrm>
          <a:prstGeom prst="rect">
            <a:avLst/>
          </a:prstGeom>
          <a:noFill/>
          <a:ln/>
        </p:spPr>
        <p:txBody>
          <a:bodyPr wrap="square" lIns="0" tIns="0" rIns="0" bIns="0" rtlCol="0" anchor="ctr"/>
          <a:lstStyle/>
          <a:p>
            <a:pPr indent="0" marL="0">
              <a:buNone/>
            </a:pPr>
            <a:r>
              <a:rPr lang="en-US" sz="1200" b="1" dirty="0">
                <a:solidFill>
                  <a:srgbClr val="2E2E2E"/>
                </a:solidFill>
                <a:latin typeface="Calibri" pitchFamily="34" charset="0"/>
                <a:ea typeface="Calibri" pitchFamily="34" charset="-122"/>
                <a:cs typeface="Calibri" pitchFamily="34" charset="-120"/>
              </a:rPr>
              <a:t>CMake</a:t>
            </a:r>
            <a:endParaRPr lang="en-US" sz="1200" dirty="0"/>
          </a:p>
        </p:txBody>
      </p:sp>
      <p:sp>
        <p:nvSpPr>
          <p:cNvPr id="9" name="Text 7"/>
          <p:cNvSpPr/>
          <p:nvPr/>
        </p:nvSpPr>
        <p:spPr>
          <a:xfrm>
            <a:off x="777240" y="2560320"/>
            <a:ext cx="3271418" cy="310896"/>
          </a:xfrm>
          <a:prstGeom prst="rect">
            <a:avLst/>
          </a:prstGeom>
          <a:noFill/>
          <a:ln/>
        </p:spPr>
        <p:txBody>
          <a:bodyPr wrap="square" lIns="0" tIns="0" rIns="0" bIns="0" rtlCol="0" anchor="ctr"/>
          <a:lstStyle/>
          <a:p>
            <a:pPr indent="0" marL="0">
              <a:lnSpc>
                <a:spcPct val="108000"/>
              </a:lnSpc>
              <a:buNone/>
            </a:pPr>
            <a:r>
              <a:rPr lang="en-US" sz="1050" dirty="0">
                <a:solidFill>
                  <a:srgbClr val="4F4F4F"/>
                </a:solidFill>
                <a:latin typeface="Calibri" pitchFamily="34" charset="0"/>
                <a:ea typeface="Calibri" pitchFamily="34" charset="-122"/>
                <a:cs typeface="Calibri" pitchFamily="34" charset="-120"/>
              </a:rPr>
              <a:t>build, with opt-in sanitizer targets</a:t>
            </a:r>
            <a:endParaRPr lang="en-US" sz="1050" dirty="0"/>
          </a:p>
        </p:txBody>
      </p:sp>
      <p:sp>
        <p:nvSpPr>
          <p:cNvPr id="10" name="Text 8"/>
          <p:cNvSpPr/>
          <p:nvPr/>
        </p:nvSpPr>
        <p:spPr>
          <a:xfrm>
            <a:off x="777240" y="2834640"/>
            <a:ext cx="3271418" cy="219456"/>
          </a:xfrm>
          <a:prstGeom prst="rect">
            <a:avLst/>
          </a:prstGeom>
          <a:noFill/>
          <a:ln/>
        </p:spPr>
        <p:txBody>
          <a:bodyPr wrap="square" lIns="0" tIns="0" rIns="0" bIns="0" rtlCol="0" anchor="ctr"/>
          <a:lstStyle/>
          <a:p>
            <a:pPr indent="0" marL="0">
              <a:buNone/>
            </a:pPr>
            <a:r>
              <a:rPr lang="en-US" sz="1200" b="1" dirty="0">
                <a:solidFill>
                  <a:srgbClr val="2E2E2E"/>
                </a:solidFill>
                <a:latin typeface="Calibri" pitchFamily="34" charset="0"/>
                <a:ea typeface="Calibri" pitchFamily="34" charset="-122"/>
                <a:cs typeface="Calibri" pitchFamily="34" charset="-120"/>
              </a:rPr>
              <a:t>Boost.Beast / Asio / URL</a:t>
            </a:r>
            <a:endParaRPr lang="en-US" sz="1200" dirty="0"/>
          </a:p>
        </p:txBody>
      </p:sp>
      <p:sp>
        <p:nvSpPr>
          <p:cNvPr id="11" name="Text 9"/>
          <p:cNvSpPr/>
          <p:nvPr/>
        </p:nvSpPr>
        <p:spPr>
          <a:xfrm>
            <a:off x="777240" y="3035808"/>
            <a:ext cx="3271418" cy="310896"/>
          </a:xfrm>
          <a:prstGeom prst="rect">
            <a:avLst/>
          </a:prstGeom>
          <a:noFill/>
          <a:ln/>
        </p:spPr>
        <p:txBody>
          <a:bodyPr wrap="square" lIns="0" tIns="0" rIns="0" bIns="0" rtlCol="0" anchor="ctr"/>
          <a:lstStyle/>
          <a:p>
            <a:pPr indent="0" marL="0">
              <a:lnSpc>
                <a:spcPct val="108000"/>
              </a:lnSpc>
              <a:buNone/>
            </a:pPr>
            <a:r>
              <a:rPr lang="en-US" sz="1050" dirty="0">
                <a:solidFill>
                  <a:srgbClr val="4F4F4F"/>
                </a:solidFill>
                <a:latin typeface="Calibri" pitchFamily="34" charset="0"/>
                <a:ea typeface="Calibri" pitchFamily="34" charset="-122"/>
                <a:cs typeface="Calibri" pitchFamily="34" charset="-120"/>
              </a:rPr>
              <a:t>the /ndt/ HTTP server</a:t>
            </a:r>
            <a:endParaRPr lang="en-US" sz="1050" dirty="0"/>
          </a:p>
        </p:txBody>
      </p:sp>
      <p:sp>
        <p:nvSpPr>
          <p:cNvPr id="12" name="Text 10"/>
          <p:cNvSpPr/>
          <p:nvPr/>
        </p:nvSpPr>
        <p:spPr>
          <a:xfrm>
            <a:off x="777240" y="3310128"/>
            <a:ext cx="3271418" cy="219456"/>
          </a:xfrm>
          <a:prstGeom prst="rect">
            <a:avLst/>
          </a:prstGeom>
          <a:noFill/>
          <a:ln/>
        </p:spPr>
        <p:txBody>
          <a:bodyPr wrap="square" lIns="0" tIns="0" rIns="0" bIns="0" rtlCol="0" anchor="ctr"/>
          <a:lstStyle/>
          <a:p>
            <a:pPr indent="0" marL="0">
              <a:buNone/>
            </a:pPr>
            <a:r>
              <a:rPr lang="en-US" sz="1200" b="1" dirty="0">
                <a:solidFill>
                  <a:srgbClr val="2E2E2E"/>
                </a:solidFill>
                <a:latin typeface="Calibri" pitchFamily="34" charset="0"/>
                <a:ea typeface="Calibri" pitchFamily="34" charset="-122"/>
                <a:cs typeface="Calibri" pitchFamily="34" charset="-120"/>
              </a:rPr>
              <a:t>nlohmann::json</a:t>
            </a:r>
            <a:endParaRPr lang="en-US" sz="1200" dirty="0"/>
          </a:p>
        </p:txBody>
      </p:sp>
      <p:sp>
        <p:nvSpPr>
          <p:cNvPr id="13" name="Text 11"/>
          <p:cNvSpPr/>
          <p:nvPr/>
        </p:nvSpPr>
        <p:spPr>
          <a:xfrm>
            <a:off x="777240" y="3511296"/>
            <a:ext cx="3271418" cy="310896"/>
          </a:xfrm>
          <a:prstGeom prst="rect">
            <a:avLst/>
          </a:prstGeom>
          <a:noFill/>
          <a:ln/>
        </p:spPr>
        <p:txBody>
          <a:bodyPr wrap="square" lIns="0" tIns="0" rIns="0" bIns="0" rtlCol="0" anchor="ctr"/>
          <a:lstStyle/>
          <a:p>
            <a:pPr indent="0" marL="0">
              <a:lnSpc>
                <a:spcPct val="108000"/>
              </a:lnSpc>
              <a:buNone/>
            </a:pPr>
            <a:r>
              <a:rPr lang="en-US" sz="1050" dirty="0">
                <a:solidFill>
                  <a:srgbClr val="4F4F4F"/>
                </a:solidFill>
                <a:latin typeface="Calibri" pitchFamily="34" charset="0"/>
                <a:ea typeface="Calibri" pitchFamily="34" charset="-122"/>
                <a:cs typeface="Calibri" pitchFamily="34" charset="-120"/>
              </a:rPr>
              <a:t>every request and reply</a:t>
            </a:r>
            <a:endParaRPr lang="en-US" sz="1050" dirty="0"/>
          </a:p>
        </p:txBody>
      </p:sp>
      <p:sp>
        <p:nvSpPr>
          <p:cNvPr id="14" name="Text 12"/>
          <p:cNvSpPr/>
          <p:nvPr/>
        </p:nvSpPr>
        <p:spPr>
          <a:xfrm>
            <a:off x="777240" y="3785616"/>
            <a:ext cx="3271418" cy="219456"/>
          </a:xfrm>
          <a:prstGeom prst="rect">
            <a:avLst/>
          </a:prstGeom>
          <a:noFill/>
          <a:ln/>
        </p:spPr>
        <p:txBody>
          <a:bodyPr wrap="square" lIns="0" tIns="0" rIns="0" bIns="0" rtlCol="0" anchor="ctr"/>
          <a:lstStyle/>
          <a:p>
            <a:pPr indent="0" marL="0">
              <a:buNone/>
            </a:pPr>
            <a:r>
              <a:rPr lang="en-US" sz="1200" b="1" dirty="0">
                <a:solidFill>
                  <a:srgbClr val="2E2E2E"/>
                </a:solidFill>
                <a:latin typeface="Calibri" pitchFamily="34" charset="0"/>
                <a:ea typeface="Calibri" pitchFamily="34" charset="-122"/>
                <a:cs typeface="Calibri" pitchFamily="34" charset="-120"/>
              </a:rPr>
              <a:t>spdlog</a:t>
            </a:r>
            <a:endParaRPr lang="en-US" sz="1200" dirty="0"/>
          </a:p>
        </p:txBody>
      </p:sp>
      <p:sp>
        <p:nvSpPr>
          <p:cNvPr id="15" name="Text 13"/>
          <p:cNvSpPr/>
          <p:nvPr/>
        </p:nvSpPr>
        <p:spPr>
          <a:xfrm>
            <a:off x="777240" y="3986784"/>
            <a:ext cx="3271418" cy="310896"/>
          </a:xfrm>
          <a:prstGeom prst="rect">
            <a:avLst/>
          </a:prstGeom>
          <a:noFill/>
          <a:ln/>
        </p:spPr>
        <p:txBody>
          <a:bodyPr wrap="square" lIns="0" tIns="0" rIns="0" bIns="0" rtlCol="0" anchor="ctr"/>
          <a:lstStyle/>
          <a:p>
            <a:pPr indent="0" marL="0">
              <a:lnSpc>
                <a:spcPct val="108000"/>
              </a:lnSpc>
              <a:buNone/>
            </a:pPr>
            <a:r>
              <a:rPr lang="en-US" sz="1050" dirty="0">
                <a:solidFill>
                  <a:srgbClr val="4F4F4F"/>
                </a:solidFill>
                <a:latin typeface="Calibri" pitchFamily="34" charset="0"/>
                <a:ea typeface="Calibri" pitchFamily="34" charset="-122"/>
                <a:cs typeface="Calibri" pitchFamily="34" charset="-120"/>
              </a:rPr>
              <a:t>logging, with a level-gated trap of its own</a:t>
            </a:r>
            <a:endParaRPr lang="en-US" sz="1050" dirty="0"/>
          </a:p>
        </p:txBody>
      </p:sp>
      <p:sp>
        <p:nvSpPr>
          <p:cNvPr id="16" name="Text 14"/>
          <p:cNvSpPr/>
          <p:nvPr/>
        </p:nvSpPr>
        <p:spPr>
          <a:xfrm>
            <a:off x="777240" y="4261104"/>
            <a:ext cx="3271418" cy="219456"/>
          </a:xfrm>
          <a:prstGeom prst="rect">
            <a:avLst/>
          </a:prstGeom>
          <a:noFill/>
          <a:ln/>
        </p:spPr>
        <p:txBody>
          <a:bodyPr wrap="square" lIns="0" tIns="0" rIns="0" bIns="0" rtlCol="0" anchor="ctr"/>
          <a:lstStyle/>
          <a:p>
            <a:pPr indent="0" marL="0">
              <a:buNone/>
            </a:pPr>
            <a:r>
              <a:rPr lang="en-US" sz="1200" b="1" dirty="0">
                <a:solidFill>
                  <a:srgbClr val="2E2E2E"/>
                </a:solidFill>
                <a:latin typeface="Calibri" pitchFamily="34" charset="0"/>
                <a:ea typeface="Calibri" pitchFamily="34" charset="-122"/>
                <a:cs typeface="Calibri" pitchFamily="34" charset="-120"/>
              </a:rPr>
              <a:t>libssh</a:t>
            </a:r>
            <a:endParaRPr lang="en-US" sz="1200" dirty="0"/>
          </a:p>
        </p:txBody>
      </p:sp>
      <p:sp>
        <p:nvSpPr>
          <p:cNvPr id="17" name="Text 15"/>
          <p:cNvSpPr/>
          <p:nvPr/>
        </p:nvSpPr>
        <p:spPr>
          <a:xfrm>
            <a:off x="777240" y="4462272"/>
            <a:ext cx="3271418" cy="310896"/>
          </a:xfrm>
          <a:prstGeom prst="rect">
            <a:avLst/>
          </a:prstGeom>
          <a:noFill/>
          <a:ln/>
        </p:spPr>
        <p:txBody>
          <a:bodyPr wrap="square" lIns="0" tIns="0" rIns="0" bIns="0" rtlCol="0" anchor="ctr"/>
          <a:lstStyle/>
          <a:p>
            <a:pPr indent="0" marL="0">
              <a:lnSpc>
                <a:spcPct val="108000"/>
              </a:lnSpc>
              <a:buNone/>
            </a:pPr>
            <a:r>
              <a:rPr lang="en-US" sz="1050" dirty="0">
                <a:solidFill>
                  <a:srgbClr val="4F4F4F"/>
                </a:solidFill>
                <a:latin typeface="Calibri" pitchFamily="34" charset="0"/>
                <a:ea typeface="Calibri" pitchFamily="34" charset="-122"/>
                <a:cs typeface="Calibri" pitchFamily="34" charset="-120"/>
              </a:rPr>
              <a:t>southbound to hardware switches</a:t>
            </a:r>
            <a:endParaRPr lang="en-US" sz="1050" dirty="0"/>
          </a:p>
        </p:txBody>
      </p:sp>
      <p:sp>
        <p:nvSpPr>
          <p:cNvPr id="18" name="Text 16"/>
          <p:cNvSpPr/>
          <p:nvPr/>
        </p:nvSpPr>
        <p:spPr>
          <a:xfrm>
            <a:off x="777240" y="4736592"/>
            <a:ext cx="3271418" cy="219456"/>
          </a:xfrm>
          <a:prstGeom prst="rect">
            <a:avLst/>
          </a:prstGeom>
          <a:noFill/>
          <a:ln/>
        </p:spPr>
        <p:txBody>
          <a:bodyPr wrap="square" lIns="0" tIns="0" rIns="0" bIns="0" rtlCol="0" anchor="ctr"/>
          <a:lstStyle/>
          <a:p>
            <a:pPr indent="0" marL="0">
              <a:buNone/>
            </a:pPr>
            <a:r>
              <a:rPr lang="en-US" sz="1200" b="1" dirty="0">
                <a:solidFill>
                  <a:srgbClr val="2E2E2E"/>
                </a:solidFill>
                <a:latin typeface="Calibri" pitchFamily="34" charset="0"/>
                <a:ea typeface="Calibri" pitchFamily="34" charset="-122"/>
                <a:cs typeface="Calibri" pitchFamily="34" charset="-120"/>
              </a:rPr>
              <a:t>GTest</a:t>
            </a:r>
            <a:endParaRPr lang="en-US" sz="1200" dirty="0"/>
          </a:p>
        </p:txBody>
      </p:sp>
      <p:sp>
        <p:nvSpPr>
          <p:cNvPr id="19" name="Text 17"/>
          <p:cNvSpPr/>
          <p:nvPr/>
        </p:nvSpPr>
        <p:spPr>
          <a:xfrm>
            <a:off x="777240" y="4937760"/>
            <a:ext cx="3271418" cy="310896"/>
          </a:xfrm>
          <a:prstGeom prst="rect">
            <a:avLst/>
          </a:prstGeom>
          <a:noFill/>
          <a:ln/>
        </p:spPr>
        <p:txBody>
          <a:bodyPr wrap="square" lIns="0" tIns="0" rIns="0" bIns="0" rtlCol="0" anchor="ctr"/>
          <a:lstStyle/>
          <a:p>
            <a:pPr indent="0" marL="0">
              <a:lnSpc>
                <a:spcPct val="108000"/>
              </a:lnSpc>
              <a:buNone/>
            </a:pPr>
            <a:r>
              <a:rPr lang="en-US" sz="1050" dirty="0">
                <a:solidFill>
                  <a:srgbClr val="4F4F4F"/>
                </a:solidFill>
                <a:latin typeface="Calibri" pitchFamily="34" charset="0"/>
                <a:ea typeface="Calibri" pitchFamily="34" charset="-122"/>
                <a:cs typeface="Calibri" pitchFamily="34" charset="-120"/>
              </a:rPr>
              <a:t>603 cases</a:t>
            </a:r>
            <a:endParaRPr lang="en-US" sz="1050" dirty="0"/>
          </a:p>
        </p:txBody>
      </p:sp>
      <p:sp>
        <p:nvSpPr>
          <p:cNvPr id="20" name="Text 18"/>
          <p:cNvSpPr/>
          <p:nvPr/>
        </p:nvSpPr>
        <p:spPr>
          <a:xfrm>
            <a:off x="777240" y="5212080"/>
            <a:ext cx="3271418" cy="219456"/>
          </a:xfrm>
          <a:prstGeom prst="rect">
            <a:avLst/>
          </a:prstGeom>
          <a:noFill/>
          <a:ln/>
        </p:spPr>
        <p:txBody>
          <a:bodyPr wrap="square" lIns="0" tIns="0" rIns="0" bIns="0" rtlCol="0" anchor="ctr"/>
          <a:lstStyle/>
          <a:p>
            <a:pPr indent="0" marL="0">
              <a:buNone/>
            </a:pPr>
            <a:r>
              <a:rPr lang="en-US" sz="1200" b="1" dirty="0">
                <a:solidFill>
                  <a:srgbClr val="2E2E2E"/>
                </a:solidFill>
                <a:latin typeface="Calibri" pitchFamily="34" charset="0"/>
                <a:ea typeface="Calibri" pitchFamily="34" charset="-122"/>
                <a:cs typeface="Calibri" pitchFamily="34" charset="-120"/>
              </a:rPr>
              <a:t>ASan / TSan</a:t>
            </a:r>
            <a:endParaRPr lang="en-US" sz="1200" dirty="0"/>
          </a:p>
        </p:txBody>
      </p:sp>
      <p:sp>
        <p:nvSpPr>
          <p:cNvPr id="21" name="Text 19"/>
          <p:cNvSpPr/>
          <p:nvPr/>
        </p:nvSpPr>
        <p:spPr>
          <a:xfrm>
            <a:off x="777240" y="5413248"/>
            <a:ext cx="3271418" cy="310896"/>
          </a:xfrm>
          <a:prstGeom prst="rect">
            <a:avLst/>
          </a:prstGeom>
          <a:noFill/>
          <a:ln/>
        </p:spPr>
        <p:txBody>
          <a:bodyPr wrap="square" lIns="0" tIns="0" rIns="0" bIns="0" rtlCol="0" anchor="ctr"/>
          <a:lstStyle/>
          <a:p>
            <a:pPr indent="0" marL="0">
              <a:lnSpc>
                <a:spcPct val="108000"/>
              </a:lnSpc>
              <a:buNone/>
            </a:pPr>
            <a:r>
              <a:rPr lang="en-US" sz="1050" dirty="0">
                <a:solidFill>
                  <a:srgbClr val="4F4F4F"/>
                </a:solidFill>
                <a:latin typeface="Calibri" pitchFamily="34" charset="0"/>
                <a:ea typeface="Calibri" pitchFamily="34" charset="-122"/>
                <a:cs typeface="Calibri" pitchFamily="34" charset="-120"/>
              </a:rPr>
              <a:t>reproducible sanitizer builds</a:t>
            </a:r>
            <a:endParaRPr lang="en-US" sz="1050" dirty="0"/>
          </a:p>
        </p:txBody>
      </p:sp>
      <p:sp>
        <p:nvSpPr>
          <p:cNvPr id="22" name="Text 20"/>
          <p:cNvSpPr/>
          <p:nvPr/>
        </p:nvSpPr>
        <p:spPr>
          <a:xfrm>
            <a:off x="4460138" y="1883664"/>
            <a:ext cx="2357018" cy="292608"/>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P4 data plane</a:t>
            </a:r>
            <a:endParaRPr lang="en-US" sz="1500" dirty="0"/>
          </a:p>
        </p:txBody>
      </p:sp>
      <p:sp>
        <p:nvSpPr>
          <p:cNvPr id="23" name="Text 21"/>
          <p:cNvSpPr/>
          <p:nvPr/>
        </p:nvSpPr>
        <p:spPr>
          <a:xfrm>
            <a:off x="6817157" y="1901952"/>
            <a:ext cx="914400" cy="274320"/>
          </a:xfrm>
          <a:prstGeom prst="rect">
            <a:avLst/>
          </a:prstGeom>
          <a:noFill/>
          <a:ln/>
        </p:spPr>
        <p:txBody>
          <a:bodyPr wrap="square" lIns="0" tIns="0" rIns="0" bIns="0" rtlCol="0" anchor="ctr"/>
          <a:lstStyle/>
          <a:p>
            <a:pPr algn="r" indent="0" marL="0">
              <a:buNone/>
            </a:pPr>
            <a:r>
              <a:rPr lang="en-US" sz="1100" dirty="0">
                <a:solidFill>
                  <a:srgbClr val="065A82"/>
                </a:solidFill>
                <a:latin typeface="Courier New" pitchFamily="34" charset="0"/>
                <a:ea typeface="Courier New" pitchFamily="34" charset="-122"/>
                <a:cs typeface="Courier New" pitchFamily="34" charset="-120"/>
              </a:rPr>
              <a:t>P4_16</a:t>
            </a:r>
            <a:endParaRPr lang="en-US" sz="1100" dirty="0"/>
          </a:p>
        </p:txBody>
      </p:sp>
      <p:sp>
        <p:nvSpPr>
          <p:cNvPr id="24" name="Shape 22"/>
          <p:cNvSpPr/>
          <p:nvPr/>
        </p:nvSpPr>
        <p:spPr>
          <a:xfrm>
            <a:off x="4460138" y="2231136"/>
            <a:ext cx="3271418" cy="9144"/>
          </a:xfrm>
          <a:prstGeom prst="line">
            <a:avLst/>
          </a:prstGeom>
          <a:noFill/>
          <a:ln w="12700">
            <a:solidFill>
              <a:srgbClr val="D0D0D0"/>
            </a:solidFill>
            <a:prstDash val="solid"/>
          </a:ln>
        </p:spPr>
      </p:sp>
      <p:sp>
        <p:nvSpPr>
          <p:cNvPr id="25" name="Text 23"/>
          <p:cNvSpPr/>
          <p:nvPr/>
        </p:nvSpPr>
        <p:spPr>
          <a:xfrm>
            <a:off x="4460138" y="2359152"/>
            <a:ext cx="3271418" cy="219456"/>
          </a:xfrm>
          <a:prstGeom prst="rect">
            <a:avLst/>
          </a:prstGeom>
          <a:noFill/>
          <a:ln/>
        </p:spPr>
        <p:txBody>
          <a:bodyPr wrap="square" lIns="0" tIns="0" rIns="0" bIns="0" rtlCol="0" anchor="ctr"/>
          <a:lstStyle/>
          <a:p>
            <a:pPr indent="0" marL="0">
              <a:buNone/>
            </a:pPr>
            <a:r>
              <a:rPr lang="en-US" sz="1200" b="1" dirty="0">
                <a:solidFill>
                  <a:srgbClr val="2E2E2E"/>
                </a:solidFill>
                <a:latin typeface="Calibri" pitchFamily="34" charset="0"/>
                <a:ea typeface="Calibri" pitchFamily="34" charset="-122"/>
                <a:cs typeface="Calibri" pitchFamily="34" charset="-120"/>
              </a:rPr>
              <a:t>v1model architecture</a:t>
            </a:r>
            <a:endParaRPr lang="en-US" sz="1200" dirty="0"/>
          </a:p>
        </p:txBody>
      </p:sp>
      <p:sp>
        <p:nvSpPr>
          <p:cNvPr id="26" name="Text 24"/>
          <p:cNvSpPr/>
          <p:nvPr/>
        </p:nvSpPr>
        <p:spPr>
          <a:xfrm>
            <a:off x="4460138" y="2560320"/>
            <a:ext cx="3271418" cy="310896"/>
          </a:xfrm>
          <a:prstGeom prst="rect">
            <a:avLst/>
          </a:prstGeom>
          <a:noFill/>
          <a:ln/>
        </p:spPr>
        <p:txBody>
          <a:bodyPr wrap="square" lIns="0" tIns="0" rIns="0" bIns="0" rtlCol="0" anchor="ctr"/>
          <a:lstStyle/>
          <a:p>
            <a:pPr indent="0" marL="0">
              <a:lnSpc>
                <a:spcPct val="108000"/>
              </a:lnSpc>
              <a:buNone/>
            </a:pPr>
            <a:r>
              <a:rPr lang="en-US" sz="1050" dirty="0">
                <a:solidFill>
                  <a:srgbClr val="4F4F4F"/>
                </a:solidFill>
                <a:latin typeface="Calibri" pitchFamily="34" charset="0"/>
                <a:ea typeface="Calibri" pitchFamily="34" charset="-122"/>
                <a:cs typeface="Calibri" pitchFamily="34" charset="-120"/>
              </a:rPr>
              <a:t>the target the pipeline compiles for</a:t>
            </a:r>
            <a:endParaRPr lang="en-US" sz="1050" dirty="0"/>
          </a:p>
        </p:txBody>
      </p:sp>
      <p:sp>
        <p:nvSpPr>
          <p:cNvPr id="27" name="Text 25"/>
          <p:cNvSpPr/>
          <p:nvPr/>
        </p:nvSpPr>
        <p:spPr>
          <a:xfrm>
            <a:off x="4460138" y="2834640"/>
            <a:ext cx="3271418" cy="219456"/>
          </a:xfrm>
          <a:prstGeom prst="rect">
            <a:avLst/>
          </a:prstGeom>
          <a:noFill/>
          <a:ln/>
        </p:spPr>
        <p:txBody>
          <a:bodyPr wrap="square" lIns="0" tIns="0" rIns="0" bIns="0" rtlCol="0" anchor="ctr"/>
          <a:lstStyle/>
          <a:p>
            <a:pPr indent="0" marL="0">
              <a:buNone/>
            </a:pPr>
            <a:r>
              <a:rPr lang="en-US" sz="1200" b="1" dirty="0">
                <a:solidFill>
                  <a:srgbClr val="2E2E2E"/>
                </a:solidFill>
                <a:latin typeface="Calibri" pitchFamily="34" charset="0"/>
                <a:ea typeface="Calibri" pitchFamily="34" charset="-122"/>
                <a:cs typeface="Calibri" pitchFamily="34" charset="-120"/>
              </a:rPr>
              <a:t>bmv2 simple_switch_grpc</a:t>
            </a:r>
            <a:endParaRPr lang="en-US" sz="1200" dirty="0"/>
          </a:p>
        </p:txBody>
      </p:sp>
      <p:sp>
        <p:nvSpPr>
          <p:cNvPr id="28" name="Text 26"/>
          <p:cNvSpPr/>
          <p:nvPr/>
        </p:nvSpPr>
        <p:spPr>
          <a:xfrm>
            <a:off x="4460138" y="3035808"/>
            <a:ext cx="3271418" cy="310896"/>
          </a:xfrm>
          <a:prstGeom prst="rect">
            <a:avLst/>
          </a:prstGeom>
          <a:noFill/>
          <a:ln/>
        </p:spPr>
        <p:txBody>
          <a:bodyPr wrap="square" lIns="0" tIns="0" rIns="0" bIns="0" rtlCol="0" anchor="ctr"/>
          <a:lstStyle/>
          <a:p>
            <a:pPr indent="0" marL="0">
              <a:lnSpc>
                <a:spcPct val="108000"/>
              </a:lnSpc>
              <a:buNone/>
            </a:pPr>
            <a:r>
              <a:rPr lang="en-US" sz="1050" dirty="0">
                <a:solidFill>
                  <a:srgbClr val="4F4F4F"/>
                </a:solidFill>
                <a:latin typeface="Calibri" pitchFamily="34" charset="0"/>
                <a:ea typeface="Calibri" pitchFamily="34" charset="-122"/>
                <a:cs typeface="Calibri" pitchFamily="34" charset="-120"/>
              </a:rPr>
              <a:t>the software switch</a:t>
            </a:r>
            <a:endParaRPr lang="en-US" sz="1050" dirty="0"/>
          </a:p>
        </p:txBody>
      </p:sp>
      <p:sp>
        <p:nvSpPr>
          <p:cNvPr id="29" name="Text 27"/>
          <p:cNvSpPr/>
          <p:nvPr/>
        </p:nvSpPr>
        <p:spPr>
          <a:xfrm>
            <a:off x="4460138" y="3310128"/>
            <a:ext cx="3271418" cy="219456"/>
          </a:xfrm>
          <a:prstGeom prst="rect">
            <a:avLst/>
          </a:prstGeom>
          <a:noFill/>
          <a:ln/>
        </p:spPr>
        <p:txBody>
          <a:bodyPr wrap="square" lIns="0" tIns="0" rIns="0" bIns="0" rtlCol="0" anchor="ctr"/>
          <a:lstStyle/>
          <a:p>
            <a:pPr indent="0" marL="0">
              <a:buNone/>
            </a:pPr>
            <a:r>
              <a:rPr lang="en-US" sz="1200" b="1" dirty="0">
                <a:solidFill>
                  <a:srgbClr val="2E2E2E"/>
                </a:solidFill>
                <a:latin typeface="Calibri" pitchFamily="34" charset="0"/>
                <a:ea typeface="Calibri" pitchFamily="34" charset="-122"/>
                <a:cs typeface="Calibri" pitchFamily="34" charset="-120"/>
              </a:rPr>
              <a:t>p4c-bm2-ss</a:t>
            </a:r>
            <a:endParaRPr lang="en-US" sz="1200" dirty="0"/>
          </a:p>
        </p:txBody>
      </p:sp>
      <p:sp>
        <p:nvSpPr>
          <p:cNvPr id="30" name="Text 28"/>
          <p:cNvSpPr/>
          <p:nvPr/>
        </p:nvSpPr>
        <p:spPr>
          <a:xfrm>
            <a:off x="4460138" y="3511296"/>
            <a:ext cx="3271418" cy="310896"/>
          </a:xfrm>
          <a:prstGeom prst="rect">
            <a:avLst/>
          </a:prstGeom>
          <a:noFill/>
          <a:ln/>
        </p:spPr>
        <p:txBody>
          <a:bodyPr wrap="square" lIns="0" tIns="0" rIns="0" bIns="0" rtlCol="0" anchor="ctr"/>
          <a:lstStyle/>
          <a:p>
            <a:pPr indent="0" marL="0">
              <a:lnSpc>
                <a:spcPct val="108000"/>
              </a:lnSpc>
              <a:buNone/>
            </a:pPr>
            <a:r>
              <a:rPr lang="en-US" sz="1050" dirty="0">
                <a:solidFill>
                  <a:srgbClr val="4F4F4F"/>
                </a:solidFill>
                <a:latin typeface="Calibri" pitchFamily="34" charset="0"/>
                <a:ea typeface="Calibri" pitchFamily="34" charset="-122"/>
                <a:cs typeface="Calibri" pitchFamily="34" charset="-120"/>
              </a:rPr>
              <a:t>the compiler</a:t>
            </a:r>
            <a:endParaRPr lang="en-US" sz="1050" dirty="0"/>
          </a:p>
        </p:txBody>
      </p:sp>
      <p:sp>
        <p:nvSpPr>
          <p:cNvPr id="31" name="Text 29"/>
          <p:cNvSpPr/>
          <p:nvPr/>
        </p:nvSpPr>
        <p:spPr>
          <a:xfrm>
            <a:off x="4460138" y="3785616"/>
            <a:ext cx="3271418" cy="219456"/>
          </a:xfrm>
          <a:prstGeom prst="rect">
            <a:avLst/>
          </a:prstGeom>
          <a:noFill/>
          <a:ln/>
        </p:spPr>
        <p:txBody>
          <a:bodyPr wrap="square" lIns="0" tIns="0" rIns="0" bIns="0" rtlCol="0" anchor="ctr"/>
          <a:lstStyle/>
          <a:p>
            <a:pPr indent="0" marL="0">
              <a:buNone/>
            </a:pPr>
            <a:r>
              <a:rPr lang="en-US" sz="1200" b="1" dirty="0">
                <a:solidFill>
                  <a:srgbClr val="2E2E2E"/>
                </a:solidFill>
                <a:latin typeface="Calibri" pitchFamily="34" charset="0"/>
                <a:ea typeface="Calibri" pitchFamily="34" charset="-122"/>
                <a:cs typeface="Calibri" pitchFamily="34" charset="-120"/>
              </a:rPr>
              <a:t>P4Runtime</a:t>
            </a:r>
            <a:endParaRPr lang="en-US" sz="1200" dirty="0"/>
          </a:p>
        </p:txBody>
      </p:sp>
      <p:sp>
        <p:nvSpPr>
          <p:cNvPr id="32" name="Text 30"/>
          <p:cNvSpPr/>
          <p:nvPr/>
        </p:nvSpPr>
        <p:spPr>
          <a:xfrm>
            <a:off x="4460138" y="3986784"/>
            <a:ext cx="3271418" cy="310896"/>
          </a:xfrm>
          <a:prstGeom prst="rect">
            <a:avLst/>
          </a:prstGeom>
          <a:noFill/>
          <a:ln/>
        </p:spPr>
        <p:txBody>
          <a:bodyPr wrap="square" lIns="0" tIns="0" rIns="0" bIns="0" rtlCol="0" anchor="ctr"/>
          <a:lstStyle/>
          <a:p>
            <a:pPr indent="0" marL="0">
              <a:lnSpc>
                <a:spcPct val="108000"/>
              </a:lnSpc>
              <a:buNone/>
            </a:pPr>
            <a:r>
              <a:rPr lang="en-US" sz="1050" dirty="0">
                <a:solidFill>
                  <a:srgbClr val="4F4F4F"/>
                </a:solidFill>
                <a:latin typeface="Calibri" pitchFamily="34" charset="0"/>
                <a:ea typeface="Calibri" pitchFamily="34" charset="-122"/>
                <a:cs typeface="Calibri" pitchFamily="34" charset="-120"/>
              </a:rPr>
              <a:t>gRPC + protobuf control API</a:t>
            </a:r>
            <a:endParaRPr lang="en-US" sz="1050" dirty="0"/>
          </a:p>
        </p:txBody>
      </p:sp>
      <p:sp>
        <p:nvSpPr>
          <p:cNvPr id="33" name="Text 31"/>
          <p:cNvSpPr/>
          <p:nvPr/>
        </p:nvSpPr>
        <p:spPr>
          <a:xfrm>
            <a:off x="4460138" y="4261104"/>
            <a:ext cx="3271418" cy="219456"/>
          </a:xfrm>
          <a:prstGeom prst="rect">
            <a:avLst/>
          </a:prstGeom>
          <a:noFill/>
          <a:ln/>
        </p:spPr>
        <p:txBody>
          <a:bodyPr wrap="square" lIns="0" tIns="0" rIns="0" bIns="0" rtlCol="0" anchor="ctr"/>
          <a:lstStyle/>
          <a:p>
            <a:pPr indent="0" marL="0">
              <a:buNone/>
            </a:pPr>
            <a:r>
              <a:rPr lang="en-US" sz="1200" b="1" dirty="0">
                <a:solidFill>
                  <a:srgbClr val="2E2E2E"/>
                </a:solidFill>
                <a:latin typeface="Calibri" pitchFamily="34" charset="0"/>
                <a:ea typeface="Calibri" pitchFamily="34" charset="-122"/>
                <a:cs typeface="Calibri" pitchFamily="34" charset="-120"/>
              </a:rPr>
              <a:t>PRE clone session</a:t>
            </a:r>
            <a:endParaRPr lang="en-US" sz="1200" dirty="0"/>
          </a:p>
        </p:txBody>
      </p:sp>
      <p:sp>
        <p:nvSpPr>
          <p:cNvPr id="34" name="Text 32"/>
          <p:cNvSpPr/>
          <p:nvPr/>
        </p:nvSpPr>
        <p:spPr>
          <a:xfrm>
            <a:off x="4460138" y="4462272"/>
            <a:ext cx="3271418" cy="310896"/>
          </a:xfrm>
          <a:prstGeom prst="rect">
            <a:avLst/>
          </a:prstGeom>
          <a:noFill/>
          <a:ln/>
        </p:spPr>
        <p:txBody>
          <a:bodyPr wrap="square" lIns="0" tIns="0" rIns="0" bIns="0" rtlCol="0" anchor="ctr"/>
          <a:lstStyle/>
          <a:p>
            <a:pPr indent="0" marL="0">
              <a:lnSpc>
                <a:spcPct val="108000"/>
              </a:lnSpc>
              <a:buNone/>
            </a:pPr>
            <a:r>
              <a:rPr lang="en-US" sz="1050" dirty="0">
                <a:solidFill>
                  <a:srgbClr val="4F4F4F"/>
                </a:solidFill>
                <a:latin typeface="Calibri" pitchFamily="34" charset="0"/>
                <a:ea typeface="Calibri" pitchFamily="34" charset="-122"/>
                <a:cs typeface="Calibri" pitchFamily="34" charset="-120"/>
              </a:rPr>
              <a:t>how telemetry samples reach the CPU</a:t>
            </a:r>
            <a:endParaRPr lang="en-US" sz="1050" dirty="0"/>
          </a:p>
        </p:txBody>
      </p:sp>
      <p:sp>
        <p:nvSpPr>
          <p:cNvPr id="35" name="Text 33"/>
          <p:cNvSpPr/>
          <p:nvPr/>
        </p:nvSpPr>
        <p:spPr>
          <a:xfrm>
            <a:off x="4460138" y="4736592"/>
            <a:ext cx="3271418" cy="219456"/>
          </a:xfrm>
          <a:prstGeom prst="rect">
            <a:avLst/>
          </a:prstGeom>
          <a:noFill/>
          <a:ln/>
        </p:spPr>
        <p:txBody>
          <a:bodyPr wrap="square" lIns="0" tIns="0" rIns="0" bIns="0" rtlCol="0" anchor="ctr"/>
          <a:lstStyle/>
          <a:p>
            <a:pPr indent="0" marL="0">
              <a:buNone/>
            </a:pPr>
            <a:r>
              <a:rPr lang="en-US" sz="1200" b="1" dirty="0">
                <a:solidFill>
                  <a:srgbClr val="2E2E2E"/>
                </a:solidFill>
                <a:latin typeface="Calibri" pitchFamily="34" charset="0"/>
                <a:ea typeface="Calibri" pitchFamily="34" charset="-122"/>
                <a:cs typeface="Calibri" pitchFamily="34" charset="-120"/>
              </a:rPr>
              <a:t>Mininet</a:t>
            </a:r>
            <a:endParaRPr lang="en-US" sz="1200" dirty="0"/>
          </a:p>
        </p:txBody>
      </p:sp>
      <p:sp>
        <p:nvSpPr>
          <p:cNvPr id="36" name="Text 34"/>
          <p:cNvSpPr/>
          <p:nvPr/>
        </p:nvSpPr>
        <p:spPr>
          <a:xfrm>
            <a:off x="4460138" y="4937760"/>
            <a:ext cx="3271418" cy="310896"/>
          </a:xfrm>
          <a:prstGeom prst="rect">
            <a:avLst/>
          </a:prstGeom>
          <a:noFill/>
          <a:ln/>
        </p:spPr>
        <p:txBody>
          <a:bodyPr wrap="square" lIns="0" tIns="0" rIns="0" bIns="0" rtlCol="0" anchor="ctr"/>
          <a:lstStyle/>
          <a:p>
            <a:pPr indent="0" marL="0">
              <a:lnSpc>
                <a:spcPct val="108000"/>
              </a:lnSpc>
              <a:buNone/>
            </a:pPr>
            <a:r>
              <a:rPr lang="en-US" sz="1050" dirty="0">
                <a:solidFill>
                  <a:srgbClr val="4F4F4F"/>
                </a:solidFill>
                <a:latin typeface="Calibri" pitchFamily="34" charset="0"/>
                <a:ea typeface="Calibri" pitchFamily="34" charset="-122"/>
                <a:cs typeface="Calibri" pitchFamily="34" charset="-120"/>
              </a:rPr>
              <a:t>the fabric the switches run in</a:t>
            </a:r>
            <a:endParaRPr lang="en-US" sz="1050" dirty="0"/>
          </a:p>
        </p:txBody>
      </p:sp>
      <p:sp>
        <p:nvSpPr>
          <p:cNvPr id="37" name="Text 35"/>
          <p:cNvSpPr/>
          <p:nvPr/>
        </p:nvSpPr>
        <p:spPr>
          <a:xfrm>
            <a:off x="8143037" y="1883664"/>
            <a:ext cx="2357018" cy="292608"/>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Proxy and control plane</a:t>
            </a:r>
            <a:endParaRPr lang="en-US" sz="1500" dirty="0"/>
          </a:p>
        </p:txBody>
      </p:sp>
      <p:sp>
        <p:nvSpPr>
          <p:cNvPr id="38" name="Text 36"/>
          <p:cNvSpPr/>
          <p:nvPr/>
        </p:nvSpPr>
        <p:spPr>
          <a:xfrm>
            <a:off x="10500055" y="1901952"/>
            <a:ext cx="914400" cy="274320"/>
          </a:xfrm>
          <a:prstGeom prst="rect">
            <a:avLst/>
          </a:prstGeom>
          <a:noFill/>
          <a:ln/>
        </p:spPr>
        <p:txBody>
          <a:bodyPr wrap="square" lIns="0" tIns="0" rIns="0" bIns="0" rtlCol="0" anchor="ctr"/>
          <a:lstStyle/>
          <a:p>
            <a:pPr algn="r" indent="0" marL="0">
              <a:buNone/>
            </a:pPr>
            <a:r>
              <a:rPr lang="en-US" sz="1100" dirty="0">
                <a:solidFill>
                  <a:srgbClr val="065A82"/>
                </a:solidFill>
                <a:latin typeface="Courier New" pitchFamily="34" charset="0"/>
                <a:ea typeface="Courier New" pitchFamily="34" charset="-122"/>
                <a:cs typeface="Courier New" pitchFamily="34" charset="-120"/>
              </a:rPr>
              <a:t>Python</a:t>
            </a:r>
            <a:endParaRPr lang="en-US" sz="1100" dirty="0"/>
          </a:p>
        </p:txBody>
      </p:sp>
      <p:sp>
        <p:nvSpPr>
          <p:cNvPr id="39" name="Shape 37"/>
          <p:cNvSpPr/>
          <p:nvPr/>
        </p:nvSpPr>
        <p:spPr>
          <a:xfrm>
            <a:off x="8143037" y="2231136"/>
            <a:ext cx="3271418" cy="9144"/>
          </a:xfrm>
          <a:prstGeom prst="line">
            <a:avLst/>
          </a:prstGeom>
          <a:noFill/>
          <a:ln w="12700">
            <a:solidFill>
              <a:srgbClr val="D0D0D0"/>
            </a:solidFill>
            <a:prstDash val="solid"/>
          </a:ln>
        </p:spPr>
      </p:sp>
      <p:sp>
        <p:nvSpPr>
          <p:cNvPr id="40" name="Text 38"/>
          <p:cNvSpPr/>
          <p:nvPr/>
        </p:nvSpPr>
        <p:spPr>
          <a:xfrm>
            <a:off x="8143037" y="2359152"/>
            <a:ext cx="3271418" cy="219456"/>
          </a:xfrm>
          <a:prstGeom prst="rect">
            <a:avLst/>
          </a:prstGeom>
          <a:noFill/>
          <a:ln/>
        </p:spPr>
        <p:txBody>
          <a:bodyPr wrap="square" lIns="0" tIns="0" rIns="0" bIns="0" rtlCol="0" anchor="ctr"/>
          <a:lstStyle/>
          <a:p>
            <a:pPr indent="0" marL="0">
              <a:buNone/>
            </a:pPr>
            <a:r>
              <a:rPr lang="en-US" sz="1200" b="1" dirty="0">
                <a:solidFill>
                  <a:srgbClr val="2E2E2E"/>
                </a:solidFill>
                <a:latin typeface="Calibri" pitchFamily="34" charset="0"/>
                <a:ea typeface="Calibri" pitchFamily="34" charset="-122"/>
                <a:cs typeface="Calibri" pitchFamily="34" charset="-120"/>
              </a:rPr>
              <a:t>FastAPI / uvicorn</a:t>
            </a:r>
            <a:endParaRPr lang="en-US" sz="1200" dirty="0"/>
          </a:p>
        </p:txBody>
      </p:sp>
      <p:sp>
        <p:nvSpPr>
          <p:cNvPr id="41" name="Text 39"/>
          <p:cNvSpPr/>
          <p:nvPr/>
        </p:nvSpPr>
        <p:spPr>
          <a:xfrm>
            <a:off x="8143037" y="2560320"/>
            <a:ext cx="3271418" cy="310896"/>
          </a:xfrm>
          <a:prstGeom prst="rect">
            <a:avLst/>
          </a:prstGeom>
          <a:noFill/>
          <a:ln/>
        </p:spPr>
        <p:txBody>
          <a:bodyPr wrap="square" lIns="0" tIns="0" rIns="0" bIns="0" rtlCol="0" anchor="ctr"/>
          <a:lstStyle/>
          <a:p>
            <a:pPr indent="0" marL="0">
              <a:lnSpc>
                <a:spcPct val="108000"/>
              </a:lnSpc>
              <a:buNone/>
            </a:pPr>
            <a:r>
              <a:rPr lang="en-US" sz="1050" dirty="0">
                <a:solidFill>
                  <a:srgbClr val="4F4F4F"/>
                </a:solidFill>
                <a:latin typeface="Calibri" pitchFamily="34" charset="0"/>
                <a:ea typeface="Calibri" pitchFamily="34" charset="-122"/>
                <a:cs typeface="Calibri" pitchFamily="34" charset="-120"/>
              </a:rPr>
              <a:t>the proxy's north side</a:t>
            </a:r>
            <a:endParaRPr lang="en-US" sz="1050" dirty="0"/>
          </a:p>
        </p:txBody>
      </p:sp>
      <p:sp>
        <p:nvSpPr>
          <p:cNvPr id="42" name="Text 40"/>
          <p:cNvSpPr/>
          <p:nvPr/>
        </p:nvSpPr>
        <p:spPr>
          <a:xfrm>
            <a:off x="8143037" y="2834640"/>
            <a:ext cx="3271418" cy="219456"/>
          </a:xfrm>
          <a:prstGeom prst="rect">
            <a:avLst/>
          </a:prstGeom>
          <a:noFill/>
          <a:ln/>
        </p:spPr>
        <p:txBody>
          <a:bodyPr wrap="square" lIns="0" tIns="0" rIns="0" bIns="0" rtlCol="0" anchor="ctr"/>
          <a:lstStyle/>
          <a:p>
            <a:pPr indent="0" marL="0">
              <a:buNone/>
            </a:pPr>
            <a:r>
              <a:rPr lang="en-US" sz="1200" b="1" dirty="0">
                <a:solidFill>
                  <a:srgbClr val="2E2E2E"/>
                </a:solidFill>
                <a:latin typeface="Calibri" pitchFamily="34" charset="0"/>
                <a:ea typeface="Calibri" pitchFamily="34" charset="-122"/>
                <a:cs typeface="Calibri" pitchFamily="34" charset="-120"/>
              </a:rPr>
              <a:t>grpcio</a:t>
            </a:r>
            <a:endParaRPr lang="en-US" sz="1200" dirty="0"/>
          </a:p>
        </p:txBody>
      </p:sp>
      <p:sp>
        <p:nvSpPr>
          <p:cNvPr id="43" name="Text 41"/>
          <p:cNvSpPr/>
          <p:nvPr/>
        </p:nvSpPr>
        <p:spPr>
          <a:xfrm>
            <a:off x="8143037" y="3035808"/>
            <a:ext cx="3271418" cy="310896"/>
          </a:xfrm>
          <a:prstGeom prst="rect">
            <a:avLst/>
          </a:prstGeom>
          <a:noFill/>
          <a:ln/>
        </p:spPr>
        <p:txBody>
          <a:bodyPr wrap="square" lIns="0" tIns="0" rIns="0" bIns="0" rtlCol="0" anchor="ctr"/>
          <a:lstStyle/>
          <a:p>
            <a:pPr indent="0" marL="0">
              <a:lnSpc>
                <a:spcPct val="108000"/>
              </a:lnSpc>
              <a:buNone/>
            </a:pPr>
            <a:r>
              <a:rPr lang="en-US" sz="1050" dirty="0">
                <a:solidFill>
                  <a:srgbClr val="4F4F4F"/>
                </a:solidFill>
                <a:latin typeface="Calibri" pitchFamily="34" charset="0"/>
                <a:ea typeface="Calibri" pitchFamily="34" charset="-122"/>
                <a:cs typeface="Calibri" pitchFamily="34" charset="-120"/>
              </a:rPr>
              <a:t>the proxy's south side</a:t>
            </a:r>
            <a:endParaRPr lang="en-US" sz="1050" dirty="0"/>
          </a:p>
        </p:txBody>
      </p:sp>
      <p:sp>
        <p:nvSpPr>
          <p:cNvPr id="44" name="Text 42"/>
          <p:cNvSpPr/>
          <p:nvPr/>
        </p:nvSpPr>
        <p:spPr>
          <a:xfrm>
            <a:off x="8143037" y="3310128"/>
            <a:ext cx="3271418" cy="219456"/>
          </a:xfrm>
          <a:prstGeom prst="rect">
            <a:avLst/>
          </a:prstGeom>
          <a:noFill/>
          <a:ln/>
        </p:spPr>
        <p:txBody>
          <a:bodyPr wrap="square" lIns="0" tIns="0" rIns="0" bIns="0" rtlCol="0" anchor="ctr"/>
          <a:lstStyle/>
          <a:p>
            <a:pPr indent="0" marL="0">
              <a:buNone/>
            </a:pPr>
            <a:r>
              <a:rPr lang="en-US" sz="1200" b="1" dirty="0">
                <a:solidFill>
                  <a:srgbClr val="2E2E2E"/>
                </a:solidFill>
                <a:latin typeface="Calibri" pitchFamily="34" charset="0"/>
                <a:ea typeface="Calibri" pitchFamily="34" charset="-122"/>
                <a:cs typeface="Calibri" pitchFamily="34" charset="-120"/>
              </a:rPr>
              <a:t>networkx</a:t>
            </a:r>
            <a:endParaRPr lang="en-US" sz="1200" dirty="0"/>
          </a:p>
        </p:txBody>
      </p:sp>
      <p:sp>
        <p:nvSpPr>
          <p:cNvPr id="45" name="Text 43"/>
          <p:cNvSpPr/>
          <p:nvPr/>
        </p:nvSpPr>
        <p:spPr>
          <a:xfrm>
            <a:off x="8143037" y="3511296"/>
            <a:ext cx="3271418" cy="310896"/>
          </a:xfrm>
          <a:prstGeom prst="rect">
            <a:avLst/>
          </a:prstGeom>
          <a:noFill/>
          <a:ln/>
        </p:spPr>
        <p:txBody>
          <a:bodyPr wrap="square" lIns="0" tIns="0" rIns="0" bIns="0" rtlCol="0" anchor="ctr"/>
          <a:lstStyle/>
          <a:p>
            <a:pPr indent="0" marL="0">
              <a:lnSpc>
                <a:spcPct val="108000"/>
              </a:lnSpc>
              <a:buNone/>
            </a:pPr>
            <a:r>
              <a:rPr lang="en-US" sz="1050" dirty="0">
                <a:solidFill>
                  <a:srgbClr val="4F4F4F"/>
                </a:solidFill>
                <a:latin typeface="Calibri" pitchFamily="34" charset="0"/>
                <a:ea typeface="Calibri" pitchFamily="34" charset="-122"/>
                <a:cs typeface="Calibri" pitchFamily="34" charset="-120"/>
              </a:rPr>
              <a:t>graph state and BFS routing</a:t>
            </a:r>
            <a:endParaRPr lang="en-US" sz="1050" dirty="0"/>
          </a:p>
        </p:txBody>
      </p:sp>
      <p:sp>
        <p:nvSpPr>
          <p:cNvPr id="46" name="Text 44"/>
          <p:cNvSpPr/>
          <p:nvPr/>
        </p:nvSpPr>
        <p:spPr>
          <a:xfrm>
            <a:off x="8143037" y="3785616"/>
            <a:ext cx="3271418" cy="219456"/>
          </a:xfrm>
          <a:prstGeom prst="rect">
            <a:avLst/>
          </a:prstGeom>
          <a:noFill/>
          <a:ln/>
        </p:spPr>
        <p:txBody>
          <a:bodyPr wrap="square" lIns="0" tIns="0" rIns="0" bIns="0" rtlCol="0" anchor="ctr"/>
          <a:lstStyle/>
          <a:p>
            <a:pPr indent="0" marL="0">
              <a:buNone/>
            </a:pPr>
            <a:r>
              <a:rPr lang="en-US" sz="1200" b="1" dirty="0">
                <a:solidFill>
                  <a:srgbClr val="2E2E2E"/>
                </a:solidFill>
                <a:latin typeface="Calibri" pitchFamily="34" charset="0"/>
                <a:ea typeface="Calibri" pitchFamily="34" charset="-122"/>
                <a:cs typeface="Calibri" pitchFamily="34" charset="-120"/>
              </a:rPr>
              <a:t>Ryu / OpenFlow 1.3</a:t>
            </a:r>
            <a:endParaRPr lang="en-US" sz="1200" dirty="0"/>
          </a:p>
        </p:txBody>
      </p:sp>
      <p:sp>
        <p:nvSpPr>
          <p:cNvPr id="47" name="Text 45"/>
          <p:cNvSpPr/>
          <p:nvPr/>
        </p:nvSpPr>
        <p:spPr>
          <a:xfrm>
            <a:off x="8143037" y="3986784"/>
            <a:ext cx="3271418" cy="310896"/>
          </a:xfrm>
          <a:prstGeom prst="rect">
            <a:avLst/>
          </a:prstGeom>
          <a:noFill/>
          <a:ln/>
        </p:spPr>
        <p:txBody>
          <a:bodyPr wrap="square" lIns="0" tIns="0" rIns="0" bIns="0" rtlCol="0" anchor="ctr"/>
          <a:lstStyle/>
          <a:p>
            <a:pPr indent="0" marL="0">
              <a:lnSpc>
                <a:spcPct val="108000"/>
              </a:lnSpc>
              <a:buNone/>
            </a:pPr>
            <a:r>
              <a:rPr lang="en-US" sz="1050" dirty="0">
                <a:solidFill>
                  <a:srgbClr val="4F4F4F"/>
                </a:solidFill>
                <a:latin typeface="Calibri" pitchFamily="34" charset="0"/>
                <a:ea typeface="Calibri" pitchFamily="34" charset="-122"/>
                <a:cs typeface="Calibri" pitchFamily="34" charset="-120"/>
              </a:rPr>
              <a:t>the API being impersonated</a:t>
            </a:r>
            <a:endParaRPr lang="en-US" sz="1050" dirty="0"/>
          </a:p>
        </p:txBody>
      </p:sp>
      <p:sp>
        <p:nvSpPr>
          <p:cNvPr id="48" name="Text 46"/>
          <p:cNvSpPr/>
          <p:nvPr/>
        </p:nvSpPr>
        <p:spPr>
          <a:xfrm>
            <a:off x="8143037" y="4261104"/>
            <a:ext cx="3271418" cy="219456"/>
          </a:xfrm>
          <a:prstGeom prst="rect">
            <a:avLst/>
          </a:prstGeom>
          <a:noFill/>
          <a:ln/>
        </p:spPr>
        <p:txBody>
          <a:bodyPr wrap="square" lIns="0" tIns="0" rIns="0" bIns="0" rtlCol="0" anchor="ctr"/>
          <a:lstStyle/>
          <a:p>
            <a:pPr indent="0" marL="0">
              <a:buNone/>
            </a:pPr>
            <a:r>
              <a:rPr lang="en-US" sz="1200" b="1" dirty="0">
                <a:solidFill>
                  <a:srgbClr val="2E2E2E"/>
                </a:solidFill>
                <a:latin typeface="Calibri" pitchFamily="34" charset="0"/>
                <a:ea typeface="Calibri" pitchFamily="34" charset="-122"/>
                <a:cs typeface="Calibri" pitchFamily="34" charset="-120"/>
              </a:rPr>
              <a:t>sFlow v5</a:t>
            </a:r>
            <a:endParaRPr lang="en-US" sz="1200" dirty="0"/>
          </a:p>
        </p:txBody>
      </p:sp>
      <p:sp>
        <p:nvSpPr>
          <p:cNvPr id="49" name="Text 47"/>
          <p:cNvSpPr/>
          <p:nvPr/>
        </p:nvSpPr>
        <p:spPr>
          <a:xfrm>
            <a:off x="8143037" y="4462272"/>
            <a:ext cx="3271418" cy="310896"/>
          </a:xfrm>
          <a:prstGeom prst="rect">
            <a:avLst/>
          </a:prstGeom>
          <a:noFill/>
          <a:ln/>
        </p:spPr>
        <p:txBody>
          <a:bodyPr wrap="square" lIns="0" tIns="0" rIns="0" bIns="0" rtlCol="0" anchor="ctr"/>
          <a:lstStyle/>
          <a:p>
            <a:pPr indent="0" marL="0">
              <a:lnSpc>
                <a:spcPct val="108000"/>
              </a:lnSpc>
              <a:buNone/>
            </a:pPr>
            <a:r>
              <a:rPr lang="en-US" sz="1050" dirty="0">
                <a:solidFill>
                  <a:srgbClr val="4F4F4F"/>
                </a:solidFill>
                <a:latin typeface="Calibri" pitchFamily="34" charset="0"/>
                <a:ea typeface="Calibri" pitchFamily="34" charset="-122"/>
                <a:cs typeface="Calibri" pitchFamily="34" charset="-120"/>
              </a:rPr>
              <a:t>synthesised, not forwarded</a:t>
            </a:r>
            <a:endParaRPr lang="en-US" sz="1050" dirty="0"/>
          </a:p>
        </p:txBody>
      </p:sp>
      <p:sp>
        <p:nvSpPr>
          <p:cNvPr id="50" name="Text 48"/>
          <p:cNvSpPr/>
          <p:nvPr/>
        </p:nvSpPr>
        <p:spPr>
          <a:xfrm>
            <a:off x="8143037" y="4736592"/>
            <a:ext cx="3271418" cy="219456"/>
          </a:xfrm>
          <a:prstGeom prst="rect">
            <a:avLst/>
          </a:prstGeom>
          <a:noFill/>
          <a:ln/>
        </p:spPr>
        <p:txBody>
          <a:bodyPr wrap="square" lIns="0" tIns="0" rIns="0" bIns="0" rtlCol="0" anchor="ctr"/>
          <a:lstStyle/>
          <a:p>
            <a:pPr indent="0" marL="0">
              <a:buNone/>
            </a:pPr>
            <a:r>
              <a:rPr lang="en-US" sz="1200" b="1" dirty="0">
                <a:solidFill>
                  <a:srgbClr val="2E2E2E"/>
                </a:solidFill>
                <a:latin typeface="Calibri" pitchFamily="34" charset="0"/>
                <a:ea typeface="Calibri" pitchFamily="34" charset="-122"/>
                <a:cs typeface="Calibri" pitchFamily="34" charset="-120"/>
              </a:rPr>
              <a:t>LLDP</a:t>
            </a:r>
            <a:endParaRPr lang="en-US" sz="1200" dirty="0"/>
          </a:p>
        </p:txBody>
      </p:sp>
      <p:sp>
        <p:nvSpPr>
          <p:cNvPr id="51" name="Text 49"/>
          <p:cNvSpPr/>
          <p:nvPr/>
        </p:nvSpPr>
        <p:spPr>
          <a:xfrm>
            <a:off x="8143037" y="4937760"/>
            <a:ext cx="3271418" cy="310896"/>
          </a:xfrm>
          <a:prstGeom prst="rect">
            <a:avLst/>
          </a:prstGeom>
          <a:noFill/>
          <a:ln/>
        </p:spPr>
        <p:txBody>
          <a:bodyPr wrap="square" lIns="0" tIns="0" rIns="0" bIns="0" rtlCol="0" anchor="ctr"/>
          <a:lstStyle/>
          <a:p>
            <a:pPr indent="0" marL="0">
              <a:lnSpc>
                <a:spcPct val="108000"/>
              </a:lnSpc>
              <a:buNone/>
            </a:pPr>
            <a:r>
              <a:rPr lang="en-US" sz="1050" dirty="0">
                <a:solidFill>
                  <a:srgbClr val="4F4F4F"/>
                </a:solidFill>
                <a:latin typeface="Calibri" pitchFamily="34" charset="0"/>
                <a:ea typeface="Calibri" pitchFamily="34" charset="-122"/>
                <a:cs typeface="Calibri" pitchFamily="34" charset="-120"/>
              </a:rPr>
              <a:t>link discovery and liveness beacons</a:t>
            </a:r>
            <a:endParaRPr lang="en-US" sz="1050" dirty="0"/>
          </a:p>
        </p:txBody>
      </p:sp>
      <p:sp>
        <p:nvSpPr>
          <p:cNvPr id="52" name="Text 50"/>
          <p:cNvSpPr/>
          <p:nvPr/>
        </p:nvSpPr>
        <p:spPr>
          <a:xfrm>
            <a:off x="8143037" y="5212080"/>
            <a:ext cx="3271418" cy="219456"/>
          </a:xfrm>
          <a:prstGeom prst="rect">
            <a:avLst/>
          </a:prstGeom>
          <a:noFill/>
          <a:ln/>
        </p:spPr>
        <p:txBody>
          <a:bodyPr wrap="square" lIns="0" tIns="0" rIns="0" bIns="0" rtlCol="0" anchor="ctr"/>
          <a:lstStyle/>
          <a:p>
            <a:pPr indent="0" marL="0">
              <a:buNone/>
            </a:pPr>
            <a:r>
              <a:rPr lang="en-US" sz="1200" b="1" dirty="0">
                <a:solidFill>
                  <a:srgbClr val="2E2E2E"/>
                </a:solidFill>
                <a:latin typeface="Calibri" pitchFamily="34" charset="0"/>
                <a:ea typeface="Calibri" pitchFamily="34" charset="-122"/>
                <a:cs typeface="Calibri" pitchFamily="34" charset="-120"/>
              </a:rPr>
              <a:t>hypothesis</a:t>
            </a:r>
            <a:endParaRPr lang="en-US" sz="1200" dirty="0"/>
          </a:p>
        </p:txBody>
      </p:sp>
      <p:sp>
        <p:nvSpPr>
          <p:cNvPr id="53" name="Text 51"/>
          <p:cNvSpPr/>
          <p:nvPr/>
        </p:nvSpPr>
        <p:spPr>
          <a:xfrm>
            <a:off x="8143037" y="5413248"/>
            <a:ext cx="3271418" cy="310896"/>
          </a:xfrm>
          <a:prstGeom prst="rect">
            <a:avLst/>
          </a:prstGeom>
          <a:noFill/>
          <a:ln/>
        </p:spPr>
        <p:txBody>
          <a:bodyPr wrap="square" lIns="0" tIns="0" rIns="0" bIns="0" rtlCol="0" anchor="ctr"/>
          <a:lstStyle/>
          <a:p>
            <a:pPr indent="0" marL="0">
              <a:lnSpc>
                <a:spcPct val="108000"/>
              </a:lnSpc>
              <a:buNone/>
            </a:pPr>
            <a:r>
              <a:rPr lang="en-US" sz="1050" dirty="0">
                <a:solidFill>
                  <a:srgbClr val="4F4F4F"/>
                </a:solidFill>
                <a:latin typeface="Calibri" pitchFamily="34" charset="0"/>
                <a:ea typeface="Calibri" pitchFamily="34" charset="-122"/>
                <a:cs typeface="Calibri" pitchFamily="34" charset="-120"/>
              </a:rPr>
              <a:t>property-based topology tests</a:t>
            </a:r>
            <a:endParaRPr lang="en-US" sz="1050" dirty="0"/>
          </a:p>
        </p:txBody>
      </p:sp>
      <p:sp>
        <p:nvSpPr>
          <p:cNvPr id="54" name="Text 52"/>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566928"/>
            <a:ext cx="10637215" cy="621792"/>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Scale of the work</a:t>
            </a:r>
            <a:endParaRPr lang="en-US" sz="3000" dirty="0"/>
          </a:p>
        </p:txBody>
      </p:sp>
      <p:sp>
        <p:nvSpPr>
          <p:cNvPr id="3" name="Text 1"/>
          <p:cNvSpPr/>
          <p:nvPr/>
        </p:nvSpPr>
        <p:spPr>
          <a:xfrm>
            <a:off x="777240" y="1207008"/>
            <a:ext cx="10637215" cy="347472"/>
          </a:xfrm>
          <a:prstGeom prst="rect">
            <a:avLst/>
          </a:prstGeom>
          <a:noFill/>
          <a:ln/>
        </p:spPr>
        <p:txBody>
          <a:bodyPr wrap="square" lIns="0" tIns="0" rIns="0" bIns="0" rtlCol="0" anchor="ctr"/>
          <a:lstStyle/>
          <a:p>
            <a:pPr indent="0" marL="0">
              <a:buNone/>
            </a:pPr>
            <a:r>
              <a:rPr lang="en-US" sz="1400" dirty="0">
                <a:solidFill>
                  <a:srgbClr val="4F4F4F"/>
                </a:solidFill>
                <a:latin typeface="Calibri" pitchFamily="34" charset="0"/>
                <a:ea typeface="Calibri" pitchFamily="34" charset="-122"/>
                <a:cs typeface="Calibri" pitchFamily="34" charset="-120"/>
              </a:rPr>
              <a:t>377 commits, 2026-07-23 → 2026-08-19, on top of baseline 28b8b13</a:t>
            </a:r>
            <a:endParaRPr lang="en-US" sz="1400" dirty="0"/>
          </a:p>
        </p:txBody>
      </p:sp>
      <p:sp>
        <p:nvSpPr>
          <p:cNvPr id="4" name="Shape 2"/>
          <p:cNvSpPr/>
          <p:nvPr/>
        </p:nvSpPr>
        <p:spPr>
          <a:xfrm>
            <a:off x="777240" y="1700784"/>
            <a:ext cx="10637215" cy="9144"/>
          </a:xfrm>
          <a:prstGeom prst="line">
            <a:avLst/>
          </a:prstGeom>
          <a:noFill/>
          <a:ln w="12700">
            <a:solidFill>
              <a:srgbClr val="D0D0D0"/>
            </a:solidFill>
            <a:prstDash val="solid"/>
          </a:ln>
        </p:spPr>
      </p:sp>
      <p:sp>
        <p:nvSpPr>
          <p:cNvPr id="5" name="Text 3"/>
          <p:cNvSpPr/>
          <p:nvPr/>
        </p:nvSpPr>
        <p:spPr>
          <a:xfrm>
            <a:off x="4160520" y="1737360"/>
            <a:ext cx="1828800" cy="219456"/>
          </a:xfrm>
          <a:prstGeom prst="rect">
            <a:avLst/>
          </a:prstGeom>
          <a:noFill/>
          <a:ln/>
        </p:spPr>
        <p:txBody>
          <a:bodyPr wrap="square" lIns="0" tIns="0" rIns="0" bIns="0" rtlCol="0" anchor="ctr"/>
          <a:lstStyle/>
          <a:p>
            <a:pPr indent="0" marL="0">
              <a:buNone/>
            </a:pPr>
            <a:r>
              <a:rPr lang="en-US" sz="1050" spc="60" kern="0" dirty="0">
                <a:solidFill>
                  <a:srgbClr val="6E6E6E"/>
                </a:solidFill>
                <a:latin typeface="Calibri" pitchFamily="34" charset="0"/>
                <a:ea typeface="Calibri" pitchFamily="34" charset="-122"/>
                <a:cs typeface="Calibri" pitchFamily="34" charset="-120"/>
              </a:rPr>
              <a:t>lines added</a:t>
            </a:r>
            <a:endParaRPr lang="en-US" sz="1050" dirty="0"/>
          </a:p>
        </p:txBody>
      </p:sp>
      <p:sp>
        <p:nvSpPr>
          <p:cNvPr id="6" name="Text 4"/>
          <p:cNvSpPr/>
          <p:nvPr/>
        </p:nvSpPr>
        <p:spPr>
          <a:xfrm>
            <a:off x="9189720" y="1737360"/>
            <a:ext cx="1005840" cy="219456"/>
          </a:xfrm>
          <a:prstGeom prst="rect">
            <a:avLst/>
          </a:prstGeom>
          <a:noFill/>
          <a:ln/>
        </p:spPr>
        <p:txBody>
          <a:bodyPr wrap="square" lIns="0" tIns="0" rIns="0" bIns="0" rtlCol="0" anchor="ctr"/>
          <a:lstStyle/>
          <a:p>
            <a:pPr algn="r" indent="0" marL="0">
              <a:buNone/>
            </a:pPr>
            <a:r>
              <a:rPr lang="en-US" sz="1050" spc="60" kern="0" dirty="0">
                <a:solidFill>
                  <a:srgbClr val="6E6E6E"/>
                </a:solidFill>
                <a:latin typeface="Calibri" pitchFamily="34" charset="0"/>
                <a:ea typeface="Calibri" pitchFamily="34" charset="-122"/>
                <a:cs typeface="Calibri" pitchFamily="34" charset="-120"/>
              </a:rPr>
              <a:t>files</a:t>
            </a:r>
            <a:endParaRPr lang="en-US" sz="1050" dirty="0"/>
          </a:p>
        </p:txBody>
      </p:sp>
      <p:sp>
        <p:nvSpPr>
          <p:cNvPr id="7" name="Text 5"/>
          <p:cNvSpPr/>
          <p:nvPr/>
        </p:nvSpPr>
        <p:spPr>
          <a:xfrm>
            <a:off x="10378440" y="1737360"/>
            <a:ext cx="1051560" cy="219456"/>
          </a:xfrm>
          <a:prstGeom prst="rect">
            <a:avLst/>
          </a:prstGeom>
          <a:noFill/>
          <a:ln/>
        </p:spPr>
        <p:txBody>
          <a:bodyPr wrap="square" lIns="0" tIns="0" rIns="0" bIns="0" rtlCol="0" anchor="ctr"/>
          <a:lstStyle/>
          <a:p>
            <a:pPr algn="r" indent="0" marL="0">
              <a:buNone/>
            </a:pPr>
            <a:r>
              <a:rPr lang="en-US" sz="1050" spc="60" kern="0" dirty="0">
                <a:solidFill>
                  <a:srgbClr val="6E6E6E"/>
                </a:solidFill>
                <a:latin typeface="Calibri" pitchFamily="34" charset="0"/>
                <a:ea typeface="Calibri" pitchFamily="34" charset="-122"/>
                <a:cs typeface="Calibri" pitchFamily="34" charset="-120"/>
              </a:rPr>
              <a:t>removed</a:t>
            </a:r>
            <a:endParaRPr lang="en-US" sz="1050" dirty="0"/>
          </a:p>
        </p:txBody>
      </p:sp>
      <p:sp>
        <p:nvSpPr>
          <p:cNvPr id="8" name="Text 6"/>
          <p:cNvSpPr/>
          <p:nvPr/>
        </p:nvSpPr>
        <p:spPr>
          <a:xfrm>
            <a:off x="777240" y="1975104"/>
            <a:ext cx="3200400" cy="274320"/>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Documentation</a:t>
            </a:r>
            <a:endParaRPr lang="en-US" sz="1500" dirty="0"/>
          </a:p>
        </p:txBody>
      </p:sp>
      <p:sp>
        <p:nvSpPr>
          <p:cNvPr id="9" name="Text 7"/>
          <p:cNvSpPr/>
          <p:nvPr/>
        </p:nvSpPr>
        <p:spPr>
          <a:xfrm>
            <a:off x="777240" y="2258568"/>
            <a:ext cx="3291840" cy="420624"/>
          </a:xfrm>
          <a:prstGeom prst="rect">
            <a:avLst/>
          </a:prstGeom>
          <a:noFill/>
          <a:ln/>
        </p:spPr>
        <p:txBody>
          <a:bodyPr wrap="square" lIns="0" tIns="0" rIns="0" bIns="0" rtlCol="0" anchor="ctr"/>
          <a:lstStyle/>
          <a:p>
            <a:pPr indent="0" marL="0">
              <a:lnSpc>
                <a:spcPct val="112000"/>
              </a:lnSpc>
              <a:buNone/>
            </a:pPr>
            <a:r>
              <a:rPr lang="en-US" sz="1050" dirty="0">
                <a:solidFill>
                  <a:srgbClr val="4F4F4F"/>
                </a:solidFill>
                <a:latin typeface="Calibri" pitchFamily="34" charset="0"/>
                <a:ea typeface="Calibri" pitchFamily="34" charset="-122"/>
                <a:cs typeface="Calibri" pitchFamily="34" charset="-120"/>
              </a:rPr>
              <a:t>Runbooks, design and status docs, investigation records</a:t>
            </a:r>
            <a:endParaRPr lang="en-US" sz="1050" dirty="0"/>
          </a:p>
        </p:txBody>
      </p:sp>
      <p:sp>
        <p:nvSpPr>
          <p:cNvPr id="10" name="Shape 8"/>
          <p:cNvSpPr/>
          <p:nvPr/>
        </p:nvSpPr>
        <p:spPr>
          <a:xfrm>
            <a:off x="4160520" y="2020824"/>
            <a:ext cx="4160520" cy="256032"/>
          </a:xfrm>
          <a:prstGeom prst="rect">
            <a:avLst/>
          </a:prstGeom>
          <a:solidFill>
            <a:srgbClr val="065A82"/>
          </a:solidFill>
          <a:ln/>
        </p:spPr>
      </p:sp>
      <p:sp>
        <p:nvSpPr>
          <p:cNvPr id="11" name="Text 9"/>
          <p:cNvSpPr/>
          <p:nvPr/>
        </p:nvSpPr>
        <p:spPr>
          <a:xfrm>
            <a:off x="8430768" y="1993392"/>
            <a:ext cx="1143000" cy="292608"/>
          </a:xfrm>
          <a:prstGeom prst="rect">
            <a:avLst/>
          </a:prstGeom>
          <a:noFill/>
          <a:ln/>
        </p:spPr>
        <p:txBody>
          <a:bodyPr wrap="square" lIns="0" tIns="0" rIns="0" bIns="0"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+46,290</a:t>
            </a:r>
            <a:endParaRPr lang="en-US" sz="1250" dirty="0"/>
          </a:p>
        </p:txBody>
      </p:sp>
      <p:sp>
        <p:nvSpPr>
          <p:cNvPr id="12" name="Text 10"/>
          <p:cNvSpPr/>
          <p:nvPr/>
        </p:nvSpPr>
        <p:spPr>
          <a:xfrm>
            <a:off x="9189720" y="1993392"/>
            <a:ext cx="1005840" cy="292608"/>
          </a:xfrm>
          <a:prstGeom prst="rect">
            <a:avLst/>
          </a:prstGeom>
          <a:noFill/>
          <a:ln/>
        </p:spPr>
        <p:txBody>
          <a:bodyPr wrap="square" lIns="0" tIns="0" rIns="0" bIns="0" rtlCol="0" anchor="ctr"/>
          <a:lstStyle/>
          <a:p>
            <a:pPr algn="r" indent="0" marL="0">
              <a:buNone/>
            </a:pPr>
            <a:r>
              <a:rPr lang="en-US" sz="1250" dirty="0">
                <a:solidFill>
                  <a:srgbClr val="2E2E2E"/>
                </a:solidFill>
                <a:latin typeface="Calibri" pitchFamily="34" charset="0"/>
                <a:ea typeface="Calibri" pitchFamily="34" charset="-122"/>
                <a:cs typeface="Calibri" pitchFamily="34" charset="-120"/>
              </a:rPr>
              <a:t>207</a:t>
            </a:r>
            <a:endParaRPr lang="en-US" sz="1250" dirty="0"/>
          </a:p>
        </p:txBody>
      </p:sp>
      <p:sp>
        <p:nvSpPr>
          <p:cNvPr id="13" name="Text 11"/>
          <p:cNvSpPr/>
          <p:nvPr/>
        </p:nvSpPr>
        <p:spPr>
          <a:xfrm>
            <a:off x="10378440" y="1993392"/>
            <a:ext cx="1051560" cy="292608"/>
          </a:xfrm>
          <a:prstGeom prst="rect">
            <a:avLst/>
          </a:prstGeom>
          <a:noFill/>
          <a:ln/>
        </p:spPr>
        <p:txBody>
          <a:bodyPr wrap="square" lIns="0" tIns="0" rIns="0" bIns="0" rtlCol="0" anchor="ctr"/>
          <a:lstStyle/>
          <a:p>
            <a:pPr algn="r" indent="0" marL="0">
              <a:buNone/>
            </a:pPr>
            <a:r>
              <a:rPr lang="en-US" sz="1250" dirty="0">
                <a:solidFill>
                  <a:srgbClr val="4F4F4F"/>
                </a:solidFill>
                <a:latin typeface="Calibri" pitchFamily="34" charset="0"/>
                <a:ea typeface="Calibri" pitchFamily="34" charset="-122"/>
                <a:cs typeface="Calibri" pitchFamily="34" charset="-120"/>
              </a:rPr>
              <a:t>−5</a:t>
            </a:r>
            <a:endParaRPr lang="en-US" sz="1250" dirty="0"/>
          </a:p>
        </p:txBody>
      </p:sp>
      <p:sp>
        <p:nvSpPr>
          <p:cNvPr id="14" name="Shape 12"/>
          <p:cNvSpPr/>
          <p:nvPr/>
        </p:nvSpPr>
        <p:spPr>
          <a:xfrm>
            <a:off x="777240" y="2743200"/>
            <a:ext cx="10637215" cy="9144"/>
          </a:xfrm>
          <a:prstGeom prst="line">
            <a:avLst/>
          </a:prstGeom>
          <a:noFill/>
          <a:ln w="12700">
            <a:solidFill>
              <a:srgbClr val="EFEFEF"/>
            </a:solidFill>
            <a:prstDash val="solid"/>
          </a:ln>
        </p:spPr>
      </p:sp>
      <p:sp>
        <p:nvSpPr>
          <p:cNvPr id="15" name="Text 13"/>
          <p:cNvSpPr/>
          <p:nvPr/>
        </p:nvSpPr>
        <p:spPr>
          <a:xfrm>
            <a:off x="777240" y="2871216"/>
            <a:ext cx="3200400" cy="274320"/>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Tests &amp; tooling</a:t>
            </a:r>
            <a:endParaRPr lang="en-US" sz="1500" dirty="0"/>
          </a:p>
        </p:txBody>
      </p:sp>
      <p:sp>
        <p:nvSpPr>
          <p:cNvPr id="16" name="Text 14"/>
          <p:cNvSpPr/>
          <p:nvPr/>
        </p:nvSpPr>
        <p:spPr>
          <a:xfrm>
            <a:off x="777240" y="3154680"/>
            <a:ext cx="3291840" cy="420624"/>
          </a:xfrm>
          <a:prstGeom prst="rect">
            <a:avLst/>
          </a:prstGeom>
          <a:noFill/>
          <a:ln/>
        </p:spPr>
        <p:txBody>
          <a:bodyPr wrap="square" lIns="0" tIns="0" rIns="0" bIns="0" rtlCol="0" anchor="ctr"/>
          <a:lstStyle/>
          <a:p>
            <a:pPr indent="0" marL="0">
              <a:lnSpc>
                <a:spcPct val="112000"/>
              </a:lnSpc>
              <a:buNone/>
            </a:pPr>
            <a:r>
              <a:rPr lang="en-US" sz="1050" dirty="0">
                <a:solidFill>
                  <a:srgbClr val="4F4F4F"/>
                </a:solidFill>
                <a:latin typeface="Calibri" pitchFamily="34" charset="0"/>
                <a:ea typeface="Calibri" pitchFamily="34" charset="-122"/>
                <a:cs typeface="Calibri" pitchFamily="34" charset="-120"/>
              </a:rPr>
              <a:t>gtest suites, P4-proxy Python tests, the L0–L4 harness</a:t>
            </a:r>
            <a:endParaRPr lang="en-US" sz="1050" dirty="0"/>
          </a:p>
        </p:txBody>
      </p:sp>
      <p:sp>
        <p:nvSpPr>
          <p:cNvPr id="17" name="Shape 15"/>
          <p:cNvSpPr/>
          <p:nvPr/>
        </p:nvSpPr>
        <p:spPr>
          <a:xfrm>
            <a:off x="4160520" y="2916936"/>
            <a:ext cx="2260289" cy="256032"/>
          </a:xfrm>
          <a:prstGeom prst="rect">
            <a:avLst/>
          </a:prstGeom>
          <a:solidFill>
            <a:srgbClr val="065A82"/>
          </a:solidFill>
          <a:ln/>
        </p:spPr>
      </p:sp>
      <p:sp>
        <p:nvSpPr>
          <p:cNvPr id="18" name="Text 16"/>
          <p:cNvSpPr/>
          <p:nvPr/>
        </p:nvSpPr>
        <p:spPr>
          <a:xfrm>
            <a:off x="6530537" y="2889504"/>
            <a:ext cx="1143000" cy="292608"/>
          </a:xfrm>
          <a:prstGeom prst="rect">
            <a:avLst/>
          </a:prstGeom>
          <a:noFill/>
          <a:ln/>
        </p:spPr>
        <p:txBody>
          <a:bodyPr wrap="square" lIns="0" tIns="0" rIns="0" bIns="0"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+25,148</a:t>
            </a:r>
            <a:endParaRPr lang="en-US" sz="1250" dirty="0"/>
          </a:p>
        </p:txBody>
      </p:sp>
      <p:sp>
        <p:nvSpPr>
          <p:cNvPr id="19" name="Text 17"/>
          <p:cNvSpPr/>
          <p:nvPr/>
        </p:nvSpPr>
        <p:spPr>
          <a:xfrm>
            <a:off x="9189720" y="2889504"/>
            <a:ext cx="1005840" cy="292608"/>
          </a:xfrm>
          <a:prstGeom prst="rect">
            <a:avLst/>
          </a:prstGeom>
          <a:noFill/>
          <a:ln/>
        </p:spPr>
        <p:txBody>
          <a:bodyPr wrap="square" lIns="0" tIns="0" rIns="0" bIns="0" rtlCol="0" anchor="ctr"/>
          <a:lstStyle/>
          <a:p>
            <a:pPr algn="r" indent="0" marL="0">
              <a:buNone/>
            </a:pPr>
            <a:r>
              <a:rPr lang="en-US" sz="1250" dirty="0">
                <a:solidFill>
                  <a:srgbClr val="2E2E2E"/>
                </a:solidFill>
                <a:latin typeface="Calibri" pitchFamily="34" charset="0"/>
                <a:ea typeface="Calibri" pitchFamily="34" charset="-122"/>
                <a:cs typeface="Calibri" pitchFamily="34" charset="-120"/>
              </a:rPr>
              <a:t>117</a:t>
            </a:r>
            <a:endParaRPr lang="en-US" sz="1250" dirty="0"/>
          </a:p>
        </p:txBody>
      </p:sp>
      <p:sp>
        <p:nvSpPr>
          <p:cNvPr id="20" name="Text 18"/>
          <p:cNvSpPr/>
          <p:nvPr/>
        </p:nvSpPr>
        <p:spPr>
          <a:xfrm>
            <a:off x="10378440" y="2889504"/>
            <a:ext cx="1051560" cy="292608"/>
          </a:xfrm>
          <a:prstGeom prst="rect">
            <a:avLst/>
          </a:prstGeom>
          <a:noFill/>
          <a:ln/>
        </p:spPr>
        <p:txBody>
          <a:bodyPr wrap="square" lIns="0" tIns="0" rIns="0" bIns="0" rtlCol="0" anchor="ctr"/>
          <a:lstStyle/>
          <a:p>
            <a:pPr algn="r" indent="0" marL="0">
              <a:buNone/>
            </a:pPr>
            <a:r>
              <a:rPr lang="en-US" sz="1250" dirty="0">
                <a:solidFill>
                  <a:srgbClr val="4F4F4F"/>
                </a:solidFill>
                <a:latin typeface="Calibri" pitchFamily="34" charset="0"/>
                <a:ea typeface="Calibri" pitchFamily="34" charset="-122"/>
                <a:cs typeface="Calibri" pitchFamily="34" charset="-120"/>
              </a:rPr>
              <a:t>—</a:t>
            </a:r>
            <a:endParaRPr lang="en-US" sz="1250" dirty="0"/>
          </a:p>
        </p:txBody>
      </p:sp>
      <p:sp>
        <p:nvSpPr>
          <p:cNvPr id="21" name="Shape 19"/>
          <p:cNvSpPr/>
          <p:nvPr/>
        </p:nvSpPr>
        <p:spPr>
          <a:xfrm>
            <a:off x="777240" y="3639312"/>
            <a:ext cx="10637215" cy="9144"/>
          </a:xfrm>
          <a:prstGeom prst="line">
            <a:avLst/>
          </a:prstGeom>
          <a:noFill/>
          <a:ln w="12700">
            <a:solidFill>
              <a:srgbClr val="EFEFEF"/>
            </a:solidFill>
            <a:prstDash val="solid"/>
          </a:ln>
        </p:spPr>
      </p:sp>
      <p:sp>
        <p:nvSpPr>
          <p:cNvPr id="22" name="Text 20"/>
          <p:cNvSpPr/>
          <p:nvPr/>
        </p:nvSpPr>
        <p:spPr>
          <a:xfrm>
            <a:off x="777240" y="3767328"/>
            <a:ext cx="3200400" cy="274320"/>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Kernel (C++)</a:t>
            </a:r>
            <a:endParaRPr lang="en-US" sz="1500" dirty="0"/>
          </a:p>
        </p:txBody>
      </p:sp>
      <p:sp>
        <p:nvSpPr>
          <p:cNvPr id="23" name="Text 21"/>
          <p:cNvSpPr/>
          <p:nvPr/>
        </p:nvSpPr>
        <p:spPr>
          <a:xfrm>
            <a:off x="777240" y="4050792"/>
            <a:ext cx="3291840" cy="420624"/>
          </a:xfrm>
          <a:prstGeom prst="rect">
            <a:avLst/>
          </a:prstGeom>
          <a:noFill/>
          <a:ln/>
        </p:spPr>
        <p:txBody>
          <a:bodyPr wrap="square" lIns="0" tIns="0" rIns="0" bIns="0" rtlCol="0" anchor="ctr"/>
          <a:lstStyle/>
          <a:p>
            <a:pPr indent="0" marL="0">
              <a:lnSpc>
                <a:spcPct val="112000"/>
              </a:lnSpc>
              <a:buNone/>
            </a:pPr>
            <a:r>
              <a:rPr lang="en-US" sz="1050" dirty="0">
                <a:solidFill>
                  <a:srgbClr val="4F4F4F"/>
                </a:solidFill>
                <a:latin typeface="Calibri" pitchFamily="34" charset="0"/>
                <a:ea typeface="Calibri" pitchFamily="34" charset="-122"/>
                <a:cs typeface="Calibri" pitchFamily="34" charset="-120"/>
              </a:rPr>
              <a:t>39 existing files modified, 17 new</a:t>
            </a:r>
            <a:endParaRPr lang="en-US" sz="1050" dirty="0"/>
          </a:p>
        </p:txBody>
      </p:sp>
      <p:sp>
        <p:nvSpPr>
          <p:cNvPr id="24" name="Shape 22"/>
          <p:cNvSpPr/>
          <p:nvPr/>
        </p:nvSpPr>
        <p:spPr>
          <a:xfrm>
            <a:off x="4160520" y="3813048"/>
            <a:ext cx="545389" cy="256032"/>
          </a:xfrm>
          <a:prstGeom prst="rect">
            <a:avLst/>
          </a:prstGeom>
          <a:solidFill>
            <a:srgbClr val="065A82"/>
          </a:solidFill>
          <a:ln/>
        </p:spPr>
      </p:sp>
      <p:sp>
        <p:nvSpPr>
          <p:cNvPr id="25" name="Text 23"/>
          <p:cNvSpPr/>
          <p:nvPr/>
        </p:nvSpPr>
        <p:spPr>
          <a:xfrm>
            <a:off x="4815637" y="3785616"/>
            <a:ext cx="1143000" cy="292608"/>
          </a:xfrm>
          <a:prstGeom prst="rect">
            <a:avLst/>
          </a:prstGeom>
          <a:noFill/>
          <a:ln/>
        </p:spPr>
        <p:txBody>
          <a:bodyPr wrap="square" lIns="0" tIns="0" rIns="0" bIns="0"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+6,068</a:t>
            </a:r>
            <a:endParaRPr lang="en-US" sz="1250" dirty="0"/>
          </a:p>
        </p:txBody>
      </p:sp>
      <p:sp>
        <p:nvSpPr>
          <p:cNvPr id="26" name="Text 24"/>
          <p:cNvSpPr/>
          <p:nvPr/>
        </p:nvSpPr>
        <p:spPr>
          <a:xfrm>
            <a:off x="9189720" y="3785616"/>
            <a:ext cx="1005840" cy="292608"/>
          </a:xfrm>
          <a:prstGeom prst="rect">
            <a:avLst/>
          </a:prstGeom>
          <a:noFill/>
          <a:ln/>
        </p:spPr>
        <p:txBody>
          <a:bodyPr wrap="square" lIns="0" tIns="0" rIns="0" bIns="0" rtlCol="0" anchor="ctr"/>
          <a:lstStyle/>
          <a:p>
            <a:pPr algn="r" indent="0" marL="0">
              <a:buNone/>
            </a:pPr>
            <a:r>
              <a:rPr lang="en-US" sz="1250" dirty="0">
                <a:solidFill>
                  <a:srgbClr val="2E2E2E"/>
                </a:solidFill>
                <a:latin typeface="Calibri" pitchFamily="34" charset="0"/>
                <a:ea typeface="Calibri" pitchFamily="34" charset="-122"/>
                <a:cs typeface="Calibri" pitchFamily="34" charset="-120"/>
              </a:rPr>
              <a:t>56</a:t>
            </a:r>
            <a:endParaRPr lang="en-US" sz="1250" dirty="0"/>
          </a:p>
        </p:txBody>
      </p:sp>
      <p:sp>
        <p:nvSpPr>
          <p:cNvPr id="27" name="Text 25"/>
          <p:cNvSpPr/>
          <p:nvPr/>
        </p:nvSpPr>
        <p:spPr>
          <a:xfrm>
            <a:off x="10378440" y="3785616"/>
            <a:ext cx="1051560" cy="292608"/>
          </a:xfrm>
          <a:prstGeom prst="rect">
            <a:avLst/>
          </a:prstGeom>
          <a:noFill/>
          <a:ln/>
        </p:spPr>
        <p:txBody>
          <a:bodyPr wrap="square" lIns="0" tIns="0" rIns="0" bIns="0" rtlCol="0" anchor="ctr"/>
          <a:lstStyle/>
          <a:p>
            <a:pPr algn="r" indent="0" marL="0">
              <a:buNone/>
            </a:pPr>
            <a:r>
              <a:rPr lang="en-US" sz="1250" dirty="0">
                <a:solidFill>
                  <a:srgbClr val="4F4F4F"/>
                </a:solidFill>
                <a:latin typeface="Calibri" pitchFamily="34" charset="0"/>
                <a:ea typeface="Calibri" pitchFamily="34" charset="-122"/>
                <a:cs typeface="Calibri" pitchFamily="34" charset="-120"/>
              </a:rPr>
              <a:t>−1,053</a:t>
            </a:r>
            <a:endParaRPr lang="en-US" sz="1250" dirty="0"/>
          </a:p>
        </p:txBody>
      </p:sp>
      <p:sp>
        <p:nvSpPr>
          <p:cNvPr id="28" name="Shape 26"/>
          <p:cNvSpPr/>
          <p:nvPr/>
        </p:nvSpPr>
        <p:spPr>
          <a:xfrm>
            <a:off x="777240" y="4535424"/>
            <a:ext cx="10637215" cy="9144"/>
          </a:xfrm>
          <a:prstGeom prst="line">
            <a:avLst/>
          </a:prstGeom>
          <a:noFill/>
          <a:ln w="12700">
            <a:solidFill>
              <a:srgbClr val="EFEFEF"/>
            </a:solidFill>
            <a:prstDash val="solid"/>
          </a:ln>
        </p:spPr>
      </p:sp>
      <p:sp>
        <p:nvSpPr>
          <p:cNvPr id="29" name="Text 27"/>
          <p:cNvSpPr/>
          <p:nvPr/>
        </p:nvSpPr>
        <p:spPr>
          <a:xfrm>
            <a:off x="777240" y="4663440"/>
            <a:ext cx="3200400" cy="274320"/>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P4 proxy</a:t>
            </a:r>
            <a:endParaRPr lang="en-US" sz="1500" dirty="0"/>
          </a:p>
        </p:txBody>
      </p:sp>
      <p:sp>
        <p:nvSpPr>
          <p:cNvPr id="30" name="Text 28"/>
          <p:cNvSpPr/>
          <p:nvPr/>
        </p:nvSpPr>
        <p:spPr>
          <a:xfrm>
            <a:off x="777240" y="4946904"/>
            <a:ext cx="3291840" cy="420624"/>
          </a:xfrm>
          <a:prstGeom prst="rect">
            <a:avLst/>
          </a:prstGeom>
          <a:noFill/>
          <a:ln/>
        </p:spPr>
        <p:txBody>
          <a:bodyPr wrap="square" lIns="0" tIns="0" rIns="0" bIns="0" rtlCol="0" anchor="ctr"/>
          <a:lstStyle/>
          <a:p>
            <a:pPr indent="0" marL="0">
              <a:lnSpc>
                <a:spcPct val="112000"/>
              </a:lnSpc>
              <a:buNone/>
            </a:pPr>
            <a:r>
              <a:rPr lang="en-US" sz="1050" dirty="0">
                <a:solidFill>
                  <a:srgbClr val="4F4F4F"/>
                </a:solidFill>
                <a:latin typeface="Calibri" pitchFamily="34" charset="0"/>
                <a:ea typeface="Calibri" pitchFamily="34" charset="-122"/>
                <a:cs typeface="Calibri" pitchFamily="34" charset="-120"/>
              </a:rPr>
              <a:t>All new — P4Runtime client, REST shim, sFlow emitter, P4 pipeline</a:t>
            </a:r>
            <a:endParaRPr lang="en-US" sz="1050" dirty="0"/>
          </a:p>
        </p:txBody>
      </p:sp>
      <p:sp>
        <p:nvSpPr>
          <p:cNvPr id="31" name="Shape 29"/>
          <p:cNvSpPr/>
          <p:nvPr/>
        </p:nvSpPr>
        <p:spPr>
          <a:xfrm>
            <a:off x="4160520" y="4709160"/>
            <a:ext cx="398256" cy="256032"/>
          </a:xfrm>
          <a:prstGeom prst="rect">
            <a:avLst/>
          </a:prstGeom>
          <a:solidFill>
            <a:srgbClr val="065A82"/>
          </a:solidFill>
          <a:ln/>
        </p:spPr>
      </p:sp>
      <p:sp>
        <p:nvSpPr>
          <p:cNvPr id="32" name="Text 30"/>
          <p:cNvSpPr/>
          <p:nvPr/>
        </p:nvSpPr>
        <p:spPr>
          <a:xfrm>
            <a:off x="4668504" y="4681728"/>
            <a:ext cx="1143000" cy="292608"/>
          </a:xfrm>
          <a:prstGeom prst="rect">
            <a:avLst/>
          </a:prstGeom>
          <a:noFill/>
          <a:ln/>
        </p:spPr>
        <p:txBody>
          <a:bodyPr wrap="square" lIns="0" tIns="0" rIns="0" bIns="0"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+4,431</a:t>
            </a:r>
            <a:endParaRPr lang="en-US" sz="1250" dirty="0"/>
          </a:p>
        </p:txBody>
      </p:sp>
      <p:sp>
        <p:nvSpPr>
          <p:cNvPr id="33" name="Text 31"/>
          <p:cNvSpPr/>
          <p:nvPr/>
        </p:nvSpPr>
        <p:spPr>
          <a:xfrm>
            <a:off x="9189720" y="4681728"/>
            <a:ext cx="1005840" cy="292608"/>
          </a:xfrm>
          <a:prstGeom prst="rect">
            <a:avLst/>
          </a:prstGeom>
          <a:noFill/>
          <a:ln/>
        </p:spPr>
        <p:txBody>
          <a:bodyPr wrap="square" lIns="0" tIns="0" rIns="0" bIns="0" rtlCol="0" anchor="ctr"/>
          <a:lstStyle/>
          <a:p>
            <a:pPr algn="r" indent="0" marL="0">
              <a:buNone/>
            </a:pPr>
            <a:r>
              <a:rPr lang="en-US" sz="1250" dirty="0">
                <a:solidFill>
                  <a:srgbClr val="2E2E2E"/>
                </a:solidFill>
                <a:latin typeface="Calibri" pitchFamily="34" charset="0"/>
                <a:ea typeface="Calibri" pitchFamily="34" charset="-122"/>
                <a:cs typeface="Calibri" pitchFamily="34" charset="-120"/>
              </a:rPr>
              <a:t>26</a:t>
            </a:r>
            <a:endParaRPr lang="en-US" sz="1250" dirty="0"/>
          </a:p>
        </p:txBody>
      </p:sp>
      <p:sp>
        <p:nvSpPr>
          <p:cNvPr id="34" name="Text 32"/>
          <p:cNvSpPr/>
          <p:nvPr/>
        </p:nvSpPr>
        <p:spPr>
          <a:xfrm>
            <a:off x="10378440" y="4681728"/>
            <a:ext cx="1051560" cy="292608"/>
          </a:xfrm>
          <a:prstGeom prst="rect">
            <a:avLst/>
          </a:prstGeom>
          <a:noFill/>
          <a:ln/>
        </p:spPr>
        <p:txBody>
          <a:bodyPr wrap="square" lIns="0" tIns="0" rIns="0" bIns="0" rtlCol="0" anchor="ctr"/>
          <a:lstStyle/>
          <a:p>
            <a:pPr algn="r" indent="0" marL="0">
              <a:buNone/>
            </a:pPr>
            <a:r>
              <a:rPr lang="en-US" sz="1250" dirty="0">
                <a:solidFill>
                  <a:srgbClr val="4F4F4F"/>
                </a:solidFill>
                <a:latin typeface="Calibri" pitchFamily="34" charset="0"/>
                <a:ea typeface="Calibri" pitchFamily="34" charset="-122"/>
                <a:cs typeface="Calibri" pitchFamily="34" charset="-120"/>
              </a:rPr>
              <a:t>—</a:t>
            </a:r>
            <a:endParaRPr lang="en-US" sz="1250" dirty="0"/>
          </a:p>
        </p:txBody>
      </p:sp>
      <p:sp>
        <p:nvSpPr>
          <p:cNvPr id="35" name="Shape 33"/>
          <p:cNvSpPr/>
          <p:nvPr/>
        </p:nvSpPr>
        <p:spPr>
          <a:xfrm>
            <a:off x="777240" y="5431536"/>
            <a:ext cx="10637215" cy="9144"/>
          </a:xfrm>
          <a:prstGeom prst="line">
            <a:avLst/>
          </a:prstGeom>
          <a:noFill/>
          <a:ln w="12700">
            <a:solidFill>
              <a:srgbClr val="EFEFEF"/>
            </a:solidFill>
            <a:prstDash val="solid"/>
          </a:ln>
        </p:spPr>
      </p:sp>
      <p:sp>
        <p:nvSpPr>
          <p:cNvPr id="36" name="Text 34"/>
          <p:cNvSpPr/>
          <p:nvPr/>
        </p:nvSpPr>
        <p:spPr>
          <a:xfrm>
            <a:off x="777240" y="5577840"/>
            <a:ext cx="3200400" cy="292608"/>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Total</a:t>
            </a:r>
            <a:endParaRPr lang="en-US" sz="1500" dirty="0"/>
          </a:p>
        </p:txBody>
      </p:sp>
      <p:sp>
        <p:nvSpPr>
          <p:cNvPr id="37" name="Text 35"/>
          <p:cNvSpPr/>
          <p:nvPr/>
        </p:nvSpPr>
        <p:spPr>
          <a:xfrm>
            <a:off x="4160520" y="5577840"/>
            <a:ext cx="1828800" cy="292608"/>
          </a:xfrm>
          <a:prstGeom prst="rect">
            <a:avLst/>
          </a:prstGeom>
          <a:noFill/>
          <a:ln/>
        </p:spPr>
        <p:txBody>
          <a:bodyPr wrap="square" lIns="0" tIns="0" rIns="0" bIns="0" rtlCol="0" anchor="ctr"/>
          <a:lstStyle/>
          <a:p>
            <a:pPr indent="0" marL="0">
              <a:buNone/>
            </a:pPr>
            <a:r>
              <a:rPr lang="en-US" sz="1500" b="1" dirty="0">
                <a:solidFill>
                  <a:srgbClr val="065A82"/>
                </a:solidFill>
                <a:latin typeface="Calibri" pitchFamily="34" charset="0"/>
                <a:ea typeface="Calibri" pitchFamily="34" charset="-122"/>
                <a:cs typeface="Calibri" pitchFamily="34" charset="-120"/>
              </a:rPr>
              <a:t>+81,937</a:t>
            </a:r>
            <a:endParaRPr lang="en-US" sz="1500" dirty="0"/>
          </a:p>
        </p:txBody>
      </p:sp>
      <p:sp>
        <p:nvSpPr>
          <p:cNvPr id="38" name="Text 36"/>
          <p:cNvSpPr/>
          <p:nvPr/>
        </p:nvSpPr>
        <p:spPr>
          <a:xfrm>
            <a:off x="9189720" y="5577840"/>
            <a:ext cx="1005840" cy="292608"/>
          </a:xfrm>
          <a:prstGeom prst="rect">
            <a:avLst/>
          </a:prstGeom>
          <a:noFill/>
          <a:ln/>
        </p:spPr>
        <p:txBody>
          <a:bodyPr wrap="square" lIns="0" tIns="0" rIns="0" bIns="0" rtlCol="0" anchor="ctr"/>
          <a:lstStyle/>
          <a:p>
            <a:pPr algn="r" indent="0" marL="0">
              <a:buNone/>
            </a:pPr>
            <a:r>
              <a:rPr lang="en-US" sz="1500" b="1" dirty="0">
                <a:solidFill>
                  <a:srgbClr val="1A1A1A"/>
                </a:solidFill>
                <a:latin typeface="Calibri" pitchFamily="34" charset="0"/>
                <a:ea typeface="Calibri" pitchFamily="34" charset="-122"/>
                <a:cs typeface="Calibri" pitchFamily="34" charset="-120"/>
              </a:rPr>
              <a:t>406</a:t>
            </a:r>
            <a:endParaRPr lang="en-US" sz="1500" dirty="0"/>
          </a:p>
        </p:txBody>
      </p:sp>
      <p:sp>
        <p:nvSpPr>
          <p:cNvPr id="39" name="Text 37"/>
          <p:cNvSpPr/>
          <p:nvPr/>
        </p:nvSpPr>
        <p:spPr>
          <a:xfrm>
            <a:off x="10378440" y="5577840"/>
            <a:ext cx="1051560" cy="292608"/>
          </a:xfrm>
          <a:prstGeom prst="rect">
            <a:avLst/>
          </a:prstGeom>
          <a:noFill/>
          <a:ln/>
        </p:spPr>
        <p:txBody>
          <a:bodyPr wrap="square" lIns="0" tIns="0" rIns="0" bIns="0" rtlCol="0" anchor="ctr"/>
          <a:lstStyle/>
          <a:p>
            <a:pPr algn="r" indent="0" marL="0">
              <a:buNone/>
            </a:pPr>
            <a:r>
              <a:rPr lang="en-US" sz="1500" dirty="0">
                <a:solidFill>
                  <a:srgbClr val="4F4F4F"/>
                </a:solidFill>
                <a:latin typeface="Calibri" pitchFamily="34" charset="0"/>
                <a:ea typeface="Calibri" pitchFamily="34" charset="-122"/>
                <a:cs typeface="Calibri" pitchFamily="34" charset="-120"/>
              </a:rPr>
              <a:t>−1,058</a:t>
            </a:r>
            <a:endParaRPr lang="en-US" sz="1500" dirty="0"/>
          </a:p>
        </p:txBody>
      </p:sp>
      <p:sp>
        <p:nvSpPr>
          <p:cNvPr id="40" name="Text 38"/>
          <p:cNvSpPr/>
          <p:nvPr/>
        </p:nvSpPr>
        <p:spPr>
          <a:xfrm>
            <a:off x="777240" y="6144768"/>
            <a:ext cx="10637215" cy="310896"/>
          </a:xfrm>
          <a:prstGeom prst="rect">
            <a:avLst/>
          </a:prstGeom>
          <a:noFill/>
          <a:ln/>
        </p:spPr>
        <p:txBody>
          <a:bodyPr wrap="square" lIns="0" tIns="0" rIns="0" bIns="0" rtlCol="0" anchor="ctr"/>
          <a:lstStyle/>
          <a:p>
            <a:pPr indent="0" marL="0">
              <a:buNone/>
            </a:pPr>
            <a:r>
              <a:rPr lang="en-US" sz="1100" dirty="0">
                <a:solidFill>
                  <a:srgbClr val="4F4F4F"/>
                </a:solidFill>
                <a:latin typeface="Calibri" pitchFamily="34" charset="0"/>
                <a:ea typeface="Calibri" pitchFamily="34" charset="-122"/>
                <a:cs typeface="Calibri" pitchFamily="34" charset="-120"/>
              </a:rPr>
              <a:t>Diffed against baseline 28b8b13. Comment lines, blank lines and build artefacts are excluded; intelligent_router.py is excluded as the lab's pre-existing Ryu controller.</a:t>
            </a:r>
            <a:endParaRPr lang="en-US" sz="1100" dirty="0"/>
          </a:p>
        </p:txBody>
      </p:sp>
      <p:sp>
        <p:nvSpPr>
          <p:cNvPr id="41" name="Text 39"/>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1975104"/>
            <a:ext cx="10058400" cy="384048"/>
          </a:xfrm>
          <a:prstGeom prst="rect">
            <a:avLst/>
          </a:prstGeom>
          <a:noFill/>
          <a:ln/>
        </p:spPr>
        <p:txBody>
          <a:bodyPr wrap="square" lIns="0" tIns="0" rIns="0" bIns="0" rtlCol="0" anchor="ctr"/>
          <a:lstStyle/>
          <a:p>
            <a:pPr indent="0" marL="0">
              <a:buNone/>
            </a:pPr>
            <a:r>
              <a:rPr lang="en-US" sz="1600" spc="120" kern="0" dirty="0">
                <a:solidFill>
                  <a:srgbClr val="065A82"/>
                </a:solidFill>
                <a:latin typeface="Calibri" pitchFamily="34" charset="0"/>
                <a:ea typeface="Calibri" pitchFamily="34" charset="-122"/>
                <a:cs typeface="Calibri" pitchFamily="34" charset="-120"/>
              </a:rPr>
              <a:t>SECTION 1</a:t>
            </a:r>
            <a:endParaRPr lang="en-US" sz="1600" dirty="0"/>
          </a:p>
        </p:txBody>
      </p:sp>
      <p:sp>
        <p:nvSpPr>
          <p:cNvPr id="3" name="Text 1"/>
          <p:cNvSpPr/>
          <p:nvPr/>
        </p:nvSpPr>
        <p:spPr>
          <a:xfrm>
            <a:off x="777240" y="2487168"/>
            <a:ext cx="10058400" cy="868680"/>
          </a:xfrm>
          <a:prstGeom prst="rect">
            <a:avLst/>
          </a:prstGeom>
          <a:noFill/>
          <a:ln/>
        </p:spPr>
        <p:txBody>
          <a:bodyPr wrap="square" lIns="0" tIns="0" rIns="0" bIns="0" rtlCol="0" anchor="ctr"/>
          <a:lstStyle/>
          <a:p>
            <a:pPr indent="0" marL="0">
              <a:buNone/>
            </a:pPr>
            <a:r>
              <a:rPr lang="en-US" sz="4400" b="1" dirty="0">
                <a:solidFill>
                  <a:srgbClr val="1A1A1A"/>
                </a:solidFill>
                <a:latin typeface="Cambria" pitchFamily="34" charset="0"/>
                <a:ea typeface="Cambria" pitchFamily="34" charset="-122"/>
                <a:cs typeface="Cambria" pitchFamily="34" charset="-120"/>
              </a:rPr>
              <a:t>New capabilities</a:t>
            </a:r>
            <a:endParaRPr lang="en-US" sz="4400" dirty="0"/>
          </a:p>
        </p:txBody>
      </p:sp>
      <p:sp>
        <p:nvSpPr>
          <p:cNvPr id="4" name="Text 2"/>
          <p:cNvSpPr/>
          <p:nvPr/>
        </p:nvSpPr>
        <p:spPr>
          <a:xfrm>
            <a:off x="777240" y="3401568"/>
            <a:ext cx="10058400" cy="566928"/>
          </a:xfrm>
          <a:prstGeom prst="rect">
            <a:avLst/>
          </a:prstGeom>
          <a:noFill/>
          <a:ln/>
        </p:spPr>
        <p:txBody>
          <a:bodyPr wrap="square" lIns="0" tIns="0" rIns="0" bIns="0" rtlCol="0" anchor="ctr"/>
          <a:lstStyle/>
          <a:p>
            <a:pPr indent="0" marL="0">
              <a:lnSpc>
                <a:spcPct val="115000"/>
              </a:lnSpc>
              <a:buNone/>
            </a:pPr>
            <a:r>
              <a:rPr lang="en-US" sz="2000" dirty="0">
                <a:solidFill>
                  <a:srgbClr val="4F4F4F"/>
                </a:solidFill>
                <a:latin typeface="Calibri" pitchFamily="34" charset="0"/>
                <a:ea typeface="Calibri" pitchFamily="34" charset="-122"/>
                <a:cs typeface="Calibri" pitchFamily="34" charset="-120"/>
              </a:rPr>
              <a:t>The P4 pipeline, the proxy agent, telemetry synthesis, liveness, failover, power</a:t>
            </a:r>
            <a:endParaRPr lang="en-US" sz="2000" dirty="0"/>
          </a:p>
        </p:txBody>
      </p:sp>
      <p:sp>
        <p:nvSpPr>
          <p:cNvPr id="5" name="Shape 3"/>
          <p:cNvSpPr/>
          <p:nvPr/>
        </p:nvSpPr>
        <p:spPr>
          <a:xfrm>
            <a:off x="777240" y="4261104"/>
            <a:ext cx="1005840" cy="9144"/>
          </a:xfrm>
          <a:prstGeom prst="line">
            <a:avLst/>
          </a:prstGeom>
          <a:noFill/>
          <a:ln w="25400">
            <a:solidFill>
              <a:srgbClr val="065A82"/>
            </a:solidFill>
            <a:prstDash val="solid"/>
          </a:ln>
        </p:spPr>
      </p:sp>
      <p:sp>
        <p:nvSpPr>
          <p:cNvPr id="6" name="Text 4"/>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56032"/>
            <a:ext cx="5486400" cy="237744"/>
          </a:xfrm>
          <a:prstGeom prst="rect">
            <a:avLst/>
          </a:prstGeom>
          <a:noFill/>
          <a:ln/>
        </p:spPr>
        <p:txBody>
          <a:bodyPr wrap="square" lIns="0" tIns="0" rIns="0" bIns="0" rtlCol="0" anchor="ctr"/>
          <a:lstStyle/>
          <a:p>
            <a:pPr indent="0" marL="0">
              <a:buNone/>
            </a:pPr>
            <a:r>
              <a:rPr lang="en-US" sz="1050" b="1" spc="100" kern="0" dirty="0">
                <a:solidFill>
                  <a:srgbClr val="065A82"/>
                </a:solidFill>
                <a:latin typeface="Calibri" pitchFamily="34" charset="0"/>
                <a:ea typeface="Calibri" pitchFamily="34" charset="-122"/>
                <a:cs typeface="Calibri" pitchFamily="34" charset="-120"/>
              </a:rPr>
              <a:t>1 · NEW CAPABILITIES</a:t>
            </a:r>
            <a:endParaRPr lang="en-US" sz="1050" dirty="0"/>
          </a:p>
        </p:txBody>
      </p:sp>
      <p:sp>
        <p:nvSpPr>
          <p:cNvPr id="3" name="Text 1"/>
          <p:cNvSpPr/>
          <p:nvPr/>
        </p:nvSpPr>
        <p:spPr>
          <a:xfrm>
            <a:off x="777240" y="566928"/>
            <a:ext cx="10637215" cy="621792"/>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The P4 pipeline</a:t>
            </a:r>
            <a:endParaRPr lang="en-US" sz="3000" dirty="0"/>
          </a:p>
        </p:txBody>
      </p:sp>
      <p:sp>
        <p:nvSpPr>
          <p:cNvPr id="4" name="Text 2"/>
          <p:cNvSpPr/>
          <p:nvPr/>
        </p:nvSpPr>
        <p:spPr>
          <a:xfrm>
            <a:off x="777240" y="1207008"/>
            <a:ext cx="10637215" cy="347472"/>
          </a:xfrm>
          <a:prstGeom prst="rect">
            <a:avLst/>
          </a:prstGeom>
          <a:noFill/>
          <a:ln/>
        </p:spPr>
        <p:txBody>
          <a:bodyPr wrap="square" lIns="0" tIns="0" rIns="0" bIns="0" rtlCol="0" anchor="ctr"/>
          <a:lstStyle/>
          <a:p>
            <a:pPr indent="0" marL="0">
              <a:buNone/>
            </a:pPr>
            <a:r>
              <a:rPr lang="en-US" sz="1400" dirty="0">
                <a:solidFill>
                  <a:srgbClr val="4F4F4F"/>
                </a:solidFill>
                <a:latin typeface="Calibri" pitchFamily="34" charset="0"/>
                <a:ea typeface="Calibri" pitchFamily="34" charset="-122"/>
                <a:cs typeface="Calibri" pitchFamily="34" charset="-120"/>
              </a:rPr>
              <a:t>Phase 4 — ndtwin_switch.p4, extended from a forwarding table into something that produces the same signal OVS does</a:t>
            </a:r>
            <a:endParaRPr lang="en-US" sz="1400" dirty="0"/>
          </a:p>
        </p:txBody>
      </p:sp>
      <p:sp>
        <p:nvSpPr>
          <p:cNvPr id="5" name="Shape 3"/>
          <p:cNvSpPr/>
          <p:nvPr/>
        </p:nvSpPr>
        <p:spPr>
          <a:xfrm>
            <a:off x="777240" y="1700784"/>
            <a:ext cx="10637215" cy="9144"/>
          </a:xfrm>
          <a:prstGeom prst="line">
            <a:avLst/>
          </a:prstGeom>
          <a:noFill/>
          <a:ln w="12700">
            <a:solidFill>
              <a:srgbClr val="D0D0D0"/>
            </a:solidFill>
            <a:prstDash val="solid"/>
          </a:ln>
        </p:spPr>
      </p:sp>
      <p:sp>
        <p:nvSpPr>
          <p:cNvPr id="6" name="Text 4"/>
          <p:cNvSpPr/>
          <p:nvPr/>
        </p:nvSpPr>
        <p:spPr>
          <a:xfrm>
            <a:off x="777240" y="2103120"/>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106424" y="2093976"/>
            <a:ext cx="5980176" cy="292608"/>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A ternary 5-tuple table, ahead of LPM</a:t>
            </a:r>
            <a:endParaRPr lang="en-US" sz="1550" dirty="0"/>
          </a:p>
        </p:txBody>
      </p:sp>
      <p:sp>
        <p:nvSpPr>
          <p:cNvPr id="8" name="Text 6"/>
          <p:cNvSpPr/>
          <p:nvPr/>
        </p:nvSpPr>
        <p:spPr>
          <a:xfrm>
            <a:off x="1106424" y="2432304"/>
            <a:ext cx="5980176" cy="822960"/>
          </a:xfrm>
          <a:prstGeom prst="rect">
            <a:avLst/>
          </a:prstGeom>
          <a:noFill/>
          <a:ln/>
        </p:spPr>
        <p:txBody>
          <a:bodyPr wrap="square" lIns="0" tIns="0" rIns="0" bIns="0" rtlCol="0" anchor="ctr"/>
          <a:lstStyle/>
          <a:p>
            <a:pPr indent="0" marL="0">
              <a:lnSpc>
                <a:spcPct val="124000"/>
              </a:lnSpc>
              <a:buNone/>
            </a:pPr>
            <a:r>
              <a:rPr lang="en-US" sz="1250" dirty="0">
                <a:solidFill>
                  <a:srgbClr val="2E2E2E"/>
                </a:solidFill>
                <a:latin typeface="Calibri" pitchFamily="34" charset="0"/>
                <a:ea typeface="Calibri" pitchFamily="34" charset="-122"/>
                <a:cs typeface="Calibri" pitchFamily="34" charset="-120"/>
              </a:rPr>
              <a:t>flow_5tuple carries a real priority and is evaluated before ipv4_lpm, so a specific flow rule wins over the default route rather than depending on table order.</a:t>
            </a:r>
            <a:endParaRPr lang="en-US" sz="1250" dirty="0"/>
          </a:p>
        </p:txBody>
      </p:sp>
      <p:sp>
        <p:nvSpPr>
          <p:cNvPr id="9" name="Text 7"/>
          <p:cNvSpPr/>
          <p:nvPr/>
        </p:nvSpPr>
        <p:spPr>
          <a:xfrm>
            <a:off x="777240" y="3401568"/>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106424" y="3392424"/>
            <a:ext cx="5980176" cy="292608"/>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Non-IPv4 frames are no longer dropped</a:t>
            </a:r>
            <a:endParaRPr lang="en-US" sz="1550" dirty="0"/>
          </a:p>
        </p:txBody>
      </p:sp>
      <p:sp>
        <p:nvSpPr>
          <p:cNvPr id="11" name="Text 9"/>
          <p:cNvSpPr/>
          <p:nvPr/>
        </p:nvSpPr>
        <p:spPr>
          <a:xfrm>
            <a:off x="1106424" y="3730752"/>
            <a:ext cx="5980176" cy="822960"/>
          </a:xfrm>
          <a:prstGeom prst="rect">
            <a:avLst/>
          </a:prstGeom>
          <a:noFill/>
          <a:ln/>
        </p:spPr>
        <p:txBody>
          <a:bodyPr wrap="square" lIns="0" tIns="0" rIns="0" bIns="0" rtlCol="0" anchor="ctr"/>
          <a:lstStyle/>
          <a:p>
            <a:pPr indent="0" marL="0">
              <a:lnSpc>
                <a:spcPct val="124000"/>
              </a:lnSpc>
              <a:buNone/>
            </a:pPr>
            <a:r>
              <a:rPr lang="en-US" sz="1250" dirty="0">
                <a:solidFill>
                  <a:srgbClr val="2E2E2E"/>
                </a:solidFill>
                <a:latin typeface="Calibri" pitchFamily="34" charset="0"/>
                <a:ea typeface="Calibri" pitchFamily="34" charset="-122"/>
                <a:cs typeface="Calibri" pitchFamily="34" charset="-120"/>
              </a:rPr>
              <a:t>ARP, TCP, UDP and ICMP are parsed, and an L2 table forwards what the IPv4 path cannot. Before this, anything that was not IPv4 disappeared silently.</a:t>
            </a:r>
            <a:endParaRPr lang="en-US" sz="1250" dirty="0"/>
          </a:p>
        </p:txBody>
      </p:sp>
      <p:sp>
        <p:nvSpPr>
          <p:cNvPr id="12" name="Text 10"/>
          <p:cNvSpPr/>
          <p:nvPr/>
        </p:nvSpPr>
        <p:spPr>
          <a:xfrm>
            <a:off x="777240" y="4700016"/>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3</a:t>
            </a:r>
            <a:endParaRPr lang="en-US" sz="1300" dirty="0"/>
          </a:p>
        </p:txBody>
      </p:sp>
      <p:sp>
        <p:nvSpPr>
          <p:cNvPr id="13" name="Text 11"/>
          <p:cNvSpPr/>
          <p:nvPr/>
        </p:nvSpPr>
        <p:spPr>
          <a:xfrm>
            <a:off x="1106424" y="4690872"/>
            <a:ext cx="5980176" cy="292608"/>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Telemetry is generated in the pipeline</a:t>
            </a:r>
            <a:endParaRPr lang="en-US" sz="1550" dirty="0"/>
          </a:p>
        </p:txBody>
      </p:sp>
      <p:sp>
        <p:nvSpPr>
          <p:cNvPr id="14" name="Text 12"/>
          <p:cNvSpPr/>
          <p:nvPr/>
        </p:nvSpPr>
        <p:spPr>
          <a:xfrm>
            <a:off x="1106424" y="5029200"/>
            <a:ext cx="5980176" cy="822960"/>
          </a:xfrm>
          <a:prstGeom prst="rect">
            <a:avLst/>
          </a:prstGeom>
          <a:noFill/>
          <a:ln/>
        </p:spPr>
        <p:txBody>
          <a:bodyPr wrap="square" lIns="0" tIns="0" rIns="0" bIns="0" rtlCol="0" anchor="ctr"/>
          <a:lstStyle/>
          <a:p>
            <a:pPr indent="0" marL="0">
              <a:lnSpc>
                <a:spcPct val="124000"/>
              </a:lnSpc>
              <a:buNone/>
            </a:pPr>
            <a:r>
              <a:rPr lang="en-US" sz="1250" dirty="0">
                <a:solidFill>
                  <a:srgbClr val="2E2E2E"/>
                </a:solidFill>
                <a:latin typeface="Calibri" pitchFamily="34" charset="0"/>
                <a:ea typeface="Calibri" pitchFamily="34" charset="-122"/>
                <a:cs typeface="Calibri" pitchFamily="34" charset="-120"/>
              </a:rPr>
              <a:t>Direct and per-port counters, a TTL guard, and 1-in-256 clone-to-CPU sampling — the source of every flow sample the kernel later sees.</a:t>
            </a:r>
            <a:endParaRPr lang="en-US" sz="1250" dirty="0"/>
          </a:p>
        </p:txBody>
      </p:sp>
      <p:sp>
        <p:nvSpPr>
          <p:cNvPr id="15" name="Shape 13"/>
          <p:cNvSpPr/>
          <p:nvPr/>
        </p:nvSpPr>
        <p:spPr>
          <a:xfrm>
            <a:off x="7452360" y="2084832"/>
            <a:ext cx="3959352" cy="548640"/>
          </a:xfrm>
          <a:prstGeom prst="rect">
            <a:avLst/>
          </a:prstGeom>
          <a:solidFill>
            <a:srgbClr val="FFFFFF"/>
          </a:solidFill>
          <a:ln w="12700">
            <a:solidFill>
              <a:srgbClr val="D0D0D0"/>
            </a:solidFill>
            <a:prstDash val="solid"/>
          </a:ln>
        </p:spPr>
      </p:sp>
      <p:sp>
        <p:nvSpPr>
          <p:cNvPr id="16" name="Text 14"/>
          <p:cNvSpPr/>
          <p:nvPr/>
        </p:nvSpPr>
        <p:spPr>
          <a:xfrm>
            <a:off x="7525512" y="2084832"/>
            <a:ext cx="3813048" cy="548640"/>
          </a:xfrm>
          <a:prstGeom prst="rect">
            <a:avLst/>
          </a:prstGeom>
          <a:noFill/>
          <a:ln/>
        </p:spPr>
        <p:txBody>
          <a:bodyPr wrap="square" lIns="0" tIns="0" rIns="0" bIns="0" rtlCol="0" anchor="ctr"/>
          <a:lstStyle/>
          <a:p>
            <a:pPr algn="ctr" indent="0" marL="0">
              <a:lnSpc>
                <a:spcPct val="110000"/>
              </a:lnSpc>
              <a:buNone/>
            </a:pPr>
            <a:r>
              <a:rPr lang="en-US" sz="1200" b="1" dirty="0">
                <a:solidFill>
                  <a:srgbClr val="1A1A1A"/>
                </a:solidFill>
                <a:latin typeface="Calibri" pitchFamily="34" charset="0"/>
                <a:ea typeface="Calibri" pitchFamily="34" charset="-122"/>
                <a:cs typeface="Calibri" pitchFamily="34" charset="-120"/>
              </a:rPr>
              <a:t>Parser</a:t>
            </a:r>
            <a:endParaRPr lang="en-US" sz="1200" dirty="0"/>
          </a:p>
          <a:p>
            <a:pPr algn="ctr" indent="0" marL="0">
              <a:lnSpc>
                <a:spcPct val="110000"/>
              </a:lnSpc>
              <a:buNone/>
            </a:pPr>
            <a:r>
              <a:rPr lang="en-US" sz="950" dirty="0">
                <a:solidFill>
                  <a:srgbClr val="4F4F4F"/>
                </a:solidFill>
                <a:latin typeface="Calibri" pitchFamily="34" charset="0"/>
                <a:ea typeface="Calibri" pitchFamily="34" charset="-122"/>
                <a:cs typeface="Calibri" pitchFamily="34" charset="-120"/>
              </a:rPr>
              <a:t>Ethernet · ARP · IPv4 · TCP / UDP / ICMP</a:t>
            </a:r>
            <a:endParaRPr lang="en-US" sz="1200" dirty="0"/>
          </a:p>
        </p:txBody>
      </p:sp>
      <p:sp>
        <p:nvSpPr>
          <p:cNvPr id="17" name="Shape 15"/>
          <p:cNvSpPr/>
          <p:nvPr/>
        </p:nvSpPr>
        <p:spPr>
          <a:xfrm>
            <a:off x="9432036" y="2633472"/>
            <a:ext cx="9144" cy="256032"/>
          </a:xfrm>
          <a:prstGeom prst="line">
            <a:avLst/>
          </a:prstGeom>
          <a:noFill/>
          <a:ln w="19050">
            <a:solidFill>
              <a:srgbClr val="B4BEC4"/>
            </a:solidFill>
            <a:prstDash val="solid"/>
            <a:tailEnd type="triangle"/>
          </a:ln>
        </p:spPr>
      </p:sp>
      <p:sp>
        <p:nvSpPr>
          <p:cNvPr id="18" name="Shape 16"/>
          <p:cNvSpPr/>
          <p:nvPr/>
        </p:nvSpPr>
        <p:spPr>
          <a:xfrm>
            <a:off x="7452360" y="2889504"/>
            <a:ext cx="3959352" cy="548640"/>
          </a:xfrm>
          <a:prstGeom prst="rect">
            <a:avLst/>
          </a:prstGeom>
          <a:solidFill>
            <a:srgbClr val="EEF3F6"/>
          </a:solidFill>
          <a:ln w="12700">
            <a:solidFill>
              <a:srgbClr val="065A82"/>
            </a:solidFill>
            <a:prstDash val="solid"/>
          </a:ln>
        </p:spPr>
      </p:sp>
      <p:sp>
        <p:nvSpPr>
          <p:cNvPr id="19" name="Text 17"/>
          <p:cNvSpPr/>
          <p:nvPr/>
        </p:nvSpPr>
        <p:spPr>
          <a:xfrm>
            <a:off x="7525512" y="2889504"/>
            <a:ext cx="3813048" cy="548640"/>
          </a:xfrm>
          <a:prstGeom prst="rect">
            <a:avLst/>
          </a:prstGeom>
          <a:noFill/>
          <a:ln/>
        </p:spPr>
        <p:txBody>
          <a:bodyPr wrap="square" lIns="0" tIns="0" rIns="0" bIns="0" rtlCol="0" anchor="ctr"/>
          <a:lstStyle/>
          <a:p>
            <a:pPr algn="ctr" indent="0" marL="0">
              <a:lnSpc>
                <a:spcPct val="110000"/>
              </a:lnSpc>
              <a:buNone/>
            </a:pPr>
            <a:r>
              <a:rPr lang="en-US" sz="1200" b="1" dirty="0">
                <a:solidFill>
                  <a:srgbClr val="065A82"/>
                </a:solidFill>
                <a:latin typeface="Calibri" pitchFamily="34" charset="0"/>
                <a:ea typeface="Calibri" pitchFamily="34" charset="-122"/>
                <a:cs typeface="Calibri" pitchFamily="34" charset="-120"/>
              </a:rPr>
              <a:t>flow_5tuple</a:t>
            </a:r>
            <a:endParaRPr lang="en-US" sz="1200" dirty="0"/>
          </a:p>
          <a:p>
            <a:pPr algn="ctr" indent="0" marL="0">
              <a:lnSpc>
                <a:spcPct val="110000"/>
              </a:lnSpc>
              <a:buNone/>
            </a:pPr>
            <a:r>
              <a:rPr lang="en-US" sz="950" dirty="0">
                <a:solidFill>
                  <a:srgbClr val="065A82"/>
                </a:solidFill>
                <a:latin typeface="Calibri" pitchFamily="34" charset="0"/>
                <a:ea typeface="Calibri" pitchFamily="34" charset="-122"/>
                <a:cs typeface="Calibri" pitchFamily="34" charset="-120"/>
              </a:rPr>
              <a:t>ternary · real priority</a:t>
            </a:r>
            <a:endParaRPr lang="en-US" sz="1200" dirty="0"/>
          </a:p>
        </p:txBody>
      </p:sp>
      <p:sp>
        <p:nvSpPr>
          <p:cNvPr id="20" name="Shape 18"/>
          <p:cNvSpPr/>
          <p:nvPr/>
        </p:nvSpPr>
        <p:spPr>
          <a:xfrm>
            <a:off x="9432036" y="3438144"/>
            <a:ext cx="9144" cy="256032"/>
          </a:xfrm>
          <a:prstGeom prst="line">
            <a:avLst/>
          </a:prstGeom>
          <a:noFill/>
          <a:ln w="19050">
            <a:solidFill>
              <a:srgbClr val="B4BEC4"/>
            </a:solidFill>
            <a:prstDash val="solid"/>
            <a:tailEnd type="triangle"/>
          </a:ln>
        </p:spPr>
      </p:sp>
      <p:sp>
        <p:nvSpPr>
          <p:cNvPr id="21" name="Shape 19"/>
          <p:cNvSpPr/>
          <p:nvPr/>
        </p:nvSpPr>
        <p:spPr>
          <a:xfrm>
            <a:off x="7452360" y="3694176"/>
            <a:ext cx="3959352" cy="548640"/>
          </a:xfrm>
          <a:prstGeom prst="rect">
            <a:avLst/>
          </a:prstGeom>
          <a:solidFill>
            <a:srgbClr val="FFFFFF"/>
          </a:solidFill>
          <a:ln w="12700">
            <a:solidFill>
              <a:srgbClr val="D0D0D0"/>
            </a:solidFill>
            <a:prstDash val="solid"/>
          </a:ln>
        </p:spPr>
      </p:sp>
      <p:sp>
        <p:nvSpPr>
          <p:cNvPr id="22" name="Text 20"/>
          <p:cNvSpPr/>
          <p:nvPr/>
        </p:nvSpPr>
        <p:spPr>
          <a:xfrm>
            <a:off x="7525512" y="3694176"/>
            <a:ext cx="3813048" cy="548640"/>
          </a:xfrm>
          <a:prstGeom prst="rect">
            <a:avLst/>
          </a:prstGeom>
          <a:noFill/>
          <a:ln/>
        </p:spPr>
        <p:txBody>
          <a:bodyPr wrap="square" lIns="0" tIns="0" rIns="0" bIns="0" rtlCol="0" anchor="ctr"/>
          <a:lstStyle/>
          <a:p>
            <a:pPr algn="ctr" indent="0" marL="0">
              <a:lnSpc>
                <a:spcPct val="110000"/>
              </a:lnSpc>
              <a:buNone/>
            </a:pPr>
            <a:r>
              <a:rPr lang="en-US" sz="1200" b="1" dirty="0">
                <a:solidFill>
                  <a:srgbClr val="1A1A1A"/>
                </a:solidFill>
                <a:latin typeface="Calibri" pitchFamily="34" charset="0"/>
                <a:ea typeface="Calibri" pitchFamily="34" charset="-122"/>
                <a:cs typeface="Calibri" pitchFamily="34" charset="-120"/>
              </a:rPr>
              <a:t>ipv4_lpm</a:t>
            </a:r>
            <a:endParaRPr lang="en-US" sz="1200" dirty="0"/>
          </a:p>
          <a:p>
            <a:pPr algn="ctr" indent="0" marL="0">
              <a:lnSpc>
                <a:spcPct val="110000"/>
              </a:lnSpc>
              <a:buNone/>
            </a:pPr>
            <a:r>
              <a:rPr lang="en-US" sz="950" dirty="0">
                <a:solidFill>
                  <a:srgbClr val="4F4F4F"/>
                </a:solidFill>
                <a:latin typeface="Calibri" pitchFamily="34" charset="0"/>
                <a:ea typeface="Calibri" pitchFamily="34" charset="-122"/>
                <a:cs typeface="Calibri" pitchFamily="34" charset="-120"/>
              </a:rPr>
              <a:t>longest-prefix match</a:t>
            </a:r>
            <a:endParaRPr lang="en-US" sz="1200" dirty="0"/>
          </a:p>
        </p:txBody>
      </p:sp>
      <p:sp>
        <p:nvSpPr>
          <p:cNvPr id="23" name="Shape 21"/>
          <p:cNvSpPr/>
          <p:nvPr/>
        </p:nvSpPr>
        <p:spPr>
          <a:xfrm>
            <a:off x="9432036" y="4242816"/>
            <a:ext cx="9144" cy="256032"/>
          </a:xfrm>
          <a:prstGeom prst="line">
            <a:avLst/>
          </a:prstGeom>
          <a:noFill/>
          <a:ln w="19050">
            <a:solidFill>
              <a:srgbClr val="B4BEC4"/>
            </a:solidFill>
            <a:prstDash val="solid"/>
            <a:tailEnd type="triangle"/>
          </a:ln>
        </p:spPr>
      </p:sp>
      <p:sp>
        <p:nvSpPr>
          <p:cNvPr id="24" name="Shape 22"/>
          <p:cNvSpPr/>
          <p:nvPr/>
        </p:nvSpPr>
        <p:spPr>
          <a:xfrm>
            <a:off x="7452360" y="4498848"/>
            <a:ext cx="3959352" cy="548640"/>
          </a:xfrm>
          <a:prstGeom prst="rect">
            <a:avLst/>
          </a:prstGeom>
          <a:solidFill>
            <a:srgbClr val="FFFFFF"/>
          </a:solidFill>
          <a:ln w="12700">
            <a:solidFill>
              <a:srgbClr val="D0D0D0"/>
            </a:solidFill>
            <a:prstDash val="solid"/>
          </a:ln>
        </p:spPr>
      </p:sp>
      <p:sp>
        <p:nvSpPr>
          <p:cNvPr id="25" name="Text 23"/>
          <p:cNvSpPr/>
          <p:nvPr/>
        </p:nvSpPr>
        <p:spPr>
          <a:xfrm>
            <a:off x="7525512" y="4498848"/>
            <a:ext cx="3813048" cy="548640"/>
          </a:xfrm>
          <a:prstGeom prst="rect">
            <a:avLst/>
          </a:prstGeom>
          <a:noFill/>
          <a:ln/>
        </p:spPr>
        <p:txBody>
          <a:bodyPr wrap="square" lIns="0" tIns="0" rIns="0" bIns="0" rtlCol="0" anchor="ctr"/>
          <a:lstStyle/>
          <a:p>
            <a:pPr algn="ctr" indent="0" marL="0">
              <a:lnSpc>
                <a:spcPct val="110000"/>
              </a:lnSpc>
              <a:buNone/>
            </a:pPr>
            <a:r>
              <a:rPr lang="en-US" sz="1200" b="1" dirty="0">
                <a:solidFill>
                  <a:srgbClr val="1A1A1A"/>
                </a:solidFill>
                <a:latin typeface="Calibri" pitchFamily="34" charset="0"/>
                <a:ea typeface="Calibri" pitchFamily="34" charset="-122"/>
                <a:cs typeface="Calibri" pitchFamily="34" charset="-120"/>
              </a:rPr>
              <a:t>l2_forward</a:t>
            </a:r>
            <a:endParaRPr lang="en-US" sz="1200" dirty="0"/>
          </a:p>
          <a:p>
            <a:pPr algn="ctr" indent="0" marL="0">
              <a:lnSpc>
                <a:spcPct val="110000"/>
              </a:lnSpc>
              <a:buNone/>
            </a:pPr>
            <a:r>
              <a:rPr lang="en-US" sz="950" dirty="0">
                <a:solidFill>
                  <a:srgbClr val="4F4F4F"/>
                </a:solidFill>
                <a:latin typeface="Calibri" pitchFamily="34" charset="0"/>
                <a:ea typeface="Calibri" pitchFamily="34" charset="-122"/>
                <a:cs typeface="Calibri" pitchFamily="34" charset="-120"/>
              </a:rPr>
              <a:t>exact · non-IPv4 frames</a:t>
            </a:r>
            <a:endParaRPr lang="en-US" sz="1200" dirty="0"/>
          </a:p>
        </p:txBody>
      </p:sp>
      <p:sp>
        <p:nvSpPr>
          <p:cNvPr id="26" name="Shape 24"/>
          <p:cNvSpPr/>
          <p:nvPr/>
        </p:nvSpPr>
        <p:spPr>
          <a:xfrm>
            <a:off x="9432036" y="5047488"/>
            <a:ext cx="9144" cy="256032"/>
          </a:xfrm>
          <a:prstGeom prst="line">
            <a:avLst/>
          </a:prstGeom>
          <a:noFill/>
          <a:ln w="19050">
            <a:solidFill>
              <a:srgbClr val="B4BEC4"/>
            </a:solidFill>
            <a:prstDash val="solid"/>
            <a:tailEnd type="triangle"/>
          </a:ln>
        </p:spPr>
      </p:sp>
      <p:sp>
        <p:nvSpPr>
          <p:cNvPr id="27" name="Shape 25"/>
          <p:cNvSpPr/>
          <p:nvPr/>
        </p:nvSpPr>
        <p:spPr>
          <a:xfrm>
            <a:off x="7452360" y="5303520"/>
            <a:ext cx="3959352" cy="548640"/>
          </a:xfrm>
          <a:prstGeom prst="rect">
            <a:avLst/>
          </a:prstGeom>
          <a:solidFill>
            <a:srgbClr val="FFFFFF"/>
          </a:solidFill>
          <a:ln w="12700">
            <a:solidFill>
              <a:srgbClr val="D0D0D0"/>
            </a:solidFill>
            <a:prstDash val="solid"/>
          </a:ln>
        </p:spPr>
      </p:sp>
      <p:sp>
        <p:nvSpPr>
          <p:cNvPr id="28" name="Text 26"/>
          <p:cNvSpPr/>
          <p:nvPr/>
        </p:nvSpPr>
        <p:spPr>
          <a:xfrm>
            <a:off x="7525512" y="5303520"/>
            <a:ext cx="3813048" cy="548640"/>
          </a:xfrm>
          <a:prstGeom prst="rect">
            <a:avLst/>
          </a:prstGeom>
          <a:noFill/>
          <a:ln/>
        </p:spPr>
        <p:txBody>
          <a:bodyPr wrap="square" lIns="0" tIns="0" rIns="0" bIns="0" rtlCol="0" anchor="ctr"/>
          <a:lstStyle/>
          <a:p>
            <a:pPr algn="ctr" indent="0" marL="0">
              <a:lnSpc>
                <a:spcPct val="110000"/>
              </a:lnSpc>
              <a:buNone/>
            </a:pPr>
            <a:r>
              <a:rPr lang="en-US" sz="1200" b="1" dirty="0">
                <a:solidFill>
                  <a:srgbClr val="1A1A1A"/>
                </a:solidFill>
                <a:latin typeface="Calibri" pitchFamily="34" charset="0"/>
                <a:ea typeface="Calibri" pitchFamily="34" charset="-122"/>
                <a:cs typeface="Calibri" pitchFamily="34" charset="-120"/>
              </a:rPr>
              <a:t>Egress</a:t>
            </a:r>
            <a:endParaRPr lang="en-US" sz="1200" dirty="0"/>
          </a:p>
          <a:p>
            <a:pPr algn="ctr" indent="0" marL="0">
              <a:lnSpc>
                <a:spcPct val="110000"/>
              </a:lnSpc>
              <a:buNone/>
            </a:pPr>
            <a:r>
              <a:rPr lang="en-US" sz="950" dirty="0">
                <a:solidFill>
                  <a:srgbClr val="4F4F4F"/>
                </a:solidFill>
                <a:latin typeface="Calibri" pitchFamily="34" charset="0"/>
                <a:ea typeface="Calibri" pitchFamily="34" charset="-122"/>
                <a:cs typeface="Calibri" pitchFamily="34" charset="-120"/>
              </a:rPr>
              <a:t>TTL guard · counters · 1-in-256 clone to CPU</a:t>
            </a:r>
            <a:endParaRPr lang="en-US" sz="1200" dirty="0"/>
          </a:p>
        </p:txBody>
      </p:sp>
      <p:sp>
        <p:nvSpPr>
          <p:cNvPr id="29" name="Text 27"/>
          <p:cNvSpPr/>
          <p:nvPr/>
        </p:nvSpPr>
        <p:spPr>
          <a:xfrm>
            <a:off x="7452360" y="6071616"/>
            <a:ext cx="3959352" cy="274320"/>
          </a:xfrm>
          <a:prstGeom prst="rect">
            <a:avLst/>
          </a:prstGeom>
          <a:noFill/>
          <a:ln/>
        </p:spPr>
        <p:txBody>
          <a:bodyPr wrap="square" lIns="0" tIns="0" rIns="0" bIns="0" rtlCol="0" anchor="ctr"/>
          <a:lstStyle/>
          <a:p>
            <a:pPr indent="0" marL="0">
              <a:buNone/>
            </a:pPr>
            <a:r>
              <a:rPr lang="en-US" sz="1100" dirty="0">
                <a:solidFill>
                  <a:srgbClr val="4F4F4F"/>
                </a:solidFill>
                <a:latin typeface="Calibri" pitchFamily="34" charset="0"/>
                <a:ea typeface="Calibri" pitchFamily="34" charset="-122"/>
                <a:cs typeface="Calibri" pitchFamily="34" charset="-120"/>
              </a:rPr>
              <a:t>482 lines of P4_16 / v1model, compiled with p4c-bm2-ss.</a:t>
            </a:r>
            <a:endParaRPr lang="en-US" sz="1100" dirty="0"/>
          </a:p>
        </p:txBody>
      </p:sp>
      <p:sp>
        <p:nvSpPr>
          <p:cNvPr id="30" name="Text 28"/>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56032"/>
            <a:ext cx="5486400" cy="237744"/>
          </a:xfrm>
          <a:prstGeom prst="rect">
            <a:avLst/>
          </a:prstGeom>
          <a:noFill/>
          <a:ln/>
        </p:spPr>
        <p:txBody>
          <a:bodyPr wrap="square" lIns="0" tIns="0" rIns="0" bIns="0" rtlCol="0" anchor="ctr"/>
          <a:lstStyle/>
          <a:p>
            <a:pPr indent="0" marL="0">
              <a:buNone/>
            </a:pPr>
            <a:r>
              <a:rPr lang="en-US" sz="1050" b="1" spc="100" kern="0" dirty="0">
                <a:solidFill>
                  <a:srgbClr val="065A82"/>
                </a:solidFill>
                <a:latin typeface="Calibri" pitchFamily="34" charset="0"/>
                <a:ea typeface="Calibri" pitchFamily="34" charset="-122"/>
                <a:cs typeface="Calibri" pitchFamily="34" charset="-120"/>
              </a:rPr>
              <a:t>1 · NEW CAPABILITIES</a:t>
            </a:r>
            <a:endParaRPr lang="en-US" sz="1050" dirty="0"/>
          </a:p>
        </p:txBody>
      </p:sp>
      <p:sp>
        <p:nvSpPr>
          <p:cNvPr id="3" name="Text 1"/>
          <p:cNvSpPr/>
          <p:nvPr/>
        </p:nvSpPr>
        <p:spPr>
          <a:xfrm>
            <a:off x="777240" y="566928"/>
            <a:ext cx="10637215" cy="621792"/>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Inside the pipeline</a:t>
            </a:r>
            <a:endParaRPr lang="en-US" sz="3000" dirty="0"/>
          </a:p>
        </p:txBody>
      </p:sp>
      <p:sp>
        <p:nvSpPr>
          <p:cNvPr id="4" name="Text 2"/>
          <p:cNvSpPr/>
          <p:nvPr/>
        </p:nvSpPr>
        <p:spPr>
          <a:xfrm>
            <a:off x="777240" y="1207008"/>
            <a:ext cx="10637215" cy="347472"/>
          </a:xfrm>
          <a:prstGeom prst="rect">
            <a:avLst/>
          </a:prstGeom>
          <a:noFill/>
          <a:ln/>
        </p:spPr>
        <p:txBody>
          <a:bodyPr wrap="square" lIns="0" tIns="0" rIns="0" bIns="0" rtlCol="0" anchor="ctr"/>
          <a:lstStyle/>
          <a:p>
            <a:pPr indent="0" marL="0">
              <a:buNone/>
            </a:pPr>
            <a:r>
              <a:rPr lang="en-US" sz="1400" dirty="0">
                <a:solidFill>
                  <a:srgbClr val="4F4F4F"/>
                </a:solidFill>
                <a:latin typeface="Calibri" pitchFamily="34" charset="0"/>
                <a:ea typeface="Calibri" pitchFamily="34" charset="-122"/>
                <a:cs typeface="Calibri" pitchFamily="34" charset="-120"/>
              </a:rPr>
              <a:t>What a packet actually meets, in the order it meets it</a:t>
            </a:r>
            <a:endParaRPr lang="en-US" sz="1400" dirty="0"/>
          </a:p>
        </p:txBody>
      </p:sp>
      <p:sp>
        <p:nvSpPr>
          <p:cNvPr id="5" name="Shape 3"/>
          <p:cNvSpPr/>
          <p:nvPr/>
        </p:nvSpPr>
        <p:spPr>
          <a:xfrm>
            <a:off x="777240" y="1700784"/>
            <a:ext cx="10637215" cy="9144"/>
          </a:xfrm>
          <a:prstGeom prst="line">
            <a:avLst/>
          </a:prstGeom>
          <a:noFill/>
          <a:ln w="12700">
            <a:solidFill>
              <a:srgbClr val="D0D0D0"/>
            </a:solidFill>
            <a:prstDash val="solid"/>
          </a:ln>
        </p:spPr>
      </p:sp>
      <p:sp>
        <p:nvSpPr>
          <p:cNvPr id="6" name="Text 4"/>
          <p:cNvSpPr/>
          <p:nvPr/>
        </p:nvSpPr>
        <p:spPr>
          <a:xfrm>
            <a:off x="777240" y="2121408"/>
            <a:ext cx="2788920" cy="27432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Order is the design</a:t>
            </a:r>
            <a:endParaRPr lang="en-US" sz="1300" dirty="0"/>
          </a:p>
        </p:txBody>
      </p:sp>
      <p:sp>
        <p:nvSpPr>
          <p:cNvPr id="7" name="Text 5"/>
          <p:cNvSpPr/>
          <p:nvPr/>
        </p:nvSpPr>
        <p:spPr>
          <a:xfrm>
            <a:off x="777240" y="2395728"/>
            <a:ext cx="2788920" cy="914400"/>
          </a:xfrm>
          <a:prstGeom prst="rect">
            <a:avLst/>
          </a:prstGeom>
          <a:noFill/>
          <a:ln/>
        </p:spPr>
        <p:txBody>
          <a:bodyPr wrap="square" lIns="0" tIns="0" rIns="0" bIns="0" rtlCol="0" anchor="ctr"/>
          <a:lstStyle/>
          <a:p>
            <a:pPr indent="0" marL="0">
              <a:lnSpc>
                <a:spcPct val="120000"/>
              </a:lnSpc>
              <a:buNone/>
            </a:pPr>
            <a:r>
              <a:rPr lang="en-US" sz="1150" dirty="0">
                <a:solidFill>
                  <a:srgbClr val="2E2E2E"/>
                </a:solidFill>
                <a:latin typeface="Calibri" pitchFamily="34" charset="0"/>
                <a:ea typeface="Calibri" pitchFamily="34" charset="-122"/>
                <a:cs typeface="Calibri" pitchFamily="34" charset="-120"/>
              </a:rPr>
              <a:t>flow_5tuple is consulted before ipv4_lpm, so a specific rule beats the default route without depending on table order.</a:t>
            </a:r>
            <a:endParaRPr lang="en-US" sz="1150" dirty="0"/>
          </a:p>
        </p:txBody>
      </p:sp>
      <p:sp>
        <p:nvSpPr>
          <p:cNvPr id="8" name="Text 6"/>
          <p:cNvSpPr/>
          <p:nvPr/>
        </p:nvSpPr>
        <p:spPr>
          <a:xfrm>
            <a:off x="777240" y="3456432"/>
            <a:ext cx="2788920" cy="27432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Two exits before routing</a:t>
            </a:r>
            <a:endParaRPr lang="en-US" sz="1300" dirty="0"/>
          </a:p>
        </p:txBody>
      </p:sp>
      <p:sp>
        <p:nvSpPr>
          <p:cNvPr id="9" name="Text 7"/>
          <p:cNvSpPr/>
          <p:nvPr/>
        </p:nvSpPr>
        <p:spPr>
          <a:xfrm>
            <a:off x="777240" y="3730752"/>
            <a:ext cx="2788920" cy="914400"/>
          </a:xfrm>
          <a:prstGeom prst="rect">
            <a:avLst/>
          </a:prstGeom>
          <a:noFill/>
          <a:ln/>
        </p:spPr>
        <p:txBody>
          <a:bodyPr wrap="square" lIns="0" tIns="0" rIns="0" bIns="0" rtlCol="0" anchor="ctr"/>
          <a:lstStyle/>
          <a:p>
            <a:pPr indent="0" marL="0">
              <a:lnSpc>
                <a:spcPct val="120000"/>
              </a:lnSpc>
              <a:buNone/>
            </a:pPr>
            <a:r>
              <a:rPr lang="en-US" sz="1150" dirty="0">
                <a:solidFill>
                  <a:srgbClr val="2E2E2E"/>
                </a:solidFill>
                <a:latin typeface="Calibri" pitchFamily="34" charset="0"/>
                <a:ea typeface="Calibri" pitchFamily="34" charset="-122"/>
                <a:cs typeface="Calibri" pitchFamily="34" charset="-120"/>
              </a:rPr>
              <a:t>A packet_out from the controller leaves immediately; LLDP goes to the CPU. Neither reaches the forwarding tables.</a:t>
            </a:r>
            <a:endParaRPr lang="en-US" sz="1150" dirty="0"/>
          </a:p>
        </p:txBody>
      </p:sp>
      <p:sp>
        <p:nvSpPr>
          <p:cNvPr id="10" name="Text 8"/>
          <p:cNvSpPr/>
          <p:nvPr/>
        </p:nvSpPr>
        <p:spPr>
          <a:xfrm>
            <a:off x="777240" y="4791456"/>
            <a:ext cx="2788920" cy="27432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Cloning is not ours</a:t>
            </a:r>
            <a:endParaRPr lang="en-US" sz="1300" dirty="0"/>
          </a:p>
        </p:txBody>
      </p:sp>
      <p:sp>
        <p:nvSpPr>
          <p:cNvPr id="11" name="Text 9"/>
          <p:cNvSpPr/>
          <p:nvPr/>
        </p:nvSpPr>
        <p:spPr>
          <a:xfrm>
            <a:off x="777240" y="5065776"/>
            <a:ext cx="2788920" cy="914400"/>
          </a:xfrm>
          <a:prstGeom prst="rect">
            <a:avLst/>
          </a:prstGeom>
          <a:noFill/>
          <a:ln/>
        </p:spPr>
        <p:txBody>
          <a:bodyPr wrap="square" lIns="0" tIns="0" rIns="0" bIns="0" rtlCol="0" anchor="ctr"/>
          <a:lstStyle/>
          <a:p>
            <a:pPr indent="0" marL="0">
              <a:lnSpc>
                <a:spcPct val="120000"/>
              </a:lnSpc>
              <a:buNone/>
            </a:pPr>
            <a:r>
              <a:rPr lang="en-US" sz="1150" dirty="0">
                <a:solidFill>
                  <a:srgbClr val="2E2E2E"/>
                </a:solidFill>
                <a:latin typeface="Calibri" pitchFamily="34" charset="0"/>
                <a:ea typeface="Calibri" pitchFamily="34" charset="-122"/>
                <a:cs typeface="Calibri" pitchFamily="34" charset="-120"/>
              </a:rPr>
              <a:t>The ingress block only marks a packet. The Traffic Manager performs the copy, and that stage is not programmable.</a:t>
            </a:r>
            <a:endParaRPr lang="en-US" sz="1150" dirty="0"/>
          </a:p>
        </p:txBody>
      </p:sp>
      <p:sp>
        <p:nvSpPr>
          <p:cNvPr id="12" name="Shape 10"/>
          <p:cNvSpPr/>
          <p:nvPr/>
        </p:nvSpPr>
        <p:spPr>
          <a:xfrm>
            <a:off x="3611880" y="1828800"/>
            <a:ext cx="7772400" cy="384048"/>
          </a:xfrm>
          <a:prstGeom prst="rect">
            <a:avLst/>
          </a:prstGeom>
          <a:solidFill>
            <a:srgbClr val="FFFFFF"/>
          </a:solidFill>
          <a:ln w="12700">
            <a:solidFill>
              <a:srgbClr val="000000"/>
            </a:solidFill>
            <a:prstDash val="solid"/>
          </a:ln>
        </p:spPr>
      </p:sp>
      <p:sp>
        <p:nvSpPr>
          <p:cNvPr id="13" name="Text 11"/>
          <p:cNvSpPr/>
          <p:nvPr/>
        </p:nvSpPr>
        <p:spPr>
          <a:xfrm>
            <a:off x="3831336" y="1828800"/>
            <a:ext cx="7333488" cy="384048"/>
          </a:xfrm>
          <a:prstGeom prst="rect">
            <a:avLst/>
          </a:prstGeom>
          <a:noFill/>
          <a:ln/>
        </p:spPr>
        <p:txBody>
          <a:bodyPr wrap="square" lIns="0" tIns="0" rIns="0" bIns="0" rtlCol="0" anchor="ctr"/>
          <a:lstStyle/>
          <a:p>
            <a:pPr indent="0" marL="0">
              <a:buNone/>
            </a:pPr>
            <a:r>
              <a:rPr lang="en-US" sz="1150" b="1" dirty="0">
                <a:solidFill>
                  <a:srgbClr val="1A1A1A"/>
                </a:solidFill>
                <a:latin typeface="Arial" pitchFamily="34" charset="0"/>
                <a:ea typeface="Arial" pitchFamily="34" charset="-122"/>
                <a:cs typeface="Arial" pitchFamily="34" charset="-120"/>
              </a:rPr>
              <a:t>Parser</a:t>
            </a:r>
            <a:pPr indent="0" marL="0">
              <a:buNone/>
            </a:pPr>
            <a:r>
              <a:rPr lang="en-US" sz="1050" dirty="0">
                <a:solidFill>
                  <a:srgbClr val="4F4F4F"/>
                </a:solidFill>
                <a:latin typeface="Arial" pitchFamily="34" charset="0"/>
                <a:ea typeface="Arial" pitchFamily="34" charset="-122"/>
                <a:cs typeface="Arial" pitchFamily="34" charset="-120"/>
              </a:rPr>
              <a:t>     Ethernet · ARP · IPv4 · TCP / UDP / ICMP</a:t>
            </a:r>
            <a:endParaRPr lang="en-US" sz="1150" dirty="0"/>
          </a:p>
        </p:txBody>
      </p:sp>
      <p:sp>
        <p:nvSpPr>
          <p:cNvPr id="14" name="Shape 12"/>
          <p:cNvSpPr/>
          <p:nvPr/>
        </p:nvSpPr>
        <p:spPr>
          <a:xfrm>
            <a:off x="7498080" y="2212848"/>
            <a:ext cx="7315" cy="201168"/>
          </a:xfrm>
          <a:prstGeom prst="line">
            <a:avLst/>
          </a:prstGeom>
          <a:noFill/>
          <a:ln w="13970">
            <a:solidFill>
              <a:srgbClr val="000000"/>
            </a:solidFill>
            <a:prstDash val="solid"/>
            <a:tailEnd type="triangle"/>
          </a:ln>
        </p:spPr>
      </p:sp>
      <p:sp>
        <p:nvSpPr>
          <p:cNvPr id="15" name="Shape 13"/>
          <p:cNvSpPr/>
          <p:nvPr/>
        </p:nvSpPr>
        <p:spPr>
          <a:xfrm>
            <a:off x="3611880" y="2414016"/>
            <a:ext cx="7772400" cy="2286000"/>
          </a:xfrm>
          <a:prstGeom prst="rect">
            <a:avLst/>
          </a:prstGeom>
          <a:solidFill>
            <a:srgbClr val="FFFFFF"/>
          </a:solidFill>
          <a:ln w="12700">
            <a:solidFill>
              <a:srgbClr val="000000"/>
            </a:solidFill>
            <a:prstDash val="solid"/>
          </a:ln>
        </p:spPr>
      </p:sp>
      <p:sp>
        <p:nvSpPr>
          <p:cNvPr id="16" name="Shape 14"/>
          <p:cNvSpPr/>
          <p:nvPr/>
        </p:nvSpPr>
        <p:spPr>
          <a:xfrm>
            <a:off x="4114800" y="2308860"/>
            <a:ext cx="907085" cy="210312"/>
          </a:xfrm>
          <a:prstGeom prst="rect">
            <a:avLst/>
          </a:prstGeom>
          <a:solidFill>
            <a:srgbClr val="FFFFFF"/>
          </a:solidFill>
          <a:ln/>
        </p:spPr>
      </p:sp>
      <p:sp>
        <p:nvSpPr>
          <p:cNvPr id="17" name="Text 15"/>
          <p:cNvSpPr/>
          <p:nvPr/>
        </p:nvSpPr>
        <p:spPr>
          <a:xfrm>
            <a:off x="4114800" y="2308860"/>
            <a:ext cx="907085" cy="210312"/>
          </a:xfrm>
          <a:prstGeom prst="rect">
            <a:avLst/>
          </a:prstGeom>
          <a:noFill/>
          <a:ln/>
        </p:spPr>
        <p:txBody>
          <a:bodyPr wrap="square" lIns="0" tIns="0" rIns="0" bIns="0" rtlCol="0" anchor="ctr"/>
          <a:lstStyle/>
          <a:p>
            <a:pPr algn="ctr" indent="0" marL="0">
              <a:buNone/>
            </a:pPr>
            <a:r>
              <a:rPr lang="en-US" sz="1100" b="1" dirty="0">
                <a:solidFill>
                  <a:srgbClr val="1A1A1A"/>
                </a:solidFill>
                <a:latin typeface="Arial" pitchFamily="34" charset="0"/>
                <a:ea typeface="Arial" pitchFamily="34" charset="-122"/>
                <a:cs typeface="Arial" pitchFamily="34" charset="-120"/>
              </a:rPr>
              <a:t>MyIngress</a:t>
            </a:r>
            <a:endParaRPr lang="en-US" sz="1100" dirty="0"/>
          </a:p>
        </p:txBody>
      </p:sp>
      <p:sp>
        <p:nvSpPr>
          <p:cNvPr id="18" name="Text 16"/>
          <p:cNvSpPr/>
          <p:nvPr/>
        </p:nvSpPr>
        <p:spPr>
          <a:xfrm>
            <a:off x="3886200" y="2596896"/>
            <a:ext cx="7223760" cy="237744"/>
          </a:xfrm>
          <a:prstGeom prst="rect">
            <a:avLst/>
          </a:prstGeom>
          <a:noFill/>
          <a:ln/>
        </p:spPr>
        <p:txBody>
          <a:bodyPr wrap="square" lIns="0" tIns="0" rIns="0" bIns="0" rtlCol="0" anchor="ctr"/>
          <a:lstStyle/>
          <a:p>
            <a:pPr indent="0" marL="0">
              <a:buNone/>
            </a:pPr>
            <a:r>
              <a:rPr lang="en-US" sz="1050" b="1" dirty="0">
                <a:solidFill>
                  <a:srgbClr val="1A1A1A"/>
                </a:solidFill>
                <a:latin typeface="Courier New" pitchFamily="34" charset="0"/>
                <a:ea typeface="Courier New" pitchFamily="34" charset="-122"/>
                <a:cs typeface="Courier New" pitchFamily="34" charset="-120"/>
              </a:rPr>
              <a:t>packet_out?</a:t>
            </a:r>
            <a:pPr indent="0" marL="0">
              <a:buNone/>
            </a:pPr>
            <a:r>
              <a:rPr lang="en-US" sz="1100" dirty="0">
                <a:solidFill>
                  <a:srgbClr val="2E2E2E"/>
                </a:solidFill>
                <a:latin typeface="Calibri" pitchFamily="34" charset="0"/>
                <a:ea typeface="Calibri" pitchFamily="34" charset="-122"/>
                <a:cs typeface="Calibri" pitchFamily="34" charset="-120"/>
              </a:rPr>
              <a:t>  →  leave on the port the controller named, return</a:t>
            </a:r>
            <a:endParaRPr lang="en-US" sz="1050" dirty="0"/>
          </a:p>
        </p:txBody>
      </p:sp>
      <p:sp>
        <p:nvSpPr>
          <p:cNvPr id="19" name="Text 17"/>
          <p:cNvSpPr/>
          <p:nvPr/>
        </p:nvSpPr>
        <p:spPr>
          <a:xfrm>
            <a:off x="3886200" y="2926080"/>
            <a:ext cx="7223760" cy="237744"/>
          </a:xfrm>
          <a:prstGeom prst="rect">
            <a:avLst/>
          </a:prstGeom>
          <a:noFill/>
          <a:ln/>
        </p:spPr>
        <p:txBody>
          <a:bodyPr wrap="square" lIns="0" tIns="0" rIns="0" bIns="0" rtlCol="0" anchor="ctr"/>
          <a:lstStyle/>
          <a:p>
            <a:pPr indent="0" marL="0">
              <a:buNone/>
            </a:pPr>
            <a:r>
              <a:rPr lang="en-US" sz="1050" b="1" dirty="0">
                <a:solidFill>
                  <a:srgbClr val="1A1A1A"/>
                </a:solidFill>
                <a:latin typeface="Courier New" pitchFamily="34" charset="0"/>
                <a:ea typeface="Courier New" pitchFamily="34" charset="-122"/>
                <a:cs typeface="Courier New" pitchFamily="34" charset="-120"/>
              </a:rPr>
              <a:t>IPv4?</a:t>
            </a:r>
            <a:pPr indent="0" marL="0">
              <a:buNone/>
            </a:pPr>
            <a:r>
              <a:rPr lang="en-US" sz="1050" dirty="0">
                <a:solidFill>
                  <a:srgbClr val="2E2E2E"/>
                </a:solidFill>
                <a:latin typeface="Courier New" pitchFamily="34" charset="0"/>
                <a:ea typeface="Courier New" pitchFamily="34" charset="-122"/>
                <a:cs typeface="Courier New" pitchFamily="34" charset="-120"/>
              </a:rPr>
              <a:t>  →  </a:t>
            </a:r>
            <a:pPr indent="0" marL="0">
              <a:buNone/>
            </a:pPr>
            <a:r>
              <a:rPr lang="en-US" sz="1050" b="1" dirty="0">
                <a:solidFill>
                  <a:srgbClr val="065A82"/>
                </a:solidFill>
                <a:latin typeface="Courier New" pitchFamily="34" charset="0"/>
                <a:ea typeface="Courier New" pitchFamily="34" charset="-122"/>
                <a:cs typeface="Courier New" pitchFamily="34" charset="-120"/>
              </a:rPr>
              <a:t>flow_5tuple</a:t>
            </a:r>
            <a:pPr indent="0" marL="0">
              <a:buNone/>
            </a:pPr>
            <a:r>
              <a:rPr lang="en-US" sz="1050" dirty="0">
                <a:solidFill>
                  <a:srgbClr val="4F4F4F"/>
                </a:solidFill>
                <a:latin typeface="Calibri" pitchFamily="34" charset="0"/>
                <a:ea typeface="Calibri" pitchFamily="34" charset="-122"/>
                <a:cs typeface="Calibri" pitchFamily="34" charset="-120"/>
              </a:rPr>
              <a:t>   ternary, real priority</a:t>
            </a:r>
            <a:endParaRPr lang="en-US" sz="1050" dirty="0"/>
          </a:p>
        </p:txBody>
      </p:sp>
      <p:sp>
        <p:nvSpPr>
          <p:cNvPr id="20" name="Text 18"/>
          <p:cNvSpPr/>
          <p:nvPr/>
        </p:nvSpPr>
        <p:spPr>
          <a:xfrm>
            <a:off x="4937760" y="3154680"/>
            <a:ext cx="6172200" cy="237744"/>
          </a:xfrm>
          <a:prstGeom prst="rect">
            <a:avLst/>
          </a:prstGeom>
          <a:noFill/>
          <a:ln/>
        </p:spPr>
        <p:txBody>
          <a:bodyPr wrap="square" lIns="0" tIns="0" rIns="0" bIns="0" rtlCol="0" anchor="ctr"/>
          <a:lstStyle/>
          <a:p>
            <a:pPr indent="0" marL="0">
              <a:buNone/>
            </a:pPr>
            <a:r>
              <a:rPr lang="en-US" sz="1050" dirty="0">
                <a:solidFill>
                  <a:srgbClr val="2E2E2E"/>
                </a:solidFill>
                <a:latin typeface="Courier New" pitchFamily="34" charset="0"/>
                <a:ea typeface="Courier New" pitchFamily="34" charset="-122"/>
                <a:cs typeface="Courier New" pitchFamily="34" charset="-120"/>
              </a:rPr>
              <a:t>miss  →  ipv4_lpm</a:t>
            </a:r>
            <a:pPr indent="0" marL="0">
              <a:buNone/>
            </a:pPr>
            <a:r>
              <a:rPr lang="en-US" sz="1050" dirty="0">
                <a:solidFill>
                  <a:srgbClr val="4F4F4F"/>
                </a:solidFill>
                <a:latin typeface="Calibri" pitchFamily="34" charset="0"/>
                <a:ea typeface="Calibri" pitchFamily="34" charset="-122"/>
                <a:cs typeface="Calibri" pitchFamily="34" charset="-120"/>
              </a:rPr>
              <a:t>   longest-prefix match</a:t>
            </a:r>
            <a:endParaRPr lang="en-US" sz="1050" dirty="0"/>
          </a:p>
        </p:txBody>
      </p:sp>
      <p:sp>
        <p:nvSpPr>
          <p:cNvPr id="21" name="Text 19"/>
          <p:cNvSpPr/>
          <p:nvPr/>
        </p:nvSpPr>
        <p:spPr>
          <a:xfrm>
            <a:off x="3886200" y="3438144"/>
            <a:ext cx="7223760" cy="237744"/>
          </a:xfrm>
          <a:prstGeom prst="rect">
            <a:avLst/>
          </a:prstGeom>
          <a:noFill/>
          <a:ln/>
        </p:spPr>
        <p:txBody>
          <a:bodyPr wrap="square" lIns="0" tIns="0" rIns="0" bIns="0" rtlCol="0" anchor="ctr"/>
          <a:lstStyle/>
          <a:p>
            <a:pPr indent="0" marL="0">
              <a:buNone/>
            </a:pPr>
            <a:r>
              <a:rPr lang="en-US" sz="1050" b="1" dirty="0">
                <a:solidFill>
                  <a:srgbClr val="1A1A1A"/>
                </a:solidFill>
                <a:latin typeface="Courier New" pitchFamily="34" charset="0"/>
                <a:ea typeface="Courier New" pitchFamily="34" charset="-122"/>
                <a:cs typeface="Courier New" pitchFamily="34" charset="-120"/>
              </a:rPr>
              <a:t>LLDP?</a:t>
            </a:r>
            <a:pPr indent="0" marL="0">
              <a:buNone/>
            </a:pPr>
            <a:r>
              <a:rPr lang="en-US" sz="1050" dirty="0">
                <a:solidFill>
                  <a:srgbClr val="2E2E2E"/>
                </a:solidFill>
                <a:latin typeface="Courier New" pitchFamily="34" charset="0"/>
                <a:ea typeface="Courier New" pitchFamily="34" charset="-122"/>
                <a:cs typeface="Courier New" pitchFamily="34" charset="-120"/>
              </a:rPr>
              <a:t>  →  send_to_cpu</a:t>
            </a:r>
            <a:pPr indent="0" marL="0">
              <a:buNone/>
            </a:pPr>
            <a:r>
              <a:rPr lang="en-US" sz="1050" dirty="0">
                <a:solidFill>
                  <a:srgbClr val="4F4F4F"/>
                </a:solidFill>
                <a:latin typeface="Calibri" pitchFamily="34" charset="0"/>
                <a:ea typeface="Calibri" pitchFamily="34" charset="-122"/>
                <a:cs typeface="Calibri" pitchFamily="34" charset="-120"/>
              </a:rPr>
              <a:t>   link discovery</a:t>
            </a:r>
            <a:endParaRPr lang="en-US" sz="1050" dirty="0"/>
          </a:p>
        </p:txBody>
      </p:sp>
      <p:sp>
        <p:nvSpPr>
          <p:cNvPr id="22" name="Text 20"/>
          <p:cNvSpPr/>
          <p:nvPr/>
        </p:nvSpPr>
        <p:spPr>
          <a:xfrm>
            <a:off x="3886200" y="3694176"/>
            <a:ext cx="7223760" cy="237744"/>
          </a:xfrm>
          <a:prstGeom prst="rect">
            <a:avLst/>
          </a:prstGeom>
          <a:noFill/>
          <a:ln/>
        </p:spPr>
        <p:txBody>
          <a:bodyPr wrap="square" lIns="0" tIns="0" rIns="0" bIns="0" rtlCol="0" anchor="ctr"/>
          <a:lstStyle/>
          <a:p>
            <a:pPr indent="0" marL="0">
              <a:buNone/>
            </a:pPr>
            <a:r>
              <a:rPr lang="en-US" sz="1050" b="1" dirty="0">
                <a:solidFill>
                  <a:srgbClr val="1A1A1A"/>
                </a:solidFill>
                <a:latin typeface="Courier New" pitchFamily="34" charset="0"/>
                <a:ea typeface="Courier New" pitchFamily="34" charset="-122"/>
                <a:cs typeface="Courier New" pitchFamily="34" charset="-120"/>
              </a:rPr>
              <a:t>anything else?</a:t>
            </a:r>
            <a:pPr indent="0" marL="0">
              <a:buNone/>
            </a:pPr>
            <a:r>
              <a:rPr lang="en-US" sz="1050" dirty="0">
                <a:solidFill>
                  <a:srgbClr val="2E2E2E"/>
                </a:solidFill>
                <a:latin typeface="Courier New" pitchFamily="34" charset="0"/>
                <a:ea typeface="Courier New" pitchFamily="34" charset="-122"/>
                <a:cs typeface="Courier New" pitchFamily="34" charset="-120"/>
              </a:rPr>
              <a:t>  →  </a:t>
            </a:r>
            <a:pPr indent="0" marL="0">
              <a:buNone/>
            </a:pPr>
            <a:r>
              <a:rPr lang="en-US" sz="1050" b="1" dirty="0">
                <a:solidFill>
                  <a:srgbClr val="065A82"/>
                </a:solidFill>
                <a:latin typeface="Courier New" pitchFamily="34" charset="0"/>
                <a:ea typeface="Courier New" pitchFamily="34" charset="-122"/>
                <a:cs typeface="Courier New" pitchFamily="34" charset="-120"/>
              </a:rPr>
              <a:t>l2_forward</a:t>
            </a:r>
            <a:pPr indent="0" marL="0">
              <a:buNone/>
            </a:pPr>
            <a:r>
              <a:rPr lang="en-US" sz="1050" dirty="0">
                <a:solidFill>
                  <a:srgbClr val="4F4F4F"/>
                </a:solidFill>
                <a:latin typeface="Calibri" pitchFamily="34" charset="0"/>
                <a:ea typeface="Calibri" pitchFamily="34" charset="-122"/>
                <a:cs typeface="Calibri" pitchFamily="34" charset="-120"/>
              </a:rPr>
              <a:t>   exact — non-IPv4 frames are no longer dropped</a:t>
            </a:r>
            <a:endParaRPr lang="en-US" sz="1050" dirty="0"/>
          </a:p>
        </p:txBody>
      </p:sp>
      <p:sp>
        <p:nvSpPr>
          <p:cNvPr id="23" name="Shape 21"/>
          <p:cNvSpPr/>
          <p:nvPr/>
        </p:nvSpPr>
        <p:spPr>
          <a:xfrm>
            <a:off x="3886200" y="3986784"/>
            <a:ext cx="7223760" cy="3658"/>
          </a:xfrm>
          <a:prstGeom prst="line">
            <a:avLst/>
          </a:prstGeom>
          <a:noFill/>
          <a:ln w="12700">
            <a:solidFill>
              <a:srgbClr val="E2E2E2"/>
            </a:solidFill>
            <a:prstDash val="solid"/>
          </a:ln>
        </p:spPr>
      </p:sp>
      <p:sp>
        <p:nvSpPr>
          <p:cNvPr id="24" name="Text 22"/>
          <p:cNvSpPr/>
          <p:nvPr/>
        </p:nvSpPr>
        <p:spPr>
          <a:xfrm>
            <a:off x="3886200" y="4096512"/>
            <a:ext cx="7223760" cy="237744"/>
          </a:xfrm>
          <a:prstGeom prst="rect">
            <a:avLst/>
          </a:prstGeom>
          <a:noFill/>
          <a:ln/>
        </p:spPr>
        <p:txBody>
          <a:bodyPr wrap="square" lIns="0" tIns="0" rIns="0" bIns="0" rtlCol="0" anchor="ctr"/>
          <a:lstStyle/>
          <a:p>
            <a:pPr indent="0" marL="0">
              <a:buNone/>
            </a:pPr>
            <a:r>
              <a:rPr lang="en-US" sz="1050" b="1" dirty="0">
                <a:solidFill>
                  <a:srgbClr val="065A82"/>
                </a:solidFill>
                <a:latin typeface="Courier New" pitchFamily="34" charset="0"/>
                <a:ea typeface="Courier New" pitchFamily="34" charset="-122"/>
                <a:cs typeface="Courier New" pitchFamily="34" charset="-120"/>
              </a:rPr>
              <a:t>TTL guard</a:t>
            </a:r>
            <a:pPr indent="0" marL="0">
              <a:buNone/>
            </a:pPr>
            <a:r>
              <a:rPr lang="en-US" sz="1050" dirty="0">
                <a:solidFill>
                  <a:srgbClr val="4F4F4F"/>
                </a:solidFill>
                <a:latin typeface="Calibri" pitchFamily="34" charset="0"/>
                <a:ea typeface="Calibri" pitchFamily="34" charset="-122"/>
                <a:cs typeface="Calibri" pitchFamily="34" charset="-120"/>
              </a:rPr>
              <a:t>   inside the ipv4_forward action</a:t>
            </a:r>
            <a:endParaRPr lang="en-US" sz="1050" dirty="0"/>
          </a:p>
        </p:txBody>
      </p:sp>
      <p:sp>
        <p:nvSpPr>
          <p:cNvPr id="25" name="Text 23"/>
          <p:cNvSpPr/>
          <p:nvPr/>
        </p:nvSpPr>
        <p:spPr>
          <a:xfrm>
            <a:off x="3886200" y="4343400"/>
            <a:ext cx="7223760" cy="237744"/>
          </a:xfrm>
          <a:prstGeom prst="rect">
            <a:avLst/>
          </a:prstGeom>
          <a:noFill/>
          <a:ln/>
        </p:spPr>
        <p:txBody>
          <a:bodyPr wrap="square" lIns="0" tIns="0" rIns="0" bIns="0" rtlCol="0" anchor="ctr"/>
          <a:lstStyle/>
          <a:p>
            <a:pPr indent="0" marL="0">
              <a:buNone/>
            </a:pPr>
            <a:r>
              <a:rPr lang="en-US" sz="1050" b="1" dirty="0">
                <a:solidFill>
                  <a:srgbClr val="065A82"/>
                </a:solidFill>
                <a:latin typeface="Courier New" pitchFamily="34" charset="0"/>
                <a:ea typeface="Courier New" pitchFamily="34" charset="-122"/>
                <a:cs typeface="Courier New" pitchFamily="34" charset="-120"/>
              </a:rPr>
              <a:t>1-in-256</a:t>
            </a:r>
            <a:pPr indent="0" marL="0">
              <a:buNone/>
            </a:pPr>
            <a:r>
              <a:rPr lang="en-US" sz="1050" dirty="0">
                <a:solidFill>
                  <a:srgbClr val="2E2E2E"/>
                </a:solidFill>
                <a:latin typeface="Courier New" pitchFamily="34" charset="0"/>
                <a:ea typeface="Courier New" pitchFamily="34" charset="-122"/>
                <a:cs typeface="Courier New" pitchFamily="34" charset="-120"/>
              </a:rPr>
              <a:t>  →  clone_preserving_field_list(I2E)</a:t>
            </a:r>
            <a:endParaRPr lang="en-US" sz="1050" dirty="0"/>
          </a:p>
        </p:txBody>
      </p:sp>
      <p:sp>
        <p:nvSpPr>
          <p:cNvPr id="26" name="Shape 24"/>
          <p:cNvSpPr/>
          <p:nvPr/>
        </p:nvSpPr>
        <p:spPr>
          <a:xfrm>
            <a:off x="7498080" y="4700016"/>
            <a:ext cx="7315" cy="201168"/>
          </a:xfrm>
          <a:prstGeom prst="line">
            <a:avLst/>
          </a:prstGeom>
          <a:noFill/>
          <a:ln w="13970">
            <a:solidFill>
              <a:srgbClr val="000000"/>
            </a:solidFill>
            <a:prstDash val="solid"/>
            <a:tailEnd type="triangle"/>
          </a:ln>
        </p:spPr>
      </p:sp>
      <p:sp>
        <p:nvSpPr>
          <p:cNvPr id="27" name="Shape 25"/>
          <p:cNvSpPr/>
          <p:nvPr/>
        </p:nvSpPr>
        <p:spPr>
          <a:xfrm>
            <a:off x="4983480" y="4901184"/>
            <a:ext cx="5029200" cy="384048"/>
          </a:xfrm>
          <a:prstGeom prst="rect">
            <a:avLst/>
          </a:prstGeom>
          <a:solidFill>
            <a:srgbClr val="F2F2F2"/>
          </a:solidFill>
          <a:ln w="12700">
            <a:solidFill>
              <a:srgbClr val="9A9A9A"/>
            </a:solidFill>
            <a:prstDash val="solid"/>
          </a:ln>
        </p:spPr>
      </p:sp>
      <p:sp>
        <p:nvSpPr>
          <p:cNvPr id="28" name="Text 26"/>
          <p:cNvSpPr/>
          <p:nvPr/>
        </p:nvSpPr>
        <p:spPr>
          <a:xfrm>
            <a:off x="5093208" y="4901184"/>
            <a:ext cx="4809744" cy="384048"/>
          </a:xfrm>
          <a:prstGeom prst="rect">
            <a:avLst/>
          </a:prstGeom>
          <a:noFill/>
          <a:ln/>
        </p:spPr>
        <p:txBody>
          <a:bodyPr wrap="square" lIns="0" tIns="0" rIns="0" bIns="0" rtlCol="0" anchor="ctr"/>
          <a:lstStyle/>
          <a:p>
            <a:pPr algn="ctr" indent="0" marL="0">
              <a:buNone/>
            </a:pPr>
            <a:r>
              <a:rPr lang="en-US" sz="1100" b="1" dirty="0">
                <a:solidFill>
                  <a:srgbClr val="3A3A3A"/>
                </a:solidFill>
                <a:latin typeface="Arial" pitchFamily="34" charset="0"/>
                <a:ea typeface="Arial" pitchFamily="34" charset="-122"/>
                <a:cs typeface="Arial" pitchFamily="34" charset="-120"/>
              </a:rPr>
              <a:t>Traffic Manager</a:t>
            </a:r>
            <a:pPr algn="ctr" indent="0" marL="0">
              <a:buNone/>
            </a:pPr>
            <a:r>
              <a:rPr lang="en-US" sz="1000" dirty="0">
                <a:solidFill>
                  <a:srgbClr val="4F4F4F"/>
                </a:solidFill>
                <a:latin typeface="Arial" pitchFamily="34" charset="0"/>
                <a:ea typeface="Arial" pitchFamily="34" charset="-122"/>
                <a:cs typeface="Arial" pitchFamily="34" charset="-120"/>
              </a:rPr>
              <a:t>     not programmable — the copy actually happens here</a:t>
            </a:r>
            <a:endParaRPr lang="en-US" sz="1100" dirty="0"/>
          </a:p>
        </p:txBody>
      </p:sp>
      <p:sp>
        <p:nvSpPr>
          <p:cNvPr id="29" name="Shape 27"/>
          <p:cNvSpPr/>
          <p:nvPr/>
        </p:nvSpPr>
        <p:spPr>
          <a:xfrm>
            <a:off x="7498080" y="5285232"/>
            <a:ext cx="7315" cy="201168"/>
          </a:xfrm>
          <a:prstGeom prst="line">
            <a:avLst/>
          </a:prstGeom>
          <a:noFill/>
          <a:ln w="13970">
            <a:solidFill>
              <a:srgbClr val="000000"/>
            </a:solidFill>
            <a:prstDash val="solid"/>
            <a:tailEnd type="triangle"/>
          </a:ln>
        </p:spPr>
      </p:sp>
      <p:sp>
        <p:nvSpPr>
          <p:cNvPr id="30" name="Shape 28"/>
          <p:cNvSpPr/>
          <p:nvPr/>
        </p:nvSpPr>
        <p:spPr>
          <a:xfrm>
            <a:off x="3611880" y="5486400"/>
            <a:ext cx="7772400" cy="731520"/>
          </a:xfrm>
          <a:prstGeom prst="rect">
            <a:avLst/>
          </a:prstGeom>
          <a:solidFill>
            <a:srgbClr val="FFFFFF"/>
          </a:solidFill>
          <a:ln w="12700">
            <a:solidFill>
              <a:srgbClr val="000000"/>
            </a:solidFill>
            <a:prstDash val="solid"/>
          </a:ln>
        </p:spPr>
      </p:sp>
      <p:sp>
        <p:nvSpPr>
          <p:cNvPr id="31" name="Shape 29"/>
          <p:cNvSpPr/>
          <p:nvPr/>
        </p:nvSpPr>
        <p:spPr>
          <a:xfrm>
            <a:off x="4114800" y="5381244"/>
            <a:ext cx="826618" cy="210312"/>
          </a:xfrm>
          <a:prstGeom prst="rect">
            <a:avLst/>
          </a:prstGeom>
          <a:solidFill>
            <a:srgbClr val="FFFFFF"/>
          </a:solidFill>
          <a:ln/>
        </p:spPr>
      </p:sp>
      <p:sp>
        <p:nvSpPr>
          <p:cNvPr id="32" name="Text 30"/>
          <p:cNvSpPr/>
          <p:nvPr/>
        </p:nvSpPr>
        <p:spPr>
          <a:xfrm>
            <a:off x="4114800" y="5381244"/>
            <a:ext cx="826618" cy="210312"/>
          </a:xfrm>
          <a:prstGeom prst="rect">
            <a:avLst/>
          </a:prstGeom>
          <a:noFill/>
          <a:ln/>
        </p:spPr>
        <p:txBody>
          <a:bodyPr wrap="square" lIns="0" tIns="0" rIns="0" bIns="0" rtlCol="0" anchor="ctr"/>
          <a:lstStyle/>
          <a:p>
            <a:pPr algn="ctr" indent="0" marL="0">
              <a:buNone/>
            </a:pPr>
            <a:r>
              <a:rPr lang="en-US" sz="1100" b="1" dirty="0">
                <a:solidFill>
                  <a:srgbClr val="1A1A1A"/>
                </a:solidFill>
                <a:latin typeface="Arial" pitchFamily="34" charset="0"/>
                <a:ea typeface="Arial" pitchFamily="34" charset="-122"/>
                <a:cs typeface="Arial" pitchFamily="34" charset="-120"/>
              </a:rPr>
              <a:t>MyEgress</a:t>
            </a:r>
            <a:endParaRPr lang="en-US" sz="1100" dirty="0"/>
          </a:p>
        </p:txBody>
      </p:sp>
      <p:sp>
        <p:nvSpPr>
          <p:cNvPr id="33" name="Text 31"/>
          <p:cNvSpPr/>
          <p:nvPr/>
        </p:nvSpPr>
        <p:spPr>
          <a:xfrm>
            <a:off x="3886200" y="5669280"/>
            <a:ext cx="7223760" cy="237744"/>
          </a:xfrm>
          <a:prstGeom prst="rect">
            <a:avLst/>
          </a:prstGeom>
          <a:noFill/>
          <a:ln/>
        </p:spPr>
        <p:txBody>
          <a:bodyPr wrap="square" lIns="0" tIns="0" rIns="0" bIns="0" rtlCol="0" anchor="ctr"/>
          <a:lstStyle/>
          <a:p>
            <a:pPr indent="0" marL="0">
              <a:buNone/>
            </a:pPr>
            <a:r>
              <a:rPr lang="en-US" sz="1050" b="1" dirty="0">
                <a:solidFill>
                  <a:srgbClr val="1A1A1A"/>
                </a:solidFill>
                <a:latin typeface="Courier New" pitchFamily="34" charset="0"/>
                <a:ea typeface="Courier New" pitchFamily="34" charset="-122"/>
                <a:cs typeface="Courier New" pitchFamily="34" charset="-120"/>
              </a:rPr>
              <a:t>is this a clone?</a:t>
            </a:r>
            <a:pPr indent="0" marL="0">
              <a:buNone/>
            </a:pPr>
            <a:r>
              <a:rPr lang="en-US" sz="1050" dirty="0">
                <a:solidFill>
                  <a:srgbClr val="2E2E2E"/>
                </a:solidFill>
                <a:latin typeface="Courier New" pitchFamily="34" charset="0"/>
                <a:ea typeface="Courier New" pitchFamily="34" charset="-122"/>
                <a:cs typeface="Courier New" pitchFamily="34" charset="-120"/>
              </a:rPr>
              <a:t>  →  attach the packet_in header, and do not count it</a:t>
            </a:r>
            <a:endParaRPr lang="en-US" sz="1050" dirty="0"/>
          </a:p>
        </p:txBody>
      </p:sp>
      <p:sp>
        <p:nvSpPr>
          <p:cNvPr id="34" name="Text 32"/>
          <p:cNvSpPr/>
          <p:nvPr/>
        </p:nvSpPr>
        <p:spPr>
          <a:xfrm>
            <a:off x="3886200" y="5925312"/>
            <a:ext cx="7223760" cy="237744"/>
          </a:xfrm>
          <a:prstGeom prst="rect">
            <a:avLst/>
          </a:prstGeom>
          <a:noFill/>
          <a:ln/>
        </p:spPr>
        <p:txBody>
          <a:bodyPr wrap="square" lIns="0" tIns="0" rIns="0" bIns="0" rtlCol="0" anchor="ctr"/>
          <a:lstStyle/>
          <a:p>
            <a:pPr indent="0" marL="0">
              <a:buNone/>
            </a:pPr>
            <a:r>
              <a:rPr lang="en-US" sz="1050" b="1" dirty="0">
                <a:solidFill>
                  <a:srgbClr val="1A1A1A"/>
                </a:solidFill>
                <a:latin typeface="Courier New" pitchFamily="34" charset="0"/>
                <a:ea typeface="Courier New" pitchFamily="34" charset="-122"/>
                <a:cs typeface="Courier New" pitchFamily="34" charset="-120"/>
              </a:rPr>
              <a:t>otherwise</a:t>
            </a:r>
            <a:pPr indent="0" marL="0">
              <a:buNone/>
            </a:pPr>
            <a:r>
              <a:rPr lang="en-US" sz="1050" dirty="0">
                <a:solidFill>
                  <a:srgbClr val="2E2E2E"/>
                </a:solidFill>
                <a:latin typeface="Courier New" pitchFamily="34" charset="0"/>
                <a:ea typeface="Courier New" pitchFamily="34" charset="-122"/>
                <a:cs typeface="Courier New" pitchFamily="34" charset="-120"/>
              </a:rPr>
              <a:t>         →  egress_port_counter</a:t>
            </a:r>
            <a:endParaRPr lang="en-US" sz="1050" dirty="0"/>
          </a:p>
        </p:txBody>
      </p:sp>
      <p:sp>
        <p:nvSpPr>
          <p:cNvPr id="35" name="Text 33"/>
          <p:cNvSpPr/>
          <p:nvPr/>
        </p:nvSpPr>
        <p:spPr>
          <a:xfrm>
            <a:off x="3611880" y="6345936"/>
            <a:ext cx="6858000" cy="274320"/>
          </a:xfrm>
          <a:prstGeom prst="rect">
            <a:avLst/>
          </a:prstGeom>
          <a:noFill/>
          <a:ln/>
        </p:spPr>
        <p:txBody>
          <a:bodyPr wrap="square" lIns="0" tIns="0" rIns="0" bIns="0" rtlCol="0" anchor="ctr"/>
          <a:lstStyle/>
          <a:p>
            <a:pPr indent="0" marL="0">
              <a:buNone/>
            </a:pPr>
            <a:r>
              <a:rPr lang="en-US" sz="1100" dirty="0">
                <a:solidFill>
                  <a:srgbClr val="4F4F4F"/>
                </a:solidFill>
                <a:latin typeface="Calibri" pitchFamily="34" charset="0"/>
                <a:ea typeface="Calibri" pitchFamily="34" charset="-122"/>
                <a:cs typeface="Calibri" pitchFamily="34" charset="-120"/>
              </a:rPr>
              <a:t>482 lines of P4_16 / v1model, compiled with p4c-bm2-ss.</a:t>
            </a:r>
            <a:endParaRPr lang="en-US" sz="1100" dirty="0"/>
          </a:p>
        </p:txBody>
      </p:sp>
      <p:sp>
        <p:nvSpPr>
          <p:cNvPr id="36" name="Text 34"/>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56032"/>
            <a:ext cx="5486400" cy="237744"/>
          </a:xfrm>
          <a:prstGeom prst="rect">
            <a:avLst/>
          </a:prstGeom>
          <a:noFill/>
          <a:ln/>
        </p:spPr>
        <p:txBody>
          <a:bodyPr wrap="square" lIns="0" tIns="0" rIns="0" bIns="0" rtlCol="0" anchor="ctr"/>
          <a:lstStyle/>
          <a:p>
            <a:pPr indent="0" marL="0">
              <a:buNone/>
            </a:pPr>
            <a:r>
              <a:rPr lang="en-US" sz="1050" b="1" spc="100" kern="0" dirty="0">
                <a:solidFill>
                  <a:srgbClr val="065A82"/>
                </a:solidFill>
                <a:latin typeface="Calibri" pitchFamily="34" charset="0"/>
                <a:ea typeface="Calibri" pitchFamily="34" charset="-122"/>
                <a:cs typeface="Calibri" pitchFamily="34" charset="-120"/>
              </a:rPr>
              <a:t>1 · NEW CAPABILITIES</a:t>
            </a:r>
            <a:endParaRPr lang="en-US" sz="1050" dirty="0"/>
          </a:p>
        </p:txBody>
      </p:sp>
      <p:sp>
        <p:nvSpPr>
          <p:cNvPr id="3" name="Text 1"/>
          <p:cNvSpPr/>
          <p:nvPr/>
        </p:nvSpPr>
        <p:spPr>
          <a:xfrm>
            <a:off x="777240" y="566928"/>
            <a:ext cx="10637215" cy="621792"/>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The P4 proxy agent</a:t>
            </a:r>
            <a:endParaRPr lang="en-US" sz="3000" dirty="0"/>
          </a:p>
        </p:txBody>
      </p:sp>
      <p:sp>
        <p:nvSpPr>
          <p:cNvPr id="4" name="Text 2"/>
          <p:cNvSpPr/>
          <p:nvPr/>
        </p:nvSpPr>
        <p:spPr>
          <a:xfrm>
            <a:off x="777240" y="1207008"/>
            <a:ext cx="10637215" cy="347472"/>
          </a:xfrm>
          <a:prstGeom prst="rect">
            <a:avLst/>
          </a:prstGeom>
          <a:noFill/>
          <a:ln/>
        </p:spPr>
        <p:txBody>
          <a:bodyPr wrap="square" lIns="0" tIns="0" rIns="0" bIns="0" rtlCol="0" anchor="ctr"/>
          <a:lstStyle/>
          <a:p>
            <a:pPr indent="0" marL="0">
              <a:buNone/>
            </a:pPr>
            <a:r>
              <a:rPr lang="en-US" sz="1400" dirty="0">
                <a:solidFill>
                  <a:srgbClr val="4F4F4F"/>
                </a:solidFill>
                <a:latin typeface="Calibri" pitchFamily="34" charset="0"/>
                <a:ea typeface="Calibri" pitchFamily="34" charset="-122"/>
                <a:cs typeface="Calibri" pitchFamily="34" charset="-120"/>
              </a:rPr>
              <a:t>A FastAPI service that answers in Ryu's shapes on the north side and speaks P4Runtime on the south</a:t>
            </a:r>
            <a:endParaRPr lang="en-US" sz="1400" dirty="0"/>
          </a:p>
        </p:txBody>
      </p:sp>
      <p:sp>
        <p:nvSpPr>
          <p:cNvPr id="5" name="Shape 3"/>
          <p:cNvSpPr/>
          <p:nvPr/>
        </p:nvSpPr>
        <p:spPr>
          <a:xfrm>
            <a:off x="777240" y="1700784"/>
            <a:ext cx="10637215" cy="9144"/>
          </a:xfrm>
          <a:prstGeom prst="line">
            <a:avLst/>
          </a:prstGeom>
          <a:noFill/>
          <a:ln w="12700">
            <a:solidFill>
              <a:srgbClr val="D0D0D0"/>
            </a:solidFill>
            <a:prstDash val="solid"/>
          </a:ln>
        </p:spPr>
      </p:sp>
      <p:sp>
        <p:nvSpPr>
          <p:cNvPr id="6" name="Text 4"/>
          <p:cNvSpPr/>
          <p:nvPr/>
        </p:nvSpPr>
        <p:spPr>
          <a:xfrm>
            <a:off x="777240" y="2084832"/>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106424" y="2075688"/>
            <a:ext cx="4745736" cy="292608"/>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Ryu's northbound API, reimplemented</a:t>
            </a:r>
            <a:endParaRPr lang="en-US" sz="1550" dirty="0"/>
          </a:p>
        </p:txBody>
      </p:sp>
      <p:sp>
        <p:nvSpPr>
          <p:cNvPr id="8" name="Text 6"/>
          <p:cNvSpPr/>
          <p:nvPr/>
        </p:nvSpPr>
        <p:spPr>
          <a:xfrm>
            <a:off x="1106424" y="2414016"/>
            <a:ext cx="4745736" cy="822960"/>
          </a:xfrm>
          <a:prstGeom prst="rect">
            <a:avLst/>
          </a:prstGeom>
          <a:noFill/>
          <a:ln/>
        </p:spPr>
        <p:txBody>
          <a:bodyPr wrap="square" lIns="0" tIns="0" rIns="0" bIns="0" rtlCol="0" anchor="ctr"/>
          <a:lstStyle/>
          <a:p>
            <a:pPr indent="0" marL="0">
              <a:lnSpc>
                <a:spcPct val="124000"/>
              </a:lnSpc>
              <a:buNone/>
            </a:pPr>
            <a:r>
              <a:rPr lang="en-US" sz="1250" dirty="0">
                <a:solidFill>
                  <a:srgbClr val="2E2E2E"/>
                </a:solidFill>
                <a:latin typeface="Calibri" pitchFamily="34" charset="0"/>
                <a:ea typeface="Calibri" pitchFamily="34" charset="-122"/>
                <a:cs typeface="Calibri" pitchFamily="34" charset="-120"/>
              </a:rPr>
              <a:t>/v1.0/topology/*, /stats/flowentry/*, /stats/flow/&lt;dpid&gt; and destination paths, all returned in the exact shapes Ryu produces — including its string-action flow format.</a:t>
            </a:r>
            <a:endParaRPr lang="en-US" sz="1250" dirty="0"/>
          </a:p>
        </p:txBody>
      </p:sp>
      <p:sp>
        <p:nvSpPr>
          <p:cNvPr id="9" name="Text 7"/>
          <p:cNvSpPr/>
          <p:nvPr/>
        </p:nvSpPr>
        <p:spPr>
          <a:xfrm>
            <a:off x="777240" y="3456432"/>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106424" y="3447288"/>
            <a:ext cx="4745736" cy="292608"/>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P4Runtime on the south side</a:t>
            </a:r>
            <a:endParaRPr lang="en-US" sz="1550" dirty="0"/>
          </a:p>
        </p:txBody>
      </p:sp>
      <p:sp>
        <p:nvSpPr>
          <p:cNvPr id="11" name="Text 9"/>
          <p:cNvSpPr/>
          <p:nvPr/>
        </p:nvSpPr>
        <p:spPr>
          <a:xfrm>
            <a:off x="1106424" y="3785616"/>
            <a:ext cx="4745736" cy="822960"/>
          </a:xfrm>
          <a:prstGeom prst="rect">
            <a:avLst/>
          </a:prstGeom>
          <a:noFill/>
          <a:ln/>
        </p:spPr>
        <p:txBody>
          <a:bodyPr wrap="square" lIns="0" tIns="0" rIns="0" bIns="0" rtlCol="0" anchor="ctr"/>
          <a:lstStyle/>
          <a:p>
            <a:pPr indent="0" marL="0">
              <a:lnSpc>
                <a:spcPct val="124000"/>
              </a:lnSpc>
              <a:buNone/>
            </a:pPr>
            <a:r>
              <a:rPr lang="en-US" sz="1250" dirty="0">
                <a:solidFill>
                  <a:srgbClr val="2E2E2E"/>
                </a:solidFill>
                <a:latin typeface="Calibri" pitchFamily="34" charset="0"/>
                <a:ea typeface="Calibri" pitchFamily="34" charset="-122"/>
                <a:cs typeface="Calibri" pitchFamily="34" charset="-120"/>
              </a:rPr>
              <a:t>gRPC to bmv2's simple_switch_grpc. Switch connections are opened concurrently at startup, and every unary call carries a deadline so one dead switch cannot stall the rest.</a:t>
            </a:r>
            <a:endParaRPr lang="en-US" sz="1250" dirty="0"/>
          </a:p>
        </p:txBody>
      </p:sp>
      <p:sp>
        <p:nvSpPr>
          <p:cNvPr id="12" name="Text 10"/>
          <p:cNvSpPr/>
          <p:nvPr/>
        </p:nvSpPr>
        <p:spPr>
          <a:xfrm>
            <a:off x="777240" y="4828032"/>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3</a:t>
            </a:r>
            <a:endParaRPr lang="en-US" sz="1300" dirty="0"/>
          </a:p>
        </p:txBody>
      </p:sp>
      <p:sp>
        <p:nvSpPr>
          <p:cNvPr id="13" name="Text 11"/>
          <p:cNvSpPr/>
          <p:nvPr/>
        </p:nvSpPr>
        <p:spPr>
          <a:xfrm>
            <a:off x="1106424" y="4818888"/>
            <a:ext cx="4745736" cy="292608"/>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Only /p4/ is new vocabulary</a:t>
            </a:r>
            <a:endParaRPr lang="en-US" sz="1550" dirty="0"/>
          </a:p>
        </p:txBody>
      </p:sp>
      <p:sp>
        <p:nvSpPr>
          <p:cNvPr id="14" name="Text 12"/>
          <p:cNvSpPr/>
          <p:nvPr/>
        </p:nvSpPr>
        <p:spPr>
          <a:xfrm>
            <a:off x="1106424" y="5157216"/>
            <a:ext cx="4745736" cy="822960"/>
          </a:xfrm>
          <a:prstGeom prst="rect">
            <a:avLst/>
          </a:prstGeom>
          <a:noFill/>
          <a:ln/>
        </p:spPr>
        <p:txBody>
          <a:bodyPr wrap="square" lIns="0" tIns="0" rIns="0" bIns="0" rtlCol="0" anchor="ctr"/>
          <a:lstStyle/>
          <a:p>
            <a:pPr indent="0" marL="0">
              <a:lnSpc>
                <a:spcPct val="124000"/>
              </a:lnSpc>
              <a:buNone/>
            </a:pPr>
            <a:r>
              <a:rPr lang="en-US" sz="1250" dirty="0">
                <a:solidFill>
                  <a:srgbClr val="2E2E2E"/>
                </a:solidFill>
                <a:latin typeface="Calibri" pitchFamily="34" charset="0"/>
                <a:ea typeface="Calibri" pitchFamily="34" charset="-122"/>
                <a:cs typeface="Calibri" pitchFamily="34" charset="-120"/>
              </a:rPr>
              <a:t>Where Ryu has no equivalent to impersonate — switch liveness — the endpoint is namespaced under /p4/ rather than pretending to be something Ryu offers.</a:t>
            </a:r>
            <a:endParaRPr lang="en-US" sz="1250" dirty="0"/>
          </a:p>
        </p:txBody>
      </p:sp>
      <p:sp>
        <p:nvSpPr>
          <p:cNvPr id="15" name="Text 13"/>
          <p:cNvSpPr/>
          <p:nvPr/>
        </p:nvSpPr>
        <p:spPr>
          <a:xfrm>
            <a:off x="6355080" y="2011680"/>
            <a:ext cx="2743200" cy="256032"/>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Modules</a:t>
            </a:r>
            <a:endParaRPr lang="en-US" sz="1300" dirty="0"/>
          </a:p>
        </p:txBody>
      </p:sp>
      <p:sp>
        <p:nvSpPr>
          <p:cNvPr id="16" name="Text 14"/>
          <p:cNvSpPr/>
          <p:nvPr/>
        </p:nvSpPr>
        <p:spPr>
          <a:xfrm>
            <a:off x="10588752" y="2029968"/>
            <a:ext cx="822960" cy="237744"/>
          </a:xfrm>
          <a:prstGeom prst="rect">
            <a:avLst/>
          </a:prstGeom>
          <a:noFill/>
          <a:ln/>
        </p:spPr>
        <p:txBody>
          <a:bodyPr wrap="square" lIns="0" tIns="0" rIns="0" bIns="0" rtlCol="0" anchor="ctr"/>
          <a:lstStyle/>
          <a:p>
            <a:pPr algn="r" indent="0" marL="0">
              <a:buNone/>
            </a:pPr>
            <a:r>
              <a:rPr lang="en-US" sz="1050" dirty="0">
                <a:solidFill>
                  <a:srgbClr val="6E6E6E"/>
                </a:solidFill>
                <a:latin typeface="Calibri" pitchFamily="34" charset="0"/>
                <a:ea typeface="Calibri" pitchFamily="34" charset="-122"/>
                <a:cs typeface="Calibri" pitchFamily="34" charset="-120"/>
              </a:rPr>
              <a:t>lines</a:t>
            </a:r>
            <a:endParaRPr lang="en-US" sz="1050" dirty="0"/>
          </a:p>
        </p:txBody>
      </p:sp>
      <p:sp>
        <p:nvSpPr>
          <p:cNvPr id="17" name="Shape 15"/>
          <p:cNvSpPr/>
          <p:nvPr/>
        </p:nvSpPr>
        <p:spPr>
          <a:xfrm>
            <a:off x="6355080" y="2304288"/>
            <a:ext cx="5056632" cy="9144"/>
          </a:xfrm>
          <a:prstGeom prst="line">
            <a:avLst/>
          </a:prstGeom>
          <a:noFill/>
          <a:ln w="12700">
            <a:solidFill>
              <a:srgbClr val="D0D0D0"/>
            </a:solidFill>
            <a:prstDash val="solid"/>
          </a:ln>
        </p:spPr>
      </p:sp>
      <p:sp>
        <p:nvSpPr>
          <p:cNvPr id="18" name="Text 16"/>
          <p:cNvSpPr/>
          <p:nvPr/>
        </p:nvSpPr>
        <p:spPr>
          <a:xfrm>
            <a:off x="6355080" y="2395728"/>
            <a:ext cx="1783080" cy="324612"/>
          </a:xfrm>
          <a:prstGeom prst="rect">
            <a:avLst/>
          </a:prstGeom>
          <a:noFill/>
          <a:ln/>
        </p:spPr>
        <p:txBody>
          <a:bodyPr wrap="square" lIns="0" tIns="0" rIns="0" bIns="0" rtlCol="0" anchor="ctr"/>
          <a:lstStyle/>
          <a:p>
            <a:pPr indent="0" marL="0">
              <a:buNone/>
            </a:pPr>
            <a:r>
              <a:rPr lang="en-US" sz="1050" b="1" dirty="0">
                <a:solidFill>
                  <a:srgbClr val="1A1A1A"/>
                </a:solidFill>
                <a:latin typeface="Courier New" pitchFamily="34" charset="0"/>
                <a:ea typeface="Courier New" pitchFamily="34" charset="-122"/>
                <a:cs typeface="Courier New" pitchFamily="34" charset="-120"/>
              </a:rPr>
              <a:t>topology_manager.py</a:t>
            </a:r>
            <a:endParaRPr lang="en-US" sz="1050" dirty="0"/>
          </a:p>
        </p:txBody>
      </p:sp>
      <p:sp>
        <p:nvSpPr>
          <p:cNvPr id="19" name="Text 17"/>
          <p:cNvSpPr/>
          <p:nvPr/>
        </p:nvSpPr>
        <p:spPr>
          <a:xfrm>
            <a:off x="8138160" y="2395728"/>
            <a:ext cx="2615184" cy="324612"/>
          </a:xfrm>
          <a:prstGeom prst="rect">
            <a:avLst/>
          </a:prstGeom>
          <a:noFill/>
          <a:ln/>
        </p:spPr>
        <p:txBody>
          <a:bodyPr wrap="square" lIns="0" tIns="0" rIns="0" bIns="0" rtlCol="0" anchor="ctr"/>
          <a:lstStyle/>
          <a:p>
            <a:pPr indent="0" marL="0">
              <a:buNone/>
            </a:pPr>
            <a:r>
              <a:rPr lang="en-US" sz="1050" dirty="0">
                <a:solidFill>
                  <a:srgbClr val="2E2E2E"/>
                </a:solidFill>
                <a:latin typeface="Calibri" pitchFamily="34" charset="0"/>
                <a:ea typeface="Calibri" pitchFamily="34" charset="-122"/>
                <a:cs typeface="Calibri" pitchFamily="34" charset="-120"/>
              </a:rPr>
              <a:t>Graph state, BFS routing, LLDP beacons</a:t>
            </a:r>
            <a:endParaRPr lang="en-US" sz="1050" dirty="0"/>
          </a:p>
        </p:txBody>
      </p:sp>
      <p:sp>
        <p:nvSpPr>
          <p:cNvPr id="20" name="Text 18"/>
          <p:cNvSpPr/>
          <p:nvPr/>
        </p:nvSpPr>
        <p:spPr>
          <a:xfrm>
            <a:off x="10753344" y="2395728"/>
            <a:ext cx="658368" cy="324612"/>
          </a:xfrm>
          <a:prstGeom prst="rect">
            <a:avLst/>
          </a:prstGeom>
          <a:noFill/>
          <a:ln/>
        </p:spPr>
        <p:txBody>
          <a:bodyPr wrap="square" lIns="0" tIns="0" rIns="0" bIns="0" rtlCol="0" anchor="ctr"/>
          <a:lstStyle/>
          <a:p>
            <a:pPr algn="r" indent="0" marL="0">
              <a:buNone/>
            </a:pPr>
            <a:r>
              <a:rPr lang="en-US" sz="1100" dirty="0">
                <a:solidFill>
                  <a:srgbClr val="6E6E6E"/>
                </a:solidFill>
                <a:latin typeface="Calibri" pitchFamily="34" charset="0"/>
                <a:ea typeface="Calibri" pitchFamily="34" charset="-122"/>
                <a:cs typeface="Calibri" pitchFamily="34" charset="-120"/>
              </a:rPr>
              <a:t>1,392</a:t>
            </a:r>
            <a:endParaRPr lang="en-US" sz="1100" dirty="0"/>
          </a:p>
        </p:txBody>
      </p:sp>
      <p:sp>
        <p:nvSpPr>
          <p:cNvPr id="21" name="Shape 19"/>
          <p:cNvSpPr/>
          <p:nvPr/>
        </p:nvSpPr>
        <p:spPr>
          <a:xfrm>
            <a:off x="6355080" y="2702052"/>
            <a:ext cx="5056632" cy="9144"/>
          </a:xfrm>
          <a:prstGeom prst="line">
            <a:avLst/>
          </a:prstGeom>
          <a:noFill/>
          <a:ln w="12700">
            <a:solidFill>
              <a:srgbClr val="EFEFEF"/>
            </a:solidFill>
            <a:prstDash val="solid"/>
          </a:ln>
        </p:spPr>
      </p:sp>
      <p:sp>
        <p:nvSpPr>
          <p:cNvPr id="22" name="Text 20"/>
          <p:cNvSpPr/>
          <p:nvPr/>
        </p:nvSpPr>
        <p:spPr>
          <a:xfrm>
            <a:off x="6355080" y="2720340"/>
            <a:ext cx="1783080" cy="324612"/>
          </a:xfrm>
          <a:prstGeom prst="rect">
            <a:avLst/>
          </a:prstGeom>
          <a:noFill/>
          <a:ln/>
        </p:spPr>
        <p:txBody>
          <a:bodyPr wrap="square" lIns="0" tIns="0" rIns="0" bIns="0" rtlCol="0" anchor="ctr"/>
          <a:lstStyle/>
          <a:p>
            <a:pPr indent="0" marL="0">
              <a:buNone/>
            </a:pPr>
            <a:r>
              <a:rPr lang="en-US" sz="1050" b="1" dirty="0">
                <a:solidFill>
                  <a:srgbClr val="1A1A1A"/>
                </a:solidFill>
                <a:latin typeface="Courier New" pitchFamily="34" charset="0"/>
                <a:ea typeface="Courier New" pitchFamily="34" charset="-122"/>
                <a:cs typeface="Courier New" pitchFamily="34" charset="-120"/>
              </a:rPr>
              <a:t>p4_client.py</a:t>
            </a:r>
            <a:endParaRPr lang="en-US" sz="1050" dirty="0"/>
          </a:p>
        </p:txBody>
      </p:sp>
      <p:sp>
        <p:nvSpPr>
          <p:cNvPr id="23" name="Text 21"/>
          <p:cNvSpPr/>
          <p:nvPr/>
        </p:nvSpPr>
        <p:spPr>
          <a:xfrm>
            <a:off x="8138160" y="2720340"/>
            <a:ext cx="2615184" cy="324612"/>
          </a:xfrm>
          <a:prstGeom prst="rect">
            <a:avLst/>
          </a:prstGeom>
          <a:noFill/>
          <a:ln/>
        </p:spPr>
        <p:txBody>
          <a:bodyPr wrap="square" lIns="0" tIns="0" rIns="0" bIns="0" rtlCol="0" anchor="ctr"/>
          <a:lstStyle/>
          <a:p>
            <a:pPr indent="0" marL="0">
              <a:buNone/>
            </a:pPr>
            <a:r>
              <a:rPr lang="en-US" sz="1050" dirty="0">
                <a:solidFill>
                  <a:srgbClr val="2E2E2E"/>
                </a:solidFill>
                <a:latin typeface="Calibri" pitchFamily="34" charset="0"/>
                <a:ea typeface="Calibri" pitchFamily="34" charset="-122"/>
                <a:cs typeface="Calibri" pitchFamily="34" charset="-120"/>
              </a:rPr>
              <a:t>P4Runtime gRPC, clone session, packet-in split</a:t>
            </a:r>
            <a:endParaRPr lang="en-US" sz="1050" dirty="0"/>
          </a:p>
        </p:txBody>
      </p:sp>
      <p:sp>
        <p:nvSpPr>
          <p:cNvPr id="24" name="Text 22"/>
          <p:cNvSpPr/>
          <p:nvPr/>
        </p:nvSpPr>
        <p:spPr>
          <a:xfrm>
            <a:off x="10753344" y="2720340"/>
            <a:ext cx="658368" cy="324612"/>
          </a:xfrm>
          <a:prstGeom prst="rect">
            <a:avLst/>
          </a:prstGeom>
          <a:noFill/>
          <a:ln/>
        </p:spPr>
        <p:txBody>
          <a:bodyPr wrap="square" lIns="0" tIns="0" rIns="0" bIns="0" rtlCol="0" anchor="ctr"/>
          <a:lstStyle/>
          <a:p>
            <a:pPr algn="r" indent="0" marL="0">
              <a:buNone/>
            </a:pPr>
            <a:r>
              <a:rPr lang="en-US" sz="1100" dirty="0">
                <a:solidFill>
                  <a:srgbClr val="6E6E6E"/>
                </a:solidFill>
                <a:latin typeface="Calibri" pitchFamily="34" charset="0"/>
                <a:ea typeface="Calibri" pitchFamily="34" charset="-122"/>
                <a:cs typeface="Calibri" pitchFamily="34" charset="-120"/>
              </a:rPr>
              <a:t>587</a:t>
            </a:r>
            <a:endParaRPr lang="en-US" sz="1100" dirty="0"/>
          </a:p>
        </p:txBody>
      </p:sp>
      <p:sp>
        <p:nvSpPr>
          <p:cNvPr id="25" name="Shape 23"/>
          <p:cNvSpPr/>
          <p:nvPr/>
        </p:nvSpPr>
        <p:spPr>
          <a:xfrm>
            <a:off x="6355080" y="3026664"/>
            <a:ext cx="5056632" cy="9144"/>
          </a:xfrm>
          <a:prstGeom prst="line">
            <a:avLst/>
          </a:prstGeom>
          <a:noFill/>
          <a:ln w="12700">
            <a:solidFill>
              <a:srgbClr val="EFEFEF"/>
            </a:solidFill>
            <a:prstDash val="solid"/>
          </a:ln>
        </p:spPr>
      </p:sp>
      <p:sp>
        <p:nvSpPr>
          <p:cNvPr id="26" name="Text 24"/>
          <p:cNvSpPr/>
          <p:nvPr/>
        </p:nvSpPr>
        <p:spPr>
          <a:xfrm>
            <a:off x="6355080" y="3044952"/>
            <a:ext cx="1783080" cy="324612"/>
          </a:xfrm>
          <a:prstGeom prst="rect">
            <a:avLst/>
          </a:prstGeom>
          <a:noFill/>
          <a:ln/>
        </p:spPr>
        <p:txBody>
          <a:bodyPr wrap="square" lIns="0" tIns="0" rIns="0" bIns="0" rtlCol="0" anchor="ctr"/>
          <a:lstStyle/>
          <a:p>
            <a:pPr indent="0" marL="0">
              <a:buNone/>
            </a:pPr>
            <a:r>
              <a:rPr lang="en-US" sz="1050" b="1" dirty="0">
                <a:solidFill>
                  <a:srgbClr val="1A1A1A"/>
                </a:solidFill>
                <a:latin typeface="Courier New" pitchFamily="34" charset="0"/>
                <a:ea typeface="Courier New" pitchFamily="34" charset="-122"/>
                <a:cs typeface="Courier New" pitchFamily="34" charset="-120"/>
              </a:rPr>
              <a:t>sflow_emitter.py</a:t>
            </a:r>
            <a:endParaRPr lang="en-US" sz="1050" dirty="0"/>
          </a:p>
        </p:txBody>
      </p:sp>
      <p:sp>
        <p:nvSpPr>
          <p:cNvPr id="27" name="Text 25"/>
          <p:cNvSpPr/>
          <p:nvPr/>
        </p:nvSpPr>
        <p:spPr>
          <a:xfrm>
            <a:off x="8138160" y="3044952"/>
            <a:ext cx="2615184" cy="324612"/>
          </a:xfrm>
          <a:prstGeom prst="rect">
            <a:avLst/>
          </a:prstGeom>
          <a:noFill/>
          <a:ln/>
        </p:spPr>
        <p:txBody>
          <a:bodyPr wrap="square" lIns="0" tIns="0" rIns="0" bIns="0" rtlCol="0" anchor="ctr"/>
          <a:lstStyle/>
          <a:p>
            <a:pPr indent="0" marL="0">
              <a:buNone/>
            </a:pPr>
            <a:r>
              <a:rPr lang="en-US" sz="1050" dirty="0">
                <a:solidFill>
                  <a:srgbClr val="2E2E2E"/>
                </a:solidFill>
                <a:latin typeface="Calibri" pitchFamily="34" charset="0"/>
                <a:ea typeface="Calibri" pitchFamily="34" charset="-122"/>
                <a:cs typeface="Calibri" pitchFamily="34" charset="-120"/>
              </a:rPr>
              <a:t>sFlow v5 synthesis</a:t>
            </a:r>
            <a:endParaRPr lang="en-US" sz="1050" dirty="0"/>
          </a:p>
        </p:txBody>
      </p:sp>
      <p:sp>
        <p:nvSpPr>
          <p:cNvPr id="28" name="Text 26"/>
          <p:cNvSpPr/>
          <p:nvPr/>
        </p:nvSpPr>
        <p:spPr>
          <a:xfrm>
            <a:off x="10753344" y="3044952"/>
            <a:ext cx="658368" cy="324612"/>
          </a:xfrm>
          <a:prstGeom prst="rect">
            <a:avLst/>
          </a:prstGeom>
          <a:noFill/>
          <a:ln/>
        </p:spPr>
        <p:txBody>
          <a:bodyPr wrap="square" lIns="0" tIns="0" rIns="0" bIns="0" rtlCol="0" anchor="ctr"/>
          <a:lstStyle/>
          <a:p>
            <a:pPr algn="r" indent="0" marL="0">
              <a:buNone/>
            </a:pPr>
            <a:r>
              <a:rPr lang="en-US" sz="1100" dirty="0">
                <a:solidFill>
                  <a:srgbClr val="6E6E6E"/>
                </a:solidFill>
                <a:latin typeface="Calibri" pitchFamily="34" charset="0"/>
                <a:ea typeface="Calibri" pitchFamily="34" charset="-122"/>
                <a:cs typeface="Calibri" pitchFamily="34" charset="-120"/>
              </a:rPr>
              <a:t>448</a:t>
            </a:r>
            <a:endParaRPr lang="en-US" sz="1100" dirty="0"/>
          </a:p>
        </p:txBody>
      </p:sp>
      <p:sp>
        <p:nvSpPr>
          <p:cNvPr id="29" name="Shape 27"/>
          <p:cNvSpPr/>
          <p:nvPr/>
        </p:nvSpPr>
        <p:spPr>
          <a:xfrm>
            <a:off x="6355080" y="3351276"/>
            <a:ext cx="5056632" cy="9144"/>
          </a:xfrm>
          <a:prstGeom prst="line">
            <a:avLst/>
          </a:prstGeom>
          <a:noFill/>
          <a:ln w="12700">
            <a:solidFill>
              <a:srgbClr val="EFEFEF"/>
            </a:solidFill>
            <a:prstDash val="solid"/>
          </a:ln>
        </p:spPr>
      </p:sp>
      <p:sp>
        <p:nvSpPr>
          <p:cNvPr id="30" name="Text 28"/>
          <p:cNvSpPr/>
          <p:nvPr/>
        </p:nvSpPr>
        <p:spPr>
          <a:xfrm>
            <a:off x="6355080" y="3369564"/>
            <a:ext cx="1783080" cy="324612"/>
          </a:xfrm>
          <a:prstGeom prst="rect">
            <a:avLst/>
          </a:prstGeom>
          <a:noFill/>
          <a:ln/>
        </p:spPr>
        <p:txBody>
          <a:bodyPr wrap="square" lIns="0" tIns="0" rIns="0" bIns="0" rtlCol="0" anchor="ctr"/>
          <a:lstStyle/>
          <a:p>
            <a:pPr indent="0" marL="0">
              <a:buNone/>
            </a:pPr>
            <a:r>
              <a:rPr lang="en-US" sz="1050" b="1" dirty="0">
                <a:solidFill>
                  <a:srgbClr val="1A1A1A"/>
                </a:solidFill>
                <a:latin typeface="Courier New" pitchFamily="34" charset="0"/>
                <a:ea typeface="Courier New" pitchFamily="34" charset="-122"/>
                <a:cs typeface="Courier New" pitchFamily="34" charset="-120"/>
              </a:rPr>
              <a:t>ryu_topology.py</a:t>
            </a:r>
            <a:endParaRPr lang="en-US" sz="1050" dirty="0"/>
          </a:p>
        </p:txBody>
      </p:sp>
      <p:sp>
        <p:nvSpPr>
          <p:cNvPr id="31" name="Text 29"/>
          <p:cNvSpPr/>
          <p:nvPr/>
        </p:nvSpPr>
        <p:spPr>
          <a:xfrm>
            <a:off x="8138160" y="3369564"/>
            <a:ext cx="2615184" cy="324612"/>
          </a:xfrm>
          <a:prstGeom prst="rect">
            <a:avLst/>
          </a:prstGeom>
          <a:noFill/>
          <a:ln/>
        </p:spPr>
        <p:txBody>
          <a:bodyPr wrap="square" lIns="0" tIns="0" rIns="0" bIns="0" rtlCol="0" anchor="ctr"/>
          <a:lstStyle/>
          <a:p>
            <a:pPr indent="0" marL="0">
              <a:buNone/>
            </a:pPr>
            <a:r>
              <a:rPr lang="en-US" sz="1050" dirty="0">
                <a:solidFill>
                  <a:srgbClr val="2E2E2E"/>
                </a:solidFill>
                <a:latin typeface="Calibri" pitchFamily="34" charset="0"/>
                <a:ea typeface="Calibri" pitchFamily="34" charset="-122"/>
                <a:cs typeface="Calibri" pitchFamily="34" charset="-120"/>
              </a:rPr>
              <a:t>/v1.0/topology/* in Ryu's shapes</a:t>
            </a:r>
            <a:endParaRPr lang="en-US" sz="1050" dirty="0"/>
          </a:p>
        </p:txBody>
      </p:sp>
      <p:sp>
        <p:nvSpPr>
          <p:cNvPr id="32" name="Text 30"/>
          <p:cNvSpPr/>
          <p:nvPr/>
        </p:nvSpPr>
        <p:spPr>
          <a:xfrm>
            <a:off x="10753344" y="3369564"/>
            <a:ext cx="658368" cy="324612"/>
          </a:xfrm>
          <a:prstGeom prst="rect">
            <a:avLst/>
          </a:prstGeom>
          <a:noFill/>
          <a:ln/>
        </p:spPr>
        <p:txBody>
          <a:bodyPr wrap="square" lIns="0" tIns="0" rIns="0" bIns="0" rtlCol="0" anchor="ctr"/>
          <a:lstStyle/>
          <a:p>
            <a:pPr algn="r" indent="0" marL="0">
              <a:buNone/>
            </a:pPr>
            <a:r>
              <a:rPr lang="en-US" sz="1100" dirty="0">
                <a:solidFill>
                  <a:srgbClr val="6E6E6E"/>
                </a:solidFill>
                <a:latin typeface="Calibri" pitchFamily="34" charset="0"/>
                <a:ea typeface="Calibri" pitchFamily="34" charset="-122"/>
                <a:cs typeface="Calibri" pitchFamily="34" charset="-120"/>
              </a:rPr>
              <a:t>338</a:t>
            </a:r>
            <a:endParaRPr lang="en-US" sz="1100" dirty="0"/>
          </a:p>
        </p:txBody>
      </p:sp>
      <p:sp>
        <p:nvSpPr>
          <p:cNvPr id="33" name="Shape 31"/>
          <p:cNvSpPr/>
          <p:nvPr/>
        </p:nvSpPr>
        <p:spPr>
          <a:xfrm>
            <a:off x="6355080" y="3675888"/>
            <a:ext cx="5056632" cy="9144"/>
          </a:xfrm>
          <a:prstGeom prst="line">
            <a:avLst/>
          </a:prstGeom>
          <a:noFill/>
          <a:ln w="12700">
            <a:solidFill>
              <a:srgbClr val="EFEFEF"/>
            </a:solidFill>
            <a:prstDash val="solid"/>
          </a:ln>
        </p:spPr>
      </p:sp>
      <p:sp>
        <p:nvSpPr>
          <p:cNvPr id="34" name="Text 32"/>
          <p:cNvSpPr/>
          <p:nvPr/>
        </p:nvSpPr>
        <p:spPr>
          <a:xfrm>
            <a:off x="6355080" y="3694176"/>
            <a:ext cx="1783080" cy="324612"/>
          </a:xfrm>
          <a:prstGeom prst="rect">
            <a:avLst/>
          </a:prstGeom>
          <a:noFill/>
          <a:ln/>
        </p:spPr>
        <p:txBody>
          <a:bodyPr wrap="square" lIns="0" tIns="0" rIns="0" bIns="0" rtlCol="0" anchor="ctr"/>
          <a:lstStyle/>
          <a:p>
            <a:pPr indent="0" marL="0">
              <a:buNone/>
            </a:pPr>
            <a:r>
              <a:rPr lang="en-US" sz="1050" b="1" dirty="0">
                <a:solidFill>
                  <a:srgbClr val="1A1A1A"/>
                </a:solidFill>
                <a:latin typeface="Courier New" pitchFamily="34" charset="0"/>
                <a:ea typeface="Courier New" pitchFamily="34" charset="-122"/>
                <a:cs typeface="Courier New" pitchFamily="34" charset="-120"/>
              </a:rPr>
              <a:t>main.py</a:t>
            </a:r>
            <a:endParaRPr lang="en-US" sz="1050" dirty="0"/>
          </a:p>
        </p:txBody>
      </p:sp>
      <p:sp>
        <p:nvSpPr>
          <p:cNvPr id="35" name="Text 33"/>
          <p:cNvSpPr/>
          <p:nvPr/>
        </p:nvSpPr>
        <p:spPr>
          <a:xfrm>
            <a:off x="8138160" y="3694176"/>
            <a:ext cx="2615184" cy="324612"/>
          </a:xfrm>
          <a:prstGeom prst="rect">
            <a:avLst/>
          </a:prstGeom>
          <a:noFill/>
          <a:ln/>
        </p:spPr>
        <p:txBody>
          <a:bodyPr wrap="square" lIns="0" tIns="0" rIns="0" bIns="0" rtlCol="0" anchor="ctr"/>
          <a:lstStyle/>
          <a:p>
            <a:pPr indent="0" marL="0">
              <a:buNone/>
            </a:pPr>
            <a:r>
              <a:rPr lang="en-US" sz="1050" dirty="0">
                <a:solidFill>
                  <a:srgbClr val="2E2E2E"/>
                </a:solidFill>
                <a:latin typeface="Calibri" pitchFamily="34" charset="0"/>
                <a:ea typeface="Calibri" pitchFamily="34" charset="-122"/>
                <a:cs typeface="Calibri" pitchFamily="34" charset="-120"/>
              </a:rPr>
              <a:t>Startup, concurrent switch connect</a:t>
            </a:r>
            <a:endParaRPr lang="en-US" sz="1050" dirty="0"/>
          </a:p>
        </p:txBody>
      </p:sp>
      <p:sp>
        <p:nvSpPr>
          <p:cNvPr id="36" name="Text 34"/>
          <p:cNvSpPr/>
          <p:nvPr/>
        </p:nvSpPr>
        <p:spPr>
          <a:xfrm>
            <a:off x="10753344" y="3694176"/>
            <a:ext cx="658368" cy="324612"/>
          </a:xfrm>
          <a:prstGeom prst="rect">
            <a:avLst/>
          </a:prstGeom>
          <a:noFill/>
          <a:ln/>
        </p:spPr>
        <p:txBody>
          <a:bodyPr wrap="square" lIns="0" tIns="0" rIns="0" bIns="0" rtlCol="0" anchor="ctr"/>
          <a:lstStyle/>
          <a:p>
            <a:pPr algn="r" indent="0" marL="0">
              <a:buNone/>
            </a:pPr>
            <a:r>
              <a:rPr lang="en-US" sz="1100" dirty="0">
                <a:solidFill>
                  <a:srgbClr val="6E6E6E"/>
                </a:solidFill>
                <a:latin typeface="Calibri" pitchFamily="34" charset="0"/>
                <a:ea typeface="Calibri" pitchFamily="34" charset="-122"/>
                <a:cs typeface="Calibri" pitchFamily="34" charset="-120"/>
              </a:rPr>
              <a:t>305</a:t>
            </a:r>
            <a:endParaRPr lang="en-US" sz="1100" dirty="0"/>
          </a:p>
        </p:txBody>
      </p:sp>
      <p:sp>
        <p:nvSpPr>
          <p:cNvPr id="37" name="Shape 35"/>
          <p:cNvSpPr/>
          <p:nvPr/>
        </p:nvSpPr>
        <p:spPr>
          <a:xfrm>
            <a:off x="6355080" y="4000500"/>
            <a:ext cx="5056632" cy="9144"/>
          </a:xfrm>
          <a:prstGeom prst="line">
            <a:avLst/>
          </a:prstGeom>
          <a:noFill/>
          <a:ln w="12700">
            <a:solidFill>
              <a:srgbClr val="EFEFEF"/>
            </a:solidFill>
            <a:prstDash val="solid"/>
          </a:ln>
        </p:spPr>
      </p:sp>
      <p:sp>
        <p:nvSpPr>
          <p:cNvPr id="38" name="Text 36"/>
          <p:cNvSpPr/>
          <p:nvPr/>
        </p:nvSpPr>
        <p:spPr>
          <a:xfrm>
            <a:off x="6355080" y="4018788"/>
            <a:ext cx="1783080" cy="324612"/>
          </a:xfrm>
          <a:prstGeom prst="rect">
            <a:avLst/>
          </a:prstGeom>
          <a:noFill/>
          <a:ln/>
        </p:spPr>
        <p:txBody>
          <a:bodyPr wrap="square" lIns="0" tIns="0" rIns="0" bIns="0" rtlCol="0" anchor="ctr"/>
          <a:lstStyle/>
          <a:p>
            <a:pPr indent="0" marL="0">
              <a:buNone/>
            </a:pPr>
            <a:r>
              <a:rPr lang="en-US" sz="1050" b="1" dirty="0">
                <a:solidFill>
                  <a:srgbClr val="1A1A1A"/>
                </a:solidFill>
                <a:latin typeface="Courier New" pitchFamily="34" charset="0"/>
                <a:ea typeface="Courier New" pitchFamily="34" charset="-122"/>
                <a:cs typeface="Courier New" pitchFamily="34" charset="-120"/>
              </a:rPr>
              <a:t>api_routes.py</a:t>
            </a:r>
            <a:endParaRPr lang="en-US" sz="1050" dirty="0"/>
          </a:p>
        </p:txBody>
      </p:sp>
      <p:sp>
        <p:nvSpPr>
          <p:cNvPr id="39" name="Text 37"/>
          <p:cNvSpPr/>
          <p:nvPr/>
        </p:nvSpPr>
        <p:spPr>
          <a:xfrm>
            <a:off x="8138160" y="4018788"/>
            <a:ext cx="2615184" cy="324612"/>
          </a:xfrm>
          <a:prstGeom prst="rect">
            <a:avLst/>
          </a:prstGeom>
          <a:noFill/>
          <a:ln/>
        </p:spPr>
        <p:txBody>
          <a:bodyPr wrap="square" lIns="0" tIns="0" rIns="0" bIns="0" rtlCol="0" anchor="ctr"/>
          <a:lstStyle/>
          <a:p>
            <a:pPr indent="0" marL="0">
              <a:buNone/>
            </a:pPr>
            <a:r>
              <a:rPr lang="en-US" sz="1050" dirty="0">
                <a:solidFill>
                  <a:srgbClr val="2E2E2E"/>
                </a:solidFill>
                <a:latin typeface="Calibri" pitchFamily="34" charset="0"/>
                <a:ea typeface="Calibri" pitchFamily="34" charset="-122"/>
                <a:cs typeface="Calibri" pitchFamily="34" charset="-120"/>
              </a:rPr>
              <a:t>/stats/flowentry/*, /p4/*</a:t>
            </a:r>
            <a:endParaRPr lang="en-US" sz="1050" dirty="0"/>
          </a:p>
        </p:txBody>
      </p:sp>
      <p:sp>
        <p:nvSpPr>
          <p:cNvPr id="40" name="Text 38"/>
          <p:cNvSpPr/>
          <p:nvPr/>
        </p:nvSpPr>
        <p:spPr>
          <a:xfrm>
            <a:off x="10753344" y="4018788"/>
            <a:ext cx="658368" cy="324612"/>
          </a:xfrm>
          <a:prstGeom prst="rect">
            <a:avLst/>
          </a:prstGeom>
          <a:noFill/>
          <a:ln/>
        </p:spPr>
        <p:txBody>
          <a:bodyPr wrap="square" lIns="0" tIns="0" rIns="0" bIns="0" rtlCol="0" anchor="ctr"/>
          <a:lstStyle/>
          <a:p>
            <a:pPr algn="r" indent="0" marL="0">
              <a:buNone/>
            </a:pPr>
            <a:r>
              <a:rPr lang="en-US" sz="1100" dirty="0">
                <a:solidFill>
                  <a:srgbClr val="6E6E6E"/>
                </a:solidFill>
                <a:latin typeface="Calibri" pitchFamily="34" charset="0"/>
                <a:ea typeface="Calibri" pitchFamily="34" charset="-122"/>
                <a:cs typeface="Calibri" pitchFamily="34" charset="-120"/>
              </a:rPr>
              <a:t>256</a:t>
            </a:r>
            <a:endParaRPr lang="en-US" sz="1100" dirty="0"/>
          </a:p>
        </p:txBody>
      </p:sp>
      <p:sp>
        <p:nvSpPr>
          <p:cNvPr id="41" name="Shape 39"/>
          <p:cNvSpPr/>
          <p:nvPr/>
        </p:nvSpPr>
        <p:spPr>
          <a:xfrm>
            <a:off x="6355080" y="4325112"/>
            <a:ext cx="5056632" cy="9144"/>
          </a:xfrm>
          <a:prstGeom prst="line">
            <a:avLst/>
          </a:prstGeom>
          <a:noFill/>
          <a:ln w="12700">
            <a:solidFill>
              <a:srgbClr val="EFEFEF"/>
            </a:solidFill>
            <a:prstDash val="solid"/>
          </a:ln>
        </p:spPr>
      </p:sp>
      <p:sp>
        <p:nvSpPr>
          <p:cNvPr id="42" name="Text 40"/>
          <p:cNvSpPr/>
          <p:nvPr/>
        </p:nvSpPr>
        <p:spPr>
          <a:xfrm>
            <a:off x="6355080" y="4343400"/>
            <a:ext cx="1783080" cy="324612"/>
          </a:xfrm>
          <a:prstGeom prst="rect">
            <a:avLst/>
          </a:prstGeom>
          <a:noFill/>
          <a:ln/>
        </p:spPr>
        <p:txBody>
          <a:bodyPr wrap="square" lIns="0" tIns="0" rIns="0" bIns="0" rtlCol="0" anchor="ctr"/>
          <a:lstStyle/>
          <a:p>
            <a:pPr indent="0" marL="0">
              <a:buNone/>
            </a:pPr>
            <a:r>
              <a:rPr lang="en-US" sz="1050" b="1" dirty="0">
                <a:solidFill>
                  <a:srgbClr val="1A1A1A"/>
                </a:solidFill>
                <a:latin typeface="Courier New" pitchFamily="34" charset="0"/>
                <a:ea typeface="Courier New" pitchFamily="34" charset="-122"/>
                <a:cs typeface="Courier New" pitchFamily="34" charset="-120"/>
              </a:rPr>
              <a:t>ryu_flow_stats.py</a:t>
            </a:r>
            <a:endParaRPr lang="en-US" sz="1050" dirty="0"/>
          </a:p>
        </p:txBody>
      </p:sp>
      <p:sp>
        <p:nvSpPr>
          <p:cNvPr id="43" name="Text 41"/>
          <p:cNvSpPr/>
          <p:nvPr/>
        </p:nvSpPr>
        <p:spPr>
          <a:xfrm>
            <a:off x="8138160" y="4343400"/>
            <a:ext cx="2615184" cy="324612"/>
          </a:xfrm>
          <a:prstGeom prst="rect">
            <a:avLst/>
          </a:prstGeom>
          <a:noFill/>
          <a:ln/>
        </p:spPr>
        <p:txBody>
          <a:bodyPr wrap="square" lIns="0" tIns="0" rIns="0" bIns="0" rtlCol="0" anchor="ctr"/>
          <a:lstStyle/>
          <a:p>
            <a:pPr indent="0" marL="0">
              <a:buNone/>
            </a:pPr>
            <a:r>
              <a:rPr lang="en-US" sz="1050" dirty="0">
                <a:solidFill>
                  <a:srgbClr val="2E2E2E"/>
                </a:solidFill>
                <a:latin typeface="Calibri" pitchFamily="34" charset="0"/>
                <a:ea typeface="Calibri" pitchFamily="34" charset="-122"/>
                <a:cs typeface="Calibri" pitchFamily="34" charset="-120"/>
              </a:rPr>
              <a:t>/stats/flow/&lt;dpid&gt;, string-action form</a:t>
            </a:r>
            <a:endParaRPr lang="en-US" sz="1050" dirty="0"/>
          </a:p>
        </p:txBody>
      </p:sp>
      <p:sp>
        <p:nvSpPr>
          <p:cNvPr id="44" name="Text 42"/>
          <p:cNvSpPr/>
          <p:nvPr/>
        </p:nvSpPr>
        <p:spPr>
          <a:xfrm>
            <a:off x="10753344" y="4343400"/>
            <a:ext cx="658368" cy="324612"/>
          </a:xfrm>
          <a:prstGeom prst="rect">
            <a:avLst/>
          </a:prstGeom>
          <a:noFill/>
          <a:ln/>
        </p:spPr>
        <p:txBody>
          <a:bodyPr wrap="square" lIns="0" tIns="0" rIns="0" bIns="0" rtlCol="0" anchor="ctr"/>
          <a:lstStyle/>
          <a:p>
            <a:pPr algn="r" indent="0" marL="0">
              <a:buNone/>
            </a:pPr>
            <a:r>
              <a:rPr lang="en-US" sz="1100" dirty="0">
                <a:solidFill>
                  <a:srgbClr val="6E6E6E"/>
                </a:solidFill>
                <a:latin typeface="Calibri" pitchFamily="34" charset="0"/>
                <a:ea typeface="Calibri" pitchFamily="34" charset="-122"/>
                <a:cs typeface="Calibri" pitchFamily="34" charset="-120"/>
              </a:rPr>
              <a:t>190</a:t>
            </a:r>
            <a:endParaRPr lang="en-US" sz="1100" dirty="0"/>
          </a:p>
        </p:txBody>
      </p:sp>
      <p:sp>
        <p:nvSpPr>
          <p:cNvPr id="45" name="Shape 43"/>
          <p:cNvSpPr/>
          <p:nvPr/>
        </p:nvSpPr>
        <p:spPr>
          <a:xfrm>
            <a:off x="6355080" y="4649724"/>
            <a:ext cx="5056632" cy="9144"/>
          </a:xfrm>
          <a:prstGeom prst="line">
            <a:avLst/>
          </a:prstGeom>
          <a:noFill/>
          <a:ln w="12700">
            <a:solidFill>
              <a:srgbClr val="EFEFEF"/>
            </a:solidFill>
            <a:prstDash val="solid"/>
          </a:ln>
        </p:spPr>
      </p:sp>
      <p:sp>
        <p:nvSpPr>
          <p:cNvPr id="46" name="Text 44"/>
          <p:cNvSpPr/>
          <p:nvPr/>
        </p:nvSpPr>
        <p:spPr>
          <a:xfrm>
            <a:off x="6355080" y="4668012"/>
            <a:ext cx="1783080" cy="324612"/>
          </a:xfrm>
          <a:prstGeom prst="rect">
            <a:avLst/>
          </a:prstGeom>
          <a:noFill/>
          <a:ln/>
        </p:spPr>
        <p:txBody>
          <a:bodyPr wrap="square" lIns="0" tIns="0" rIns="0" bIns="0" rtlCol="0" anchor="ctr"/>
          <a:lstStyle/>
          <a:p>
            <a:pPr indent="0" marL="0">
              <a:buNone/>
            </a:pPr>
            <a:r>
              <a:rPr lang="en-US" sz="1050" b="1" dirty="0">
                <a:solidFill>
                  <a:srgbClr val="1A1A1A"/>
                </a:solidFill>
                <a:latin typeface="Courier New" pitchFamily="34" charset="0"/>
                <a:ea typeface="Courier New" pitchFamily="34" charset="-122"/>
                <a:cs typeface="Courier New" pitchFamily="34" charset="-120"/>
              </a:rPr>
              <a:t>kernel_notifier.py</a:t>
            </a:r>
            <a:endParaRPr lang="en-US" sz="1050" dirty="0"/>
          </a:p>
        </p:txBody>
      </p:sp>
      <p:sp>
        <p:nvSpPr>
          <p:cNvPr id="47" name="Text 45"/>
          <p:cNvSpPr/>
          <p:nvPr/>
        </p:nvSpPr>
        <p:spPr>
          <a:xfrm>
            <a:off x="8138160" y="4668012"/>
            <a:ext cx="2615184" cy="324612"/>
          </a:xfrm>
          <a:prstGeom prst="rect">
            <a:avLst/>
          </a:prstGeom>
          <a:noFill/>
          <a:ln/>
        </p:spPr>
        <p:txBody>
          <a:bodyPr wrap="square" lIns="0" tIns="0" rIns="0" bIns="0" rtlCol="0" anchor="ctr"/>
          <a:lstStyle/>
          <a:p>
            <a:pPr indent="0" marL="0">
              <a:buNone/>
            </a:pPr>
            <a:r>
              <a:rPr lang="en-US" sz="1050" dirty="0">
                <a:solidFill>
                  <a:srgbClr val="2E2E2E"/>
                </a:solidFill>
                <a:latin typeface="Calibri" pitchFamily="34" charset="0"/>
                <a:ea typeface="Calibri" pitchFamily="34" charset="-122"/>
                <a:cs typeface="Calibri" pitchFamily="34" charset="-120"/>
              </a:rPr>
              <a:t>Pushes switch and link events north</a:t>
            </a:r>
            <a:endParaRPr lang="en-US" sz="1050" dirty="0"/>
          </a:p>
        </p:txBody>
      </p:sp>
      <p:sp>
        <p:nvSpPr>
          <p:cNvPr id="48" name="Text 46"/>
          <p:cNvSpPr/>
          <p:nvPr/>
        </p:nvSpPr>
        <p:spPr>
          <a:xfrm>
            <a:off x="10753344" y="4668012"/>
            <a:ext cx="658368" cy="324612"/>
          </a:xfrm>
          <a:prstGeom prst="rect">
            <a:avLst/>
          </a:prstGeom>
          <a:noFill/>
          <a:ln/>
        </p:spPr>
        <p:txBody>
          <a:bodyPr wrap="square" lIns="0" tIns="0" rIns="0" bIns="0" rtlCol="0" anchor="ctr"/>
          <a:lstStyle/>
          <a:p>
            <a:pPr algn="r" indent="0" marL="0">
              <a:buNone/>
            </a:pPr>
            <a:r>
              <a:rPr lang="en-US" sz="1100" dirty="0">
                <a:solidFill>
                  <a:srgbClr val="6E6E6E"/>
                </a:solidFill>
                <a:latin typeface="Calibri" pitchFamily="34" charset="0"/>
                <a:ea typeface="Calibri" pitchFamily="34" charset="-122"/>
                <a:cs typeface="Calibri" pitchFamily="34" charset="-120"/>
              </a:rPr>
              <a:t>144</a:t>
            </a:r>
            <a:endParaRPr lang="en-US" sz="1100" dirty="0"/>
          </a:p>
        </p:txBody>
      </p:sp>
      <p:sp>
        <p:nvSpPr>
          <p:cNvPr id="49" name="Shape 47"/>
          <p:cNvSpPr/>
          <p:nvPr/>
        </p:nvSpPr>
        <p:spPr>
          <a:xfrm>
            <a:off x="6355080" y="4974336"/>
            <a:ext cx="5056632" cy="9144"/>
          </a:xfrm>
          <a:prstGeom prst="line">
            <a:avLst/>
          </a:prstGeom>
          <a:noFill/>
          <a:ln w="12700">
            <a:solidFill>
              <a:srgbClr val="EFEFEF"/>
            </a:solidFill>
            <a:prstDash val="solid"/>
          </a:ln>
        </p:spPr>
      </p:sp>
      <p:sp>
        <p:nvSpPr>
          <p:cNvPr id="50" name="Text 48"/>
          <p:cNvSpPr/>
          <p:nvPr/>
        </p:nvSpPr>
        <p:spPr>
          <a:xfrm>
            <a:off x="6355080" y="5138928"/>
            <a:ext cx="5056632" cy="256032"/>
          </a:xfrm>
          <a:prstGeom prst="rect">
            <a:avLst/>
          </a:prstGeom>
          <a:noFill/>
          <a:ln/>
        </p:spPr>
        <p:txBody>
          <a:bodyPr wrap="square" lIns="0" tIns="0" rIns="0" bIns="0" rtlCol="0" anchor="ctr"/>
          <a:lstStyle/>
          <a:p>
            <a:pPr indent="0" marL="0">
              <a:buNone/>
            </a:pPr>
            <a:r>
              <a:rPr lang="en-US" sz="1050" dirty="0">
                <a:solidFill>
                  <a:srgbClr val="6E6E6E"/>
                </a:solidFill>
                <a:latin typeface="Calibri" pitchFamily="34" charset="0"/>
                <a:ea typeface="Calibri" pitchFamily="34" charset="-122"/>
                <a:cs typeface="Calibri" pitchFamily="34" charset="-120"/>
              </a:rPr>
              <a:t>Current file sizes, not diff counts.</a:t>
            </a:r>
            <a:endParaRPr lang="en-US" sz="1050" dirty="0"/>
          </a:p>
        </p:txBody>
      </p:sp>
      <p:sp>
        <p:nvSpPr>
          <p:cNvPr id="51" name="Text 49"/>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56032"/>
            <a:ext cx="5486400" cy="237744"/>
          </a:xfrm>
          <a:prstGeom prst="rect">
            <a:avLst/>
          </a:prstGeom>
          <a:noFill/>
          <a:ln/>
        </p:spPr>
        <p:txBody>
          <a:bodyPr wrap="square" lIns="0" tIns="0" rIns="0" bIns="0" rtlCol="0" anchor="ctr"/>
          <a:lstStyle/>
          <a:p>
            <a:pPr indent="0" marL="0">
              <a:buNone/>
            </a:pPr>
            <a:r>
              <a:rPr lang="en-US" sz="1050" b="1" spc="100" kern="0" dirty="0">
                <a:solidFill>
                  <a:srgbClr val="065A82"/>
                </a:solidFill>
                <a:latin typeface="Calibri" pitchFamily="34" charset="0"/>
                <a:ea typeface="Calibri" pitchFamily="34" charset="-122"/>
                <a:cs typeface="Calibri" pitchFamily="34" charset="-120"/>
              </a:rPr>
              <a:t>1 · NEW CAPABILITIES</a:t>
            </a:r>
            <a:endParaRPr lang="en-US" sz="1050" dirty="0"/>
          </a:p>
        </p:txBody>
      </p:sp>
      <p:sp>
        <p:nvSpPr>
          <p:cNvPr id="3" name="Text 1"/>
          <p:cNvSpPr/>
          <p:nvPr/>
        </p:nvSpPr>
        <p:spPr>
          <a:xfrm>
            <a:off x="777240" y="566928"/>
            <a:ext cx="10637215" cy="621792"/>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sFlow synthesis, and how it was proven</a:t>
            </a:r>
            <a:endParaRPr lang="en-US" sz="3000" dirty="0"/>
          </a:p>
        </p:txBody>
      </p:sp>
      <p:sp>
        <p:nvSpPr>
          <p:cNvPr id="4" name="Text 2"/>
          <p:cNvSpPr/>
          <p:nvPr/>
        </p:nvSpPr>
        <p:spPr>
          <a:xfrm>
            <a:off x="777240" y="1207008"/>
            <a:ext cx="10637215" cy="347472"/>
          </a:xfrm>
          <a:prstGeom prst="rect">
            <a:avLst/>
          </a:prstGeom>
          <a:noFill/>
          <a:ln/>
        </p:spPr>
        <p:txBody>
          <a:bodyPr wrap="square" lIns="0" tIns="0" rIns="0" bIns="0" rtlCol="0" anchor="ctr"/>
          <a:lstStyle/>
          <a:p>
            <a:pPr indent="0" marL="0">
              <a:buNone/>
            </a:pPr>
            <a:r>
              <a:rPr lang="en-US" sz="1400" dirty="0">
                <a:solidFill>
                  <a:srgbClr val="4F4F4F"/>
                </a:solidFill>
                <a:latin typeface="Calibri" pitchFamily="34" charset="0"/>
                <a:ea typeface="Calibri" pitchFamily="34" charset="-122"/>
                <a:cs typeface="Calibri" pitchFamily="34" charset="-120"/>
              </a:rPr>
              <a:t>bmv2 emits no sFlow of its own — so the proxy manufactures it, byte-compatible with what OVS sends</a:t>
            </a:r>
            <a:endParaRPr lang="en-US" sz="1400" dirty="0"/>
          </a:p>
        </p:txBody>
      </p:sp>
      <p:sp>
        <p:nvSpPr>
          <p:cNvPr id="5" name="Shape 3"/>
          <p:cNvSpPr/>
          <p:nvPr/>
        </p:nvSpPr>
        <p:spPr>
          <a:xfrm>
            <a:off x="777240" y="1700784"/>
            <a:ext cx="10637215" cy="9144"/>
          </a:xfrm>
          <a:prstGeom prst="line">
            <a:avLst/>
          </a:prstGeom>
          <a:noFill/>
          <a:ln w="12700">
            <a:solidFill>
              <a:srgbClr val="D0D0D0"/>
            </a:solidFill>
            <a:prstDash val="solid"/>
          </a:ln>
        </p:spPr>
      </p:sp>
      <p:sp>
        <p:nvSpPr>
          <p:cNvPr id="6" name="Text 4"/>
          <p:cNvSpPr/>
          <p:nvPr/>
        </p:nvSpPr>
        <p:spPr>
          <a:xfrm>
            <a:off x="777240" y="2084832"/>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106424" y="2075688"/>
            <a:ext cx="5705856" cy="292608"/>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Valid sFlow was not enough</a:t>
            </a:r>
            <a:endParaRPr lang="en-US" sz="1550" dirty="0"/>
          </a:p>
        </p:txBody>
      </p:sp>
      <p:sp>
        <p:nvSpPr>
          <p:cNvPr id="8" name="Text 6"/>
          <p:cNvSpPr/>
          <p:nvPr/>
        </p:nvSpPr>
        <p:spPr>
          <a:xfrm>
            <a:off x="1106424" y="2414016"/>
            <a:ext cx="5705856" cy="822960"/>
          </a:xfrm>
          <a:prstGeom prst="rect">
            <a:avLst/>
          </a:prstGeom>
          <a:noFill/>
          <a:ln/>
        </p:spPr>
        <p:txBody>
          <a:bodyPr wrap="square" lIns="0" tIns="0" rIns="0" bIns="0" rtlCol="0" anchor="ctr"/>
          <a:lstStyle/>
          <a:p>
            <a:pPr indent="0" marL="0">
              <a:lnSpc>
                <a:spcPct val="124000"/>
              </a:lnSpc>
              <a:buNone/>
            </a:pPr>
            <a:r>
              <a:rPr lang="en-US" sz="1250" dirty="0">
                <a:solidFill>
                  <a:srgbClr val="2E2E2E"/>
                </a:solidFill>
                <a:latin typeface="Calibri" pitchFamily="34" charset="0"/>
                <a:ea typeface="Calibri" pitchFamily="34" charset="-122"/>
                <a:cs typeface="Calibri" pitchFamily="34" charset="-120"/>
              </a:rPr>
              <a:t>The kernel's decoder is a hand-rolled fixed-word-offset parser, not a general sFlow library. The datagram must have the same shape OVS produces — two flow records, extended_switch then raw header.</a:t>
            </a:r>
            <a:endParaRPr lang="en-US" sz="1250" dirty="0"/>
          </a:p>
        </p:txBody>
      </p:sp>
      <p:sp>
        <p:nvSpPr>
          <p:cNvPr id="9" name="Text 7"/>
          <p:cNvSpPr/>
          <p:nvPr/>
        </p:nvSpPr>
        <p:spPr>
          <a:xfrm>
            <a:off x="777240" y="3474720"/>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106424" y="3465576"/>
            <a:ext cx="5705856" cy="292608"/>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Agent addresses come from the same file</a:t>
            </a:r>
            <a:endParaRPr lang="en-US" sz="1550" dirty="0"/>
          </a:p>
        </p:txBody>
      </p:sp>
      <p:sp>
        <p:nvSpPr>
          <p:cNvPr id="11" name="Text 9"/>
          <p:cNvSpPr/>
          <p:nvPr/>
        </p:nvSpPr>
        <p:spPr>
          <a:xfrm>
            <a:off x="1106424" y="3803904"/>
            <a:ext cx="5705856" cy="822960"/>
          </a:xfrm>
          <a:prstGeom prst="rect">
            <a:avLst/>
          </a:prstGeom>
          <a:noFill/>
          <a:ln/>
        </p:spPr>
        <p:txBody>
          <a:bodyPr wrap="square" lIns="0" tIns="0" rIns="0" bIns="0" rtlCol="0" anchor="ctr"/>
          <a:lstStyle/>
          <a:p>
            <a:pPr indent="0" marL="0">
              <a:lnSpc>
                <a:spcPct val="124000"/>
              </a:lnSpc>
              <a:buNone/>
            </a:pPr>
            <a:r>
              <a:rPr lang="en-US" sz="1250" dirty="0">
                <a:solidFill>
                  <a:srgbClr val="2E2E2E"/>
                </a:solidFill>
                <a:latin typeface="Calibri" pitchFamily="34" charset="0"/>
                <a:ea typeface="Calibri" pitchFamily="34" charset="-122"/>
                <a:cs typeface="Calibri" pitchFamily="34" charset="-120"/>
              </a:rPr>
              <a:t>The kernel attributes a sample to an edge by AgentKey{agentIP, port}. An address it does not recognise yields telemetry attributed to nothing, with no error — so the emitter reads the topology JSON the kernel reads.</a:t>
            </a:r>
            <a:endParaRPr lang="en-US" sz="1250" dirty="0"/>
          </a:p>
        </p:txBody>
      </p:sp>
      <p:sp>
        <p:nvSpPr>
          <p:cNvPr id="12" name="Text 10"/>
          <p:cNvSpPr/>
          <p:nvPr/>
        </p:nvSpPr>
        <p:spPr>
          <a:xfrm>
            <a:off x="777240" y="4864608"/>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3</a:t>
            </a:r>
            <a:endParaRPr lang="en-US" sz="1300" dirty="0"/>
          </a:p>
        </p:txBody>
      </p:sp>
      <p:sp>
        <p:nvSpPr>
          <p:cNvPr id="13" name="Text 11"/>
          <p:cNvSpPr/>
          <p:nvPr/>
        </p:nvSpPr>
        <p:spPr>
          <a:xfrm>
            <a:off x="1106424" y="4855464"/>
            <a:ext cx="5705856" cy="292608"/>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Proven by cross-language round trip</a:t>
            </a:r>
            <a:endParaRPr lang="en-US" sz="1550" dirty="0"/>
          </a:p>
        </p:txBody>
      </p:sp>
      <p:sp>
        <p:nvSpPr>
          <p:cNvPr id="14" name="Text 12"/>
          <p:cNvSpPr/>
          <p:nvPr/>
        </p:nvSpPr>
        <p:spPr>
          <a:xfrm>
            <a:off x="1106424" y="5193792"/>
            <a:ext cx="5705856" cy="822960"/>
          </a:xfrm>
          <a:prstGeom prst="rect">
            <a:avLst/>
          </a:prstGeom>
          <a:noFill/>
          <a:ln/>
        </p:spPr>
        <p:txBody>
          <a:bodyPr wrap="square" lIns="0" tIns="0" rIns="0" bIns="0" rtlCol="0" anchor="ctr"/>
          <a:lstStyle/>
          <a:p>
            <a:pPr indent="0" marL="0">
              <a:lnSpc>
                <a:spcPct val="124000"/>
              </a:lnSpc>
              <a:buNone/>
            </a:pPr>
            <a:r>
              <a:rPr lang="en-US" sz="1250" dirty="0">
                <a:solidFill>
                  <a:srgbClr val="2E2E2E"/>
                </a:solidFill>
                <a:latin typeface="Calibri" pitchFamily="34" charset="0"/>
                <a:ea typeface="Calibri" pitchFamily="34" charset="-122"/>
                <a:cs typeface="Calibri" pitchFamily="34" charset="-120"/>
              </a:rPr>
              <a:t>The Python emitter's real output is fed through the actual C++ parser the kernel uses, and separately compared byte for byte against datagrams captured from a working OVS run.</a:t>
            </a:r>
            <a:endParaRPr lang="en-US" sz="1250" dirty="0"/>
          </a:p>
        </p:txBody>
      </p:sp>
      <p:sp>
        <p:nvSpPr>
          <p:cNvPr id="15" name="Shape 13"/>
          <p:cNvSpPr/>
          <p:nvPr/>
        </p:nvSpPr>
        <p:spPr>
          <a:xfrm>
            <a:off x="7178040" y="2139696"/>
            <a:ext cx="4233672" cy="548640"/>
          </a:xfrm>
          <a:prstGeom prst="rect">
            <a:avLst/>
          </a:prstGeom>
          <a:solidFill>
            <a:srgbClr val="FFFFFF"/>
          </a:solidFill>
          <a:ln w="12700">
            <a:solidFill>
              <a:srgbClr val="D0D0D0"/>
            </a:solidFill>
            <a:prstDash val="solid"/>
          </a:ln>
        </p:spPr>
      </p:sp>
      <p:sp>
        <p:nvSpPr>
          <p:cNvPr id="16" name="Text 14"/>
          <p:cNvSpPr/>
          <p:nvPr/>
        </p:nvSpPr>
        <p:spPr>
          <a:xfrm>
            <a:off x="7251192" y="2139696"/>
            <a:ext cx="4087368" cy="548640"/>
          </a:xfrm>
          <a:prstGeom prst="rect">
            <a:avLst/>
          </a:prstGeom>
          <a:noFill/>
          <a:ln/>
        </p:spPr>
        <p:txBody>
          <a:bodyPr wrap="square" lIns="0" tIns="0" rIns="0" bIns="0" rtlCol="0" anchor="ctr"/>
          <a:lstStyle/>
          <a:p>
            <a:pPr algn="ctr" indent="0" marL="0">
              <a:lnSpc>
                <a:spcPct val="110000"/>
              </a:lnSpc>
              <a:buNone/>
            </a:pPr>
            <a:r>
              <a:rPr lang="en-US" sz="1200" b="1" dirty="0">
                <a:solidFill>
                  <a:srgbClr val="1A1A1A"/>
                </a:solidFill>
                <a:latin typeface="Calibri" pitchFamily="34" charset="0"/>
                <a:ea typeface="Calibri" pitchFamily="34" charset="-122"/>
                <a:cs typeface="Calibri" pitchFamily="34" charset="-120"/>
              </a:rPr>
              <a:t>sflow_emitter.py</a:t>
            </a:r>
            <a:endParaRPr lang="en-US" sz="1200" dirty="0"/>
          </a:p>
          <a:p>
            <a:pPr algn="ctr" indent="0" marL="0">
              <a:lnSpc>
                <a:spcPct val="110000"/>
              </a:lnSpc>
              <a:buNone/>
            </a:pPr>
            <a:r>
              <a:rPr lang="en-US" sz="950" dirty="0">
                <a:solidFill>
                  <a:srgbClr val="4F4F4F"/>
                </a:solidFill>
                <a:latin typeface="Calibri" pitchFamily="34" charset="0"/>
                <a:ea typeface="Calibri" pitchFamily="34" charset="-122"/>
                <a:cs typeface="Calibri" pitchFamily="34" charset="-120"/>
              </a:rPr>
              <a:t>Python — synthesised datagram</a:t>
            </a:r>
            <a:endParaRPr lang="en-US" sz="1200" dirty="0"/>
          </a:p>
        </p:txBody>
      </p:sp>
      <p:sp>
        <p:nvSpPr>
          <p:cNvPr id="17" name="Shape 15"/>
          <p:cNvSpPr/>
          <p:nvPr/>
        </p:nvSpPr>
        <p:spPr>
          <a:xfrm>
            <a:off x="9294876" y="2688336"/>
            <a:ext cx="9144" cy="347472"/>
          </a:xfrm>
          <a:prstGeom prst="line">
            <a:avLst/>
          </a:prstGeom>
          <a:noFill/>
          <a:ln w="19050">
            <a:solidFill>
              <a:srgbClr val="B4BEC4"/>
            </a:solidFill>
            <a:prstDash val="solid"/>
            <a:tailEnd type="triangle"/>
          </a:ln>
        </p:spPr>
      </p:sp>
      <p:sp>
        <p:nvSpPr>
          <p:cNvPr id="18" name="Shape 16"/>
          <p:cNvSpPr/>
          <p:nvPr/>
        </p:nvSpPr>
        <p:spPr>
          <a:xfrm>
            <a:off x="7178040" y="3035808"/>
            <a:ext cx="4233672" cy="548640"/>
          </a:xfrm>
          <a:prstGeom prst="rect">
            <a:avLst/>
          </a:prstGeom>
          <a:solidFill>
            <a:srgbClr val="EEF3F6"/>
          </a:solidFill>
          <a:ln w="12700">
            <a:solidFill>
              <a:srgbClr val="065A82"/>
            </a:solidFill>
            <a:prstDash val="solid"/>
          </a:ln>
        </p:spPr>
      </p:sp>
      <p:sp>
        <p:nvSpPr>
          <p:cNvPr id="19" name="Text 17"/>
          <p:cNvSpPr/>
          <p:nvPr/>
        </p:nvSpPr>
        <p:spPr>
          <a:xfrm>
            <a:off x="7251192" y="3035808"/>
            <a:ext cx="4087368" cy="548640"/>
          </a:xfrm>
          <a:prstGeom prst="rect">
            <a:avLst/>
          </a:prstGeom>
          <a:noFill/>
          <a:ln/>
        </p:spPr>
        <p:txBody>
          <a:bodyPr wrap="square" lIns="0" tIns="0" rIns="0" bIns="0" rtlCol="0" anchor="ctr"/>
          <a:lstStyle/>
          <a:p>
            <a:pPr algn="ctr" indent="0" marL="0">
              <a:lnSpc>
                <a:spcPct val="110000"/>
              </a:lnSpc>
              <a:buNone/>
            </a:pPr>
            <a:r>
              <a:rPr lang="en-US" sz="1200" b="1" dirty="0">
                <a:solidFill>
                  <a:srgbClr val="065A82"/>
                </a:solidFill>
                <a:latin typeface="Calibri" pitchFamily="34" charset="0"/>
                <a:ea typeface="Calibri" pitchFamily="34" charset="-122"/>
                <a:cs typeface="Calibri" pitchFamily="34" charset="-120"/>
              </a:rPr>
              <a:t>The kernel's C++ sFlow parser</a:t>
            </a:r>
            <a:endParaRPr lang="en-US" sz="1200" dirty="0"/>
          </a:p>
          <a:p>
            <a:pPr algn="ctr" indent="0" marL="0">
              <a:lnSpc>
                <a:spcPct val="110000"/>
              </a:lnSpc>
              <a:buNone/>
            </a:pPr>
            <a:r>
              <a:rPr lang="en-US" sz="950" dirty="0">
                <a:solidFill>
                  <a:srgbClr val="065A82"/>
                </a:solidFill>
                <a:latin typeface="Calibri" pitchFamily="34" charset="0"/>
                <a:ea typeface="Calibri" pitchFamily="34" charset="-122"/>
                <a:cs typeface="Calibri" pitchFamily="34" charset="-120"/>
              </a:rPr>
              <a:t>the real one, not a stub</a:t>
            </a:r>
            <a:endParaRPr lang="en-US" sz="1200" dirty="0"/>
          </a:p>
        </p:txBody>
      </p:sp>
      <p:sp>
        <p:nvSpPr>
          <p:cNvPr id="20" name="Shape 18"/>
          <p:cNvSpPr/>
          <p:nvPr/>
        </p:nvSpPr>
        <p:spPr>
          <a:xfrm>
            <a:off x="9294876" y="3584448"/>
            <a:ext cx="9144" cy="347472"/>
          </a:xfrm>
          <a:prstGeom prst="line">
            <a:avLst/>
          </a:prstGeom>
          <a:noFill/>
          <a:ln w="19050">
            <a:solidFill>
              <a:srgbClr val="B4BEC4"/>
            </a:solidFill>
            <a:prstDash val="solid"/>
            <a:tailEnd type="triangle"/>
          </a:ln>
        </p:spPr>
      </p:sp>
      <p:sp>
        <p:nvSpPr>
          <p:cNvPr id="21" name="Shape 19"/>
          <p:cNvSpPr/>
          <p:nvPr/>
        </p:nvSpPr>
        <p:spPr>
          <a:xfrm>
            <a:off x="7178040" y="3931920"/>
            <a:ext cx="4233672" cy="548640"/>
          </a:xfrm>
          <a:prstGeom prst="rect">
            <a:avLst/>
          </a:prstGeom>
          <a:solidFill>
            <a:srgbClr val="FFFFFF"/>
          </a:solidFill>
          <a:ln w="12700">
            <a:solidFill>
              <a:srgbClr val="D0D0D0"/>
            </a:solidFill>
            <a:prstDash val="solid"/>
          </a:ln>
        </p:spPr>
      </p:sp>
      <p:sp>
        <p:nvSpPr>
          <p:cNvPr id="22" name="Text 20"/>
          <p:cNvSpPr/>
          <p:nvPr/>
        </p:nvSpPr>
        <p:spPr>
          <a:xfrm>
            <a:off x="7251192" y="3931920"/>
            <a:ext cx="4087368" cy="548640"/>
          </a:xfrm>
          <a:prstGeom prst="rect">
            <a:avLst/>
          </a:prstGeom>
          <a:noFill/>
          <a:ln/>
        </p:spPr>
        <p:txBody>
          <a:bodyPr wrap="square" lIns="0" tIns="0" rIns="0" bIns="0" rtlCol="0" anchor="ctr"/>
          <a:lstStyle/>
          <a:p>
            <a:pPr algn="ctr" indent="0" marL="0">
              <a:lnSpc>
                <a:spcPct val="110000"/>
              </a:lnSpc>
              <a:buNone/>
            </a:pPr>
            <a:r>
              <a:rPr lang="en-US" sz="1200" b="1" dirty="0">
                <a:solidFill>
                  <a:srgbClr val="1A1A1A"/>
                </a:solidFill>
                <a:latin typeface="Calibri" pitchFamily="34" charset="0"/>
                <a:ea typeface="Calibri" pitchFamily="34" charset="-122"/>
                <a:cs typeface="Calibri" pitchFamily="34" charset="-120"/>
              </a:rPr>
              <a:t>Parsed flow matches what was sent</a:t>
            </a:r>
            <a:endParaRPr lang="en-US" sz="1200" dirty="0"/>
          </a:p>
        </p:txBody>
      </p:sp>
      <p:sp>
        <p:nvSpPr>
          <p:cNvPr id="23" name="Text 21"/>
          <p:cNvSpPr/>
          <p:nvPr/>
        </p:nvSpPr>
        <p:spPr>
          <a:xfrm>
            <a:off x="7178040" y="4828032"/>
            <a:ext cx="4233672" cy="256032"/>
          </a:xfrm>
          <a:prstGeom prst="rect">
            <a:avLst/>
          </a:prstGeom>
          <a:noFill/>
          <a:ln/>
        </p:spPr>
        <p:txBody>
          <a:bodyPr wrap="square" lIns="0" tIns="0" rIns="0" bIns="0" rtlCol="0" anchor="ctr"/>
          <a:lstStyle/>
          <a:p>
            <a:pPr indent="0" marL="0">
              <a:buNone/>
            </a:pPr>
            <a:r>
              <a:rPr lang="en-US" sz="1150" b="1" dirty="0">
                <a:solidFill>
                  <a:srgbClr val="1A1A1A"/>
                </a:solidFill>
                <a:latin typeface="Calibri" pitchFamily="34" charset="0"/>
                <a:ea typeface="Calibri" pitchFamily="34" charset="-122"/>
                <a:cs typeface="Calibri" pitchFamily="34" charset="-120"/>
              </a:rPr>
              <a:t>Two independent checks</a:t>
            </a:r>
            <a:endParaRPr lang="en-US" sz="1150" dirty="0"/>
          </a:p>
        </p:txBody>
      </p:sp>
      <p:sp>
        <p:nvSpPr>
          <p:cNvPr id="24" name="Shape 22"/>
          <p:cNvSpPr/>
          <p:nvPr/>
        </p:nvSpPr>
        <p:spPr>
          <a:xfrm>
            <a:off x="7178040" y="5102352"/>
            <a:ext cx="4233672" cy="9144"/>
          </a:xfrm>
          <a:prstGeom prst="line">
            <a:avLst/>
          </a:prstGeom>
          <a:noFill/>
          <a:ln w="12700">
            <a:solidFill>
              <a:srgbClr val="D0D0D0"/>
            </a:solidFill>
            <a:prstDash val="solid"/>
          </a:ln>
        </p:spPr>
      </p:sp>
      <p:sp>
        <p:nvSpPr>
          <p:cNvPr id="25" name="Text 23"/>
          <p:cNvSpPr/>
          <p:nvPr/>
        </p:nvSpPr>
        <p:spPr>
          <a:xfrm>
            <a:off x="7178040" y="5193792"/>
            <a:ext cx="1371600" cy="310896"/>
          </a:xfrm>
          <a:prstGeom prst="rect">
            <a:avLst/>
          </a:prstGeom>
          <a:noFill/>
          <a:ln/>
        </p:spPr>
        <p:txBody>
          <a:bodyPr wrap="square" lIns="0" tIns="0" rIns="0" bIns="0" rtlCol="0" anchor="ctr"/>
          <a:lstStyle/>
          <a:p>
            <a:pPr indent="0" marL="0">
              <a:buNone/>
            </a:pPr>
            <a:r>
              <a:rPr lang="en-US" sz="1100" b="1" dirty="0">
                <a:solidFill>
                  <a:srgbClr val="1A1A1A"/>
                </a:solidFill>
                <a:latin typeface="Calibri" pitchFamily="34" charset="0"/>
                <a:ea typeface="Calibri" pitchFamily="34" charset="-122"/>
                <a:cs typeface="Calibri" pitchFamily="34" charset="-120"/>
              </a:rPr>
              <a:t>Round trip</a:t>
            </a:r>
            <a:endParaRPr lang="en-US" sz="1100" dirty="0"/>
          </a:p>
        </p:txBody>
      </p:sp>
      <p:sp>
        <p:nvSpPr>
          <p:cNvPr id="26" name="Text 24"/>
          <p:cNvSpPr/>
          <p:nvPr/>
        </p:nvSpPr>
        <p:spPr>
          <a:xfrm>
            <a:off x="8549640" y="5193792"/>
            <a:ext cx="2862072" cy="310896"/>
          </a:xfrm>
          <a:prstGeom prst="rect">
            <a:avLst/>
          </a:prstGeom>
          <a:noFill/>
          <a:ln/>
        </p:spPr>
        <p:txBody>
          <a:bodyPr wrap="square" lIns="0" tIns="0" rIns="0" bIns="0" rtlCol="0" anchor="ctr"/>
          <a:lstStyle/>
          <a:p>
            <a:pPr indent="0" marL="0">
              <a:buNone/>
            </a:pPr>
            <a:r>
              <a:rPr lang="en-US" sz="1050" dirty="0">
                <a:solidFill>
                  <a:srgbClr val="2E2E2E"/>
                </a:solidFill>
                <a:latin typeface="Calibri" pitchFamily="34" charset="0"/>
                <a:ea typeface="Calibri" pitchFamily="34" charset="-122"/>
                <a:cs typeface="Calibri" pitchFamily="34" charset="-120"/>
              </a:rPr>
              <a:t>test_SFlowEmitterRoundtrip.cpp</a:t>
            </a:r>
            <a:endParaRPr lang="en-US" sz="1050" dirty="0"/>
          </a:p>
        </p:txBody>
      </p:sp>
      <p:sp>
        <p:nvSpPr>
          <p:cNvPr id="27" name="Shape 25"/>
          <p:cNvSpPr/>
          <p:nvPr/>
        </p:nvSpPr>
        <p:spPr>
          <a:xfrm>
            <a:off x="7178040" y="5486400"/>
            <a:ext cx="4233672" cy="9144"/>
          </a:xfrm>
          <a:prstGeom prst="line">
            <a:avLst/>
          </a:prstGeom>
          <a:noFill/>
          <a:ln w="12700">
            <a:solidFill>
              <a:srgbClr val="EFEFEF"/>
            </a:solidFill>
            <a:prstDash val="solid"/>
          </a:ln>
        </p:spPr>
      </p:sp>
      <p:sp>
        <p:nvSpPr>
          <p:cNvPr id="28" name="Text 26"/>
          <p:cNvSpPr/>
          <p:nvPr/>
        </p:nvSpPr>
        <p:spPr>
          <a:xfrm>
            <a:off x="7178040" y="5504688"/>
            <a:ext cx="1371600" cy="310896"/>
          </a:xfrm>
          <a:prstGeom prst="rect">
            <a:avLst/>
          </a:prstGeom>
          <a:noFill/>
          <a:ln/>
        </p:spPr>
        <p:txBody>
          <a:bodyPr wrap="square" lIns="0" tIns="0" rIns="0" bIns="0" rtlCol="0" anchor="ctr"/>
          <a:lstStyle/>
          <a:p>
            <a:pPr indent="0" marL="0">
              <a:buNone/>
            </a:pPr>
            <a:r>
              <a:rPr lang="en-US" sz="1100" b="1" dirty="0">
                <a:solidFill>
                  <a:srgbClr val="1A1A1A"/>
                </a:solidFill>
                <a:latin typeface="Calibri" pitchFamily="34" charset="0"/>
                <a:ea typeface="Calibri" pitchFamily="34" charset="-122"/>
                <a:cs typeface="Calibri" pitchFamily="34" charset="-120"/>
              </a:rPr>
              <a:t>Byte compare</a:t>
            </a:r>
            <a:endParaRPr lang="en-US" sz="1100" dirty="0"/>
          </a:p>
        </p:txBody>
      </p:sp>
      <p:sp>
        <p:nvSpPr>
          <p:cNvPr id="29" name="Text 27"/>
          <p:cNvSpPr/>
          <p:nvPr/>
        </p:nvSpPr>
        <p:spPr>
          <a:xfrm>
            <a:off x="8549640" y="5504688"/>
            <a:ext cx="2862072" cy="310896"/>
          </a:xfrm>
          <a:prstGeom prst="rect">
            <a:avLst/>
          </a:prstGeom>
          <a:noFill/>
          <a:ln/>
        </p:spPr>
        <p:txBody>
          <a:bodyPr wrap="square" lIns="0" tIns="0" rIns="0" bIns="0" rtlCol="0" anchor="ctr"/>
          <a:lstStyle/>
          <a:p>
            <a:pPr indent="0" marL="0">
              <a:buNone/>
            </a:pPr>
            <a:r>
              <a:rPr lang="en-US" sz="1050" dirty="0">
                <a:solidFill>
                  <a:srgbClr val="2E2E2E"/>
                </a:solidFill>
                <a:latin typeface="Calibri" pitchFamily="34" charset="0"/>
                <a:ea typeface="Calibri" pitchFamily="34" charset="-122"/>
                <a:cs typeface="Calibri" pitchFamily="34" charset="-120"/>
              </a:rPr>
              <a:t>test_sflow_emitter.py vs OVS capture</a:t>
            </a:r>
            <a:endParaRPr lang="en-US" sz="1050" dirty="0"/>
          </a:p>
        </p:txBody>
      </p:sp>
      <p:sp>
        <p:nvSpPr>
          <p:cNvPr id="30" name="Shape 28"/>
          <p:cNvSpPr/>
          <p:nvPr/>
        </p:nvSpPr>
        <p:spPr>
          <a:xfrm>
            <a:off x="7178040" y="5797296"/>
            <a:ext cx="4233672" cy="9144"/>
          </a:xfrm>
          <a:prstGeom prst="line">
            <a:avLst/>
          </a:prstGeom>
          <a:noFill/>
          <a:ln w="12700">
            <a:solidFill>
              <a:srgbClr val="EFEFEF"/>
            </a:solidFill>
            <a:prstDash val="solid"/>
          </a:ln>
        </p:spPr>
      </p:sp>
      <p:sp>
        <p:nvSpPr>
          <p:cNvPr id="31" name="Text 29"/>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56032"/>
            <a:ext cx="5486400" cy="237744"/>
          </a:xfrm>
          <a:prstGeom prst="rect">
            <a:avLst/>
          </a:prstGeom>
          <a:noFill/>
          <a:ln/>
        </p:spPr>
        <p:txBody>
          <a:bodyPr wrap="square" lIns="0" tIns="0" rIns="0" bIns="0" rtlCol="0" anchor="ctr"/>
          <a:lstStyle/>
          <a:p>
            <a:pPr indent="0" marL="0">
              <a:buNone/>
            </a:pPr>
            <a:r>
              <a:rPr lang="en-US" sz="1050" b="1" spc="100" kern="0" dirty="0">
                <a:solidFill>
                  <a:srgbClr val="065A82"/>
                </a:solidFill>
                <a:latin typeface="Calibri" pitchFamily="34" charset="0"/>
                <a:ea typeface="Calibri" pitchFamily="34" charset="-122"/>
                <a:cs typeface="Calibri" pitchFamily="34" charset="-120"/>
              </a:rPr>
              <a:t>1 · NEW CAPABILITIES</a:t>
            </a:r>
            <a:endParaRPr lang="en-US" sz="1050" dirty="0"/>
          </a:p>
        </p:txBody>
      </p:sp>
      <p:sp>
        <p:nvSpPr>
          <p:cNvPr id="3" name="Text 1"/>
          <p:cNvSpPr/>
          <p:nvPr/>
        </p:nvSpPr>
        <p:spPr>
          <a:xfrm>
            <a:off x="777240" y="566928"/>
            <a:ext cx="10637215" cy="621792"/>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The telemetry sample path</a:t>
            </a:r>
            <a:endParaRPr lang="en-US" sz="3000" dirty="0"/>
          </a:p>
        </p:txBody>
      </p:sp>
      <p:sp>
        <p:nvSpPr>
          <p:cNvPr id="4" name="Text 2"/>
          <p:cNvSpPr/>
          <p:nvPr/>
        </p:nvSpPr>
        <p:spPr>
          <a:xfrm>
            <a:off x="777240" y="1207008"/>
            <a:ext cx="10637215" cy="347472"/>
          </a:xfrm>
          <a:prstGeom prst="rect">
            <a:avLst/>
          </a:prstGeom>
          <a:noFill/>
          <a:ln/>
        </p:spPr>
        <p:txBody>
          <a:bodyPr wrap="square" lIns="0" tIns="0" rIns="0" bIns="0" rtlCol="0" anchor="ctr"/>
          <a:lstStyle/>
          <a:p>
            <a:pPr indent="0" marL="0">
              <a:buNone/>
            </a:pPr>
            <a:r>
              <a:rPr lang="en-US" sz="1400" dirty="0">
                <a:solidFill>
                  <a:srgbClr val="4F4F4F"/>
                </a:solidFill>
                <a:latin typeface="Calibri" pitchFamily="34" charset="0"/>
                <a:ea typeface="Calibri" pitchFamily="34" charset="-122"/>
                <a:cs typeface="Calibri" pitchFamily="34" charset="-120"/>
              </a:rPr>
              <a:t>From a sampled packet in the pipeline to a flow the kernel can attribute</a:t>
            </a:r>
            <a:endParaRPr lang="en-US" sz="1400" dirty="0"/>
          </a:p>
        </p:txBody>
      </p:sp>
      <p:sp>
        <p:nvSpPr>
          <p:cNvPr id="5" name="Shape 3"/>
          <p:cNvSpPr/>
          <p:nvPr/>
        </p:nvSpPr>
        <p:spPr>
          <a:xfrm>
            <a:off x="777240" y="1700784"/>
            <a:ext cx="10637215" cy="9144"/>
          </a:xfrm>
          <a:prstGeom prst="line">
            <a:avLst/>
          </a:prstGeom>
          <a:noFill/>
          <a:ln w="12700">
            <a:solidFill>
              <a:srgbClr val="D0D0D0"/>
            </a:solidFill>
            <a:prstDash val="solid"/>
          </a:ln>
        </p:spPr>
      </p:sp>
      <p:sp>
        <p:nvSpPr>
          <p:cNvPr id="6" name="Text 4"/>
          <p:cNvSpPr/>
          <p:nvPr/>
        </p:nvSpPr>
        <p:spPr>
          <a:xfrm>
            <a:off x="777240" y="2084832"/>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106424" y="2075688"/>
            <a:ext cx="5614416" cy="292608"/>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A PRE clone session, programmed over P4Runtime</a:t>
            </a:r>
            <a:endParaRPr lang="en-US" sz="1550" dirty="0"/>
          </a:p>
        </p:txBody>
      </p:sp>
      <p:sp>
        <p:nvSpPr>
          <p:cNvPr id="8" name="Text 6"/>
          <p:cNvSpPr/>
          <p:nvPr/>
        </p:nvSpPr>
        <p:spPr>
          <a:xfrm>
            <a:off x="1106424" y="2414016"/>
            <a:ext cx="5614416" cy="822960"/>
          </a:xfrm>
          <a:prstGeom prst="rect">
            <a:avLst/>
          </a:prstGeom>
          <a:noFill/>
          <a:ln/>
        </p:spPr>
        <p:txBody>
          <a:bodyPr wrap="square" lIns="0" tIns="0" rIns="0" bIns="0" rtlCol="0" anchor="ctr"/>
          <a:lstStyle/>
          <a:p>
            <a:pPr indent="0" marL="0">
              <a:lnSpc>
                <a:spcPct val="124000"/>
              </a:lnSpc>
              <a:buNone/>
            </a:pPr>
            <a:r>
              <a:rPr lang="en-US" sz="1250" dirty="0">
                <a:solidFill>
                  <a:srgbClr val="2E2E2E"/>
                </a:solidFill>
                <a:latin typeface="Calibri" pitchFamily="34" charset="0"/>
                <a:ea typeface="Calibri" pitchFamily="34" charset="-122"/>
                <a:cs typeface="Calibri" pitchFamily="34" charset="-120"/>
              </a:rPr>
              <a:t>Session 250 is what the pipeline clones sampled packets into. It lives in the pipeline's PRE, so bmv2 rejects it if no pipeline is loaded — the proxy programs it only after it has pushed the config itself.</a:t>
            </a:r>
            <a:endParaRPr lang="en-US" sz="1250" dirty="0"/>
          </a:p>
        </p:txBody>
      </p:sp>
      <p:sp>
        <p:nvSpPr>
          <p:cNvPr id="9" name="Text 7"/>
          <p:cNvSpPr/>
          <p:nvPr/>
        </p:nvSpPr>
        <p:spPr>
          <a:xfrm>
            <a:off x="777240" y="3474720"/>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106424" y="3465576"/>
            <a:ext cx="5614416" cy="292608"/>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Samples and packet-ins share one channel</a:t>
            </a:r>
            <a:endParaRPr lang="en-US" sz="1550" dirty="0"/>
          </a:p>
        </p:txBody>
      </p:sp>
      <p:sp>
        <p:nvSpPr>
          <p:cNvPr id="11" name="Text 9"/>
          <p:cNvSpPr/>
          <p:nvPr/>
        </p:nvSpPr>
        <p:spPr>
          <a:xfrm>
            <a:off x="1106424" y="3803904"/>
            <a:ext cx="5614416" cy="822960"/>
          </a:xfrm>
          <a:prstGeom prst="rect">
            <a:avLst/>
          </a:prstGeom>
          <a:noFill/>
          <a:ln/>
        </p:spPr>
        <p:txBody>
          <a:bodyPr wrap="square" lIns="0" tIns="0" rIns="0" bIns="0" rtlCol="0" anchor="ctr"/>
          <a:lstStyle/>
          <a:p>
            <a:pPr indent="0" marL="0">
              <a:lnSpc>
                <a:spcPct val="124000"/>
              </a:lnSpc>
              <a:buNone/>
            </a:pPr>
            <a:r>
              <a:rPr lang="en-US" sz="1250" dirty="0">
                <a:solidFill>
                  <a:srgbClr val="2E2E2E"/>
                </a:solidFill>
                <a:latin typeface="Calibri" pitchFamily="34" charset="0"/>
                <a:ea typeface="Calibri" pitchFamily="34" charset="-122"/>
                <a:cs typeface="Calibri" pitchFamily="34" charset="-120"/>
              </a:rPr>
              <a:t>Both arrive as packet_in. They are separated by a reason field, and the split matters for load as well as correctness: sampling is 1-in-256 of all traffic, so letting samples reach the LLDP parser would bury discovery.</a:t>
            </a:r>
            <a:endParaRPr lang="en-US" sz="1250" dirty="0"/>
          </a:p>
        </p:txBody>
      </p:sp>
      <p:sp>
        <p:nvSpPr>
          <p:cNvPr id="12" name="Text 10"/>
          <p:cNvSpPr/>
          <p:nvPr/>
        </p:nvSpPr>
        <p:spPr>
          <a:xfrm>
            <a:off x="777240" y="4864608"/>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3</a:t>
            </a:r>
            <a:endParaRPr lang="en-US" sz="1300" dirty="0"/>
          </a:p>
        </p:txBody>
      </p:sp>
      <p:sp>
        <p:nvSpPr>
          <p:cNvPr id="13" name="Text 11"/>
          <p:cNvSpPr/>
          <p:nvPr/>
        </p:nvSpPr>
        <p:spPr>
          <a:xfrm>
            <a:off x="1106424" y="4855464"/>
            <a:ext cx="5614416" cy="292608"/>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A trap worth naming</a:t>
            </a:r>
            <a:endParaRPr lang="en-US" sz="1550" dirty="0"/>
          </a:p>
        </p:txBody>
      </p:sp>
      <p:sp>
        <p:nvSpPr>
          <p:cNvPr id="14" name="Text 12"/>
          <p:cNvSpPr/>
          <p:nvPr/>
        </p:nvSpPr>
        <p:spPr>
          <a:xfrm>
            <a:off x="1106424" y="5193792"/>
            <a:ext cx="5614416" cy="822960"/>
          </a:xfrm>
          <a:prstGeom prst="rect">
            <a:avLst/>
          </a:prstGeom>
          <a:noFill/>
          <a:ln/>
        </p:spPr>
        <p:txBody>
          <a:bodyPr wrap="square" lIns="0" tIns="0" rIns="0" bIns="0" rtlCol="0" anchor="ctr"/>
          <a:lstStyle/>
          <a:p>
            <a:pPr indent="0" marL="0">
              <a:lnSpc>
                <a:spcPct val="124000"/>
              </a:lnSpc>
              <a:buNone/>
            </a:pPr>
            <a:r>
              <a:rPr lang="en-US" sz="1250" dirty="0">
                <a:solidFill>
                  <a:srgbClr val="2E2E2E"/>
                </a:solidFill>
                <a:latin typeface="Calibri" pitchFamily="34" charset="0"/>
                <a:ea typeface="Calibri" pitchFamily="34" charset="-122"/>
                <a:cs typeface="Calibri" pitchFamily="34" charset="-120"/>
              </a:rPr>
              <a:t>A third controller header compiles cleanly but is silently ignored — P4Runtime matches controller headers by name, and only knows packet_in and packet_out.</a:t>
            </a:r>
            <a:endParaRPr lang="en-US" sz="1250" dirty="0"/>
          </a:p>
        </p:txBody>
      </p:sp>
      <p:sp>
        <p:nvSpPr>
          <p:cNvPr id="15" name="Shape 13"/>
          <p:cNvSpPr/>
          <p:nvPr/>
        </p:nvSpPr>
        <p:spPr>
          <a:xfrm>
            <a:off x="7086600" y="2139696"/>
            <a:ext cx="4325112" cy="566928"/>
          </a:xfrm>
          <a:prstGeom prst="rect">
            <a:avLst/>
          </a:prstGeom>
          <a:solidFill>
            <a:srgbClr val="FFFFFF"/>
          </a:solidFill>
          <a:ln w="12700">
            <a:solidFill>
              <a:srgbClr val="D0D0D0"/>
            </a:solidFill>
            <a:prstDash val="solid"/>
          </a:ln>
        </p:spPr>
      </p:sp>
      <p:sp>
        <p:nvSpPr>
          <p:cNvPr id="16" name="Text 14"/>
          <p:cNvSpPr/>
          <p:nvPr/>
        </p:nvSpPr>
        <p:spPr>
          <a:xfrm>
            <a:off x="7159752" y="2139696"/>
            <a:ext cx="4178808" cy="566928"/>
          </a:xfrm>
          <a:prstGeom prst="rect">
            <a:avLst/>
          </a:prstGeom>
          <a:noFill/>
          <a:ln/>
        </p:spPr>
        <p:txBody>
          <a:bodyPr wrap="square" lIns="0" tIns="0" rIns="0" bIns="0" rtlCol="0" anchor="ctr"/>
          <a:lstStyle/>
          <a:p>
            <a:pPr algn="ctr" indent="0" marL="0">
              <a:lnSpc>
                <a:spcPct val="110000"/>
              </a:lnSpc>
              <a:buNone/>
            </a:pPr>
            <a:r>
              <a:rPr lang="en-US" sz="1200" b="1" dirty="0">
                <a:solidFill>
                  <a:srgbClr val="1A1A1A"/>
                </a:solidFill>
                <a:latin typeface="Calibri" pitchFamily="34" charset="0"/>
                <a:ea typeface="Calibri" pitchFamily="34" charset="-122"/>
                <a:cs typeface="Calibri" pitchFamily="34" charset="-120"/>
              </a:rPr>
              <a:t>bmv2 pipeline</a:t>
            </a:r>
            <a:endParaRPr lang="en-US" sz="1200" dirty="0"/>
          </a:p>
          <a:p>
            <a:pPr algn="ctr" indent="0" marL="0">
              <a:lnSpc>
                <a:spcPct val="110000"/>
              </a:lnSpc>
              <a:buNone/>
            </a:pPr>
            <a:r>
              <a:rPr lang="en-US" sz="950" dirty="0">
                <a:solidFill>
                  <a:srgbClr val="4F4F4F"/>
                </a:solidFill>
                <a:latin typeface="Calibri" pitchFamily="34" charset="0"/>
                <a:ea typeface="Calibri" pitchFamily="34" charset="-122"/>
                <a:cs typeface="Calibri" pitchFamily="34" charset="-120"/>
              </a:rPr>
              <a:t>1-in-256 clone to CPU</a:t>
            </a:r>
            <a:endParaRPr lang="en-US" sz="1200" dirty="0"/>
          </a:p>
        </p:txBody>
      </p:sp>
      <p:sp>
        <p:nvSpPr>
          <p:cNvPr id="17" name="Shape 15"/>
          <p:cNvSpPr/>
          <p:nvPr/>
        </p:nvSpPr>
        <p:spPr>
          <a:xfrm>
            <a:off x="9249156" y="2706624"/>
            <a:ext cx="9144" cy="310896"/>
          </a:xfrm>
          <a:prstGeom prst="line">
            <a:avLst/>
          </a:prstGeom>
          <a:noFill/>
          <a:ln w="19050">
            <a:solidFill>
              <a:srgbClr val="B4BEC4"/>
            </a:solidFill>
            <a:prstDash val="solid"/>
            <a:tailEnd type="triangle"/>
          </a:ln>
        </p:spPr>
      </p:sp>
      <p:sp>
        <p:nvSpPr>
          <p:cNvPr id="18" name="Shape 16"/>
          <p:cNvSpPr/>
          <p:nvPr/>
        </p:nvSpPr>
        <p:spPr>
          <a:xfrm>
            <a:off x="7086600" y="3017520"/>
            <a:ext cx="4325112" cy="566928"/>
          </a:xfrm>
          <a:prstGeom prst="rect">
            <a:avLst/>
          </a:prstGeom>
          <a:solidFill>
            <a:srgbClr val="FFFFFF"/>
          </a:solidFill>
          <a:ln w="12700">
            <a:solidFill>
              <a:srgbClr val="D0D0D0"/>
            </a:solidFill>
            <a:prstDash val="solid"/>
          </a:ln>
        </p:spPr>
      </p:sp>
      <p:sp>
        <p:nvSpPr>
          <p:cNvPr id="19" name="Text 17"/>
          <p:cNvSpPr/>
          <p:nvPr/>
        </p:nvSpPr>
        <p:spPr>
          <a:xfrm>
            <a:off x="7159752" y="3017520"/>
            <a:ext cx="4178808" cy="566928"/>
          </a:xfrm>
          <a:prstGeom prst="rect">
            <a:avLst/>
          </a:prstGeom>
          <a:noFill/>
          <a:ln/>
        </p:spPr>
        <p:txBody>
          <a:bodyPr wrap="square" lIns="0" tIns="0" rIns="0" bIns="0" rtlCol="0" anchor="ctr"/>
          <a:lstStyle/>
          <a:p>
            <a:pPr algn="ctr" indent="0" marL="0">
              <a:lnSpc>
                <a:spcPct val="110000"/>
              </a:lnSpc>
              <a:buNone/>
            </a:pPr>
            <a:r>
              <a:rPr lang="en-US" sz="1200" b="1" dirty="0">
                <a:solidFill>
                  <a:srgbClr val="1A1A1A"/>
                </a:solidFill>
                <a:latin typeface="Calibri" pitchFamily="34" charset="0"/>
                <a:ea typeface="Calibri" pitchFamily="34" charset="-122"/>
                <a:cs typeface="Calibri" pitchFamily="34" charset="-120"/>
              </a:rPr>
              <a:t>PRE clone session 250</a:t>
            </a:r>
            <a:endParaRPr lang="en-US" sz="1200" dirty="0"/>
          </a:p>
          <a:p>
            <a:pPr algn="ctr" indent="0" marL="0">
              <a:lnSpc>
                <a:spcPct val="110000"/>
              </a:lnSpc>
              <a:buNone/>
            </a:pPr>
            <a:r>
              <a:rPr lang="en-US" sz="950" dirty="0">
                <a:solidFill>
                  <a:srgbClr val="4F4F4F"/>
                </a:solidFill>
                <a:latin typeface="Calibri" pitchFamily="34" charset="0"/>
                <a:ea typeface="Calibri" pitchFamily="34" charset="-122"/>
                <a:cs typeface="Calibri" pitchFamily="34" charset="-120"/>
              </a:rPr>
              <a:t>programmed over P4Runtime</a:t>
            </a:r>
            <a:endParaRPr lang="en-US" sz="1200" dirty="0"/>
          </a:p>
        </p:txBody>
      </p:sp>
      <p:sp>
        <p:nvSpPr>
          <p:cNvPr id="20" name="Shape 18"/>
          <p:cNvSpPr/>
          <p:nvPr/>
        </p:nvSpPr>
        <p:spPr>
          <a:xfrm>
            <a:off x="9249156" y="3584448"/>
            <a:ext cx="9144" cy="310896"/>
          </a:xfrm>
          <a:prstGeom prst="line">
            <a:avLst/>
          </a:prstGeom>
          <a:noFill/>
          <a:ln w="19050">
            <a:solidFill>
              <a:srgbClr val="B4BEC4"/>
            </a:solidFill>
            <a:prstDash val="solid"/>
            <a:tailEnd type="triangle"/>
          </a:ln>
        </p:spPr>
      </p:sp>
      <p:sp>
        <p:nvSpPr>
          <p:cNvPr id="21" name="Shape 19"/>
          <p:cNvSpPr/>
          <p:nvPr/>
        </p:nvSpPr>
        <p:spPr>
          <a:xfrm>
            <a:off x="7086600" y="3895344"/>
            <a:ext cx="4325112" cy="566928"/>
          </a:xfrm>
          <a:prstGeom prst="rect">
            <a:avLst/>
          </a:prstGeom>
          <a:solidFill>
            <a:srgbClr val="FFFFFF"/>
          </a:solidFill>
          <a:ln w="12700">
            <a:solidFill>
              <a:srgbClr val="D0D0D0"/>
            </a:solidFill>
            <a:prstDash val="solid"/>
          </a:ln>
        </p:spPr>
      </p:sp>
      <p:sp>
        <p:nvSpPr>
          <p:cNvPr id="22" name="Text 20"/>
          <p:cNvSpPr/>
          <p:nvPr/>
        </p:nvSpPr>
        <p:spPr>
          <a:xfrm>
            <a:off x="7159752" y="3895344"/>
            <a:ext cx="4178808" cy="566928"/>
          </a:xfrm>
          <a:prstGeom prst="rect">
            <a:avLst/>
          </a:prstGeom>
          <a:noFill/>
          <a:ln/>
        </p:spPr>
        <p:txBody>
          <a:bodyPr wrap="square" lIns="0" tIns="0" rIns="0" bIns="0" rtlCol="0" anchor="ctr"/>
          <a:lstStyle/>
          <a:p>
            <a:pPr algn="ctr" indent="0" marL="0">
              <a:lnSpc>
                <a:spcPct val="110000"/>
              </a:lnSpc>
              <a:buNone/>
            </a:pPr>
            <a:r>
              <a:rPr lang="en-US" sz="1200" b="1" dirty="0">
                <a:solidFill>
                  <a:srgbClr val="1A1A1A"/>
                </a:solidFill>
                <a:latin typeface="Calibri" pitchFamily="34" charset="0"/>
                <a:ea typeface="Calibri" pitchFamily="34" charset="-122"/>
                <a:cs typeface="Calibri" pitchFamily="34" charset="-120"/>
              </a:rPr>
              <a:t>packet_in</a:t>
            </a:r>
            <a:endParaRPr lang="en-US" sz="1200" dirty="0"/>
          </a:p>
          <a:p>
            <a:pPr algn="ctr" indent="0" marL="0">
              <a:lnSpc>
                <a:spcPct val="110000"/>
              </a:lnSpc>
              <a:buNone/>
            </a:pPr>
            <a:r>
              <a:rPr lang="en-US" sz="950" dirty="0">
                <a:solidFill>
                  <a:srgbClr val="4F4F4F"/>
                </a:solidFill>
                <a:latin typeface="Calibri" pitchFamily="34" charset="0"/>
                <a:ea typeface="Calibri" pitchFamily="34" charset="-122"/>
                <a:cs typeface="Calibri" pitchFamily="34" charset="-120"/>
              </a:rPr>
              <a:t>split on reason</a:t>
            </a:r>
            <a:endParaRPr lang="en-US" sz="1200" dirty="0"/>
          </a:p>
        </p:txBody>
      </p:sp>
      <p:sp>
        <p:nvSpPr>
          <p:cNvPr id="23" name="Shape 21"/>
          <p:cNvSpPr/>
          <p:nvPr/>
        </p:nvSpPr>
        <p:spPr>
          <a:xfrm>
            <a:off x="9249156" y="4462272"/>
            <a:ext cx="9144" cy="310896"/>
          </a:xfrm>
          <a:prstGeom prst="line">
            <a:avLst/>
          </a:prstGeom>
          <a:noFill/>
          <a:ln w="19050">
            <a:solidFill>
              <a:srgbClr val="B4BEC4"/>
            </a:solidFill>
            <a:prstDash val="solid"/>
            <a:tailEnd type="triangle"/>
          </a:ln>
        </p:spPr>
      </p:sp>
      <p:sp>
        <p:nvSpPr>
          <p:cNvPr id="24" name="Shape 22"/>
          <p:cNvSpPr/>
          <p:nvPr/>
        </p:nvSpPr>
        <p:spPr>
          <a:xfrm>
            <a:off x="7086600" y="4773168"/>
            <a:ext cx="2071116" cy="566928"/>
          </a:xfrm>
          <a:prstGeom prst="rect">
            <a:avLst/>
          </a:prstGeom>
          <a:solidFill>
            <a:srgbClr val="EEF3F6"/>
          </a:solidFill>
          <a:ln w="12700">
            <a:solidFill>
              <a:srgbClr val="065A82"/>
            </a:solidFill>
            <a:prstDash val="solid"/>
          </a:ln>
        </p:spPr>
      </p:sp>
      <p:sp>
        <p:nvSpPr>
          <p:cNvPr id="25" name="Text 23"/>
          <p:cNvSpPr/>
          <p:nvPr/>
        </p:nvSpPr>
        <p:spPr>
          <a:xfrm>
            <a:off x="7159752" y="4773168"/>
            <a:ext cx="1924812" cy="566928"/>
          </a:xfrm>
          <a:prstGeom prst="rect">
            <a:avLst/>
          </a:prstGeom>
          <a:noFill/>
          <a:ln/>
        </p:spPr>
        <p:txBody>
          <a:bodyPr wrap="square" lIns="0" tIns="0" rIns="0" bIns="0" rtlCol="0" anchor="ctr"/>
          <a:lstStyle/>
          <a:p>
            <a:pPr algn="ctr" indent="0" marL="0">
              <a:lnSpc>
                <a:spcPct val="110000"/>
              </a:lnSpc>
              <a:buNone/>
            </a:pPr>
            <a:r>
              <a:rPr lang="en-US" sz="1150" b="1" dirty="0">
                <a:solidFill>
                  <a:srgbClr val="065A82"/>
                </a:solidFill>
                <a:latin typeface="Calibri" pitchFamily="34" charset="0"/>
                <a:ea typeface="Calibri" pitchFamily="34" charset="-122"/>
                <a:cs typeface="Calibri" pitchFamily="34" charset="-120"/>
              </a:rPr>
              <a:t>Telemetry</a:t>
            </a:r>
            <a:endParaRPr lang="en-US" sz="1150" dirty="0"/>
          </a:p>
          <a:p>
            <a:pPr algn="ctr" indent="0" marL="0">
              <a:lnSpc>
                <a:spcPct val="110000"/>
              </a:lnSpc>
              <a:buNone/>
            </a:pPr>
            <a:r>
              <a:rPr lang="en-US" sz="900" dirty="0">
                <a:solidFill>
                  <a:srgbClr val="065A82"/>
                </a:solidFill>
                <a:latin typeface="Calibri" pitchFamily="34" charset="0"/>
                <a:ea typeface="Calibri" pitchFamily="34" charset="-122"/>
                <a:cs typeface="Calibri" pitchFamily="34" charset="-120"/>
              </a:rPr>
              <a:t>→ sFlow emitter</a:t>
            </a:r>
            <a:endParaRPr lang="en-US" sz="1150" dirty="0"/>
          </a:p>
        </p:txBody>
      </p:sp>
      <p:sp>
        <p:nvSpPr>
          <p:cNvPr id="26" name="Shape 24"/>
          <p:cNvSpPr/>
          <p:nvPr/>
        </p:nvSpPr>
        <p:spPr>
          <a:xfrm>
            <a:off x="9340596" y="4773168"/>
            <a:ext cx="2071116" cy="566928"/>
          </a:xfrm>
          <a:prstGeom prst="rect">
            <a:avLst/>
          </a:prstGeom>
          <a:solidFill>
            <a:srgbClr val="FFFFFF"/>
          </a:solidFill>
          <a:ln w="12700">
            <a:solidFill>
              <a:srgbClr val="D0D0D0"/>
            </a:solidFill>
            <a:prstDash val="solid"/>
          </a:ln>
        </p:spPr>
      </p:sp>
      <p:sp>
        <p:nvSpPr>
          <p:cNvPr id="27" name="Text 25"/>
          <p:cNvSpPr/>
          <p:nvPr/>
        </p:nvSpPr>
        <p:spPr>
          <a:xfrm>
            <a:off x="9413748" y="4773168"/>
            <a:ext cx="1924812" cy="566928"/>
          </a:xfrm>
          <a:prstGeom prst="rect">
            <a:avLst/>
          </a:prstGeom>
          <a:noFill/>
          <a:ln/>
        </p:spPr>
        <p:txBody>
          <a:bodyPr wrap="square" lIns="0" tIns="0" rIns="0" bIns="0" rtlCol="0" anchor="ctr"/>
          <a:lstStyle/>
          <a:p>
            <a:pPr algn="ctr" indent="0" marL="0">
              <a:lnSpc>
                <a:spcPct val="110000"/>
              </a:lnSpc>
              <a:buNone/>
            </a:pPr>
            <a:r>
              <a:rPr lang="en-US" sz="1150" b="1" dirty="0">
                <a:solidFill>
                  <a:srgbClr val="1A1A1A"/>
                </a:solidFill>
                <a:latin typeface="Calibri" pitchFamily="34" charset="0"/>
                <a:ea typeface="Calibri" pitchFamily="34" charset="-122"/>
                <a:cs typeface="Calibri" pitchFamily="34" charset="-120"/>
              </a:rPr>
              <a:t>LLDP</a:t>
            </a:r>
            <a:endParaRPr lang="en-US" sz="1150" dirty="0"/>
          </a:p>
          <a:p>
            <a:pPr algn="ctr" indent="0" marL="0">
              <a:lnSpc>
                <a:spcPct val="110000"/>
              </a:lnSpc>
              <a:buNone/>
            </a:pPr>
            <a:r>
              <a:rPr lang="en-US" sz="900" dirty="0">
                <a:solidFill>
                  <a:srgbClr val="4F4F4F"/>
                </a:solidFill>
                <a:latin typeface="Calibri" pitchFamily="34" charset="0"/>
                <a:ea typeface="Calibri" pitchFamily="34" charset="-122"/>
                <a:cs typeface="Calibri" pitchFamily="34" charset="-120"/>
              </a:rPr>
              <a:t>→ discovery</a:t>
            </a:r>
            <a:endParaRPr lang="en-US" sz="1150" dirty="0"/>
          </a:p>
        </p:txBody>
      </p:sp>
      <p:sp>
        <p:nvSpPr>
          <p:cNvPr id="28" name="Text 26"/>
          <p:cNvSpPr/>
          <p:nvPr/>
        </p:nvSpPr>
        <p:spPr>
          <a:xfrm>
            <a:off x="7086600" y="5614416"/>
            <a:ext cx="4325112" cy="731520"/>
          </a:xfrm>
          <a:prstGeom prst="rect">
            <a:avLst/>
          </a:prstGeom>
          <a:noFill/>
          <a:ln/>
        </p:spPr>
        <p:txBody>
          <a:bodyPr wrap="square" lIns="0" tIns="0" rIns="0" bIns="0" rtlCol="0" anchor="ctr"/>
          <a:lstStyle/>
          <a:p>
            <a:pPr indent="0" marL="0">
              <a:lnSpc>
                <a:spcPct val="120000"/>
              </a:lnSpc>
              <a:buNone/>
            </a:pPr>
            <a:r>
              <a:rPr lang="en-US" sz="1100" dirty="0">
                <a:solidFill>
                  <a:srgbClr val="4F4F4F"/>
                </a:solidFill>
                <a:latin typeface="Calibri" pitchFamily="34" charset="0"/>
                <a:ea typeface="Calibri" pitchFamily="34" charset="-122"/>
                <a:cs typeface="Calibri" pitchFamily="34" charset="-120"/>
              </a:rPr>
              <a:t>Verified on ten live bmv2 switches: 2,700 packets over ten hops produced 107 samples against a model prediction of 105.</a:t>
            </a:r>
            <a:endParaRPr lang="en-US" sz="1100" dirty="0"/>
          </a:p>
        </p:txBody>
      </p:sp>
      <p:sp>
        <p:nvSpPr>
          <p:cNvPr id="29" name="Text 27"/>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56032"/>
            <a:ext cx="5486400" cy="237744"/>
          </a:xfrm>
          <a:prstGeom prst="rect">
            <a:avLst/>
          </a:prstGeom>
          <a:noFill/>
          <a:ln/>
        </p:spPr>
        <p:txBody>
          <a:bodyPr wrap="square" lIns="0" tIns="0" rIns="0" bIns="0" rtlCol="0" anchor="ctr"/>
          <a:lstStyle/>
          <a:p>
            <a:pPr indent="0" marL="0">
              <a:buNone/>
            </a:pPr>
            <a:r>
              <a:rPr lang="en-US" sz="1050" b="1" spc="100" kern="0" dirty="0">
                <a:solidFill>
                  <a:srgbClr val="065A82"/>
                </a:solidFill>
                <a:latin typeface="Calibri" pitchFamily="34" charset="0"/>
                <a:ea typeface="Calibri" pitchFamily="34" charset="-122"/>
                <a:cs typeface="Calibri" pitchFamily="34" charset="-120"/>
              </a:rPr>
              <a:t>1 · NEW CAPABILITIES</a:t>
            </a:r>
            <a:endParaRPr lang="en-US" sz="1050" dirty="0"/>
          </a:p>
        </p:txBody>
      </p:sp>
      <p:sp>
        <p:nvSpPr>
          <p:cNvPr id="3" name="Text 1"/>
          <p:cNvSpPr/>
          <p:nvPr/>
        </p:nvSpPr>
        <p:spPr>
          <a:xfrm>
            <a:off x="411480" y="457200"/>
            <a:ext cx="10515600" cy="310896"/>
          </a:xfrm>
          <a:prstGeom prst="rect">
            <a:avLst/>
          </a:prstGeom>
          <a:noFill/>
          <a:ln/>
        </p:spPr>
        <p:txBody>
          <a:bodyPr wrap="square" lIns="0" tIns="0" rIns="0" bIns="0" rtlCol="0" anchor="ctr"/>
          <a:lstStyle/>
          <a:p>
            <a:pPr algn="l" indent="0" marL="0">
              <a:lnSpc>
                <a:spcPct val="95000"/>
              </a:lnSpc>
              <a:buNone/>
            </a:pPr>
            <a:r>
              <a:rPr lang="en-US" sz="1500" b="1" dirty="0">
                <a:solidFill>
                  <a:srgbClr val="000000"/>
                </a:solidFill>
                <a:latin typeface="Arial" pitchFamily="34" charset="0"/>
                <a:ea typeface="Arial" pitchFamily="34" charset="-122"/>
                <a:cs typeface="Arial" pitchFamily="34" charset="-120"/>
              </a:rPr>
              <a:t>Liveness: how the twin decides a bmv2 switch is alive</a:t>
            </a:r>
            <a:endParaRPr lang="en-US" sz="1500" dirty="0"/>
          </a:p>
        </p:txBody>
      </p:sp>
      <p:sp>
        <p:nvSpPr>
          <p:cNvPr id="4" name="Text 2"/>
          <p:cNvSpPr/>
          <p:nvPr/>
        </p:nvSpPr>
        <p:spPr>
          <a:xfrm>
            <a:off x="411480" y="768096"/>
            <a:ext cx="10972800" cy="237744"/>
          </a:xfrm>
          <a:prstGeom prst="rect">
            <a:avLst/>
          </a:prstGeom>
          <a:noFill/>
          <a:ln/>
        </p:spPr>
        <p:txBody>
          <a:bodyPr wrap="square" lIns="0" tIns="0" rIns="0" bIns="0" rtlCol="0" anchor="ctr"/>
          <a:lstStyle/>
          <a:p>
            <a:pPr algn="l" indent="0" marL="0">
              <a:lnSpc>
                <a:spcPct val="95000"/>
              </a:lnSpc>
              <a:buNone/>
            </a:pPr>
            <a:r>
              <a:rPr lang="en-US" sz="950" dirty="0">
                <a:solidFill>
                  <a:srgbClr val="4F4F4F"/>
                </a:solidFill>
                <a:latin typeface="Arial" pitchFamily="34" charset="0"/>
                <a:ea typeface="Arial" pitchFamily="34" charset="-122"/>
                <a:cs typeface="Arial" pitchFamily="34" charset="-120"/>
              </a:rPr>
              <a:t>Two independent kinds of evidence, and a verdict that is allowed to come back “cannot tell”</a:t>
            </a:r>
            <a:endParaRPr lang="en-US" sz="950" dirty="0"/>
          </a:p>
        </p:txBody>
      </p:sp>
      <p:sp>
        <p:nvSpPr>
          <p:cNvPr id="5" name="Text 3"/>
          <p:cNvSpPr/>
          <p:nvPr/>
        </p:nvSpPr>
        <p:spPr>
          <a:xfrm>
            <a:off x="777240" y="1024128"/>
            <a:ext cx="4572000" cy="182880"/>
          </a:xfrm>
          <a:prstGeom prst="rect">
            <a:avLst/>
          </a:prstGeom>
          <a:noFill/>
          <a:ln/>
        </p:spPr>
        <p:txBody>
          <a:bodyPr wrap="square" lIns="0" tIns="0" rIns="0" bIns="0" rtlCol="0" anchor="ctr"/>
          <a:lstStyle/>
          <a:p>
            <a:pPr algn="l" indent="0" marL="0">
              <a:lnSpc>
                <a:spcPct val="95000"/>
              </a:lnSpc>
              <a:buNone/>
            </a:pPr>
            <a:r>
              <a:rPr lang="en-US" sz="750" b="1" dirty="0">
                <a:solidFill>
                  <a:srgbClr val="065A82"/>
                </a:solidFill>
                <a:latin typeface="Arial" pitchFamily="34" charset="0"/>
                <a:ea typeface="Arial" pitchFamily="34" charset="-122"/>
                <a:cs typeface="Arial" pitchFamily="34" charset="-120"/>
              </a:rPr>
              <a:t>GATHERED BY THE PROXY</a:t>
            </a:r>
            <a:endParaRPr lang="en-US" sz="750" dirty="0"/>
          </a:p>
        </p:txBody>
      </p:sp>
      <p:sp>
        <p:nvSpPr>
          <p:cNvPr id="6" name="Shape 4"/>
          <p:cNvSpPr/>
          <p:nvPr/>
        </p:nvSpPr>
        <p:spPr>
          <a:xfrm>
            <a:off x="777240" y="1225296"/>
            <a:ext cx="4206240" cy="566928"/>
          </a:xfrm>
          <a:prstGeom prst="rect">
            <a:avLst/>
          </a:prstGeom>
          <a:solidFill>
            <a:srgbClr val="EEF3F6"/>
          </a:solidFill>
          <a:ln w="15875">
            <a:solidFill>
              <a:srgbClr val="065A82"/>
            </a:solidFill>
            <a:prstDash val="solid"/>
          </a:ln>
        </p:spPr>
      </p:sp>
      <p:sp>
        <p:nvSpPr>
          <p:cNvPr id="7" name="Text 5"/>
          <p:cNvSpPr/>
          <p:nvPr/>
        </p:nvSpPr>
        <p:spPr>
          <a:xfrm>
            <a:off x="905256" y="1271016"/>
            <a:ext cx="3950208" cy="260787"/>
          </a:xfrm>
          <a:prstGeom prst="rect">
            <a:avLst/>
          </a:prstGeom>
          <a:noFill/>
          <a:ln/>
        </p:spPr>
        <p:txBody>
          <a:bodyPr wrap="square" lIns="0" tIns="0" rIns="0" bIns="0" rtlCol="0" anchor="ctr"/>
          <a:lstStyle/>
          <a:p>
            <a:pPr algn="l" indent="0" marL="0">
              <a:lnSpc>
                <a:spcPct val="95000"/>
              </a:lnSpc>
              <a:buNone/>
            </a:pPr>
            <a:r>
              <a:rPr lang="en-US" sz="950" b="1" dirty="0">
                <a:solidFill>
                  <a:srgbClr val="065A82"/>
                </a:solidFill>
                <a:latin typeface="Courier New" pitchFamily="34" charset="0"/>
                <a:ea typeface="Courier New" pitchFamily="34" charset="-122"/>
                <a:cs typeface="Courier New" pitchFamily="34" charset="-120"/>
              </a:rPr>
              <a:t>p4_client.probe()  — every 2 s</a:t>
            </a:r>
            <a:endParaRPr lang="en-US" sz="950" dirty="0"/>
          </a:p>
        </p:txBody>
      </p:sp>
      <p:sp>
        <p:nvSpPr>
          <p:cNvPr id="8" name="Text 6"/>
          <p:cNvSpPr/>
          <p:nvPr/>
        </p:nvSpPr>
        <p:spPr>
          <a:xfrm>
            <a:off x="905256" y="1486083"/>
            <a:ext cx="3950208" cy="265176"/>
          </a:xfrm>
          <a:prstGeom prst="rect">
            <a:avLst/>
          </a:prstGeom>
          <a:noFill/>
          <a:ln/>
        </p:spPr>
        <p:txBody>
          <a:bodyPr wrap="square" lIns="0" tIns="0" rIns="0" bIns="0" rtlCol="0" anchor="t"/>
          <a:lstStyle/>
          <a:p>
            <a:pPr algn="l" indent="0" marL="0">
              <a:lnSpc>
                <a:spcPct val="94000"/>
              </a:lnSpc>
              <a:buNone/>
            </a:pPr>
            <a:r>
              <a:rPr lang="en-US" sz="750" dirty="0">
                <a:solidFill>
                  <a:srgbClr val="4F4F4F"/>
                </a:solidFill>
                <a:latin typeface="Arial" pitchFamily="34" charset="0"/>
                <a:ea typeface="Arial" pitchFamily="34" charset="-122"/>
                <a:cs typeface="Arial" pitchFamily="34" charset="-120"/>
              </a:rPr>
              <a:t>GetForwardingPipelineConfig with COOKIE_ONLY: the cheapest request P4Runtime has,</a:t>
            </a:r>
            <a:endParaRPr lang="en-US" sz="750" dirty="0"/>
          </a:p>
          <a:p>
            <a:pPr algn="l" indent="0" marL="0">
              <a:lnSpc>
                <a:spcPct val="94000"/>
              </a:lnSpc>
              <a:buNone/>
            </a:pPr>
            <a:r>
              <a:rPr lang="en-US" sz="750" dirty="0">
                <a:solidFill>
                  <a:srgbClr val="4F4F4F"/>
                </a:solidFill>
                <a:latin typeface="Arial" pitchFamily="34" charset="0"/>
                <a:ea typeface="Arial" pitchFamily="34" charset="-122"/>
                <a:cs typeface="Arial" pitchFamily="34" charset="-120"/>
              </a:rPr>
              <a:t>and a real answer from the switch.   →  probe_ok, probe_age_s</a:t>
            </a:r>
            <a:endParaRPr lang="en-US" sz="750" dirty="0"/>
          </a:p>
        </p:txBody>
      </p:sp>
      <p:sp>
        <p:nvSpPr>
          <p:cNvPr id="9" name="Shape 7"/>
          <p:cNvSpPr/>
          <p:nvPr/>
        </p:nvSpPr>
        <p:spPr>
          <a:xfrm>
            <a:off x="5532120" y="1225296"/>
            <a:ext cx="4206240" cy="566928"/>
          </a:xfrm>
          <a:prstGeom prst="rect">
            <a:avLst/>
          </a:prstGeom>
          <a:solidFill>
            <a:srgbClr val="EEF3F6"/>
          </a:solidFill>
          <a:ln w="15875">
            <a:solidFill>
              <a:srgbClr val="065A82"/>
            </a:solidFill>
            <a:prstDash val="solid"/>
          </a:ln>
        </p:spPr>
      </p:sp>
      <p:sp>
        <p:nvSpPr>
          <p:cNvPr id="10" name="Text 8"/>
          <p:cNvSpPr/>
          <p:nvPr/>
        </p:nvSpPr>
        <p:spPr>
          <a:xfrm>
            <a:off x="5660136" y="1271016"/>
            <a:ext cx="3950208" cy="260787"/>
          </a:xfrm>
          <a:prstGeom prst="rect">
            <a:avLst/>
          </a:prstGeom>
          <a:noFill/>
          <a:ln/>
        </p:spPr>
        <p:txBody>
          <a:bodyPr wrap="square" lIns="0" tIns="0" rIns="0" bIns="0" rtlCol="0" anchor="ctr"/>
          <a:lstStyle/>
          <a:p>
            <a:pPr algn="l" indent="0" marL="0">
              <a:lnSpc>
                <a:spcPct val="95000"/>
              </a:lnSpc>
              <a:buNone/>
            </a:pPr>
            <a:r>
              <a:rPr lang="en-US" sz="950" b="1" dirty="0">
                <a:solidFill>
                  <a:srgbClr val="065A82"/>
                </a:solidFill>
                <a:latin typeface="Courier New" pitchFamily="34" charset="0"/>
                <a:ea typeface="Courier New" pitchFamily="34" charset="-122"/>
                <a:cs typeface="Courier New" pitchFamily="34" charset="-120"/>
              </a:rPr>
              <a:t>an LLDP beacon arrives</a:t>
            </a:r>
            <a:endParaRPr lang="en-US" sz="950" dirty="0"/>
          </a:p>
        </p:txBody>
      </p:sp>
      <p:sp>
        <p:nvSpPr>
          <p:cNvPr id="11" name="Text 9"/>
          <p:cNvSpPr/>
          <p:nvPr/>
        </p:nvSpPr>
        <p:spPr>
          <a:xfrm>
            <a:off x="5660136" y="1486083"/>
            <a:ext cx="3950208" cy="265176"/>
          </a:xfrm>
          <a:prstGeom prst="rect">
            <a:avLst/>
          </a:prstGeom>
          <a:noFill/>
          <a:ln/>
        </p:spPr>
        <p:txBody>
          <a:bodyPr wrap="square" lIns="0" tIns="0" rIns="0" bIns="0" rtlCol="0" anchor="t"/>
          <a:lstStyle/>
          <a:p>
            <a:pPr algn="l" indent="0" marL="0">
              <a:lnSpc>
                <a:spcPct val="94000"/>
              </a:lnSpc>
              <a:buNone/>
            </a:pPr>
            <a:r>
              <a:rPr lang="en-US" sz="750" dirty="0">
                <a:solidFill>
                  <a:srgbClr val="4F4F4F"/>
                </a:solidFill>
                <a:latin typeface="Arial" pitchFamily="34" charset="0"/>
                <a:ea typeface="Arial" pitchFamily="34" charset="-122"/>
                <a:cs typeface="Arial" pitchFamily="34" charset="-120"/>
              </a:rPr>
              <a:t>packet_in with reason = LLDP, recorded unconditionally rather than</a:t>
            </a:r>
            <a:endParaRPr lang="en-US" sz="750" dirty="0"/>
          </a:p>
          <a:p>
            <a:pPr algn="l" indent="0" marL="0">
              <a:lnSpc>
                <a:spcPct val="94000"/>
              </a:lnSpc>
              <a:buNone/>
            </a:pPr>
            <a:r>
              <a:rPr lang="en-US" sz="750" dirty="0">
                <a:solidFill>
                  <a:srgbClr val="4F4F4F"/>
                </a:solidFill>
                <a:latin typeface="Arial" pitchFamily="34" charset="0"/>
                <a:ea typeface="Arial" pitchFamily="34" charset="-122"/>
                <a:cs typeface="Arial" pitchFamily="34" charset="-120"/>
              </a:rPr>
              <a:t>only when the edge is new.   →  last_lldp_age_s</a:t>
            </a:r>
            <a:endParaRPr lang="en-US" sz="750" dirty="0"/>
          </a:p>
        </p:txBody>
      </p:sp>
      <p:sp>
        <p:nvSpPr>
          <p:cNvPr id="12" name="Shape 10"/>
          <p:cNvSpPr/>
          <p:nvPr/>
        </p:nvSpPr>
        <p:spPr>
          <a:xfrm>
            <a:off x="2880360" y="1792224"/>
            <a:ext cx="7315" cy="182880"/>
          </a:xfrm>
          <a:prstGeom prst="line">
            <a:avLst/>
          </a:prstGeom>
          <a:noFill/>
          <a:ln w="13970">
            <a:solidFill>
              <a:srgbClr val="000000"/>
            </a:solidFill>
            <a:prstDash val="solid"/>
          </a:ln>
        </p:spPr>
      </p:sp>
      <p:sp>
        <p:nvSpPr>
          <p:cNvPr id="13" name="Shape 11"/>
          <p:cNvSpPr/>
          <p:nvPr/>
        </p:nvSpPr>
        <p:spPr>
          <a:xfrm>
            <a:off x="7635240" y="1792224"/>
            <a:ext cx="7315" cy="182880"/>
          </a:xfrm>
          <a:prstGeom prst="line">
            <a:avLst/>
          </a:prstGeom>
          <a:noFill/>
          <a:ln w="13970">
            <a:solidFill>
              <a:srgbClr val="000000"/>
            </a:solidFill>
            <a:prstDash val="solid"/>
          </a:ln>
        </p:spPr>
      </p:sp>
      <p:sp>
        <p:nvSpPr>
          <p:cNvPr id="14" name="Shape 12"/>
          <p:cNvSpPr/>
          <p:nvPr/>
        </p:nvSpPr>
        <p:spPr>
          <a:xfrm>
            <a:off x="2880360" y="1975104"/>
            <a:ext cx="4754880" cy="7315"/>
          </a:xfrm>
          <a:prstGeom prst="line">
            <a:avLst/>
          </a:prstGeom>
          <a:noFill/>
          <a:ln w="13970">
            <a:solidFill>
              <a:srgbClr val="000000"/>
            </a:solidFill>
            <a:prstDash val="solid"/>
          </a:ln>
        </p:spPr>
      </p:sp>
      <p:sp>
        <p:nvSpPr>
          <p:cNvPr id="15" name="Shape 13"/>
          <p:cNvSpPr/>
          <p:nvPr/>
        </p:nvSpPr>
        <p:spPr>
          <a:xfrm>
            <a:off x="5257800" y="1975104"/>
            <a:ext cx="7315" cy="201168"/>
          </a:xfrm>
          <a:prstGeom prst="line">
            <a:avLst/>
          </a:prstGeom>
          <a:noFill/>
          <a:ln w="13970">
            <a:solidFill>
              <a:srgbClr val="000000"/>
            </a:solidFill>
            <a:prstDash val="solid"/>
            <a:tailEnd type="triangle"/>
          </a:ln>
        </p:spPr>
      </p:sp>
      <p:sp>
        <p:nvSpPr>
          <p:cNvPr id="16" name="Shape 14"/>
          <p:cNvSpPr/>
          <p:nvPr/>
        </p:nvSpPr>
        <p:spPr>
          <a:xfrm>
            <a:off x="3017520" y="2176272"/>
            <a:ext cx="4480560" cy="347472"/>
          </a:xfrm>
          <a:prstGeom prst="rect">
            <a:avLst/>
          </a:prstGeom>
          <a:solidFill>
            <a:srgbClr val="EEF3F6"/>
          </a:solidFill>
          <a:ln w="15875">
            <a:solidFill>
              <a:srgbClr val="065A82"/>
            </a:solidFill>
            <a:prstDash val="solid"/>
          </a:ln>
        </p:spPr>
      </p:sp>
      <p:sp>
        <p:nvSpPr>
          <p:cNvPr id="17" name="Text 15"/>
          <p:cNvSpPr/>
          <p:nvPr/>
        </p:nvSpPr>
        <p:spPr>
          <a:xfrm>
            <a:off x="3145536" y="2176272"/>
            <a:ext cx="4224528" cy="347472"/>
          </a:xfrm>
          <a:prstGeom prst="rect">
            <a:avLst/>
          </a:prstGeom>
          <a:noFill/>
          <a:ln/>
        </p:spPr>
        <p:txBody>
          <a:bodyPr wrap="square" lIns="0" tIns="0" rIns="0" bIns="0" rtlCol="0" anchor="ctr"/>
          <a:lstStyle/>
          <a:p>
            <a:pPr algn="ctr" indent="0" marL="0">
              <a:lnSpc>
                <a:spcPct val="95000"/>
              </a:lnSpc>
              <a:buNone/>
            </a:pPr>
            <a:r>
              <a:rPr lang="en-US" sz="950" b="1" dirty="0">
                <a:solidFill>
                  <a:srgbClr val="065A82"/>
                </a:solidFill>
                <a:latin typeface="Courier New" pitchFamily="34" charset="0"/>
                <a:ea typeface="Courier New" pitchFamily="34" charset="-122"/>
                <a:cs typeface="Courier New" pitchFamily="34" charset="-120"/>
              </a:rPr>
              <a:t>GET /p4/switch_state   —   evidence, not a verdict</a:t>
            </a:r>
            <a:endParaRPr lang="en-US" sz="950" dirty="0"/>
          </a:p>
        </p:txBody>
      </p:sp>
      <p:sp>
        <p:nvSpPr>
          <p:cNvPr id="18" name="Shape 16"/>
          <p:cNvSpPr/>
          <p:nvPr/>
        </p:nvSpPr>
        <p:spPr>
          <a:xfrm>
            <a:off x="5257800" y="2523744"/>
            <a:ext cx="7315" cy="237744"/>
          </a:xfrm>
          <a:prstGeom prst="line">
            <a:avLst/>
          </a:prstGeom>
          <a:noFill/>
          <a:ln w="13970">
            <a:solidFill>
              <a:srgbClr val="000000"/>
            </a:solidFill>
            <a:prstDash val="solid"/>
            <a:tailEnd type="triangle"/>
          </a:ln>
        </p:spPr>
      </p:sp>
      <p:sp>
        <p:nvSpPr>
          <p:cNvPr id="19" name="Text 17"/>
          <p:cNvSpPr/>
          <p:nvPr/>
        </p:nvSpPr>
        <p:spPr>
          <a:xfrm>
            <a:off x="5413248" y="2523744"/>
            <a:ext cx="4023360" cy="219456"/>
          </a:xfrm>
          <a:prstGeom prst="rect">
            <a:avLst/>
          </a:prstGeom>
          <a:noFill/>
          <a:ln/>
        </p:spPr>
        <p:txBody>
          <a:bodyPr wrap="square" lIns="0" tIns="0" rIns="0" bIns="0" rtlCol="0" anchor="ctr"/>
          <a:lstStyle/>
          <a:p>
            <a:pPr algn="l" indent="0" marL="0">
              <a:lnSpc>
                <a:spcPct val="95000"/>
              </a:lnSpc>
              <a:buNone/>
            </a:pPr>
            <a:r>
              <a:rPr lang="en-US" sz="750" dirty="0">
                <a:solidFill>
                  <a:srgbClr val="4F4F4F"/>
                </a:solidFill>
                <a:latin typeface="Arial" pitchFamily="34" charset="0"/>
                <a:ea typeface="Arial" pitchFamily="34" charset="-122"/>
                <a:cs typeface="Arial" pitchFamily="34" charset="-120"/>
              </a:rPr>
              <a:t>the kernel polls this and decides — nothing above this line changes</a:t>
            </a:r>
            <a:endParaRPr lang="en-US" sz="750" dirty="0"/>
          </a:p>
        </p:txBody>
      </p:sp>
      <p:sp>
        <p:nvSpPr>
          <p:cNvPr id="20" name="Shape 18"/>
          <p:cNvSpPr/>
          <p:nvPr/>
        </p:nvSpPr>
        <p:spPr>
          <a:xfrm>
            <a:off x="411480" y="2761488"/>
            <a:ext cx="11457432" cy="0"/>
          </a:xfrm>
          <a:prstGeom prst="line">
            <a:avLst/>
          </a:prstGeom>
          <a:noFill/>
          <a:ln w="12700">
            <a:solidFill>
              <a:srgbClr val="808080"/>
            </a:solidFill>
            <a:prstDash val="dash"/>
          </a:ln>
        </p:spPr>
      </p:sp>
      <p:sp>
        <p:nvSpPr>
          <p:cNvPr id="21" name="Text 19"/>
          <p:cNvSpPr/>
          <p:nvPr/>
        </p:nvSpPr>
        <p:spPr>
          <a:xfrm>
            <a:off x="7589520" y="2816352"/>
            <a:ext cx="3840480" cy="182880"/>
          </a:xfrm>
          <a:prstGeom prst="rect">
            <a:avLst/>
          </a:prstGeom>
          <a:noFill/>
          <a:ln/>
        </p:spPr>
        <p:txBody>
          <a:bodyPr wrap="square" lIns="0" tIns="0" rIns="0" bIns="0" rtlCol="0" anchor="ctr"/>
          <a:lstStyle/>
          <a:p>
            <a:pPr algn="r" indent="0" marL="0">
              <a:lnSpc>
                <a:spcPct val="95000"/>
              </a:lnSpc>
              <a:buNone/>
            </a:pPr>
            <a:r>
              <a:rPr lang="en-US" sz="750" b="1" dirty="0">
                <a:solidFill>
                  <a:srgbClr val="000000"/>
                </a:solidFill>
                <a:latin typeface="Arial" pitchFamily="34" charset="0"/>
                <a:ea typeface="Arial" pitchFamily="34" charset="-122"/>
                <a:cs typeface="Arial" pitchFamily="34" charset="-120"/>
              </a:rPr>
              <a:t>DECIDED BY THE KERNEL</a:t>
            </a:r>
            <a:endParaRPr lang="en-US" sz="750" dirty="0"/>
          </a:p>
        </p:txBody>
      </p:sp>
      <p:sp>
        <p:nvSpPr>
          <p:cNvPr id="22" name="Shape 20"/>
          <p:cNvSpPr/>
          <p:nvPr/>
        </p:nvSpPr>
        <p:spPr>
          <a:xfrm>
            <a:off x="1417320" y="3017520"/>
            <a:ext cx="3931920" cy="493776"/>
          </a:xfrm>
          <a:prstGeom prst="rect">
            <a:avLst/>
          </a:prstGeom>
          <a:solidFill>
            <a:srgbClr val="F7F8F9"/>
          </a:solidFill>
          <a:ln w="15875">
            <a:solidFill>
              <a:srgbClr val="000000"/>
            </a:solidFill>
            <a:prstDash val="solid"/>
          </a:ln>
        </p:spPr>
      </p:sp>
      <p:sp>
        <p:nvSpPr>
          <p:cNvPr id="23" name="Text 21"/>
          <p:cNvSpPr/>
          <p:nvPr/>
        </p:nvSpPr>
        <p:spPr>
          <a:xfrm>
            <a:off x="1545336" y="3054096"/>
            <a:ext cx="3675888" cy="256764"/>
          </a:xfrm>
          <a:prstGeom prst="rect">
            <a:avLst/>
          </a:prstGeom>
          <a:noFill/>
          <a:ln/>
        </p:spPr>
        <p:txBody>
          <a:bodyPr wrap="square" lIns="0" tIns="0" rIns="0" bIns="0" rtlCol="0" anchor="ctr"/>
          <a:lstStyle/>
          <a:p>
            <a:pPr algn="l" indent="0" marL="0">
              <a:lnSpc>
                <a:spcPct val="95000"/>
              </a:lnSpc>
              <a:buNone/>
            </a:pPr>
            <a:r>
              <a:rPr lang="en-US" sz="950" b="1" dirty="0">
                <a:solidFill>
                  <a:srgbClr val="000000"/>
                </a:solidFill>
                <a:latin typeface="Courier New" pitchFamily="34" charset="0"/>
                <a:ea typeface="Courier New" pitchFamily="34" charset="-122"/>
                <a:cs typeface="Courier New" pitchFamily="34" charset="-120"/>
              </a:rPr>
              <a:t>probe_ok  is absent or not a boolean</a:t>
            </a:r>
            <a:endParaRPr lang="en-US" sz="950" dirty="0"/>
          </a:p>
        </p:txBody>
      </p:sp>
      <p:sp>
        <p:nvSpPr>
          <p:cNvPr id="24" name="Text 22"/>
          <p:cNvSpPr/>
          <p:nvPr/>
        </p:nvSpPr>
        <p:spPr>
          <a:xfrm>
            <a:off x="1545336" y="3274284"/>
            <a:ext cx="3675888" cy="217261"/>
          </a:xfrm>
          <a:prstGeom prst="rect">
            <a:avLst/>
          </a:prstGeom>
          <a:noFill/>
          <a:ln/>
        </p:spPr>
        <p:txBody>
          <a:bodyPr wrap="square" lIns="0" tIns="0" rIns="0" bIns="0" rtlCol="0" anchor="t"/>
          <a:lstStyle/>
          <a:p>
            <a:pPr algn="l" indent="0" marL="0">
              <a:lnSpc>
                <a:spcPct val="94000"/>
              </a:lnSpc>
              <a:buNone/>
            </a:pPr>
            <a:r>
              <a:rPr lang="en-US" sz="800" dirty="0">
                <a:solidFill>
                  <a:srgbClr val="4F4F4F"/>
                </a:solidFill>
                <a:latin typeface="Arial" pitchFamily="34" charset="0"/>
                <a:ea typeface="Arial" pitchFamily="34" charset="-122"/>
                <a:cs typeface="Arial" pitchFamily="34" charset="-120"/>
              </a:rPr>
              <a:t>no probe of this switch has completed yet</a:t>
            </a:r>
            <a:endParaRPr lang="en-US" sz="800" dirty="0"/>
          </a:p>
        </p:txBody>
      </p:sp>
      <p:sp>
        <p:nvSpPr>
          <p:cNvPr id="25" name="Shape 23"/>
          <p:cNvSpPr/>
          <p:nvPr/>
        </p:nvSpPr>
        <p:spPr>
          <a:xfrm>
            <a:off x="5349240" y="3264408"/>
            <a:ext cx="1554480" cy="7315"/>
          </a:xfrm>
          <a:prstGeom prst="line">
            <a:avLst/>
          </a:prstGeom>
          <a:noFill/>
          <a:ln w="13970">
            <a:solidFill>
              <a:srgbClr val="000000"/>
            </a:solidFill>
            <a:prstDash val="solid"/>
            <a:tailEnd type="triangle"/>
          </a:ln>
        </p:spPr>
      </p:sp>
      <p:sp>
        <p:nvSpPr>
          <p:cNvPr id="26" name="Text 24"/>
          <p:cNvSpPr/>
          <p:nvPr/>
        </p:nvSpPr>
        <p:spPr>
          <a:xfrm>
            <a:off x="5440680" y="3063240"/>
            <a:ext cx="384048" cy="146304"/>
          </a:xfrm>
          <a:prstGeom prst="rect">
            <a:avLst/>
          </a:prstGeom>
          <a:noFill/>
          <a:ln/>
        </p:spPr>
        <p:txBody>
          <a:bodyPr wrap="square" lIns="0" tIns="0" rIns="0" bIns="0" rtlCol="0" anchor="ctr"/>
          <a:lstStyle/>
          <a:p>
            <a:pPr algn="l" indent="0" marL="0">
              <a:lnSpc>
                <a:spcPct val="95000"/>
              </a:lnSpc>
              <a:buNone/>
            </a:pPr>
            <a:r>
              <a:rPr lang="en-US" sz="750" dirty="0">
                <a:solidFill>
                  <a:srgbClr val="4F4F4F"/>
                </a:solidFill>
                <a:latin typeface="Arial" pitchFamily="34" charset="0"/>
                <a:ea typeface="Arial" pitchFamily="34" charset="-122"/>
                <a:cs typeface="Arial" pitchFamily="34" charset="-120"/>
              </a:rPr>
              <a:t>yes</a:t>
            </a:r>
            <a:endParaRPr lang="en-US" sz="750" dirty="0"/>
          </a:p>
        </p:txBody>
      </p:sp>
      <p:sp>
        <p:nvSpPr>
          <p:cNvPr id="27" name="Shape 25"/>
          <p:cNvSpPr/>
          <p:nvPr/>
        </p:nvSpPr>
        <p:spPr>
          <a:xfrm>
            <a:off x="6903720" y="3081528"/>
            <a:ext cx="2011680" cy="365760"/>
          </a:xfrm>
          <a:prstGeom prst="rect">
            <a:avLst/>
          </a:prstGeom>
          <a:solidFill>
            <a:srgbClr val="FFFFFF"/>
          </a:solidFill>
          <a:ln w="13970">
            <a:solidFill>
              <a:srgbClr val="4F4F4F"/>
            </a:solidFill>
            <a:prstDash val="solid"/>
          </a:ln>
        </p:spPr>
      </p:sp>
      <p:sp>
        <p:nvSpPr>
          <p:cNvPr id="28" name="Text 26"/>
          <p:cNvSpPr/>
          <p:nvPr/>
        </p:nvSpPr>
        <p:spPr>
          <a:xfrm>
            <a:off x="6903720" y="3081528"/>
            <a:ext cx="2011680" cy="365760"/>
          </a:xfrm>
          <a:prstGeom prst="rect">
            <a:avLst/>
          </a:prstGeom>
          <a:noFill/>
          <a:ln/>
        </p:spPr>
        <p:txBody>
          <a:bodyPr wrap="square" lIns="0" tIns="0" rIns="0" bIns="0" rtlCol="0" anchor="ctr"/>
          <a:lstStyle/>
          <a:p>
            <a:pPr algn="ctr" indent="0" marL="0">
              <a:lnSpc>
                <a:spcPct val="95000"/>
              </a:lnSpc>
              <a:buNone/>
            </a:pPr>
            <a:r>
              <a:rPr lang="en-US" sz="1050" b="1" dirty="0">
                <a:solidFill>
                  <a:srgbClr val="4F4F4F"/>
                </a:solidFill>
                <a:latin typeface="Arial" pitchFamily="34" charset="0"/>
                <a:ea typeface="Arial" pitchFamily="34" charset="-122"/>
                <a:cs typeface="Arial" pitchFamily="34" charset="-120"/>
              </a:rPr>
              <a:t>UNKNOWN</a:t>
            </a:r>
            <a:endParaRPr lang="en-US" sz="1050" dirty="0"/>
          </a:p>
        </p:txBody>
      </p:sp>
      <p:sp>
        <p:nvSpPr>
          <p:cNvPr id="29" name="Text 27"/>
          <p:cNvSpPr/>
          <p:nvPr/>
        </p:nvSpPr>
        <p:spPr>
          <a:xfrm>
            <a:off x="9189720" y="2953512"/>
            <a:ext cx="2240280" cy="621792"/>
          </a:xfrm>
          <a:prstGeom prst="rect">
            <a:avLst/>
          </a:prstGeom>
          <a:noFill/>
          <a:ln/>
        </p:spPr>
        <p:txBody>
          <a:bodyPr wrap="square" lIns="0" tIns="0" rIns="0" bIns="0" rtlCol="0" anchor="ctr"/>
          <a:lstStyle/>
          <a:p>
            <a:pPr algn="l" indent="0" marL="0">
              <a:lnSpc>
                <a:spcPct val="94000"/>
              </a:lnSpc>
              <a:buNone/>
            </a:pPr>
            <a:r>
              <a:rPr lang="en-US" sz="750" dirty="0">
                <a:solidFill>
                  <a:srgbClr val="4F4F4F"/>
                </a:solidFill>
                <a:latin typeface="Arial" pitchFamily="34" charset="0"/>
                <a:ea typeface="Arial" pitchFamily="34" charset="-122"/>
                <a:cs typeface="Arial" pitchFamily="34" charset="-120"/>
              </a:rPr>
              <a:t>Reporting Down here would mark the whole fabric dead for the first seconds of every run.</a:t>
            </a:r>
            <a:endParaRPr lang="en-US" sz="750" dirty="0"/>
          </a:p>
        </p:txBody>
      </p:sp>
      <p:sp>
        <p:nvSpPr>
          <p:cNvPr id="30" name="Shape 28"/>
          <p:cNvSpPr/>
          <p:nvPr/>
        </p:nvSpPr>
        <p:spPr>
          <a:xfrm>
            <a:off x="3383280" y="3511296"/>
            <a:ext cx="7315" cy="219456"/>
          </a:xfrm>
          <a:prstGeom prst="line">
            <a:avLst/>
          </a:prstGeom>
          <a:noFill/>
          <a:ln w="13970">
            <a:solidFill>
              <a:srgbClr val="000000"/>
            </a:solidFill>
            <a:prstDash val="solid"/>
            <a:tailEnd type="triangle"/>
          </a:ln>
        </p:spPr>
      </p:sp>
      <p:sp>
        <p:nvSpPr>
          <p:cNvPr id="31" name="Text 29"/>
          <p:cNvSpPr/>
          <p:nvPr/>
        </p:nvSpPr>
        <p:spPr>
          <a:xfrm>
            <a:off x="3456432" y="3529584"/>
            <a:ext cx="384048" cy="146304"/>
          </a:xfrm>
          <a:prstGeom prst="rect">
            <a:avLst/>
          </a:prstGeom>
          <a:noFill/>
          <a:ln/>
        </p:spPr>
        <p:txBody>
          <a:bodyPr wrap="square" lIns="0" tIns="0" rIns="0" bIns="0" rtlCol="0" anchor="ctr"/>
          <a:lstStyle/>
          <a:p>
            <a:pPr algn="l" indent="0" marL="0">
              <a:lnSpc>
                <a:spcPct val="95000"/>
              </a:lnSpc>
              <a:buNone/>
            </a:pPr>
            <a:r>
              <a:rPr lang="en-US" sz="750" dirty="0">
                <a:solidFill>
                  <a:srgbClr val="4F4F4F"/>
                </a:solidFill>
                <a:latin typeface="Arial" pitchFamily="34" charset="0"/>
                <a:ea typeface="Arial" pitchFamily="34" charset="-122"/>
                <a:cs typeface="Arial" pitchFamily="34" charset="-120"/>
              </a:rPr>
              <a:t>no</a:t>
            </a:r>
            <a:endParaRPr lang="en-US" sz="750" dirty="0"/>
          </a:p>
        </p:txBody>
      </p:sp>
      <p:sp>
        <p:nvSpPr>
          <p:cNvPr id="32" name="Shape 30"/>
          <p:cNvSpPr/>
          <p:nvPr/>
        </p:nvSpPr>
        <p:spPr>
          <a:xfrm>
            <a:off x="1417320" y="3730752"/>
            <a:ext cx="3931920" cy="493776"/>
          </a:xfrm>
          <a:prstGeom prst="rect">
            <a:avLst/>
          </a:prstGeom>
          <a:solidFill>
            <a:srgbClr val="F7F8F9"/>
          </a:solidFill>
          <a:ln w="15875">
            <a:solidFill>
              <a:srgbClr val="000000"/>
            </a:solidFill>
            <a:prstDash val="solid"/>
          </a:ln>
        </p:spPr>
      </p:sp>
      <p:sp>
        <p:nvSpPr>
          <p:cNvPr id="33" name="Text 31"/>
          <p:cNvSpPr/>
          <p:nvPr/>
        </p:nvSpPr>
        <p:spPr>
          <a:xfrm>
            <a:off x="1545336" y="3767328"/>
            <a:ext cx="3675888" cy="256764"/>
          </a:xfrm>
          <a:prstGeom prst="rect">
            <a:avLst/>
          </a:prstGeom>
          <a:noFill/>
          <a:ln/>
        </p:spPr>
        <p:txBody>
          <a:bodyPr wrap="square" lIns="0" tIns="0" rIns="0" bIns="0" rtlCol="0" anchor="ctr"/>
          <a:lstStyle/>
          <a:p>
            <a:pPr algn="l" indent="0" marL="0">
              <a:lnSpc>
                <a:spcPct val="95000"/>
              </a:lnSpc>
              <a:buNone/>
            </a:pPr>
            <a:r>
              <a:rPr lang="en-US" sz="950" b="1" dirty="0">
                <a:solidFill>
                  <a:srgbClr val="000000"/>
                </a:solidFill>
                <a:latin typeface="Courier New" pitchFamily="34" charset="0"/>
                <a:ea typeface="Courier New" pitchFamily="34" charset="-122"/>
                <a:cs typeface="Courier New" pitchFamily="34" charset="-120"/>
              </a:rPr>
              <a:t>probe_ok == true</a:t>
            </a:r>
            <a:endParaRPr lang="en-US" sz="950" dirty="0"/>
          </a:p>
        </p:txBody>
      </p:sp>
      <p:sp>
        <p:nvSpPr>
          <p:cNvPr id="34" name="Text 32"/>
          <p:cNvSpPr/>
          <p:nvPr/>
        </p:nvSpPr>
        <p:spPr>
          <a:xfrm>
            <a:off x="1545336" y="3987516"/>
            <a:ext cx="3675888" cy="217261"/>
          </a:xfrm>
          <a:prstGeom prst="rect">
            <a:avLst/>
          </a:prstGeom>
          <a:noFill/>
          <a:ln/>
        </p:spPr>
        <p:txBody>
          <a:bodyPr wrap="square" lIns="0" tIns="0" rIns="0" bIns="0" rtlCol="0" anchor="t"/>
          <a:lstStyle/>
          <a:p>
            <a:pPr algn="l" indent="0" marL="0">
              <a:lnSpc>
                <a:spcPct val="94000"/>
              </a:lnSpc>
              <a:buNone/>
            </a:pPr>
            <a:r>
              <a:rPr lang="en-US" sz="800" dirty="0">
                <a:solidFill>
                  <a:srgbClr val="4F4F4F"/>
                </a:solidFill>
                <a:latin typeface="Arial" pitchFamily="34" charset="0"/>
                <a:ea typeface="Arial" pitchFamily="34" charset="-122"/>
                <a:cs typeface="Arial" pitchFamily="34" charset="-120"/>
              </a:rPr>
              <a:t>an RPC was round-tripped</a:t>
            </a:r>
            <a:endParaRPr lang="en-US" sz="800" dirty="0"/>
          </a:p>
        </p:txBody>
      </p:sp>
      <p:sp>
        <p:nvSpPr>
          <p:cNvPr id="35" name="Shape 33"/>
          <p:cNvSpPr/>
          <p:nvPr/>
        </p:nvSpPr>
        <p:spPr>
          <a:xfrm>
            <a:off x="5349240" y="3977640"/>
            <a:ext cx="1554480" cy="7315"/>
          </a:xfrm>
          <a:prstGeom prst="line">
            <a:avLst/>
          </a:prstGeom>
          <a:noFill/>
          <a:ln w="13970">
            <a:solidFill>
              <a:srgbClr val="000000"/>
            </a:solidFill>
            <a:prstDash val="solid"/>
            <a:tailEnd type="triangle"/>
          </a:ln>
        </p:spPr>
      </p:sp>
      <p:sp>
        <p:nvSpPr>
          <p:cNvPr id="36" name="Text 34"/>
          <p:cNvSpPr/>
          <p:nvPr/>
        </p:nvSpPr>
        <p:spPr>
          <a:xfrm>
            <a:off x="5440680" y="3776472"/>
            <a:ext cx="384048" cy="146304"/>
          </a:xfrm>
          <a:prstGeom prst="rect">
            <a:avLst/>
          </a:prstGeom>
          <a:noFill/>
          <a:ln/>
        </p:spPr>
        <p:txBody>
          <a:bodyPr wrap="square" lIns="0" tIns="0" rIns="0" bIns="0" rtlCol="0" anchor="ctr"/>
          <a:lstStyle/>
          <a:p>
            <a:pPr algn="l" indent="0" marL="0">
              <a:lnSpc>
                <a:spcPct val="95000"/>
              </a:lnSpc>
              <a:buNone/>
            </a:pPr>
            <a:r>
              <a:rPr lang="en-US" sz="750" dirty="0">
                <a:solidFill>
                  <a:srgbClr val="4F4F4F"/>
                </a:solidFill>
                <a:latin typeface="Arial" pitchFamily="34" charset="0"/>
                <a:ea typeface="Arial" pitchFamily="34" charset="-122"/>
                <a:cs typeface="Arial" pitchFamily="34" charset="-120"/>
              </a:rPr>
              <a:t>yes</a:t>
            </a:r>
            <a:endParaRPr lang="en-US" sz="750" dirty="0"/>
          </a:p>
        </p:txBody>
      </p:sp>
      <p:sp>
        <p:nvSpPr>
          <p:cNvPr id="37" name="Shape 35"/>
          <p:cNvSpPr/>
          <p:nvPr/>
        </p:nvSpPr>
        <p:spPr>
          <a:xfrm>
            <a:off x="6903720" y="3794760"/>
            <a:ext cx="2011680" cy="365760"/>
          </a:xfrm>
          <a:prstGeom prst="rect">
            <a:avLst/>
          </a:prstGeom>
          <a:solidFill>
            <a:srgbClr val="EEF3F6"/>
          </a:solidFill>
          <a:ln w="20320">
            <a:solidFill>
              <a:srgbClr val="065A82"/>
            </a:solidFill>
            <a:prstDash val="solid"/>
          </a:ln>
        </p:spPr>
      </p:sp>
      <p:sp>
        <p:nvSpPr>
          <p:cNvPr id="38" name="Text 36"/>
          <p:cNvSpPr/>
          <p:nvPr/>
        </p:nvSpPr>
        <p:spPr>
          <a:xfrm>
            <a:off x="6903720" y="3794760"/>
            <a:ext cx="2011680" cy="365760"/>
          </a:xfrm>
          <a:prstGeom prst="rect">
            <a:avLst/>
          </a:prstGeom>
          <a:noFill/>
          <a:ln/>
        </p:spPr>
        <p:txBody>
          <a:bodyPr wrap="square" lIns="0" tIns="0" rIns="0" bIns="0" rtlCol="0" anchor="ctr"/>
          <a:lstStyle/>
          <a:p>
            <a:pPr algn="ctr" indent="0" marL="0">
              <a:lnSpc>
                <a:spcPct val="95000"/>
              </a:lnSpc>
              <a:buNone/>
            </a:pPr>
            <a:r>
              <a:rPr lang="en-US" sz="1050" b="1" dirty="0">
                <a:solidFill>
                  <a:srgbClr val="065A82"/>
                </a:solidFill>
                <a:latin typeface="Arial" pitchFamily="34" charset="0"/>
                <a:ea typeface="Arial" pitchFamily="34" charset="-122"/>
                <a:cs typeface="Arial" pitchFamily="34" charset="-120"/>
              </a:rPr>
              <a:t>UP</a:t>
            </a:r>
            <a:endParaRPr lang="en-US" sz="1050" dirty="0"/>
          </a:p>
        </p:txBody>
      </p:sp>
      <p:sp>
        <p:nvSpPr>
          <p:cNvPr id="39" name="Text 37"/>
          <p:cNvSpPr/>
          <p:nvPr/>
        </p:nvSpPr>
        <p:spPr>
          <a:xfrm>
            <a:off x="9189720" y="3666744"/>
            <a:ext cx="2240280" cy="621792"/>
          </a:xfrm>
          <a:prstGeom prst="rect">
            <a:avLst/>
          </a:prstGeom>
          <a:noFill/>
          <a:ln/>
        </p:spPr>
        <p:txBody>
          <a:bodyPr wrap="square" lIns="0" tIns="0" rIns="0" bIns="0" rtlCol="0" anchor="ctr"/>
          <a:lstStyle/>
          <a:p>
            <a:pPr algn="l" indent="0" marL="0">
              <a:lnSpc>
                <a:spcPct val="94000"/>
              </a:lnSpc>
              <a:buNone/>
            </a:pPr>
            <a:r>
              <a:rPr lang="en-US" sz="750" dirty="0">
                <a:solidFill>
                  <a:srgbClr val="4F4F4F"/>
                </a:solidFill>
                <a:latin typeface="Arial" pitchFamily="34" charset="0"/>
                <a:ea typeface="Arial" pitchFamily="34" charset="-122"/>
                <a:cs typeface="Arial" pitchFamily="34" charset="-120"/>
              </a:rPr>
              <a:t>The only signal that proves a bmv2 process is serving. gRPC channel state was rejected: it sits in IDLE until something forces a connection.</a:t>
            </a:r>
            <a:endParaRPr lang="en-US" sz="750" dirty="0"/>
          </a:p>
        </p:txBody>
      </p:sp>
      <p:sp>
        <p:nvSpPr>
          <p:cNvPr id="40" name="Shape 38"/>
          <p:cNvSpPr/>
          <p:nvPr/>
        </p:nvSpPr>
        <p:spPr>
          <a:xfrm>
            <a:off x="3383280" y="4224528"/>
            <a:ext cx="7315" cy="219456"/>
          </a:xfrm>
          <a:prstGeom prst="line">
            <a:avLst/>
          </a:prstGeom>
          <a:noFill/>
          <a:ln w="13970">
            <a:solidFill>
              <a:srgbClr val="000000"/>
            </a:solidFill>
            <a:prstDash val="solid"/>
            <a:tailEnd type="triangle"/>
          </a:ln>
        </p:spPr>
      </p:sp>
      <p:sp>
        <p:nvSpPr>
          <p:cNvPr id="41" name="Text 39"/>
          <p:cNvSpPr/>
          <p:nvPr/>
        </p:nvSpPr>
        <p:spPr>
          <a:xfrm>
            <a:off x="3456432" y="4242816"/>
            <a:ext cx="384048" cy="146304"/>
          </a:xfrm>
          <a:prstGeom prst="rect">
            <a:avLst/>
          </a:prstGeom>
          <a:noFill/>
          <a:ln/>
        </p:spPr>
        <p:txBody>
          <a:bodyPr wrap="square" lIns="0" tIns="0" rIns="0" bIns="0" rtlCol="0" anchor="ctr"/>
          <a:lstStyle/>
          <a:p>
            <a:pPr algn="l" indent="0" marL="0">
              <a:lnSpc>
                <a:spcPct val="95000"/>
              </a:lnSpc>
              <a:buNone/>
            </a:pPr>
            <a:r>
              <a:rPr lang="en-US" sz="750" dirty="0">
                <a:solidFill>
                  <a:srgbClr val="4F4F4F"/>
                </a:solidFill>
                <a:latin typeface="Arial" pitchFamily="34" charset="0"/>
                <a:ea typeface="Arial" pitchFamily="34" charset="-122"/>
                <a:cs typeface="Arial" pitchFamily="34" charset="-120"/>
              </a:rPr>
              <a:t>no</a:t>
            </a:r>
            <a:endParaRPr lang="en-US" sz="750" dirty="0"/>
          </a:p>
        </p:txBody>
      </p:sp>
      <p:sp>
        <p:nvSpPr>
          <p:cNvPr id="42" name="Shape 40"/>
          <p:cNvSpPr/>
          <p:nvPr/>
        </p:nvSpPr>
        <p:spPr>
          <a:xfrm>
            <a:off x="1417320" y="4443984"/>
            <a:ext cx="3931920" cy="493776"/>
          </a:xfrm>
          <a:prstGeom prst="rect">
            <a:avLst/>
          </a:prstGeom>
          <a:solidFill>
            <a:srgbClr val="F7F8F9"/>
          </a:solidFill>
          <a:ln w="15875">
            <a:solidFill>
              <a:srgbClr val="000000"/>
            </a:solidFill>
            <a:prstDash val="solid"/>
          </a:ln>
        </p:spPr>
      </p:sp>
      <p:sp>
        <p:nvSpPr>
          <p:cNvPr id="43" name="Text 41"/>
          <p:cNvSpPr/>
          <p:nvPr/>
        </p:nvSpPr>
        <p:spPr>
          <a:xfrm>
            <a:off x="1545336" y="4480560"/>
            <a:ext cx="3675888" cy="256764"/>
          </a:xfrm>
          <a:prstGeom prst="rect">
            <a:avLst/>
          </a:prstGeom>
          <a:noFill/>
          <a:ln/>
        </p:spPr>
        <p:txBody>
          <a:bodyPr wrap="square" lIns="0" tIns="0" rIns="0" bIns="0" rtlCol="0" anchor="ctr"/>
          <a:lstStyle/>
          <a:p>
            <a:pPr algn="l" indent="0" marL="0">
              <a:lnSpc>
                <a:spcPct val="95000"/>
              </a:lnSpc>
              <a:buNone/>
            </a:pPr>
            <a:r>
              <a:rPr lang="en-US" sz="950" b="1" dirty="0">
                <a:solidFill>
                  <a:srgbClr val="000000"/>
                </a:solidFill>
                <a:latin typeface="Courier New" pitchFamily="34" charset="0"/>
                <a:ea typeface="Courier New" pitchFamily="34" charset="-122"/>
                <a:cs typeface="Courier New" pitchFamily="34" charset="-120"/>
              </a:rPr>
              <a:t>probe_age_s  &gt;  15 s</a:t>
            </a:r>
            <a:endParaRPr lang="en-US" sz="950" dirty="0"/>
          </a:p>
        </p:txBody>
      </p:sp>
      <p:sp>
        <p:nvSpPr>
          <p:cNvPr id="44" name="Text 42"/>
          <p:cNvSpPr/>
          <p:nvPr/>
        </p:nvSpPr>
        <p:spPr>
          <a:xfrm>
            <a:off x="1545336" y="4700748"/>
            <a:ext cx="3675888" cy="217261"/>
          </a:xfrm>
          <a:prstGeom prst="rect">
            <a:avLst/>
          </a:prstGeom>
          <a:noFill/>
          <a:ln/>
        </p:spPr>
        <p:txBody>
          <a:bodyPr wrap="square" lIns="0" tIns="0" rIns="0" bIns="0" rtlCol="0" anchor="t"/>
          <a:lstStyle/>
          <a:p>
            <a:pPr algn="l" indent="0" marL="0">
              <a:lnSpc>
                <a:spcPct val="94000"/>
              </a:lnSpc>
              <a:buNone/>
            </a:pPr>
            <a:r>
              <a:rPr lang="en-US" sz="800" dirty="0">
                <a:solidFill>
                  <a:srgbClr val="4F4F4F"/>
                </a:solidFill>
                <a:latin typeface="Arial" pitchFamily="34" charset="0"/>
                <a:ea typeface="Arial" pitchFamily="34" charset="-122"/>
                <a:cs typeface="Arial" pitchFamily="34" charset="-120"/>
              </a:rPr>
              <a:t>kProbeStaleSeconds — the last probe result is stale</a:t>
            </a:r>
            <a:endParaRPr lang="en-US" sz="800" dirty="0"/>
          </a:p>
        </p:txBody>
      </p:sp>
      <p:sp>
        <p:nvSpPr>
          <p:cNvPr id="45" name="Shape 43"/>
          <p:cNvSpPr/>
          <p:nvPr/>
        </p:nvSpPr>
        <p:spPr>
          <a:xfrm>
            <a:off x="5349240" y="4690872"/>
            <a:ext cx="1554480" cy="7315"/>
          </a:xfrm>
          <a:prstGeom prst="line">
            <a:avLst/>
          </a:prstGeom>
          <a:noFill/>
          <a:ln w="13970">
            <a:solidFill>
              <a:srgbClr val="000000"/>
            </a:solidFill>
            <a:prstDash val="solid"/>
            <a:tailEnd type="triangle"/>
          </a:ln>
        </p:spPr>
      </p:sp>
      <p:sp>
        <p:nvSpPr>
          <p:cNvPr id="46" name="Text 44"/>
          <p:cNvSpPr/>
          <p:nvPr/>
        </p:nvSpPr>
        <p:spPr>
          <a:xfrm>
            <a:off x="5440680" y="4489704"/>
            <a:ext cx="384048" cy="146304"/>
          </a:xfrm>
          <a:prstGeom prst="rect">
            <a:avLst/>
          </a:prstGeom>
          <a:noFill/>
          <a:ln/>
        </p:spPr>
        <p:txBody>
          <a:bodyPr wrap="square" lIns="0" tIns="0" rIns="0" bIns="0" rtlCol="0" anchor="ctr"/>
          <a:lstStyle/>
          <a:p>
            <a:pPr algn="l" indent="0" marL="0">
              <a:lnSpc>
                <a:spcPct val="95000"/>
              </a:lnSpc>
              <a:buNone/>
            </a:pPr>
            <a:r>
              <a:rPr lang="en-US" sz="750" dirty="0">
                <a:solidFill>
                  <a:srgbClr val="4F4F4F"/>
                </a:solidFill>
                <a:latin typeface="Arial" pitchFamily="34" charset="0"/>
                <a:ea typeface="Arial" pitchFamily="34" charset="-122"/>
                <a:cs typeface="Arial" pitchFamily="34" charset="-120"/>
              </a:rPr>
              <a:t>yes</a:t>
            </a:r>
            <a:endParaRPr lang="en-US" sz="750" dirty="0"/>
          </a:p>
        </p:txBody>
      </p:sp>
      <p:sp>
        <p:nvSpPr>
          <p:cNvPr id="47" name="Shape 45"/>
          <p:cNvSpPr/>
          <p:nvPr/>
        </p:nvSpPr>
        <p:spPr>
          <a:xfrm>
            <a:off x="6903720" y="4507992"/>
            <a:ext cx="2011680" cy="365760"/>
          </a:xfrm>
          <a:prstGeom prst="rect">
            <a:avLst/>
          </a:prstGeom>
          <a:solidFill>
            <a:srgbClr val="FFFFFF"/>
          </a:solidFill>
          <a:ln w="13970">
            <a:solidFill>
              <a:srgbClr val="4F4F4F"/>
            </a:solidFill>
            <a:prstDash val="solid"/>
          </a:ln>
        </p:spPr>
      </p:sp>
      <p:sp>
        <p:nvSpPr>
          <p:cNvPr id="48" name="Text 46"/>
          <p:cNvSpPr/>
          <p:nvPr/>
        </p:nvSpPr>
        <p:spPr>
          <a:xfrm>
            <a:off x="6903720" y="4507992"/>
            <a:ext cx="2011680" cy="365760"/>
          </a:xfrm>
          <a:prstGeom prst="rect">
            <a:avLst/>
          </a:prstGeom>
          <a:noFill/>
          <a:ln/>
        </p:spPr>
        <p:txBody>
          <a:bodyPr wrap="square" lIns="0" tIns="0" rIns="0" bIns="0" rtlCol="0" anchor="ctr"/>
          <a:lstStyle/>
          <a:p>
            <a:pPr algn="ctr" indent="0" marL="0">
              <a:lnSpc>
                <a:spcPct val="95000"/>
              </a:lnSpc>
              <a:buNone/>
            </a:pPr>
            <a:r>
              <a:rPr lang="en-US" sz="1050" b="1" dirty="0">
                <a:solidFill>
                  <a:srgbClr val="4F4F4F"/>
                </a:solidFill>
                <a:latin typeface="Arial" pitchFamily="34" charset="0"/>
                <a:ea typeface="Arial" pitchFamily="34" charset="-122"/>
                <a:cs typeface="Arial" pitchFamily="34" charset="-120"/>
              </a:rPr>
              <a:t>UNKNOWN</a:t>
            </a:r>
            <a:endParaRPr lang="en-US" sz="1050" dirty="0"/>
          </a:p>
        </p:txBody>
      </p:sp>
      <p:sp>
        <p:nvSpPr>
          <p:cNvPr id="49" name="Text 47"/>
          <p:cNvSpPr/>
          <p:nvPr/>
        </p:nvSpPr>
        <p:spPr>
          <a:xfrm>
            <a:off x="9189720" y="4379976"/>
            <a:ext cx="2240280" cy="621792"/>
          </a:xfrm>
          <a:prstGeom prst="rect">
            <a:avLst/>
          </a:prstGeom>
          <a:noFill/>
          <a:ln/>
        </p:spPr>
        <p:txBody>
          <a:bodyPr wrap="square" lIns="0" tIns="0" rIns="0" bIns="0" rtlCol="0" anchor="ctr"/>
          <a:lstStyle/>
          <a:p>
            <a:pPr algn="l" indent="0" marL="0">
              <a:lnSpc>
                <a:spcPct val="94000"/>
              </a:lnSpc>
              <a:buNone/>
            </a:pPr>
            <a:r>
              <a:rPr lang="en-US" sz="750" dirty="0">
                <a:solidFill>
                  <a:srgbClr val="4F4F4F"/>
                </a:solidFill>
                <a:latin typeface="Arial" pitchFamily="34" charset="0"/>
                <a:ea typeface="Arial" pitchFamily="34" charset="-122"/>
                <a:cs typeface="Arial" pitchFamily="34" charset="-120"/>
              </a:rPr>
              <a:t>The proxy’s poller has stalled. That is a fact about the poller, not about the switch.</a:t>
            </a:r>
            <a:endParaRPr lang="en-US" sz="750" dirty="0"/>
          </a:p>
        </p:txBody>
      </p:sp>
      <p:sp>
        <p:nvSpPr>
          <p:cNvPr id="50" name="Shape 48"/>
          <p:cNvSpPr/>
          <p:nvPr/>
        </p:nvSpPr>
        <p:spPr>
          <a:xfrm>
            <a:off x="3383280" y="4937760"/>
            <a:ext cx="7315" cy="219456"/>
          </a:xfrm>
          <a:prstGeom prst="line">
            <a:avLst/>
          </a:prstGeom>
          <a:noFill/>
          <a:ln w="13970">
            <a:solidFill>
              <a:srgbClr val="000000"/>
            </a:solidFill>
            <a:prstDash val="solid"/>
            <a:tailEnd type="triangle"/>
          </a:ln>
        </p:spPr>
      </p:sp>
      <p:sp>
        <p:nvSpPr>
          <p:cNvPr id="51" name="Text 49"/>
          <p:cNvSpPr/>
          <p:nvPr/>
        </p:nvSpPr>
        <p:spPr>
          <a:xfrm>
            <a:off x="3456432" y="4956048"/>
            <a:ext cx="384048" cy="146304"/>
          </a:xfrm>
          <a:prstGeom prst="rect">
            <a:avLst/>
          </a:prstGeom>
          <a:noFill/>
          <a:ln/>
        </p:spPr>
        <p:txBody>
          <a:bodyPr wrap="square" lIns="0" tIns="0" rIns="0" bIns="0" rtlCol="0" anchor="ctr"/>
          <a:lstStyle/>
          <a:p>
            <a:pPr algn="l" indent="0" marL="0">
              <a:lnSpc>
                <a:spcPct val="95000"/>
              </a:lnSpc>
              <a:buNone/>
            </a:pPr>
            <a:r>
              <a:rPr lang="en-US" sz="750" dirty="0">
                <a:solidFill>
                  <a:srgbClr val="4F4F4F"/>
                </a:solidFill>
                <a:latin typeface="Arial" pitchFamily="34" charset="0"/>
                <a:ea typeface="Arial" pitchFamily="34" charset="-122"/>
                <a:cs typeface="Arial" pitchFamily="34" charset="-120"/>
              </a:rPr>
              <a:t>no</a:t>
            </a:r>
            <a:endParaRPr lang="en-US" sz="750" dirty="0"/>
          </a:p>
        </p:txBody>
      </p:sp>
      <p:sp>
        <p:nvSpPr>
          <p:cNvPr id="52" name="Shape 50"/>
          <p:cNvSpPr/>
          <p:nvPr/>
        </p:nvSpPr>
        <p:spPr>
          <a:xfrm>
            <a:off x="1417320" y="5157216"/>
            <a:ext cx="3931920" cy="493776"/>
          </a:xfrm>
          <a:prstGeom prst="rect">
            <a:avLst/>
          </a:prstGeom>
          <a:solidFill>
            <a:srgbClr val="F7F8F9"/>
          </a:solidFill>
          <a:ln w="15875">
            <a:solidFill>
              <a:srgbClr val="000000"/>
            </a:solidFill>
            <a:prstDash val="solid"/>
          </a:ln>
        </p:spPr>
      </p:sp>
      <p:sp>
        <p:nvSpPr>
          <p:cNvPr id="53" name="Text 51"/>
          <p:cNvSpPr/>
          <p:nvPr/>
        </p:nvSpPr>
        <p:spPr>
          <a:xfrm>
            <a:off x="1545336" y="5193792"/>
            <a:ext cx="3675888" cy="256764"/>
          </a:xfrm>
          <a:prstGeom prst="rect">
            <a:avLst/>
          </a:prstGeom>
          <a:noFill/>
          <a:ln/>
        </p:spPr>
        <p:txBody>
          <a:bodyPr wrap="square" lIns="0" tIns="0" rIns="0" bIns="0" rtlCol="0" anchor="ctr"/>
          <a:lstStyle/>
          <a:p>
            <a:pPr algn="l" indent="0" marL="0">
              <a:lnSpc>
                <a:spcPct val="95000"/>
              </a:lnSpc>
              <a:buNone/>
            </a:pPr>
            <a:r>
              <a:rPr lang="en-US" sz="950" b="1" dirty="0">
                <a:solidFill>
                  <a:srgbClr val="000000"/>
                </a:solidFill>
                <a:latin typeface="Courier New" pitchFamily="34" charset="0"/>
                <a:ea typeface="Courier New" pitchFamily="34" charset="-122"/>
                <a:cs typeface="Courier New" pitchFamily="34" charset="-120"/>
              </a:rPr>
              <a:t>last_lldp_age_s  ≤  12 s</a:t>
            </a:r>
            <a:endParaRPr lang="en-US" sz="950" dirty="0"/>
          </a:p>
        </p:txBody>
      </p:sp>
      <p:sp>
        <p:nvSpPr>
          <p:cNvPr id="54" name="Text 52"/>
          <p:cNvSpPr/>
          <p:nvPr/>
        </p:nvSpPr>
        <p:spPr>
          <a:xfrm>
            <a:off x="1545336" y="5413980"/>
            <a:ext cx="3675888" cy="217261"/>
          </a:xfrm>
          <a:prstGeom prst="rect">
            <a:avLst/>
          </a:prstGeom>
          <a:noFill/>
          <a:ln/>
        </p:spPr>
        <p:txBody>
          <a:bodyPr wrap="square" lIns="0" tIns="0" rIns="0" bIns="0" rtlCol="0" anchor="t"/>
          <a:lstStyle/>
          <a:p>
            <a:pPr algn="l" indent="0" marL="0">
              <a:lnSpc>
                <a:spcPct val="94000"/>
              </a:lnSpc>
              <a:buNone/>
            </a:pPr>
            <a:r>
              <a:rPr lang="en-US" sz="800" dirty="0">
                <a:solidFill>
                  <a:srgbClr val="4F4F4F"/>
                </a:solidFill>
                <a:latin typeface="Arial" pitchFamily="34" charset="0"/>
                <a:ea typeface="Arial" pitchFamily="34" charset="-122"/>
                <a:cs typeface="Arial" pitchFamily="34" charset="-120"/>
              </a:rPr>
              <a:t>kLldpFreshSeconds — a beacon arrived after the probe failed</a:t>
            </a:r>
            <a:endParaRPr lang="en-US" sz="800" dirty="0"/>
          </a:p>
        </p:txBody>
      </p:sp>
      <p:sp>
        <p:nvSpPr>
          <p:cNvPr id="55" name="Shape 53"/>
          <p:cNvSpPr/>
          <p:nvPr/>
        </p:nvSpPr>
        <p:spPr>
          <a:xfrm>
            <a:off x="5349240" y="5404104"/>
            <a:ext cx="1554480" cy="7315"/>
          </a:xfrm>
          <a:prstGeom prst="line">
            <a:avLst/>
          </a:prstGeom>
          <a:noFill/>
          <a:ln w="13970">
            <a:solidFill>
              <a:srgbClr val="000000"/>
            </a:solidFill>
            <a:prstDash val="solid"/>
            <a:tailEnd type="triangle"/>
          </a:ln>
        </p:spPr>
      </p:sp>
      <p:sp>
        <p:nvSpPr>
          <p:cNvPr id="56" name="Text 54"/>
          <p:cNvSpPr/>
          <p:nvPr/>
        </p:nvSpPr>
        <p:spPr>
          <a:xfrm>
            <a:off x="5440680" y="5202936"/>
            <a:ext cx="384048" cy="146304"/>
          </a:xfrm>
          <a:prstGeom prst="rect">
            <a:avLst/>
          </a:prstGeom>
          <a:noFill/>
          <a:ln/>
        </p:spPr>
        <p:txBody>
          <a:bodyPr wrap="square" lIns="0" tIns="0" rIns="0" bIns="0" rtlCol="0" anchor="ctr"/>
          <a:lstStyle/>
          <a:p>
            <a:pPr algn="l" indent="0" marL="0">
              <a:lnSpc>
                <a:spcPct val="95000"/>
              </a:lnSpc>
              <a:buNone/>
            </a:pPr>
            <a:r>
              <a:rPr lang="en-US" sz="750" dirty="0">
                <a:solidFill>
                  <a:srgbClr val="4F4F4F"/>
                </a:solidFill>
                <a:latin typeface="Arial" pitchFamily="34" charset="0"/>
                <a:ea typeface="Arial" pitchFamily="34" charset="-122"/>
                <a:cs typeface="Arial" pitchFamily="34" charset="-120"/>
              </a:rPr>
              <a:t>yes</a:t>
            </a:r>
            <a:endParaRPr lang="en-US" sz="750" dirty="0"/>
          </a:p>
        </p:txBody>
      </p:sp>
      <p:sp>
        <p:nvSpPr>
          <p:cNvPr id="57" name="Shape 55"/>
          <p:cNvSpPr/>
          <p:nvPr/>
        </p:nvSpPr>
        <p:spPr>
          <a:xfrm>
            <a:off x="6903720" y="5221224"/>
            <a:ext cx="2011680" cy="365760"/>
          </a:xfrm>
          <a:prstGeom prst="rect">
            <a:avLst/>
          </a:prstGeom>
          <a:solidFill>
            <a:srgbClr val="FFFFFF"/>
          </a:solidFill>
          <a:ln w="13970">
            <a:solidFill>
              <a:srgbClr val="4F4F4F"/>
            </a:solidFill>
            <a:prstDash val="solid"/>
          </a:ln>
        </p:spPr>
      </p:sp>
      <p:sp>
        <p:nvSpPr>
          <p:cNvPr id="58" name="Text 56"/>
          <p:cNvSpPr/>
          <p:nvPr/>
        </p:nvSpPr>
        <p:spPr>
          <a:xfrm>
            <a:off x="6903720" y="5221224"/>
            <a:ext cx="2011680" cy="365760"/>
          </a:xfrm>
          <a:prstGeom prst="rect">
            <a:avLst/>
          </a:prstGeom>
          <a:noFill/>
          <a:ln/>
        </p:spPr>
        <p:txBody>
          <a:bodyPr wrap="square" lIns="0" tIns="0" rIns="0" bIns="0" rtlCol="0" anchor="ctr"/>
          <a:lstStyle/>
          <a:p>
            <a:pPr algn="ctr" indent="0" marL="0">
              <a:lnSpc>
                <a:spcPct val="95000"/>
              </a:lnSpc>
              <a:buNone/>
            </a:pPr>
            <a:r>
              <a:rPr lang="en-US" sz="1050" b="1" dirty="0">
                <a:solidFill>
                  <a:srgbClr val="4F4F4F"/>
                </a:solidFill>
                <a:latin typeface="Arial" pitchFamily="34" charset="0"/>
                <a:ea typeface="Arial" pitchFamily="34" charset="-122"/>
                <a:cs typeface="Arial" pitchFamily="34" charset="-120"/>
              </a:rPr>
              <a:t>UNKNOWN</a:t>
            </a:r>
            <a:endParaRPr lang="en-US" sz="1050" dirty="0"/>
          </a:p>
        </p:txBody>
      </p:sp>
      <p:sp>
        <p:nvSpPr>
          <p:cNvPr id="59" name="Text 57"/>
          <p:cNvSpPr/>
          <p:nvPr/>
        </p:nvSpPr>
        <p:spPr>
          <a:xfrm>
            <a:off x="9189720" y="5093208"/>
            <a:ext cx="2240280" cy="621792"/>
          </a:xfrm>
          <a:prstGeom prst="rect">
            <a:avLst/>
          </a:prstGeom>
          <a:noFill/>
          <a:ln/>
        </p:spPr>
        <p:txBody>
          <a:bodyPr wrap="square" lIns="0" tIns="0" rIns="0" bIns="0" rtlCol="0" anchor="ctr"/>
          <a:lstStyle/>
          <a:p>
            <a:pPr algn="l" indent="0" marL="0">
              <a:lnSpc>
                <a:spcPct val="94000"/>
              </a:lnSpc>
              <a:buNone/>
            </a:pPr>
            <a:r>
              <a:rPr lang="en-US" sz="750" dirty="0">
                <a:solidFill>
                  <a:srgbClr val="4F4F4F"/>
                </a:solidFill>
                <a:latin typeface="Arial" pitchFamily="34" charset="0"/>
                <a:ea typeface="Arial" pitchFamily="34" charset="-122"/>
                <a:cs typeface="Arial" pitchFamily="34" charset="-120"/>
              </a:rPr>
              <a:t>bmv2 can answer control-plane RPCs while forwarding badly, and a loaded switch can miss one deadline while forwarding well. Fresh beacon against failed probe is a disagreement, not a verdict.</a:t>
            </a:r>
            <a:endParaRPr lang="en-US" sz="750" dirty="0"/>
          </a:p>
        </p:txBody>
      </p:sp>
      <p:sp>
        <p:nvSpPr>
          <p:cNvPr id="60" name="Shape 58"/>
          <p:cNvSpPr/>
          <p:nvPr/>
        </p:nvSpPr>
        <p:spPr>
          <a:xfrm>
            <a:off x="3383280" y="5650992"/>
            <a:ext cx="7315" cy="219456"/>
          </a:xfrm>
          <a:prstGeom prst="line">
            <a:avLst/>
          </a:prstGeom>
          <a:noFill/>
          <a:ln w="13970">
            <a:solidFill>
              <a:srgbClr val="000000"/>
            </a:solidFill>
            <a:prstDash val="solid"/>
            <a:tailEnd type="triangle"/>
          </a:ln>
        </p:spPr>
      </p:sp>
      <p:sp>
        <p:nvSpPr>
          <p:cNvPr id="61" name="Text 59"/>
          <p:cNvSpPr/>
          <p:nvPr/>
        </p:nvSpPr>
        <p:spPr>
          <a:xfrm>
            <a:off x="3456432" y="5669280"/>
            <a:ext cx="384048" cy="146304"/>
          </a:xfrm>
          <a:prstGeom prst="rect">
            <a:avLst/>
          </a:prstGeom>
          <a:noFill/>
          <a:ln/>
        </p:spPr>
        <p:txBody>
          <a:bodyPr wrap="square" lIns="0" tIns="0" rIns="0" bIns="0" rtlCol="0" anchor="ctr"/>
          <a:lstStyle/>
          <a:p>
            <a:pPr algn="l" indent="0" marL="0">
              <a:lnSpc>
                <a:spcPct val="95000"/>
              </a:lnSpc>
              <a:buNone/>
            </a:pPr>
            <a:r>
              <a:rPr lang="en-US" sz="750" dirty="0">
                <a:solidFill>
                  <a:srgbClr val="4F4F4F"/>
                </a:solidFill>
                <a:latin typeface="Arial" pitchFamily="34" charset="0"/>
                <a:ea typeface="Arial" pitchFamily="34" charset="-122"/>
                <a:cs typeface="Arial" pitchFamily="34" charset="-120"/>
              </a:rPr>
              <a:t>no</a:t>
            </a:r>
            <a:endParaRPr lang="en-US" sz="750" dirty="0"/>
          </a:p>
        </p:txBody>
      </p:sp>
      <p:sp>
        <p:nvSpPr>
          <p:cNvPr id="62" name="Shape 60"/>
          <p:cNvSpPr/>
          <p:nvPr/>
        </p:nvSpPr>
        <p:spPr>
          <a:xfrm>
            <a:off x="1417320" y="5870448"/>
            <a:ext cx="3931920" cy="402336"/>
          </a:xfrm>
          <a:prstGeom prst="rect">
            <a:avLst/>
          </a:prstGeom>
          <a:solidFill>
            <a:srgbClr val="FFFFFF"/>
          </a:solidFill>
          <a:ln w="20320">
            <a:solidFill>
              <a:srgbClr val="9C3B2E"/>
            </a:solidFill>
            <a:prstDash val="solid"/>
          </a:ln>
        </p:spPr>
      </p:sp>
      <p:sp>
        <p:nvSpPr>
          <p:cNvPr id="63" name="Text 61"/>
          <p:cNvSpPr/>
          <p:nvPr/>
        </p:nvSpPr>
        <p:spPr>
          <a:xfrm>
            <a:off x="1417320" y="5870448"/>
            <a:ext cx="3931920" cy="402336"/>
          </a:xfrm>
          <a:prstGeom prst="rect">
            <a:avLst/>
          </a:prstGeom>
          <a:noFill/>
          <a:ln/>
        </p:spPr>
        <p:txBody>
          <a:bodyPr wrap="square" lIns="0" tIns="0" rIns="0" bIns="0" rtlCol="0" anchor="ctr"/>
          <a:lstStyle/>
          <a:p>
            <a:pPr algn="ctr" indent="0" marL="0">
              <a:lnSpc>
                <a:spcPct val="95000"/>
              </a:lnSpc>
              <a:buNone/>
            </a:pPr>
            <a:r>
              <a:rPr lang="en-US" sz="1050" b="1" dirty="0">
                <a:solidFill>
                  <a:srgbClr val="9C3B2E"/>
                </a:solidFill>
                <a:latin typeface="Arial" pitchFamily="34" charset="0"/>
                <a:ea typeface="Arial" pitchFamily="34" charset="-122"/>
                <a:cs typeface="Arial" pitchFamily="34" charset="-120"/>
              </a:rPr>
              <a:t>DOWN   —   asked, and nothing else disagreed</a:t>
            </a:r>
            <a:endParaRPr lang="en-US" sz="1050" dirty="0"/>
          </a:p>
        </p:txBody>
      </p:sp>
      <p:sp>
        <p:nvSpPr>
          <p:cNvPr id="64" name="Text 62"/>
          <p:cNvSpPr/>
          <p:nvPr/>
        </p:nvSpPr>
        <p:spPr>
          <a:xfrm>
            <a:off x="9189720" y="5797296"/>
            <a:ext cx="2240280" cy="548640"/>
          </a:xfrm>
          <a:prstGeom prst="rect">
            <a:avLst/>
          </a:prstGeom>
          <a:noFill/>
          <a:ln/>
        </p:spPr>
        <p:txBody>
          <a:bodyPr wrap="square" lIns="0" tIns="0" rIns="0" bIns="0" rtlCol="0" anchor="ctr"/>
          <a:lstStyle/>
          <a:p>
            <a:pPr algn="l" indent="0" marL="0">
              <a:lnSpc>
                <a:spcPct val="94000"/>
              </a:lnSpc>
              <a:buNone/>
            </a:pPr>
            <a:r>
              <a:rPr lang="en-US" sz="750" dirty="0">
                <a:solidFill>
                  <a:srgbClr val="4F4F4F"/>
                </a:solidFill>
                <a:latin typeface="Arial" pitchFamily="34" charset="0"/>
                <a:ea typeface="Arial" pitchFamily="34" charset="-122"/>
                <a:cs typeface="Arial" pitchFamily="34" charset="-120"/>
              </a:rPr>
              <a:t>Four ways to fail to know, and only one way to be told a switch is dead.</a:t>
            </a:r>
            <a:endParaRPr lang="en-US" sz="750" dirty="0"/>
          </a:p>
        </p:txBody>
      </p:sp>
      <p:sp>
        <p:nvSpPr>
          <p:cNvPr id="65" name="Shape 63"/>
          <p:cNvSpPr/>
          <p:nvPr/>
        </p:nvSpPr>
        <p:spPr>
          <a:xfrm>
            <a:off x="777240" y="6327648"/>
            <a:ext cx="10652760" cy="347472"/>
          </a:xfrm>
          <a:prstGeom prst="rect">
            <a:avLst/>
          </a:prstGeom>
          <a:solidFill>
            <a:srgbClr val="F7F8F9"/>
          </a:solidFill>
          <a:ln w="12700">
            <a:solidFill>
              <a:srgbClr val="D0D0D0"/>
            </a:solidFill>
            <a:prstDash val="solid"/>
          </a:ln>
        </p:spPr>
      </p:sp>
      <p:sp>
        <p:nvSpPr>
          <p:cNvPr id="66" name="Text 64"/>
          <p:cNvSpPr/>
          <p:nvPr/>
        </p:nvSpPr>
        <p:spPr>
          <a:xfrm>
            <a:off x="960120" y="6327648"/>
            <a:ext cx="3108960" cy="347472"/>
          </a:xfrm>
          <a:prstGeom prst="rect">
            <a:avLst/>
          </a:prstGeom>
          <a:noFill/>
          <a:ln/>
        </p:spPr>
        <p:txBody>
          <a:bodyPr wrap="square" lIns="0" tIns="0" rIns="0" bIns="0" rtlCol="0" anchor="ctr"/>
          <a:lstStyle/>
          <a:p>
            <a:pPr algn="l" indent="0" marL="0">
              <a:lnSpc>
                <a:spcPct val="95000"/>
              </a:lnSpc>
              <a:buNone/>
            </a:pPr>
            <a:r>
              <a:rPr lang="en-US" sz="900" dirty="0">
                <a:solidFill>
                  <a:srgbClr val="065A82"/>
                </a:solidFill>
                <a:latin typeface="Courier New" pitchFamily="34" charset="0"/>
                <a:ea typeface="Courier New" pitchFamily="34" charset="-122"/>
                <a:cs typeface="Courier New" pitchFamily="34" charset="-120"/>
              </a:rPr>
              <a:t>Up  →  setVertexUp</a:t>
            </a:r>
            <a:endParaRPr lang="en-US" sz="900" dirty="0"/>
          </a:p>
        </p:txBody>
      </p:sp>
      <p:sp>
        <p:nvSpPr>
          <p:cNvPr id="67" name="Text 65"/>
          <p:cNvSpPr/>
          <p:nvPr/>
        </p:nvSpPr>
        <p:spPr>
          <a:xfrm>
            <a:off x="4069080" y="6327648"/>
            <a:ext cx="3108960" cy="347472"/>
          </a:xfrm>
          <a:prstGeom prst="rect">
            <a:avLst/>
          </a:prstGeom>
          <a:noFill/>
          <a:ln/>
        </p:spPr>
        <p:txBody>
          <a:bodyPr wrap="square" lIns="0" tIns="0" rIns="0" bIns="0" rtlCol="0" anchor="ctr"/>
          <a:lstStyle/>
          <a:p>
            <a:pPr algn="l" indent="0" marL="0">
              <a:lnSpc>
                <a:spcPct val="95000"/>
              </a:lnSpc>
              <a:buNone/>
            </a:pPr>
            <a:r>
              <a:rPr lang="en-US" sz="900" dirty="0">
                <a:solidFill>
                  <a:srgbClr val="9C3B2E"/>
                </a:solidFill>
                <a:latin typeface="Courier New" pitchFamily="34" charset="0"/>
                <a:ea typeface="Courier New" pitchFamily="34" charset="-122"/>
                <a:cs typeface="Courier New" pitchFamily="34" charset="-120"/>
              </a:rPr>
              <a:t>Down  →  setVertexDown</a:t>
            </a:r>
            <a:endParaRPr lang="en-US" sz="900" dirty="0"/>
          </a:p>
        </p:txBody>
      </p:sp>
      <p:sp>
        <p:nvSpPr>
          <p:cNvPr id="68" name="Text 66"/>
          <p:cNvSpPr/>
          <p:nvPr/>
        </p:nvSpPr>
        <p:spPr>
          <a:xfrm>
            <a:off x="7178040" y="6327648"/>
            <a:ext cx="4114800" cy="347472"/>
          </a:xfrm>
          <a:prstGeom prst="rect">
            <a:avLst/>
          </a:prstGeom>
          <a:noFill/>
          <a:ln/>
        </p:spPr>
        <p:txBody>
          <a:bodyPr wrap="square" lIns="0" tIns="0" rIns="0" bIns="0" rtlCol="0" anchor="ctr"/>
          <a:lstStyle/>
          <a:p>
            <a:pPr algn="l" indent="0" marL="0">
              <a:lnSpc>
                <a:spcPct val="95000"/>
              </a:lnSpc>
              <a:buNone/>
            </a:pPr>
            <a:r>
              <a:rPr lang="en-US" sz="900" b="1" dirty="0">
                <a:solidFill>
                  <a:srgbClr val="000000"/>
                </a:solidFill>
                <a:latin typeface="Courier New" pitchFamily="34" charset="0"/>
                <a:ea typeface="Courier New" pitchFamily="34" charset="-122"/>
                <a:cs typeface="Courier New" pitchFamily="34" charset="-120"/>
              </a:rPr>
              <a:t>Unknown  →  the graph is not touched</a:t>
            </a:r>
            <a:endParaRPr lang="en-US" sz="900" dirty="0"/>
          </a:p>
        </p:txBody>
      </p:sp>
      <p:sp>
        <p:nvSpPr>
          <p:cNvPr id="69" name="Text 67"/>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56032"/>
            <a:ext cx="5486400" cy="237744"/>
          </a:xfrm>
          <a:prstGeom prst="rect">
            <a:avLst/>
          </a:prstGeom>
          <a:noFill/>
          <a:ln/>
        </p:spPr>
        <p:txBody>
          <a:bodyPr wrap="square" lIns="0" tIns="0" rIns="0" bIns="0" rtlCol="0" anchor="ctr"/>
          <a:lstStyle/>
          <a:p>
            <a:pPr indent="0" marL="0">
              <a:buNone/>
            </a:pPr>
            <a:r>
              <a:rPr lang="en-US" sz="1050" b="1" spc="100" kern="0" dirty="0">
                <a:solidFill>
                  <a:srgbClr val="065A82"/>
                </a:solidFill>
                <a:latin typeface="Calibri" pitchFamily="34" charset="0"/>
                <a:ea typeface="Calibri" pitchFamily="34" charset="-122"/>
                <a:cs typeface="Calibri" pitchFamily="34" charset="-120"/>
              </a:rPr>
              <a:t>1 · NEW CAPABILITIES</a:t>
            </a:r>
            <a:endParaRPr lang="en-US" sz="1050" dirty="0"/>
          </a:p>
        </p:txBody>
      </p:sp>
      <p:sp>
        <p:nvSpPr>
          <p:cNvPr id="3" name="Text 1"/>
          <p:cNvSpPr/>
          <p:nvPr/>
        </p:nvSpPr>
        <p:spPr>
          <a:xfrm>
            <a:off x="411480" y="457200"/>
            <a:ext cx="10515600" cy="310896"/>
          </a:xfrm>
          <a:prstGeom prst="rect">
            <a:avLst/>
          </a:prstGeom>
          <a:noFill/>
          <a:ln/>
        </p:spPr>
        <p:txBody>
          <a:bodyPr wrap="square" lIns="0" tIns="0" rIns="0" bIns="0" rtlCol="0" anchor="ctr"/>
          <a:lstStyle/>
          <a:p>
            <a:pPr algn="l" indent="0" marL="0">
              <a:lnSpc>
                <a:spcPct val="95000"/>
              </a:lnSpc>
              <a:buNone/>
            </a:pPr>
            <a:r>
              <a:rPr lang="en-US" sz="1500" b="1" dirty="0">
                <a:solidFill>
                  <a:srgbClr val="000000"/>
                </a:solidFill>
                <a:latin typeface="Arial" pitchFamily="34" charset="0"/>
                <a:ea typeface="Arial" pitchFamily="34" charset="-122"/>
                <a:cs typeface="Arial" pitchFamily="34" charset="-120"/>
              </a:rPr>
              <a:t>Failover: what turns a missing beacon into a new route</a:t>
            </a:r>
            <a:endParaRPr lang="en-US" sz="1500" dirty="0"/>
          </a:p>
        </p:txBody>
      </p:sp>
      <p:sp>
        <p:nvSpPr>
          <p:cNvPr id="4" name="Text 2"/>
          <p:cNvSpPr/>
          <p:nvPr/>
        </p:nvSpPr>
        <p:spPr>
          <a:xfrm>
            <a:off x="411480" y="768096"/>
            <a:ext cx="10972800" cy="237744"/>
          </a:xfrm>
          <a:prstGeom prst="rect">
            <a:avLst/>
          </a:prstGeom>
          <a:noFill/>
          <a:ln/>
        </p:spPr>
        <p:txBody>
          <a:bodyPr wrap="square" lIns="0" tIns="0" rIns="0" bIns="0" rtlCol="0" anchor="ctr"/>
          <a:lstStyle/>
          <a:p>
            <a:pPr algn="l" indent="0" marL="0">
              <a:lnSpc>
                <a:spcPct val="95000"/>
              </a:lnSpc>
              <a:buNone/>
            </a:pPr>
            <a:r>
              <a:rPr lang="en-US" sz="950" dirty="0">
                <a:solidFill>
                  <a:srgbClr val="4F4F4F"/>
                </a:solidFill>
                <a:latin typeface="Arial" pitchFamily="34" charset="0"/>
                <a:ea typeface="Arial" pitchFamily="34" charset="-122"/>
                <a:cs typeface="Arial" pitchFamily="34" charset="-120"/>
              </a:rPr>
              <a:t>bmv2 raises no link-down signal, so the absence of a packet the proxy sent itself is the only evidence there is</a:t>
            </a:r>
            <a:endParaRPr lang="en-US" sz="950" dirty="0"/>
          </a:p>
        </p:txBody>
      </p:sp>
      <p:sp>
        <p:nvSpPr>
          <p:cNvPr id="5" name="Shape 3"/>
          <p:cNvSpPr/>
          <p:nvPr/>
        </p:nvSpPr>
        <p:spPr>
          <a:xfrm>
            <a:off x="1005840" y="969264"/>
            <a:ext cx="6035040" cy="512064"/>
          </a:xfrm>
          <a:prstGeom prst="rect">
            <a:avLst/>
          </a:prstGeom>
          <a:solidFill>
            <a:srgbClr val="EEF3F6"/>
          </a:solidFill>
          <a:ln w="15875">
            <a:solidFill>
              <a:srgbClr val="065A82"/>
            </a:solidFill>
            <a:prstDash val="solid"/>
          </a:ln>
        </p:spPr>
      </p:sp>
      <p:sp>
        <p:nvSpPr>
          <p:cNvPr id="6" name="Text 4"/>
          <p:cNvSpPr/>
          <p:nvPr/>
        </p:nvSpPr>
        <p:spPr>
          <a:xfrm>
            <a:off x="1133856" y="1014984"/>
            <a:ext cx="5779008" cy="235549"/>
          </a:xfrm>
          <a:prstGeom prst="rect">
            <a:avLst/>
          </a:prstGeom>
          <a:noFill/>
          <a:ln/>
        </p:spPr>
        <p:txBody>
          <a:bodyPr wrap="square" lIns="0" tIns="0" rIns="0" bIns="0" rtlCol="0" anchor="ctr"/>
          <a:lstStyle/>
          <a:p>
            <a:pPr algn="l" indent="0" marL="0">
              <a:lnSpc>
                <a:spcPct val="95000"/>
              </a:lnSpc>
              <a:buNone/>
            </a:pPr>
            <a:r>
              <a:rPr lang="en-US" sz="1000" b="1" dirty="0">
                <a:solidFill>
                  <a:srgbClr val="065A82"/>
                </a:solidFill>
                <a:latin typeface="Arial" pitchFamily="34" charset="0"/>
                <a:ea typeface="Arial" pitchFamily="34" charset="-122"/>
                <a:cs typeface="Arial" pitchFamily="34" charset="-120"/>
              </a:rPr>
              <a:t>Beacon out   —   every 5 s</a:t>
            </a:r>
            <a:endParaRPr lang="en-US" sz="1000" dirty="0"/>
          </a:p>
        </p:txBody>
      </p:sp>
      <p:sp>
        <p:nvSpPr>
          <p:cNvPr id="7" name="Text 5"/>
          <p:cNvSpPr/>
          <p:nvPr/>
        </p:nvSpPr>
        <p:spPr>
          <a:xfrm>
            <a:off x="1133856" y="1204813"/>
            <a:ext cx="5779008" cy="237744"/>
          </a:xfrm>
          <a:prstGeom prst="rect">
            <a:avLst/>
          </a:prstGeom>
          <a:noFill/>
          <a:ln/>
        </p:spPr>
        <p:txBody>
          <a:bodyPr wrap="square" lIns="0" tIns="0" rIns="0" bIns="0" rtlCol="0" anchor="t"/>
          <a:lstStyle/>
          <a:p>
            <a:pPr algn="l" indent="0" marL="0">
              <a:lnSpc>
                <a:spcPct val="94000"/>
              </a:lnSpc>
              <a:buNone/>
            </a:pPr>
            <a:r>
              <a:rPr lang="en-US" sz="800" dirty="0">
                <a:solidFill>
                  <a:srgbClr val="4F4F4F"/>
                </a:solidFill>
                <a:latin typeface="Arial" pitchFamily="34" charset="0"/>
                <a:ea typeface="Arial" pitchFamily="34" charset="-122"/>
                <a:cs typeface="Arial" pitchFamily="34" charset="-120"/>
              </a:rPr>
              <a:t>TopologyManager sends one LLDP frame out of every port of every switch, as a packet_out.</a:t>
            </a:r>
            <a:endParaRPr lang="en-US" sz="800" dirty="0"/>
          </a:p>
        </p:txBody>
      </p:sp>
      <p:sp>
        <p:nvSpPr>
          <p:cNvPr id="8" name="Shape 6"/>
          <p:cNvSpPr/>
          <p:nvPr/>
        </p:nvSpPr>
        <p:spPr>
          <a:xfrm>
            <a:off x="4023360" y="1481328"/>
            <a:ext cx="7315" cy="146304"/>
          </a:xfrm>
          <a:prstGeom prst="line">
            <a:avLst/>
          </a:prstGeom>
          <a:noFill/>
          <a:ln w="13970">
            <a:solidFill>
              <a:srgbClr val="000000"/>
            </a:solidFill>
            <a:prstDash val="solid"/>
            <a:tailEnd type="triangle"/>
          </a:ln>
        </p:spPr>
      </p:sp>
      <p:sp>
        <p:nvSpPr>
          <p:cNvPr id="9" name="Shape 7"/>
          <p:cNvSpPr/>
          <p:nvPr/>
        </p:nvSpPr>
        <p:spPr>
          <a:xfrm>
            <a:off x="1005840" y="1627632"/>
            <a:ext cx="6035040" cy="512064"/>
          </a:xfrm>
          <a:prstGeom prst="rect">
            <a:avLst/>
          </a:prstGeom>
          <a:solidFill>
            <a:srgbClr val="EEF3F6"/>
          </a:solidFill>
          <a:ln w="15875">
            <a:solidFill>
              <a:srgbClr val="065A82"/>
            </a:solidFill>
            <a:prstDash val="solid"/>
          </a:ln>
        </p:spPr>
      </p:sp>
      <p:sp>
        <p:nvSpPr>
          <p:cNvPr id="10" name="Text 8"/>
          <p:cNvSpPr/>
          <p:nvPr/>
        </p:nvSpPr>
        <p:spPr>
          <a:xfrm>
            <a:off x="1133856" y="1673352"/>
            <a:ext cx="5779008" cy="235549"/>
          </a:xfrm>
          <a:prstGeom prst="rect">
            <a:avLst/>
          </a:prstGeom>
          <a:noFill/>
          <a:ln/>
        </p:spPr>
        <p:txBody>
          <a:bodyPr wrap="square" lIns="0" tIns="0" rIns="0" bIns="0" rtlCol="0" anchor="ctr"/>
          <a:lstStyle/>
          <a:p>
            <a:pPr algn="l" indent="0" marL="0">
              <a:lnSpc>
                <a:spcPct val="95000"/>
              </a:lnSpc>
              <a:buNone/>
            </a:pPr>
            <a:r>
              <a:rPr lang="en-US" sz="1000" b="1" dirty="0">
                <a:solidFill>
                  <a:srgbClr val="065A82"/>
                </a:solidFill>
                <a:latin typeface="Arial" pitchFamily="34" charset="0"/>
                <a:ea typeface="Arial" pitchFamily="34" charset="-122"/>
                <a:cs typeface="Arial" pitchFamily="34" charset="-120"/>
              </a:rPr>
              <a:t>Beacon in</a:t>
            </a:r>
            <a:endParaRPr lang="en-US" sz="1000" dirty="0"/>
          </a:p>
        </p:txBody>
      </p:sp>
      <p:sp>
        <p:nvSpPr>
          <p:cNvPr id="11" name="Text 9"/>
          <p:cNvSpPr/>
          <p:nvPr/>
        </p:nvSpPr>
        <p:spPr>
          <a:xfrm>
            <a:off x="1133856" y="1863181"/>
            <a:ext cx="5779008" cy="237744"/>
          </a:xfrm>
          <a:prstGeom prst="rect">
            <a:avLst/>
          </a:prstGeom>
          <a:noFill/>
          <a:ln/>
        </p:spPr>
        <p:txBody>
          <a:bodyPr wrap="square" lIns="0" tIns="0" rIns="0" bIns="0" rtlCol="0" anchor="t"/>
          <a:lstStyle/>
          <a:p>
            <a:pPr algn="l" indent="0" marL="0">
              <a:lnSpc>
                <a:spcPct val="94000"/>
              </a:lnSpc>
              <a:buNone/>
            </a:pPr>
            <a:r>
              <a:rPr lang="en-US" sz="800" dirty="0">
                <a:solidFill>
                  <a:srgbClr val="4F4F4F"/>
                </a:solidFill>
                <a:latin typeface="Arial" pitchFamily="34" charset="0"/>
                <a:ea typeface="Arial" pitchFamily="34" charset="-122"/>
                <a:cs typeface="Arial" pitchFamily="34" charset="-120"/>
              </a:rPr>
              <a:t>The neighbour’s pipeline sends it to the CPU port. It arrives as packet_in with reason = LLDP,</a:t>
            </a:r>
            <a:endParaRPr lang="en-US" sz="800" dirty="0"/>
          </a:p>
          <a:p>
            <a:pPr algn="l" indent="0" marL="0">
              <a:lnSpc>
                <a:spcPct val="94000"/>
              </a:lnSpc>
              <a:buNone/>
            </a:pPr>
            <a:r>
              <a:rPr lang="en-US" sz="800" dirty="0">
                <a:solidFill>
                  <a:srgbClr val="4F4F4F"/>
                </a:solidFill>
                <a:latin typeface="Arial" pitchFamily="34" charset="0"/>
                <a:ea typeface="Arial" pitchFamily="34" charset="-122"/>
                <a:cs typeface="Arial" pitchFamily="34" charset="-120"/>
              </a:rPr>
              <a:t>and stamps the arrival time of that one link direction.</a:t>
            </a:r>
            <a:endParaRPr lang="en-US" sz="800" dirty="0"/>
          </a:p>
        </p:txBody>
      </p:sp>
      <p:sp>
        <p:nvSpPr>
          <p:cNvPr id="12" name="Shape 10"/>
          <p:cNvSpPr/>
          <p:nvPr/>
        </p:nvSpPr>
        <p:spPr>
          <a:xfrm>
            <a:off x="4023360" y="2139696"/>
            <a:ext cx="7315" cy="146304"/>
          </a:xfrm>
          <a:prstGeom prst="line">
            <a:avLst/>
          </a:prstGeom>
          <a:noFill/>
          <a:ln w="13970">
            <a:solidFill>
              <a:srgbClr val="000000"/>
            </a:solidFill>
            <a:prstDash val="solid"/>
            <a:tailEnd type="triangle"/>
          </a:ln>
        </p:spPr>
      </p:sp>
      <p:sp>
        <p:nvSpPr>
          <p:cNvPr id="13" name="Shape 11"/>
          <p:cNvSpPr/>
          <p:nvPr/>
        </p:nvSpPr>
        <p:spPr>
          <a:xfrm>
            <a:off x="1005840" y="2286000"/>
            <a:ext cx="6035040" cy="384048"/>
          </a:xfrm>
          <a:prstGeom prst="rect">
            <a:avLst/>
          </a:prstGeom>
          <a:solidFill>
            <a:srgbClr val="F7F8F9"/>
          </a:solidFill>
          <a:ln w="12700">
            <a:solidFill>
              <a:srgbClr val="000000"/>
            </a:solidFill>
            <a:prstDash val="solid"/>
          </a:ln>
        </p:spPr>
      </p:sp>
      <p:sp>
        <p:nvSpPr>
          <p:cNvPr id="14" name="Text 12"/>
          <p:cNvSpPr/>
          <p:nvPr/>
        </p:nvSpPr>
        <p:spPr>
          <a:xfrm>
            <a:off x="1133856" y="2286000"/>
            <a:ext cx="5779008" cy="384048"/>
          </a:xfrm>
          <a:prstGeom prst="rect">
            <a:avLst/>
          </a:prstGeom>
          <a:noFill/>
          <a:ln/>
        </p:spPr>
        <p:txBody>
          <a:bodyPr wrap="square" lIns="0" tIns="0" rIns="0" bIns="0" rtlCol="0" anchor="ctr"/>
          <a:lstStyle/>
          <a:p>
            <a:pPr algn="l" indent="0" marL="0">
              <a:lnSpc>
                <a:spcPct val="95000"/>
              </a:lnSpc>
              <a:buNone/>
            </a:pPr>
            <a:r>
              <a:rPr lang="en-US" sz="1000" b="1" dirty="0">
                <a:solidFill>
                  <a:srgbClr val="000000"/>
                </a:solidFill>
                <a:latin typeface="Arial" pitchFamily="34" charset="0"/>
                <a:ea typeface="Arial" pitchFamily="34" charset="-122"/>
                <a:cs typeface="Arial" pitchFamily="34" charset="-120"/>
              </a:rPr>
              <a:t>Watchdog pass   —   every 5 s</a:t>
            </a:r>
            <a:endParaRPr lang="en-US" sz="1000" dirty="0"/>
          </a:p>
        </p:txBody>
      </p:sp>
      <p:sp>
        <p:nvSpPr>
          <p:cNvPr id="15" name="Shape 13"/>
          <p:cNvSpPr/>
          <p:nvPr/>
        </p:nvSpPr>
        <p:spPr>
          <a:xfrm>
            <a:off x="4023360" y="2670048"/>
            <a:ext cx="7315" cy="274320"/>
          </a:xfrm>
          <a:prstGeom prst="line">
            <a:avLst/>
          </a:prstGeom>
          <a:noFill/>
          <a:ln w="13970">
            <a:solidFill>
              <a:srgbClr val="000000"/>
            </a:solidFill>
            <a:prstDash val="solid"/>
            <a:tailEnd type="triangle"/>
          </a:ln>
        </p:spPr>
      </p:sp>
      <p:sp>
        <p:nvSpPr>
          <p:cNvPr id="16" name="Shape 14"/>
          <p:cNvSpPr/>
          <p:nvPr/>
        </p:nvSpPr>
        <p:spPr>
          <a:xfrm>
            <a:off x="1005840" y="2944368"/>
            <a:ext cx="6035040" cy="512064"/>
          </a:xfrm>
          <a:prstGeom prst="rect">
            <a:avLst/>
          </a:prstGeom>
          <a:solidFill>
            <a:srgbClr val="F7F8F9"/>
          </a:solidFill>
          <a:ln w="15875">
            <a:solidFill>
              <a:srgbClr val="000000"/>
            </a:solidFill>
            <a:prstDash val="solid"/>
          </a:ln>
        </p:spPr>
      </p:sp>
      <p:sp>
        <p:nvSpPr>
          <p:cNvPr id="17" name="Text 15"/>
          <p:cNvSpPr/>
          <p:nvPr/>
        </p:nvSpPr>
        <p:spPr>
          <a:xfrm>
            <a:off x="1133856" y="2980944"/>
            <a:ext cx="5779008" cy="266273"/>
          </a:xfrm>
          <a:prstGeom prst="rect">
            <a:avLst/>
          </a:prstGeom>
          <a:noFill/>
          <a:ln/>
        </p:spPr>
        <p:txBody>
          <a:bodyPr wrap="square" lIns="0" tIns="0" rIns="0" bIns="0" rtlCol="0" anchor="ctr"/>
          <a:lstStyle/>
          <a:p>
            <a:pPr algn="l" indent="0" marL="0">
              <a:lnSpc>
                <a:spcPct val="95000"/>
              </a:lnSpc>
              <a:buNone/>
            </a:pPr>
            <a:r>
              <a:rPr lang="en-US" sz="950" b="1" dirty="0">
                <a:solidFill>
                  <a:srgbClr val="000000"/>
                </a:solidFill>
                <a:latin typeface="Courier New" pitchFamily="34" charset="0"/>
                <a:ea typeface="Courier New" pitchFamily="34" charset="-122"/>
                <a:cs typeface="Courier New" pitchFamily="34" charset="-120"/>
              </a:rPr>
              <a:t>now  −  last beacon   &gt;   15 s   ?</a:t>
            </a:r>
            <a:endParaRPr lang="en-US" sz="950" dirty="0"/>
          </a:p>
        </p:txBody>
      </p:sp>
      <p:sp>
        <p:nvSpPr>
          <p:cNvPr id="18" name="Text 16"/>
          <p:cNvSpPr/>
          <p:nvPr/>
        </p:nvSpPr>
        <p:spPr>
          <a:xfrm>
            <a:off x="1133856" y="3210641"/>
            <a:ext cx="5779008" cy="225308"/>
          </a:xfrm>
          <a:prstGeom prst="rect">
            <a:avLst/>
          </a:prstGeom>
          <a:noFill/>
          <a:ln/>
        </p:spPr>
        <p:txBody>
          <a:bodyPr wrap="square" lIns="0" tIns="0" rIns="0" bIns="0" rtlCol="0" anchor="t"/>
          <a:lstStyle/>
          <a:p>
            <a:pPr algn="l" indent="0" marL="0">
              <a:lnSpc>
                <a:spcPct val="94000"/>
              </a:lnSpc>
              <a:buNone/>
            </a:pPr>
            <a:r>
              <a:rPr lang="en-US" sz="800" dirty="0">
                <a:solidFill>
                  <a:srgbClr val="4F4F4F"/>
                </a:solidFill>
                <a:latin typeface="Arial" pitchFamily="34" charset="0"/>
                <a:ea typeface="Arial" pitchFamily="34" charset="-122"/>
                <a:cs typeface="Arial" pitchFamily="34" charset="-120"/>
              </a:rPr>
              <a:t>Three missed beacons. A link that has never spoken at all gets 30 s instead.</a:t>
            </a:r>
            <a:endParaRPr lang="en-US" sz="800" dirty="0"/>
          </a:p>
        </p:txBody>
      </p:sp>
      <p:sp>
        <p:nvSpPr>
          <p:cNvPr id="19" name="Text 17"/>
          <p:cNvSpPr/>
          <p:nvPr/>
        </p:nvSpPr>
        <p:spPr>
          <a:xfrm>
            <a:off x="7498080" y="2852928"/>
            <a:ext cx="3931920" cy="822960"/>
          </a:xfrm>
          <a:prstGeom prst="rect">
            <a:avLst/>
          </a:prstGeom>
          <a:noFill/>
          <a:ln/>
        </p:spPr>
        <p:txBody>
          <a:bodyPr wrap="square" lIns="0" tIns="0" rIns="0" bIns="0" rtlCol="0" anchor="ctr"/>
          <a:lstStyle/>
          <a:p>
            <a:pPr algn="l" indent="0" marL="0">
              <a:lnSpc>
                <a:spcPct val="94000"/>
              </a:lnSpc>
              <a:buNone/>
            </a:pPr>
            <a:r>
              <a:rPr lang="en-US" sz="750" dirty="0">
                <a:solidFill>
                  <a:srgbClr val="4F4F4F"/>
                </a:solidFill>
                <a:latin typeface="Arial" pitchFamily="34" charset="0"/>
                <a:ea typeface="Arial" pitchFamily="34" charset="-122"/>
                <a:cs typeface="Arial" pitchFamily="34" charset="-120"/>
              </a:rPr>
              <a:t>Why three and not one. One interval of tolerance would report a failure every time a scan landed just before a beacon did — and a flapping link report is worse than a slow one, because each one tears the edge out of the graph and recomputes every path.</a:t>
            </a:r>
            <a:endParaRPr lang="en-US" sz="750" dirty="0"/>
          </a:p>
        </p:txBody>
      </p:sp>
      <p:sp>
        <p:nvSpPr>
          <p:cNvPr id="20" name="Shape 18"/>
          <p:cNvSpPr/>
          <p:nvPr/>
        </p:nvSpPr>
        <p:spPr>
          <a:xfrm>
            <a:off x="1005840" y="3200400"/>
            <a:ext cx="-384048" cy="7315"/>
          </a:xfrm>
          <a:prstGeom prst="line">
            <a:avLst/>
          </a:prstGeom>
          <a:noFill/>
          <a:ln w="13970">
            <a:solidFill>
              <a:srgbClr val="000000"/>
            </a:solidFill>
            <a:prstDash val="solid"/>
          </a:ln>
        </p:spPr>
      </p:sp>
      <p:sp>
        <p:nvSpPr>
          <p:cNvPr id="21" name="Shape 19"/>
          <p:cNvSpPr/>
          <p:nvPr/>
        </p:nvSpPr>
        <p:spPr>
          <a:xfrm>
            <a:off x="621792" y="3200400"/>
            <a:ext cx="384048" cy="0"/>
          </a:xfrm>
          <a:prstGeom prst="line">
            <a:avLst/>
          </a:prstGeom>
          <a:noFill/>
          <a:ln w="13970">
            <a:solidFill>
              <a:srgbClr val="000000"/>
            </a:solidFill>
            <a:prstDash val="solid"/>
          </a:ln>
        </p:spPr>
      </p:sp>
      <p:sp>
        <p:nvSpPr>
          <p:cNvPr id="22" name="Shape 20"/>
          <p:cNvSpPr/>
          <p:nvPr/>
        </p:nvSpPr>
        <p:spPr>
          <a:xfrm>
            <a:off x="621792" y="2478024"/>
            <a:ext cx="0" cy="722376"/>
          </a:xfrm>
          <a:prstGeom prst="line">
            <a:avLst/>
          </a:prstGeom>
          <a:noFill/>
          <a:ln w="13970">
            <a:solidFill>
              <a:srgbClr val="000000"/>
            </a:solidFill>
            <a:prstDash val="solid"/>
          </a:ln>
        </p:spPr>
      </p:sp>
      <p:sp>
        <p:nvSpPr>
          <p:cNvPr id="23" name="Shape 21"/>
          <p:cNvSpPr/>
          <p:nvPr/>
        </p:nvSpPr>
        <p:spPr>
          <a:xfrm>
            <a:off x="621792" y="2478024"/>
            <a:ext cx="384048" cy="7315"/>
          </a:xfrm>
          <a:prstGeom prst="line">
            <a:avLst/>
          </a:prstGeom>
          <a:noFill/>
          <a:ln w="13970">
            <a:solidFill>
              <a:srgbClr val="000000"/>
            </a:solidFill>
            <a:prstDash val="solid"/>
            <a:tailEnd type="triangle"/>
          </a:ln>
        </p:spPr>
      </p:sp>
      <p:sp>
        <p:nvSpPr>
          <p:cNvPr id="24" name="Text 22"/>
          <p:cNvSpPr/>
          <p:nvPr/>
        </p:nvSpPr>
        <p:spPr>
          <a:xfrm>
            <a:off x="640080" y="2999232"/>
            <a:ext cx="365760" cy="146304"/>
          </a:xfrm>
          <a:prstGeom prst="rect">
            <a:avLst/>
          </a:prstGeom>
          <a:noFill/>
          <a:ln/>
        </p:spPr>
        <p:txBody>
          <a:bodyPr wrap="square" lIns="0" tIns="0" rIns="0" bIns="0" rtlCol="0" anchor="ctr"/>
          <a:lstStyle/>
          <a:p>
            <a:pPr algn="l" indent="0" marL="0">
              <a:lnSpc>
                <a:spcPct val="95000"/>
              </a:lnSpc>
              <a:buNone/>
            </a:pPr>
            <a:r>
              <a:rPr lang="en-US" sz="750" dirty="0">
                <a:solidFill>
                  <a:srgbClr val="4F4F4F"/>
                </a:solidFill>
                <a:latin typeface="Arial" pitchFamily="34" charset="0"/>
                <a:ea typeface="Arial" pitchFamily="34" charset="-122"/>
                <a:cs typeface="Arial" pitchFamily="34" charset="-120"/>
              </a:rPr>
              <a:t>no</a:t>
            </a:r>
            <a:endParaRPr lang="en-US" sz="750" dirty="0"/>
          </a:p>
        </p:txBody>
      </p:sp>
      <p:sp>
        <p:nvSpPr>
          <p:cNvPr id="25" name="Shape 23"/>
          <p:cNvSpPr/>
          <p:nvPr/>
        </p:nvSpPr>
        <p:spPr>
          <a:xfrm>
            <a:off x="4023360" y="3456432"/>
            <a:ext cx="7315" cy="146304"/>
          </a:xfrm>
          <a:prstGeom prst="line">
            <a:avLst/>
          </a:prstGeom>
          <a:noFill/>
          <a:ln w="13970">
            <a:solidFill>
              <a:srgbClr val="000000"/>
            </a:solidFill>
            <a:prstDash val="solid"/>
            <a:tailEnd type="triangle"/>
          </a:ln>
        </p:spPr>
      </p:sp>
      <p:sp>
        <p:nvSpPr>
          <p:cNvPr id="26" name="Text 24"/>
          <p:cNvSpPr/>
          <p:nvPr/>
        </p:nvSpPr>
        <p:spPr>
          <a:xfrm>
            <a:off x="4096512" y="3474720"/>
            <a:ext cx="384048" cy="137160"/>
          </a:xfrm>
          <a:prstGeom prst="rect">
            <a:avLst/>
          </a:prstGeom>
          <a:noFill/>
          <a:ln/>
        </p:spPr>
        <p:txBody>
          <a:bodyPr wrap="square" lIns="0" tIns="0" rIns="0" bIns="0" rtlCol="0" anchor="ctr"/>
          <a:lstStyle/>
          <a:p>
            <a:pPr algn="l" indent="0" marL="0">
              <a:lnSpc>
                <a:spcPct val="95000"/>
              </a:lnSpc>
              <a:buNone/>
            </a:pPr>
            <a:r>
              <a:rPr lang="en-US" sz="750" dirty="0">
                <a:solidFill>
                  <a:srgbClr val="4F4F4F"/>
                </a:solidFill>
                <a:latin typeface="Arial" pitchFamily="34" charset="0"/>
                <a:ea typeface="Arial" pitchFamily="34" charset="-122"/>
                <a:cs typeface="Arial" pitchFamily="34" charset="-120"/>
              </a:rPr>
              <a:t>yes</a:t>
            </a:r>
            <a:endParaRPr lang="en-US" sz="750" dirty="0"/>
          </a:p>
        </p:txBody>
      </p:sp>
      <p:sp>
        <p:nvSpPr>
          <p:cNvPr id="27" name="Shape 25"/>
          <p:cNvSpPr/>
          <p:nvPr/>
        </p:nvSpPr>
        <p:spPr>
          <a:xfrm>
            <a:off x="1005840" y="3602736"/>
            <a:ext cx="6035040" cy="512064"/>
          </a:xfrm>
          <a:prstGeom prst="rect">
            <a:avLst/>
          </a:prstGeom>
          <a:solidFill>
            <a:srgbClr val="FFFFFF"/>
          </a:solidFill>
          <a:ln w="12700">
            <a:solidFill>
              <a:srgbClr val="000000"/>
            </a:solidFill>
            <a:prstDash val="solid"/>
          </a:ln>
        </p:spPr>
      </p:sp>
      <p:sp>
        <p:nvSpPr>
          <p:cNvPr id="28" name="Text 26"/>
          <p:cNvSpPr/>
          <p:nvPr/>
        </p:nvSpPr>
        <p:spPr>
          <a:xfrm>
            <a:off x="1133856" y="3648456"/>
            <a:ext cx="5779008" cy="235549"/>
          </a:xfrm>
          <a:prstGeom prst="rect">
            <a:avLst/>
          </a:prstGeom>
          <a:noFill/>
          <a:ln/>
        </p:spPr>
        <p:txBody>
          <a:bodyPr wrap="square" lIns="0" tIns="0" rIns="0" bIns="0" rtlCol="0" anchor="ctr"/>
          <a:lstStyle/>
          <a:p>
            <a:pPr algn="l" indent="0" marL="0">
              <a:lnSpc>
                <a:spcPct val="95000"/>
              </a:lnSpc>
              <a:buNone/>
            </a:pPr>
            <a:r>
              <a:rPr lang="en-US" sz="1000" b="1" dirty="0">
                <a:solidFill>
                  <a:srgbClr val="000000"/>
                </a:solidFill>
                <a:latin typeface="Arial" pitchFamily="34" charset="0"/>
                <a:ea typeface="Arial" pitchFamily="34" charset="-122"/>
                <a:cs typeface="Arial" pitchFamily="34" charset="-120"/>
              </a:rPr>
              <a:t>The link’s belief flips to down, and the kernel is told</a:t>
            </a:r>
            <a:endParaRPr lang="en-US" sz="1000" dirty="0"/>
          </a:p>
        </p:txBody>
      </p:sp>
      <p:sp>
        <p:nvSpPr>
          <p:cNvPr id="29" name="Text 27"/>
          <p:cNvSpPr/>
          <p:nvPr/>
        </p:nvSpPr>
        <p:spPr>
          <a:xfrm>
            <a:off x="1133856" y="3838285"/>
            <a:ext cx="5779008" cy="237744"/>
          </a:xfrm>
          <a:prstGeom prst="rect">
            <a:avLst/>
          </a:prstGeom>
          <a:noFill/>
          <a:ln/>
        </p:spPr>
        <p:txBody>
          <a:bodyPr wrap="square" lIns="0" tIns="0" rIns="0" bIns="0" rtlCol="0" anchor="t"/>
          <a:lstStyle/>
          <a:p>
            <a:pPr algn="l" indent="0" marL="0">
              <a:lnSpc>
                <a:spcPct val="94000"/>
              </a:lnSpc>
              <a:buNone/>
            </a:pPr>
            <a:r>
              <a:rPr lang="en-US" sz="800" dirty="0">
                <a:solidFill>
                  <a:srgbClr val="4F4F4F"/>
                </a:solidFill>
                <a:latin typeface="Arial" pitchFamily="34" charset="0"/>
                <a:ea typeface="Arial" pitchFamily="34" charset="-122"/>
                <a:cs typeface="Arial" pitchFamily="34" charset="-120"/>
              </a:rPr>
              <a:t>POST /ndt/link_failure_detected, retried on every following pass until the kernel accepts it — a kernel</a:t>
            </a:r>
            <a:endParaRPr lang="en-US" sz="800" dirty="0"/>
          </a:p>
          <a:p>
            <a:pPr algn="l" indent="0" marL="0">
              <a:lnSpc>
                <a:spcPct val="94000"/>
              </a:lnSpc>
              <a:buNone/>
            </a:pPr>
            <a:r>
              <a:rPr lang="en-US" sz="800" dirty="0">
                <a:solidFill>
                  <a:srgbClr val="4F4F4F"/>
                </a:solidFill>
                <a:latin typeface="Arial" pitchFamily="34" charset="0"/>
                <a:ea typeface="Arial" pitchFamily="34" charset="-122"/>
                <a:cs typeface="Arial" pitchFamily="34" charset="-120"/>
              </a:rPr>
              <a:t>that happened to be restarting would otherwise cost the notification permanently.</a:t>
            </a:r>
            <a:endParaRPr lang="en-US" sz="800" dirty="0"/>
          </a:p>
        </p:txBody>
      </p:sp>
      <p:sp>
        <p:nvSpPr>
          <p:cNvPr id="30" name="Shape 28"/>
          <p:cNvSpPr/>
          <p:nvPr/>
        </p:nvSpPr>
        <p:spPr>
          <a:xfrm>
            <a:off x="4023360" y="4114800"/>
            <a:ext cx="7315" cy="146304"/>
          </a:xfrm>
          <a:prstGeom prst="line">
            <a:avLst/>
          </a:prstGeom>
          <a:noFill/>
          <a:ln w="13970">
            <a:solidFill>
              <a:srgbClr val="000000"/>
            </a:solidFill>
            <a:prstDash val="solid"/>
            <a:tailEnd type="triangle"/>
          </a:ln>
        </p:spPr>
      </p:sp>
      <p:sp>
        <p:nvSpPr>
          <p:cNvPr id="31" name="Shape 29"/>
          <p:cNvSpPr/>
          <p:nvPr/>
        </p:nvSpPr>
        <p:spPr>
          <a:xfrm>
            <a:off x="1005840" y="4261104"/>
            <a:ext cx="6035040" cy="548640"/>
          </a:xfrm>
          <a:prstGeom prst="rect">
            <a:avLst/>
          </a:prstGeom>
          <a:solidFill>
            <a:srgbClr val="F7F8F9"/>
          </a:solidFill>
          <a:ln w="15875">
            <a:solidFill>
              <a:srgbClr val="000000"/>
            </a:solidFill>
            <a:prstDash val="solid"/>
          </a:ln>
        </p:spPr>
      </p:sp>
      <p:sp>
        <p:nvSpPr>
          <p:cNvPr id="32" name="Text 30"/>
          <p:cNvSpPr/>
          <p:nvPr/>
        </p:nvSpPr>
        <p:spPr>
          <a:xfrm>
            <a:off x="1133856" y="4297680"/>
            <a:ext cx="5779008" cy="285293"/>
          </a:xfrm>
          <a:prstGeom prst="rect">
            <a:avLst/>
          </a:prstGeom>
          <a:noFill/>
          <a:ln/>
        </p:spPr>
        <p:txBody>
          <a:bodyPr wrap="square" lIns="0" tIns="0" rIns="0" bIns="0" rtlCol="0" anchor="ctr"/>
          <a:lstStyle/>
          <a:p>
            <a:pPr algn="l" indent="0" marL="0">
              <a:lnSpc>
                <a:spcPct val="95000"/>
              </a:lnSpc>
              <a:buNone/>
            </a:pPr>
            <a:r>
              <a:rPr lang="en-US" sz="950" b="1" dirty="0">
                <a:solidFill>
                  <a:srgbClr val="000000"/>
                </a:solidFill>
                <a:latin typeface="Courier New" pitchFamily="34" charset="0"/>
                <a:ea typeface="Courier New" pitchFamily="34" charset="-122"/>
                <a:cs typeface="Courier New" pitchFamily="34" charset="-120"/>
              </a:rPr>
              <a:t>every inbound link of that switch went quiet, and  probe_ok  is still true  ?</a:t>
            </a:r>
            <a:endParaRPr lang="en-US" sz="950" dirty="0"/>
          </a:p>
        </p:txBody>
      </p:sp>
      <p:sp>
        <p:nvSpPr>
          <p:cNvPr id="33" name="Text 31"/>
          <p:cNvSpPr/>
          <p:nvPr/>
        </p:nvSpPr>
        <p:spPr>
          <a:xfrm>
            <a:off x="1133856" y="4546397"/>
            <a:ext cx="5779008" cy="241402"/>
          </a:xfrm>
          <a:prstGeom prst="rect">
            <a:avLst/>
          </a:prstGeom>
          <a:noFill/>
          <a:ln/>
        </p:spPr>
        <p:txBody>
          <a:bodyPr wrap="square" lIns="0" tIns="0" rIns="0" bIns="0" rtlCol="0" anchor="t"/>
          <a:lstStyle/>
          <a:p>
            <a:pPr algn="l" indent="0" marL="0">
              <a:lnSpc>
                <a:spcPct val="94000"/>
              </a:lnSpc>
              <a:buNone/>
            </a:pPr>
            <a:r>
              <a:rPr lang="en-US" sz="800" dirty="0">
                <a:solidFill>
                  <a:srgbClr val="4F4F4F"/>
                </a:solidFill>
                <a:latin typeface="Arial" pitchFamily="34" charset="0"/>
                <a:ea typeface="Arial" pitchFamily="34" charset="-122"/>
                <a:cs typeface="Arial" pitchFamily="34" charset="-120"/>
              </a:rPr>
              <a:t>Then this is a switch-level symptom, not a link failure — report it, but leave its links in the routing graph.</a:t>
            </a:r>
            <a:endParaRPr lang="en-US" sz="800" dirty="0"/>
          </a:p>
        </p:txBody>
      </p:sp>
      <p:sp>
        <p:nvSpPr>
          <p:cNvPr id="34" name="Shape 32"/>
          <p:cNvSpPr/>
          <p:nvPr/>
        </p:nvSpPr>
        <p:spPr>
          <a:xfrm>
            <a:off x="7040880" y="4535424"/>
            <a:ext cx="347472" cy="7315"/>
          </a:xfrm>
          <a:prstGeom prst="line">
            <a:avLst/>
          </a:prstGeom>
          <a:noFill/>
          <a:ln w="13970">
            <a:solidFill>
              <a:srgbClr val="000000"/>
            </a:solidFill>
            <a:prstDash val="solid"/>
            <a:tailEnd type="triangle"/>
          </a:ln>
        </p:spPr>
      </p:sp>
      <p:sp>
        <p:nvSpPr>
          <p:cNvPr id="35" name="Text 33"/>
          <p:cNvSpPr/>
          <p:nvPr/>
        </p:nvSpPr>
        <p:spPr>
          <a:xfrm>
            <a:off x="7077456" y="4315968"/>
            <a:ext cx="384048" cy="146304"/>
          </a:xfrm>
          <a:prstGeom prst="rect">
            <a:avLst/>
          </a:prstGeom>
          <a:noFill/>
          <a:ln/>
        </p:spPr>
        <p:txBody>
          <a:bodyPr wrap="square" lIns="0" tIns="0" rIns="0" bIns="0" rtlCol="0" anchor="ctr"/>
          <a:lstStyle/>
          <a:p>
            <a:pPr algn="l" indent="0" marL="0">
              <a:lnSpc>
                <a:spcPct val="95000"/>
              </a:lnSpc>
              <a:buNone/>
            </a:pPr>
            <a:r>
              <a:rPr lang="en-US" sz="750" dirty="0">
                <a:solidFill>
                  <a:srgbClr val="4F4F4F"/>
                </a:solidFill>
                <a:latin typeface="Arial" pitchFamily="34" charset="0"/>
                <a:ea typeface="Arial" pitchFamily="34" charset="-122"/>
                <a:cs typeface="Arial" pitchFamily="34" charset="-120"/>
              </a:rPr>
              <a:t>yes</a:t>
            </a:r>
            <a:endParaRPr lang="en-US" sz="750" dirty="0"/>
          </a:p>
        </p:txBody>
      </p:sp>
      <p:sp>
        <p:nvSpPr>
          <p:cNvPr id="36" name="Shape 34"/>
          <p:cNvSpPr/>
          <p:nvPr/>
        </p:nvSpPr>
        <p:spPr>
          <a:xfrm>
            <a:off x="7388352" y="4334256"/>
            <a:ext cx="1874520" cy="402336"/>
          </a:xfrm>
          <a:prstGeom prst="rect">
            <a:avLst/>
          </a:prstGeom>
          <a:solidFill>
            <a:srgbClr val="FFFFFF"/>
          </a:solidFill>
          <a:ln w="17145">
            <a:solidFill>
              <a:srgbClr val="9C3B2E"/>
            </a:solidFill>
            <a:prstDash val="solid"/>
          </a:ln>
        </p:spPr>
      </p:sp>
      <p:sp>
        <p:nvSpPr>
          <p:cNvPr id="37" name="Text 35"/>
          <p:cNvSpPr/>
          <p:nvPr/>
        </p:nvSpPr>
        <p:spPr>
          <a:xfrm>
            <a:off x="7388352" y="4334256"/>
            <a:ext cx="1874520" cy="402336"/>
          </a:xfrm>
          <a:prstGeom prst="rect">
            <a:avLst/>
          </a:prstGeom>
          <a:noFill/>
          <a:ln/>
        </p:spPr>
        <p:txBody>
          <a:bodyPr wrap="square" lIns="0" tIns="0" rIns="0" bIns="0" rtlCol="0" anchor="ctr"/>
          <a:lstStyle/>
          <a:p>
            <a:pPr algn="ctr" indent="0" marL="0">
              <a:lnSpc>
                <a:spcPct val="95000"/>
              </a:lnSpc>
              <a:buNone/>
            </a:pPr>
            <a:r>
              <a:rPr lang="en-US" sz="900" b="1" dirty="0">
                <a:solidFill>
                  <a:srgbClr val="9C3B2E"/>
                </a:solidFill>
                <a:latin typeface="Arial" pitchFamily="34" charset="0"/>
                <a:ea typeface="Arial" pitchFamily="34" charset="-122"/>
                <a:cs typeface="Arial" pitchFamily="34" charset="-120"/>
              </a:rPr>
              <a:t>reported, not rerouted</a:t>
            </a:r>
            <a:endParaRPr lang="en-US" sz="900" dirty="0"/>
          </a:p>
        </p:txBody>
      </p:sp>
      <p:sp>
        <p:nvSpPr>
          <p:cNvPr id="38" name="Text 36"/>
          <p:cNvSpPr/>
          <p:nvPr/>
        </p:nvSpPr>
        <p:spPr>
          <a:xfrm>
            <a:off x="9418320" y="3986784"/>
            <a:ext cx="2011680" cy="1280160"/>
          </a:xfrm>
          <a:prstGeom prst="rect">
            <a:avLst/>
          </a:prstGeom>
          <a:noFill/>
          <a:ln/>
        </p:spPr>
        <p:txBody>
          <a:bodyPr wrap="square" lIns="0" tIns="0" rIns="0" bIns="0" rtlCol="0" anchor="ctr"/>
          <a:lstStyle/>
          <a:p>
            <a:pPr algn="l" indent="0" marL="0">
              <a:lnSpc>
                <a:spcPct val="94000"/>
              </a:lnSpc>
              <a:buNone/>
            </a:pPr>
            <a:r>
              <a:rPr lang="en-US" sz="700" dirty="0">
                <a:solidFill>
                  <a:srgbClr val="4F4F4F"/>
                </a:solidFill>
                <a:latin typeface="Arial" pitchFamily="34" charset="0"/>
                <a:ea typeface="Arial" pitchFamily="34" charset="-122"/>
                <a:cs typeface="Arial" pitchFamily="34" charset="-120"/>
              </a:rPr>
              <a:t>The one measured failure mode. Taking a bmv2 interface down stalls that switch’s whole packet-in path, so every link into it falls silent at once — one real break produced five down directions, three of them healthy links whose beacons simply had nowhere to be delivered. Reporting may over-report safely; reprogramming may not.</a:t>
            </a:r>
            <a:endParaRPr lang="en-US" sz="700" dirty="0"/>
          </a:p>
        </p:txBody>
      </p:sp>
      <p:sp>
        <p:nvSpPr>
          <p:cNvPr id="39" name="Shape 37"/>
          <p:cNvSpPr/>
          <p:nvPr/>
        </p:nvSpPr>
        <p:spPr>
          <a:xfrm>
            <a:off x="4023360" y="4809744"/>
            <a:ext cx="7315" cy="109728"/>
          </a:xfrm>
          <a:prstGeom prst="line">
            <a:avLst/>
          </a:prstGeom>
          <a:noFill/>
          <a:ln w="13970">
            <a:solidFill>
              <a:srgbClr val="000000"/>
            </a:solidFill>
            <a:prstDash val="solid"/>
            <a:tailEnd type="triangle"/>
          </a:ln>
        </p:spPr>
      </p:sp>
      <p:sp>
        <p:nvSpPr>
          <p:cNvPr id="40" name="Text 38"/>
          <p:cNvSpPr/>
          <p:nvPr/>
        </p:nvSpPr>
        <p:spPr>
          <a:xfrm>
            <a:off x="4096512" y="4818888"/>
            <a:ext cx="384048" cy="118872"/>
          </a:xfrm>
          <a:prstGeom prst="rect">
            <a:avLst/>
          </a:prstGeom>
          <a:noFill/>
          <a:ln/>
        </p:spPr>
        <p:txBody>
          <a:bodyPr wrap="square" lIns="0" tIns="0" rIns="0" bIns="0" rtlCol="0" anchor="ctr"/>
          <a:lstStyle/>
          <a:p>
            <a:pPr algn="l" indent="0" marL="0">
              <a:lnSpc>
                <a:spcPct val="95000"/>
              </a:lnSpc>
              <a:buNone/>
            </a:pPr>
            <a:r>
              <a:rPr lang="en-US" sz="750" dirty="0">
                <a:solidFill>
                  <a:srgbClr val="4F4F4F"/>
                </a:solidFill>
                <a:latin typeface="Arial" pitchFamily="34" charset="0"/>
                <a:ea typeface="Arial" pitchFamily="34" charset="-122"/>
                <a:cs typeface="Arial" pitchFamily="34" charset="-120"/>
              </a:rPr>
              <a:t>no</a:t>
            </a:r>
            <a:endParaRPr lang="en-US" sz="750" dirty="0"/>
          </a:p>
        </p:txBody>
      </p:sp>
      <p:sp>
        <p:nvSpPr>
          <p:cNvPr id="41" name="Shape 39"/>
          <p:cNvSpPr/>
          <p:nvPr/>
        </p:nvSpPr>
        <p:spPr>
          <a:xfrm>
            <a:off x="1005840" y="4919472"/>
            <a:ext cx="6035040" cy="512064"/>
          </a:xfrm>
          <a:prstGeom prst="rect">
            <a:avLst/>
          </a:prstGeom>
          <a:solidFill>
            <a:srgbClr val="EEF3F6"/>
          </a:solidFill>
          <a:ln w="15875">
            <a:solidFill>
              <a:srgbClr val="065A82"/>
            </a:solidFill>
            <a:prstDash val="solid"/>
          </a:ln>
        </p:spPr>
      </p:sp>
      <p:sp>
        <p:nvSpPr>
          <p:cNvPr id="42" name="Text 40"/>
          <p:cNvSpPr/>
          <p:nvPr/>
        </p:nvSpPr>
        <p:spPr>
          <a:xfrm>
            <a:off x="1133856" y="4965192"/>
            <a:ext cx="5779008" cy="235549"/>
          </a:xfrm>
          <a:prstGeom prst="rect">
            <a:avLst/>
          </a:prstGeom>
          <a:noFill/>
          <a:ln/>
        </p:spPr>
        <p:txBody>
          <a:bodyPr wrap="square" lIns="0" tIns="0" rIns="0" bIns="0" rtlCol="0" anchor="ctr"/>
          <a:lstStyle/>
          <a:p>
            <a:pPr algn="l" indent="0" marL="0">
              <a:lnSpc>
                <a:spcPct val="95000"/>
              </a:lnSpc>
              <a:buNone/>
            </a:pPr>
            <a:r>
              <a:rPr lang="en-US" sz="950" b="1" dirty="0">
                <a:solidFill>
                  <a:srgbClr val="065A82"/>
                </a:solidFill>
                <a:latin typeface="Courier New" pitchFamily="34" charset="0"/>
                <a:ea typeface="Courier New" pitchFamily="34" charset="-122"/>
                <a:cs typeface="Courier New" pitchFamily="34" charset="-120"/>
              </a:rPr>
              <a:t>install_initial_routes()   —   reprogram first</a:t>
            </a:r>
            <a:endParaRPr lang="en-US" sz="950" dirty="0"/>
          </a:p>
        </p:txBody>
      </p:sp>
      <p:sp>
        <p:nvSpPr>
          <p:cNvPr id="43" name="Text 41"/>
          <p:cNvSpPr/>
          <p:nvPr/>
        </p:nvSpPr>
        <p:spPr>
          <a:xfrm>
            <a:off x="1133856" y="5155021"/>
            <a:ext cx="5779008" cy="237744"/>
          </a:xfrm>
          <a:prstGeom prst="rect">
            <a:avLst/>
          </a:prstGeom>
          <a:noFill/>
          <a:ln/>
        </p:spPr>
        <p:txBody>
          <a:bodyPr wrap="square" lIns="0" tIns="0" rIns="0" bIns="0" rtlCol="0" anchor="t"/>
          <a:lstStyle/>
          <a:p>
            <a:pPr algn="l" indent="0" marL="0">
              <a:lnSpc>
                <a:spcPct val="94000"/>
              </a:lnSpc>
              <a:buNone/>
            </a:pPr>
            <a:r>
              <a:rPr lang="en-US" sz="800" dirty="0">
                <a:solidFill>
                  <a:srgbClr val="4F4F4F"/>
                </a:solidFill>
                <a:latin typeface="Arial" pitchFamily="34" charset="0"/>
                <a:ea typeface="Arial" pitchFamily="34" charset="-122"/>
                <a:cs typeface="Arial" pitchFamily="34" charset="-120"/>
              </a:rPr>
              <a:t>BFS over the graph with the down endpoints removed, so a reinstall cannot recompute the same route</a:t>
            </a:r>
            <a:endParaRPr lang="en-US" sz="800" dirty="0"/>
          </a:p>
          <a:p>
            <a:pPr algn="l" indent="0" marL="0">
              <a:lnSpc>
                <a:spcPct val="94000"/>
              </a:lnSpc>
              <a:buNone/>
            </a:pPr>
            <a:r>
              <a:rPr lang="en-US" sz="800" dirty="0">
                <a:solidFill>
                  <a:srgbClr val="4F4F4F"/>
                </a:solidFill>
                <a:latin typeface="Arial" pitchFamily="34" charset="0"/>
                <a:ea typeface="Arial" pitchFamily="34" charset="-122"/>
                <a:cs typeface="Arial" pitchFamily="34" charset="-120"/>
              </a:rPr>
              <a:t>back into the broken link. insert_ipv4_route falls back to MODIFY, so the pass is idempotent.</a:t>
            </a:r>
            <a:endParaRPr lang="en-US" sz="800" dirty="0"/>
          </a:p>
        </p:txBody>
      </p:sp>
      <p:sp>
        <p:nvSpPr>
          <p:cNvPr id="44" name="Shape 42"/>
          <p:cNvSpPr/>
          <p:nvPr/>
        </p:nvSpPr>
        <p:spPr>
          <a:xfrm>
            <a:off x="4023360" y="5431536"/>
            <a:ext cx="7315" cy="146304"/>
          </a:xfrm>
          <a:prstGeom prst="line">
            <a:avLst/>
          </a:prstGeom>
          <a:noFill/>
          <a:ln w="13970">
            <a:solidFill>
              <a:srgbClr val="000000"/>
            </a:solidFill>
            <a:prstDash val="solid"/>
            <a:tailEnd type="triangle"/>
          </a:ln>
        </p:spPr>
      </p:sp>
      <p:sp>
        <p:nvSpPr>
          <p:cNvPr id="45" name="Shape 43"/>
          <p:cNvSpPr/>
          <p:nvPr/>
        </p:nvSpPr>
        <p:spPr>
          <a:xfrm>
            <a:off x="1005840" y="5577840"/>
            <a:ext cx="6035040" cy="475488"/>
          </a:xfrm>
          <a:prstGeom prst="rect">
            <a:avLst/>
          </a:prstGeom>
          <a:solidFill>
            <a:srgbClr val="EEF3F6"/>
          </a:solidFill>
          <a:ln w="15875">
            <a:solidFill>
              <a:srgbClr val="065A82"/>
            </a:solidFill>
            <a:prstDash val="solid"/>
          </a:ln>
        </p:spPr>
      </p:sp>
      <p:sp>
        <p:nvSpPr>
          <p:cNvPr id="46" name="Text 44"/>
          <p:cNvSpPr/>
          <p:nvPr/>
        </p:nvSpPr>
        <p:spPr>
          <a:xfrm>
            <a:off x="1133856" y="5623560"/>
            <a:ext cx="5779008" cy="218724"/>
          </a:xfrm>
          <a:prstGeom prst="rect">
            <a:avLst/>
          </a:prstGeom>
          <a:noFill/>
          <a:ln/>
        </p:spPr>
        <p:txBody>
          <a:bodyPr wrap="square" lIns="0" tIns="0" rIns="0" bIns="0" rtlCol="0" anchor="ctr"/>
          <a:lstStyle/>
          <a:p>
            <a:pPr algn="l" indent="0" marL="0">
              <a:lnSpc>
                <a:spcPct val="95000"/>
              </a:lnSpc>
              <a:buNone/>
            </a:pPr>
            <a:r>
              <a:rPr lang="en-US" sz="950" b="1" dirty="0">
                <a:solidFill>
                  <a:srgbClr val="065A82"/>
                </a:solidFill>
                <a:latin typeface="Courier New" pitchFamily="34" charset="0"/>
                <a:ea typeface="Courier New" pitchFamily="34" charset="-122"/>
                <a:cs typeface="Courier New" pitchFamily="34" charset="-120"/>
              </a:rPr>
              <a:t>push_destination_paths()   —   announce second</a:t>
            </a:r>
            <a:endParaRPr lang="en-US" sz="950" dirty="0"/>
          </a:p>
        </p:txBody>
      </p:sp>
      <p:sp>
        <p:nvSpPr>
          <p:cNvPr id="47" name="Text 45"/>
          <p:cNvSpPr/>
          <p:nvPr/>
        </p:nvSpPr>
        <p:spPr>
          <a:xfrm>
            <a:off x="1133856" y="5796564"/>
            <a:ext cx="5779008" cy="219456"/>
          </a:xfrm>
          <a:prstGeom prst="rect">
            <a:avLst/>
          </a:prstGeom>
          <a:noFill/>
          <a:ln/>
        </p:spPr>
        <p:txBody>
          <a:bodyPr wrap="square" lIns="0" tIns="0" rIns="0" bIns="0" rtlCol="0" anchor="t"/>
          <a:lstStyle/>
          <a:p>
            <a:pPr algn="l" indent="0" marL="0">
              <a:lnSpc>
                <a:spcPct val="94000"/>
              </a:lnSpc>
              <a:buNone/>
            </a:pPr>
            <a:r>
              <a:rPr lang="en-US" sz="800" dirty="0">
                <a:solidFill>
                  <a:srgbClr val="4F4F4F"/>
                </a:solidFill>
                <a:latin typeface="Arial" pitchFamily="34" charset="0"/>
                <a:ea typeface="Arial" pitchFamily="34" charset="-122"/>
                <a:cs typeface="Arial" pitchFamily="34" charset="-120"/>
              </a:rPr>
              <a:t>POST /ndt/inform_all_destination_paths. The kernel’s own pull runs every 60 s, so this only buys latency.</a:t>
            </a:r>
            <a:endParaRPr lang="en-US" sz="800" dirty="0"/>
          </a:p>
        </p:txBody>
      </p:sp>
      <p:sp>
        <p:nvSpPr>
          <p:cNvPr id="48" name="Text 46"/>
          <p:cNvSpPr/>
          <p:nvPr/>
        </p:nvSpPr>
        <p:spPr>
          <a:xfrm>
            <a:off x="7498080" y="5376672"/>
            <a:ext cx="3931920" cy="877824"/>
          </a:xfrm>
          <a:prstGeom prst="rect">
            <a:avLst/>
          </a:prstGeom>
          <a:noFill/>
          <a:ln/>
        </p:spPr>
        <p:txBody>
          <a:bodyPr wrap="square" lIns="0" tIns="0" rIns="0" bIns="0" rtlCol="0" anchor="ctr"/>
          <a:lstStyle/>
          <a:p>
            <a:pPr algn="l" indent="0" marL="0">
              <a:lnSpc>
                <a:spcPct val="94000"/>
              </a:lnSpc>
              <a:buNone/>
            </a:pPr>
            <a:r>
              <a:rPr lang="en-US" sz="750" dirty="0">
                <a:solidFill>
                  <a:srgbClr val="4F4F4F"/>
                </a:solidFill>
                <a:latin typeface="Arial" pitchFamily="34" charset="0"/>
                <a:ea typeface="Arial" pitchFamily="34" charset="-122"/>
                <a:cs typeface="Arial" pitchFamily="34" charset="-120"/>
              </a:rPr>
              <a:t>The order is the point. The push advertises the routes that are installed, so announcing first would publish a snapshot that is honest and already out of date — and the corrected one would not arrive until the next transition.</a:t>
            </a:r>
            <a:endParaRPr lang="en-US" sz="750" dirty="0"/>
          </a:p>
        </p:txBody>
      </p:sp>
      <p:sp>
        <p:nvSpPr>
          <p:cNvPr id="49" name="Shape 47"/>
          <p:cNvSpPr/>
          <p:nvPr/>
        </p:nvSpPr>
        <p:spPr>
          <a:xfrm>
            <a:off x="777240" y="6291072"/>
            <a:ext cx="10652760" cy="384048"/>
          </a:xfrm>
          <a:prstGeom prst="rect">
            <a:avLst/>
          </a:prstGeom>
          <a:solidFill>
            <a:srgbClr val="F7F8F9"/>
          </a:solidFill>
          <a:ln w="12700">
            <a:solidFill>
              <a:srgbClr val="D0D0D0"/>
            </a:solidFill>
            <a:prstDash val="solid"/>
          </a:ln>
        </p:spPr>
      </p:sp>
      <p:sp>
        <p:nvSpPr>
          <p:cNvPr id="50" name="Text 48"/>
          <p:cNvSpPr/>
          <p:nvPr/>
        </p:nvSpPr>
        <p:spPr>
          <a:xfrm>
            <a:off x="960120" y="6291072"/>
            <a:ext cx="10332720" cy="384048"/>
          </a:xfrm>
          <a:prstGeom prst="rect">
            <a:avLst/>
          </a:prstGeom>
          <a:noFill/>
          <a:ln/>
        </p:spPr>
        <p:txBody>
          <a:bodyPr wrap="square" lIns="0" tIns="0" rIns="0" bIns="0" rtlCol="0" anchor="ctr"/>
          <a:lstStyle/>
          <a:p>
            <a:pPr algn="l" indent="0" marL="0">
              <a:lnSpc>
                <a:spcPct val="95000"/>
              </a:lnSpc>
              <a:buNone/>
            </a:pPr>
            <a:r>
              <a:rPr lang="en-US" sz="800" dirty="0">
                <a:solidFill>
                  <a:srgbClr val="4F4F4F"/>
                </a:solidFill>
                <a:latin typeface="Arial" pitchFamily="34" charset="0"/>
                <a:ea typeface="Arial" pitchFamily="34" charset="-122"/>
                <a:cs typeface="Arial" pitchFamily="34" charset="-120"/>
              </a:rPr>
              <a:t>Detection costs between the timeout and the timeout plus one scan — 15 to 20 s by the constants, 10.7 to 14 s measured. Which of those two is right is not yet settled, and tuning the timer before it is would leave us unable to say what moved.</a:t>
            </a:r>
            <a:endParaRPr lang="en-US" sz="800" dirty="0"/>
          </a:p>
        </p:txBody>
      </p:sp>
      <p:sp>
        <p:nvSpPr>
          <p:cNvPr id="51" name="Text 49"/>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56032"/>
            <a:ext cx="5486400" cy="237744"/>
          </a:xfrm>
          <a:prstGeom prst="rect">
            <a:avLst/>
          </a:prstGeom>
          <a:noFill/>
          <a:ln/>
        </p:spPr>
        <p:txBody>
          <a:bodyPr wrap="square" lIns="0" tIns="0" rIns="0" bIns="0" rtlCol="0" anchor="ctr"/>
          <a:lstStyle/>
          <a:p>
            <a:pPr indent="0" marL="0">
              <a:buNone/>
            </a:pPr>
            <a:r>
              <a:rPr lang="en-US" sz="1050" b="1" spc="100" kern="0" dirty="0">
                <a:solidFill>
                  <a:srgbClr val="065A82"/>
                </a:solidFill>
                <a:latin typeface="Calibri" pitchFamily="34" charset="0"/>
                <a:ea typeface="Calibri" pitchFamily="34" charset="-122"/>
                <a:cs typeface="Calibri" pitchFamily="34" charset="-120"/>
              </a:rPr>
              <a:t>1 · NEW CAPABILITIES</a:t>
            </a:r>
            <a:endParaRPr lang="en-US" sz="1050" dirty="0"/>
          </a:p>
        </p:txBody>
      </p:sp>
      <p:sp>
        <p:nvSpPr>
          <p:cNvPr id="3" name="Text 1"/>
          <p:cNvSpPr/>
          <p:nvPr/>
        </p:nvSpPr>
        <p:spPr>
          <a:xfrm>
            <a:off x="777240" y="566928"/>
            <a:ext cx="10637215" cy="621792"/>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Phase 7: switch power management</a:t>
            </a:r>
            <a:endParaRPr lang="en-US" sz="3000" dirty="0"/>
          </a:p>
        </p:txBody>
      </p:sp>
      <p:sp>
        <p:nvSpPr>
          <p:cNvPr id="4" name="Text 2"/>
          <p:cNvSpPr/>
          <p:nvPr/>
        </p:nvSpPr>
        <p:spPr>
          <a:xfrm>
            <a:off x="777240" y="1207008"/>
            <a:ext cx="10637215" cy="347472"/>
          </a:xfrm>
          <a:prstGeom prst="rect">
            <a:avLst/>
          </a:prstGeom>
          <a:noFill/>
          <a:ln/>
        </p:spPr>
        <p:txBody>
          <a:bodyPr wrap="square" lIns="0" tIns="0" rIns="0" bIns="0" rtlCol="0" anchor="ctr"/>
          <a:lstStyle/>
          <a:p>
            <a:pPr indent="0" marL="0">
              <a:buNone/>
            </a:pPr>
            <a:r>
              <a:rPr lang="en-US" sz="1400" dirty="0">
                <a:solidFill>
                  <a:srgbClr val="4F4F4F"/>
                </a:solidFill>
                <a:latin typeface="Calibri" pitchFamily="34" charset="0"/>
                <a:ea typeface="Calibri" pitchFamily="34" charset="-122"/>
                <a:cs typeface="Calibri" pitchFamily="34" charset="-120"/>
              </a:rPr>
              <a:t>A twin has to be able to switch a node off and take it back again — and the order those steps land in is part of the mechanism</a:t>
            </a:r>
            <a:endParaRPr lang="en-US" sz="1400" dirty="0"/>
          </a:p>
        </p:txBody>
      </p:sp>
      <p:sp>
        <p:nvSpPr>
          <p:cNvPr id="5" name="Shape 3"/>
          <p:cNvSpPr/>
          <p:nvPr/>
        </p:nvSpPr>
        <p:spPr>
          <a:xfrm>
            <a:off x="777240" y="1700784"/>
            <a:ext cx="10637215" cy="9144"/>
          </a:xfrm>
          <a:prstGeom prst="line">
            <a:avLst/>
          </a:prstGeom>
          <a:noFill/>
          <a:ln w="12700">
            <a:solidFill>
              <a:srgbClr val="D0D0D0"/>
            </a:solidFill>
            <a:prstDash val="solid"/>
          </a:ln>
        </p:spPr>
      </p:sp>
      <p:sp>
        <p:nvSpPr>
          <p:cNvPr id="6" name="Text 4"/>
          <p:cNvSpPr/>
          <p:nvPr/>
        </p:nvSpPr>
        <p:spPr>
          <a:xfrm>
            <a:off x="777240" y="2084832"/>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106424" y="2075688"/>
            <a:ext cx="5705856" cy="292608"/>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Power off, and keep enough to come back</a:t>
            </a:r>
            <a:endParaRPr lang="en-US" sz="1550" dirty="0"/>
          </a:p>
        </p:txBody>
      </p:sp>
      <p:sp>
        <p:nvSpPr>
          <p:cNvPr id="8" name="Text 6"/>
          <p:cNvSpPr/>
          <p:nvPr/>
        </p:nvSpPr>
        <p:spPr>
          <a:xfrm>
            <a:off x="1106424" y="2414016"/>
            <a:ext cx="5705856" cy="822960"/>
          </a:xfrm>
          <a:prstGeom prst="rect">
            <a:avLst/>
          </a:prstGeom>
          <a:noFill/>
          <a:ln/>
        </p:spPr>
        <p:txBody>
          <a:bodyPr wrap="square" lIns="0" tIns="0" rIns="0" bIns="0" rtlCol="0" anchor="ctr"/>
          <a:lstStyle/>
          <a:p>
            <a:pPr indent="0" marL="0">
              <a:lnSpc>
                <a:spcPct val="124000"/>
              </a:lnSpc>
              <a:buNone/>
            </a:pPr>
            <a:r>
              <a:rPr lang="en-US" sz="1250" dirty="0">
                <a:solidFill>
                  <a:srgbClr val="2E2E2E"/>
                </a:solidFill>
                <a:latin typeface="Calibri" pitchFamily="34" charset="0"/>
                <a:ea typeface="Calibri" pitchFamily="34" charset="-122"/>
                <a:cs typeface="Calibri" pitchFamily="34" charset="-120"/>
              </a:rPr>
              <a:t>The ndtwin-p4-power helper shuts a bmv2 switch down entirely while preserving the state needed to restart it. A switch that is off disappears from /v1.0/topology/switches rather than staying in the list pretending to exist.</a:t>
            </a:r>
            <a:endParaRPr lang="en-US" sz="1250" dirty="0"/>
          </a:p>
        </p:txBody>
      </p:sp>
      <p:sp>
        <p:nvSpPr>
          <p:cNvPr id="9" name="Text 7"/>
          <p:cNvSpPr/>
          <p:nvPr/>
        </p:nvSpPr>
        <p:spPr>
          <a:xfrm>
            <a:off x="777240" y="3474720"/>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106424" y="3465576"/>
            <a:ext cx="5705856" cy="292608"/>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Re-adoption after a restart</a:t>
            </a:r>
            <a:endParaRPr lang="en-US" sz="1550" dirty="0"/>
          </a:p>
        </p:txBody>
      </p:sp>
      <p:sp>
        <p:nvSpPr>
          <p:cNvPr id="11" name="Text 9"/>
          <p:cNvSpPr/>
          <p:nvPr/>
        </p:nvSpPr>
        <p:spPr>
          <a:xfrm>
            <a:off x="1106424" y="3803904"/>
            <a:ext cx="5705856" cy="822960"/>
          </a:xfrm>
          <a:prstGeom prst="rect">
            <a:avLst/>
          </a:prstGeom>
          <a:noFill/>
          <a:ln/>
        </p:spPr>
        <p:txBody>
          <a:bodyPr wrap="square" lIns="0" tIns="0" rIns="0" bIns="0" rtlCol="0" anchor="ctr"/>
          <a:lstStyle/>
          <a:p>
            <a:pPr indent="0" marL="0">
              <a:lnSpc>
                <a:spcPct val="124000"/>
              </a:lnSpc>
              <a:buNone/>
            </a:pPr>
            <a:r>
              <a:rPr lang="en-US" sz="1250" dirty="0">
                <a:solidFill>
                  <a:srgbClr val="2E2E2E"/>
                </a:solidFill>
                <a:latin typeface="Calibri" pitchFamily="34" charset="0"/>
                <a:ea typeface="Calibri" pitchFamily="34" charset="-122"/>
                <a:cs typeface="Calibri" pitchFamily="34" charset="-120"/>
              </a:rPr>
              <a:t>POST /p4/readopt/{dpid} rebuilds mastership, the pipeline, the clone session and the routes. It is one call because those four have to happen in that order, and a partial re-adoption is worse than none.</a:t>
            </a:r>
            <a:endParaRPr lang="en-US" sz="1250" dirty="0"/>
          </a:p>
        </p:txBody>
      </p:sp>
      <p:sp>
        <p:nvSpPr>
          <p:cNvPr id="12" name="Text 10"/>
          <p:cNvSpPr/>
          <p:nvPr/>
        </p:nvSpPr>
        <p:spPr>
          <a:xfrm>
            <a:off x="777240" y="4864608"/>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3</a:t>
            </a:r>
            <a:endParaRPr lang="en-US" sz="1300" dirty="0"/>
          </a:p>
        </p:txBody>
      </p:sp>
      <p:sp>
        <p:nvSpPr>
          <p:cNvPr id="13" name="Text 11"/>
          <p:cNvSpPr/>
          <p:nvPr/>
        </p:nvSpPr>
        <p:spPr>
          <a:xfrm>
            <a:off x="1106424" y="4855464"/>
            <a:ext cx="5705856" cy="292608"/>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A known 30-second window, stated plainly</a:t>
            </a:r>
            <a:endParaRPr lang="en-US" sz="1550" dirty="0"/>
          </a:p>
        </p:txBody>
      </p:sp>
      <p:sp>
        <p:nvSpPr>
          <p:cNvPr id="14" name="Text 12"/>
          <p:cNvSpPr/>
          <p:nvPr/>
        </p:nvSpPr>
        <p:spPr>
          <a:xfrm>
            <a:off x="1106424" y="5193792"/>
            <a:ext cx="5705856" cy="822960"/>
          </a:xfrm>
          <a:prstGeom prst="rect">
            <a:avLst/>
          </a:prstGeom>
          <a:noFill/>
          <a:ln/>
        </p:spPr>
        <p:txBody>
          <a:bodyPr wrap="square" lIns="0" tIns="0" rIns="0" bIns="0" rtlCol="0" anchor="ctr"/>
          <a:lstStyle/>
          <a:p>
            <a:pPr indent="0" marL="0">
              <a:lnSpc>
                <a:spcPct val="124000"/>
              </a:lnSpc>
              <a:buNone/>
            </a:pPr>
            <a:r>
              <a:rPr lang="en-US" sz="1250" dirty="0">
                <a:solidFill>
                  <a:srgbClr val="2E2E2E"/>
                </a:solidFill>
                <a:latin typeface="Calibri" pitchFamily="34" charset="0"/>
                <a:ea typeface="Calibri" pitchFamily="34" charset="-122"/>
                <a:cs typeface="Calibri" pitchFamily="34" charset="-120"/>
              </a:rPr>
              <a:t>Re-adoption reports "adopted, routes not yet installed" while the links are still being rediscovered by LLDP. The gap is expected and observable rather than hidden.</a:t>
            </a:r>
            <a:endParaRPr lang="en-US" sz="1250" dirty="0"/>
          </a:p>
        </p:txBody>
      </p:sp>
      <p:sp>
        <p:nvSpPr>
          <p:cNvPr id="15" name="Text 13"/>
          <p:cNvSpPr/>
          <p:nvPr/>
        </p:nvSpPr>
        <p:spPr>
          <a:xfrm>
            <a:off x="7178040" y="2011680"/>
            <a:ext cx="4233672" cy="256032"/>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Live acceptance</a:t>
            </a:r>
            <a:endParaRPr lang="en-US" sz="1300" dirty="0"/>
          </a:p>
        </p:txBody>
      </p:sp>
      <p:sp>
        <p:nvSpPr>
          <p:cNvPr id="16" name="Shape 14"/>
          <p:cNvSpPr/>
          <p:nvPr/>
        </p:nvSpPr>
        <p:spPr>
          <a:xfrm>
            <a:off x="7178040" y="2304288"/>
            <a:ext cx="4233672" cy="9144"/>
          </a:xfrm>
          <a:prstGeom prst="line">
            <a:avLst/>
          </a:prstGeom>
          <a:noFill/>
          <a:ln w="12700">
            <a:solidFill>
              <a:srgbClr val="D0D0D0"/>
            </a:solidFill>
            <a:prstDash val="solid"/>
          </a:ln>
        </p:spPr>
      </p:sp>
      <p:sp>
        <p:nvSpPr>
          <p:cNvPr id="17" name="Text 15"/>
          <p:cNvSpPr/>
          <p:nvPr/>
        </p:nvSpPr>
        <p:spPr>
          <a:xfrm>
            <a:off x="7178040" y="2395728"/>
            <a:ext cx="2788920" cy="475488"/>
          </a:xfrm>
          <a:prstGeom prst="rect">
            <a:avLst/>
          </a:prstGeom>
          <a:noFill/>
          <a:ln/>
        </p:spPr>
        <p:txBody>
          <a:bodyPr wrap="square" lIns="0" tIns="0" rIns="0" bIns="0" rtlCol="0" anchor="ctr"/>
          <a:lstStyle/>
          <a:p>
            <a:pPr indent="0" marL="0">
              <a:buNone/>
            </a:pPr>
            <a:r>
              <a:rPr lang="en-US" sz="1100" b="1" dirty="0">
                <a:solidFill>
                  <a:srgbClr val="1A1A1A"/>
                </a:solidFill>
                <a:latin typeface="Calibri" pitchFamily="34" charset="0"/>
                <a:ea typeface="Calibri" pitchFamily="34" charset="-122"/>
                <a:cs typeface="Calibri" pitchFamily="34" charset="-120"/>
              </a:rPr>
              <a:t>The switch was held off for</a:t>
            </a:r>
            <a:endParaRPr lang="en-US" sz="1100" dirty="0"/>
          </a:p>
        </p:txBody>
      </p:sp>
      <p:sp>
        <p:nvSpPr>
          <p:cNvPr id="18" name="Text 16"/>
          <p:cNvSpPr/>
          <p:nvPr/>
        </p:nvSpPr>
        <p:spPr>
          <a:xfrm>
            <a:off x="9966960" y="2395728"/>
            <a:ext cx="1444752" cy="475488"/>
          </a:xfrm>
          <a:prstGeom prst="rect">
            <a:avLst/>
          </a:prstGeom>
          <a:noFill/>
          <a:ln/>
        </p:spPr>
        <p:txBody>
          <a:bodyPr wrap="square" lIns="0" tIns="0" rIns="0" bIns="0" rtlCol="0" anchor="ctr"/>
          <a:lstStyle/>
          <a:p>
            <a:pPr indent="0" marL="0">
              <a:buNone/>
            </a:pPr>
            <a:r>
              <a:rPr lang="en-US" sz="1100" dirty="0">
                <a:solidFill>
                  <a:srgbClr val="2E2E2E"/>
                </a:solidFill>
                <a:latin typeface="Calibri" pitchFamily="34" charset="0"/>
                <a:ea typeface="Calibri" pitchFamily="34" charset="-122"/>
                <a:cs typeface="Calibri" pitchFamily="34" charset="-120"/>
              </a:rPr>
              <a:t>135 s</a:t>
            </a:r>
            <a:endParaRPr lang="en-US" sz="1100" dirty="0"/>
          </a:p>
        </p:txBody>
      </p:sp>
      <p:sp>
        <p:nvSpPr>
          <p:cNvPr id="19" name="Shape 17"/>
          <p:cNvSpPr/>
          <p:nvPr/>
        </p:nvSpPr>
        <p:spPr>
          <a:xfrm>
            <a:off x="7178040" y="2852928"/>
            <a:ext cx="4233672" cy="9144"/>
          </a:xfrm>
          <a:prstGeom prst="line">
            <a:avLst/>
          </a:prstGeom>
          <a:noFill/>
          <a:ln w="12700">
            <a:solidFill>
              <a:srgbClr val="EFEFEF"/>
            </a:solidFill>
            <a:prstDash val="solid"/>
          </a:ln>
        </p:spPr>
      </p:sp>
      <p:sp>
        <p:nvSpPr>
          <p:cNvPr id="20" name="Text 18"/>
          <p:cNvSpPr/>
          <p:nvPr/>
        </p:nvSpPr>
        <p:spPr>
          <a:xfrm>
            <a:off x="7178040" y="2871216"/>
            <a:ext cx="2788920" cy="475488"/>
          </a:xfrm>
          <a:prstGeom prst="rect">
            <a:avLst/>
          </a:prstGeom>
          <a:noFill/>
          <a:ln/>
        </p:spPr>
        <p:txBody>
          <a:bodyPr wrap="square" lIns="0" tIns="0" rIns="0" bIns="0" rtlCol="0" anchor="ctr"/>
          <a:lstStyle/>
          <a:p>
            <a:pPr indent="0" marL="0">
              <a:buNone/>
            </a:pPr>
            <a:r>
              <a:rPr lang="en-US" sz="1100" b="1" dirty="0">
                <a:solidFill>
                  <a:srgbClr val="1A1A1A"/>
                </a:solidFill>
                <a:latin typeface="Calibri" pitchFamily="34" charset="0"/>
                <a:ea typeface="Calibri" pitchFamily="34" charset="-122"/>
                <a:cs typeface="Calibri" pitchFamily="34" charset="-120"/>
              </a:rPr>
              <a:t>From power-on to fully re-adopted</a:t>
            </a:r>
            <a:endParaRPr lang="en-US" sz="1100" dirty="0"/>
          </a:p>
        </p:txBody>
      </p:sp>
      <p:sp>
        <p:nvSpPr>
          <p:cNvPr id="21" name="Text 19"/>
          <p:cNvSpPr/>
          <p:nvPr/>
        </p:nvSpPr>
        <p:spPr>
          <a:xfrm>
            <a:off x="9966960" y="2871216"/>
            <a:ext cx="1444752" cy="475488"/>
          </a:xfrm>
          <a:prstGeom prst="rect">
            <a:avLst/>
          </a:prstGeom>
          <a:noFill/>
          <a:ln/>
        </p:spPr>
        <p:txBody>
          <a:bodyPr wrap="square" lIns="0" tIns="0" rIns="0" bIns="0" rtlCol="0" anchor="ctr"/>
          <a:lstStyle/>
          <a:p>
            <a:pPr indent="0" marL="0">
              <a:buNone/>
            </a:pPr>
            <a:r>
              <a:rPr lang="en-US" sz="1100" dirty="0">
                <a:solidFill>
                  <a:srgbClr val="2E2E2E"/>
                </a:solidFill>
                <a:latin typeface="Calibri" pitchFamily="34" charset="0"/>
                <a:ea typeface="Calibri" pitchFamily="34" charset="-122"/>
                <a:cs typeface="Calibri" pitchFamily="34" charset="-120"/>
              </a:rPr>
              <a:t>1.50 s</a:t>
            </a:r>
            <a:endParaRPr lang="en-US" sz="1100" dirty="0"/>
          </a:p>
        </p:txBody>
      </p:sp>
      <p:sp>
        <p:nvSpPr>
          <p:cNvPr id="22" name="Shape 20"/>
          <p:cNvSpPr/>
          <p:nvPr/>
        </p:nvSpPr>
        <p:spPr>
          <a:xfrm>
            <a:off x="7178040" y="3328416"/>
            <a:ext cx="4233672" cy="9144"/>
          </a:xfrm>
          <a:prstGeom prst="line">
            <a:avLst/>
          </a:prstGeom>
          <a:noFill/>
          <a:ln w="12700">
            <a:solidFill>
              <a:srgbClr val="EFEFEF"/>
            </a:solidFill>
            <a:prstDash val="solid"/>
          </a:ln>
        </p:spPr>
      </p:sp>
      <p:sp>
        <p:nvSpPr>
          <p:cNvPr id="23" name="Text 21"/>
          <p:cNvSpPr/>
          <p:nvPr/>
        </p:nvSpPr>
        <p:spPr>
          <a:xfrm>
            <a:off x="7178040" y="3346704"/>
            <a:ext cx="2788920" cy="475488"/>
          </a:xfrm>
          <a:prstGeom prst="rect">
            <a:avLst/>
          </a:prstGeom>
          <a:noFill/>
          <a:ln/>
        </p:spPr>
        <p:txBody>
          <a:bodyPr wrap="square" lIns="0" tIns="0" rIns="0" bIns="0" rtlCol="0" anchor="ctr"/>
          <a:lstStyle/>
          <a:p>
            <a:pPr indent="0" marL="0">
              <a:buNone/>
            </a:pPr>
            <a:r>
              <a:rPr lang="en-US" sz="1100" b="1" dirty="0">
                <a:solidFill>
                  <a:srgbClr val="1A1A1A"/>
                </a:solidFill>
                <a:latin typeface="Calibri" pitchFamily="34" charset="0"/>
                <a:ea typeface="Calibri" pitchFamily="34" charset="-122"/>
                <a:cs typeface="Calibri" pitchFamily="34" charset="-120"/>
              </a:rPr>
              <a:t>The graph was sampled at 10 Hz for</a:t>
            </a:r>
            <a:endParaRPr lang="en-US" sz="1100" dirty="0"/>
          </a:p>
        </p:txBody>
      </p:sp>
      <p:sp>
        <p:nvSpPr>
          <p:cNvPr id="24" name="Text 22"/>
          <p:cNvSpPr/>
          <p:nvPr/>
        </p:nvSpPr>
        <p:spPr>
          <a:xfrm>
            <a:off x="9966960" y="3346704"/>
            <a:ext cx="1444752" cy="475488"/>
          </a:xfrm>
          <a:prstGeom prst="rect">
            <a:avLst/>
          </a:prstGeom>
          <a:noFill/>
          <a:ln/>
        </p:spPr>
        <p:txBody>
          <a:bodyPr wrap="square" lIns="0" tIns="0" rIns="0" bIns="0" rtlCol="0" anchor="ctr"/>
          <a:lstStyle/>
          <a:p>
            <a:pPr indent="0" marL="0">
              <a:buNone/>
            </a:pPr>
            <a:r>
              <a:rPr lang="en-US" sz="1100" dirty="0">
                <a:solidFill>
                  <a:srgbClr val="2E2E2E"/>
                </a:solidFill>
                <a:latin typeface="Calibri" pitchFamily="34" charset="0"/>
                <a:ea typeface="Calibri" pitchFamily="34" charset="-122"/>
                <a:cs typeface="Calibri" pitchFamily="34" charset="-120"/>
              </a:rPr>
              <a:t>678 readings</a:t>
            </a:r>
            <a:endParaRPr lang="en-US" sz="1100" dirty="0"/>
          </a:p>
        </p:txBody>
      </p:sp>
      <p:sp>
        <p:nvSpPr>
          <p:cNvPr id="25" name="Shape 23"/>
          <p:cNvSpPr/>
          <p:nvPr/>
        </p:nvSpPr>
        <p:spPr>
          <a:xfrm>
            <a:off x="7178040" y="3803904"/>
            <a:ext cx="4233672" cy="9144"/>
          </a:xfrm>
          <a:prstGeom prst="line">
            <a:avLst/>
          </a:prstGeom>
          <a:noFill/>
          <a:ln w="12700">
            <a:solidFill>
              <a:srgbClr val="EFEFEF"/>
            </a:solidFill>
            <a:prstDash val="solid"/>
          </a:ln>
        </p:spPr>
      </p:sp>
      <p:sp>
        <p:nvSpPr>
          <p:cNvPr id="26" name="Text 24"/>
          <p:cNvSpPr/>
          <p:nvPr/>
        </p:nvSpPr>
        <p:spPr>
          <a:xfrm>
            <a:off x="7178040" y="3822192"/>
            <a:ext cx="2788920" cy="475488"/>
          </a:xfrm>
          <a:prstGeom prst="rect">
            <a:avLst/>
          </a:prstGeom>
          <a:noFill/>
          <a:ln/>
        </p:spPr>
        <p:txBody>
          <a:bodyPr wrap="square" lIns="0" tIns="0" rIns="0" bIns="0" rtlCol="0" anchor="ctr"/>
          <a:lstStyle/>
          <a:p>
            <a:pPr indent="0" marL="0">
              <a:buNone/>
            </a:pPr>
            <a:r>
              <a:rPr lang="en-US" sz="1100" b="1" dirty="0">
                <a:solidFill>
                  <a:srgbClr val="1A1A1A"/>
                </a:solidFill>
                <a:latin typeface="Calibri" pitchFamily="34" charset="0"/>
                <a:ea typeface="Calibri" pitchFamily="34" charset="-122"/>
                <a:cs typeface="Calibri" pitchFamily="34" charset="-120"/>
              </a:rPr>
              <a:t>Readings that wrongly showed it up</a:t>
            </a:r>
            <a:endParaRPr lang="en-US" sz="1100" dirty="0"/>
          </a:p>
        </p:txBody>
      </p:sp>
      <p:sp>
        <p:nvSpPr>
          <p:cNvPr id="27" name="Text 25"/>
          <p:cNvSpPr/>
          <p:nvPr/>
        </p:nvSpPr>
        <p:spPr>
          <a:xfrm>
            <a:off x="9966960" y="3822192"/>
            <a:ext cx="1444752" cy="475488"/>
          </a:xfrm>
          <a:prstGeom prst="rect">
            <a:avLst/>
          </a:prstGeom>
          <a:noFill/>
          <a:ln/>
        </p:spPr>
        <p:txBody>
          <a:bodyPr wrap="square" lIns="0" tIns="0" rIns="0" bIns="0" rtlCol="0" anchor="ctr"/>
          <a:lstStyle/>
          <a:p>
            <a:pPr indent="0" marL="0">
              <a:buNone/>
            </a:pPr>
            <a:r>
              <a:rPr lang="en-US" sz="1100" dirty="0">
                <a:solidFill>
                  <a:srgbClr val="2E2E2E"/>
                </a:solidFill>
                <a:latin typeface="Calibri" pitchFamily="34" charset="0"/>
                <a:ea typeface="Calibri" pitchFamily="34" charset="-122"/>
                <a:cs typeface="Calibri" pitchFamily="34" charset="-120"/>
              </a:rPr>
              <a:t>0</a:t>
            </a:r>
            <a:endParaRPr lang="en-US" sz="1100" dirty="0"/>
          </a:p>
        </p:txBody>
      </p:sp>
      <p:sp>
        <p:nvSpPr>
          <p:cNvPr id="28" name="Shape 26"/>
          <p:cNvSpPr/>
          <p:nvPr/>
        </p:nvSpPr>
        <p:spPr>
          <a:xfrm>
            <a:off x="7178040" y="4279392"/>
            <a:ext cx="4233672" cy="9144"/>
          </a:xfrm>
          <a:prstGeom prst="line">
            <a:avLst/>
          </a:prstGeom>
          <a:noFill/>
          <a:ln w="12700">
            <a:solidFill>
              <a:srgbClr val="EFEFEF"/>
            </a:solidFill>
            <a:prstDash val="solid"/>
          </a:ln>
        </p:spPr>
      </p:sp>
      <p:sp>
        <p:nvSpPr>
          <p:cNvPr id="29" name="Shape 27"/>
          <p:cNvSpPr/>
          <p:nvPr/>
        </p:nvSpPr>
        <p:spPr>
          <a:xfrm>
            <a:off x="7178040" y="4480560"/>
            <a:ext cx="32004" cy="868680"/>
          </a:xfrm>
          <a:prstGeom prst="rect">
            <a:avLst/>
          </a:prstGeom>
          <a:solidFill>
            <a:srgbClr val="065A82"/>
          </a:solidFill>
          <a:ln/>
        </p:spPr>
      </p:sp>
      <p:sp>
        <p:nvSpPr>
          <p:cNvPr id="30" name="Text 28"/>
          <p:cNvSpPr/>
          <p:nvPr/>
        </p:nvSpPr>
        <p:spPr>
          <a:xfrm>
            <a:off x="7379208" y="4443984"/>
            <a:ext cx="4032504" cy="960120"/>
          </a:xfrm>
          <a:prstGeom prst="rect">
            <a:avLst/>
          </a:prstGeom>
          <a:noFill/>
          <a:ln/>
        </p:spPr>
        <p:txBody>
          <a:bodyPr wrap="square" lIns="0" tIns="0" rIns="0" bIns="0" rtlCol="0" anchor="ctr"/>
          <a:lstStyle/>
          <a:p>
            <a:pPr indent="0" marL="0">
              <a:lnSpc>
                <a:spcPct val="120000"/>
              </a:lnSpc>
              <a:buNone/>
            </a:pPr>
            <a:r>
              <a:rPr lang="en-US" sz="1100" dirty="0">
                <a:solidFill>
                  <a:srgbClr val="4F4F4F"/>
                </a:solidFill>
                <a:latin typeface="Calibri" pitchFamily="34" charset="0"/>
                <a:ea typeface="Calibri" pitchFamily="34" charset="-122"/>
                <a:cs typeface="Calibri" pitchFamily="34" charset="-120"/>
              </a:rPr>
              <a:t>Re-adoption is one call, not four, because mastership, pipeline, clone session and routes have to land in that order — and the 10 Hz sampling is there to prove the graph never flickered up in between.</a:t>
            </a:r>
            <a:endParaRPr lang="en-US" sz="1100" dirty="0"/>
          </a:p>
        </p:txBody>
      </p:sp>
      <p:sp>
        <p:nvSpPr>
          <p:cNvPr id="31" name="Text 29"/>
          <p:cNvSpPr/>
          <p:nvPr/>
        </p:nvSpPr>
        <p:spPr>
          <a:xfrm>
            <a:off x="777240" y="6272784"/>
            <a:ext cx="10637215" cy="274320"/>
          </a:xfrm>
          <a:prstGeom prst="rect">
            <a:avLst/>
          </a:prstGeom>
          <a:noFill/>
          <a:ln/>
        </p:spPr>
        <p:txBody>
          <a:bodyPr wrap="square" lIns="0" tIns="0" rIns="0" bIns="0" rtlCol="0" anchor="ctr"/>
          <a:lstStyle/>
          <a:p>
            <a:pPr indent="0" marL="0">
              <a:buNone/>
            </a:pPr>
            <a:r>
              <a:rPr lang="en-US" sz="1100" dirty="0">
                <a:solidFill>
                  <a:srgbClr val="4F4F4F"/>
                </a:solidFill>
                <a:latin typeface="Calibri" pitchFamily="34" charset="0"/>
                <a:ea typeface="Calibri" pitchFamily="34" charset="-122"/>
                <a:cs typeface="Calibri" pitchFamily="34" charset="-120"/>
              </a:rPr>
              <a:t>Phase 7 and Phase 8 are both complete. Phase 3 — proxy endpoint completion — is the only one not started.</a:t>
            </a:r>
            <a:endParaRPr lang="en-US" sz="1100" dirty="0"/>
          </a:p>
        </p:txBody>
      </p:sp>
      <p:sp>
        <p:nvSpPr>
          <p:cNvPr id="32" name="Text 30"/>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1975104"/>
            <a:ext cx="10058400" cy="384048"/>
          </a:xfrm>
          <a:prstGeom prst="rect">
            <a:avLst/>
          </a:prstGeom>
          <a:noFill/>
          <a:ln/>
        </p:spPr>
        <p:txBody>
          <a:bodyPr wrap="square" lIns="0" tIns="0" rIns="0" bIns="0" rtlCol="0" anchor="ctr"/>
          <a:lstStyle/>
          <a:p>
            <a:pPr indent="0" marL="0">
              <a:buNone/>
            </a:pPr>
            <a:r>
              <a:rPr lang="en-US" sz="1600" spc="120" kern="0" dirty="0">
                <a:solidFill>
                  <a:srgbClr val="065A82"/>
                </a:solidFill>
                <a:latin typeface="Calibri" pitchFamily="34" charset="0"/>
                <a:ea typeface="Calibri" pitchFamily="34" charset="-122"/>
                <a:cs typeface="Calibri" pitchFamily="34" charset="-120"/>
              </a:rPr>
              <a:t>SECTION 2</a:t>
            </a:r>
            <a:endParaRPr lang="en-US" sz="1600" dirty="0"/>
          </a:p>
        </p:txBody>
      </p:sp>
      <p:sp>
        <p:nvSpPr>
          <p:cNvPr id="3" name="Text 1"/>
          <p:cNvSpPr/>
          <p:nvPr/>
        </p:nvSpPr>
        <p:spPr>
          <a:xfrm>
            <a:off x="777240" y="2487168"/>
            <a:ext cx="10058400" cy="868680"/>
          </a:xfrm>
          <a:prstGeom prst="rect">
            <a:avLst/>
          </a:prstGeom>
          <a:noFill/>
          <a:ln/>
        </p:spPr>
        <p:txBody>
          <a:bodyPr wrap="square" lIns="0" tIns="0" rIns="0" bIns="0" rtlCol="0" anchor="ctr"/>
          <a:lstStyle/>
          <a:p>
            <a:pPr indent="0" marL="0">
              <a:buNone/>
            </a:pPr>
            <a:r>
              <a:rPr lang="en-US" sz="4400" b="1" dirty="0">
                <a:solidFill>
                  <a:srgbClr val="1A1A1A"/>
                </a:solidFill>
                <a:latin typeface="Cambria" pitchFamily="34" charset="0"/>
                <a:ea typeface="Cambria" pitchFamily="34" charset="-122"/>
                <a:cs typeface="Cambria" pitchFamily="34" charset="-120"/>
              </a:rPr>
              <a:t>Test tooling and documentation</a:t>
            </a:r>
            <a:endParaRPr lang="en-US" sz="4400" dirty="0"/>
          </a:p>
        </p:txBody>
      </p:sp>
      <p:sp>
        <p:nvSpPr>
          <p:cNvPr id="4" name="Text 2"/>
          <p:cNvSpPr/>
          <p:nvPr/>
        </p:nvSpPr>
        <p:spPr>
          <a:xfrm>
            <a:off x="777240" y="3401568"/>
            <a:ext cx="10058400" cy="566928"/>
          </a:xfrm>
          <a:prstGeom prst="rect">
            <a:avLst/>
          </a:prstGeom>
          <a:noFill/>
          <a:ln/>
        </p:spPr>
        <p:txBody>
          <a:bodyPr wrap="square" lIns="0" tIns="0" rIns="0" bIns="0" rtlCol="0" anchor="ctr"/>
          <a:lstStyle/>
          <a:p>
            <a:pPr indent="0" marL="0">
              <a:lnSpc>
                <a:spcPct val="115000"/>
              </a:lnSpc>
              <a:buNone/>
            </a:pPr>
            <a:r>
              <a:rPr lang="en-US" sz="2000" dirty="0">
                <a:solidFill>
                  <a:srgbClr val="4F4F4F"/>
                </a:solidFill>
                <a:latin typeface="Calibri" pitchFamily="34" charset="0"/>
                <a:ea typeface="Calibri" pitchFamily="34" charset="-122"/>
                <a:cs typeface="Calibri" pitchFamily="34" charset="-120"/>
              </a:rPr>
              <a:t>The five-layer harness, what each layer gates, and what was written down</a:t>
            </a:r>
            <a:endParaRPr lang="en-US" sz="2000" dirty="0"/>
          </a:p>
        </p:txBody>
      </p:sp>
      <p:sp>
        <p:nvSpPr>
          <p:cNvPr id="5" name="Shape 3"/>
          <p:cNvSpPr/>
          <p:nvPr/>
        </p:nvSpPr>
        <p:spPr>
          <a:xfrm>
            <a:off x="777240" y="4261104"/>
            <a:ext cx="1005840" cy="9144"/>
          </a:xfrm>
          <a:prstGeom prst="line">
            <a:avLst/>
          </a:prstGeom>
          <a:noFill/>
          <a:ln w="25400">
            <a:solidFill>
              <a:srgbClr val="065A82"/>
            </a:solidFill>
            <a:prstDash val="solid"/>
          </a:ln>
        </p:spPr>
      </p:sp>
      <p:sp>
        <p:nvSpPr>
          <p:cNvPr id="6" name="Text 4"/>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56032"/>
            <a:ext cx="5486400" cy="237744"/>
          </a:xfrm>
          <a:prstGeom prst="rect">
            <a:avLst/>
          </a:prstGeom>
          <a:noFill/>
          <a:ln/>
        </p:spPr>
        <p:txBody>
          <a:bodyPr wrap="square" lIns="0" tIns="0" rIns="0" bIns="0" rtlCol="0" anchor="ctr"/>
          <a:lstStyle/>
          <a:p>
            <a:pPr indent="0" marL="0">
              <a:buNone/>
            </a:pPr>
            <a:r>
              <a:rPr lang="en-US" sz="1050" b="1" spc="100" kern="0" dirty="0">
                <a:solidFill>
                  <a:srgbClr val="065A82"/>
                </a:solidFill>
                <a:latin typeface="Calibri" pitchFamily="34" charset="0"/>
                <a:ea typeface="Calibri" pitchFamily="34" charset="-122"/>
                <a:cs typeface="Calibri" pitchFamily="34" charset="-120"/>
              </a:rPr>
              <a:t>2 · TEST TOOLING AND DOCUMENTATION</a:t>
            </a:r>
            <a:endParaRPr lang="en-US" sz="1050" dirty="0"/>
          </a:p>
        </p:txBody>
      </p:sp>
      <p:sp>
        <p:nvSpPr>
          <p:cNvPr id="3" name="Text 1"/>
          <p:cNvSpPr/>
          <p:nvPr/>
        </p:nvSpPr>
        <p:spPr>
          <a:xfrm>
            <a:off x="777240" y="566928"/>
            <a:ext cx="10637215" cy="621792"/>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The methodology is the real technology</a:t>
            </a:r>
            <a:endParaRPr lang="en-US" sz="3000" dirty="0"/>
          </a:p>
        </p:txBody>
      </p:sp>
      <p:sp>
        <p:nvSpPr>
          <p:cNvPr id="4" name="Text 2"/>
          <p:cNvSpPr/>
          <p:nvPr/>
        </p:nvSpPr>
        <p:spPr>
          <a:xfrm>
            <a:off x="777240" y="1207008"/>
            <a:ext cx="10637215" cy="347472"/>
          </a:xfrm>
          <a:prstGeom prst="rect">
            <a:avLst/>
          </a:prstGeom>
          <a:noFill/>
          <a:ln/>
        </p:spPr>
        <p:txBody>
          <a:bodyPr wrap="square" lIns="0" tIns="0" rIns="0" bIns="0" rtlCol="0" anchor="ctr"/>
          <a:lstStyle/>
          <a:p>
            <a:pPr indent="0" marL="0">
              <a:buNone/>
            </a:pPr>
            <a:r>
              <a:rPr lang="en-US" sz="1400" dirty="0">
                <a:solidFill>
                  <a:srgbClr val="4F4F4F"/>
                </a:solidFill>
                <a:latin typeface="Calibri" pitchFamily="34" charset="0"/>
                <a:ea typeface="Calibri" pitchFamily="34" charset="-122"/>
                <a:cs typeface="Calibri" pitchFamily="34" charset="-120"/>
              </a:rPr>
              <a:t>Four ideas, each one replacing a judgement call with something that can fail</a:t>
            </a:r>
            <a:endParaRPr lang="en-US" sz="1400" dirty="0"/>
          </a:p>
        </p:txBody>
      </p:sp>
      <p:sp>
        <p:nvSpPr>
          <p:cNvPr id="5" name="Shape 3"/>
          <p:cNvSpPr/>
          <p:nvPr/>
        </p:nvSpPr>
        <p:spPr>
          <a:xfrm>
            <a:off x="777240" y="1700784"/>
            <a:ext cx="10637215" cy="9144"/>
          </a:xfrm>
          <a:prstGeom prst="line">
            <a:avLst/>
          </a:prstGeom>
          <a:noFill/>
          <a:ln w="12700">
            <a:solidFill>
              <a:srgbClr val="D0D0D0"/>
            </a:solidFill>
            <a:prstDash val="solid"/>
          </a:ln>
        </p:spPr>
      </p:sp>
      <p:sp>
        <p:nvSpPr>
          <p:cNvPr id="6" name="Text 4"/>
          <p:cNvSpPr/>
          <p:nvPr/>
        </p:nvSpPr>
        <p:spPr>
          <a:xfrm>
            <a:off x="777240" y="2048256"/>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106424" y="2039112"/>
            <a:ext cx="4715104" cy="292608"/>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Differential testing</a:t>
            </a:r>
            <a:endParaRPr lang="en-US" sz="1500" dirty="0"/>
          </a:p>
        </p:txBody>
      </p:sp>
      <p:sp>
        <p:nvSpPr>
          <p:cNvPr id="8" name="Text 6"/>
          <p:cNvSpPr/>
          <p:nvPr/>
        </p:nvSpPr>
        <p:spPr>
          <a:xfrm>
            <a:off x="1106424" y="2377440"/>
            <a:ext cx="4715104" cy="868680"/>
          </a:xfrm>
          <a:prstGeom prst="rect">
            <a:avLst/>
          </a:prstGeom>
          <a:noFill/>
          <a:ln/>
        </p:spPr>
        <p:txBody>
          <a:bodyPr wrap="square" lIns="0" tIns="0" rIns="0" bIns="0" rtlCol="0" anchor="ctr"/>
          <a:lstStyle/>
          <a:p>
            <a:pPr indent="0" marL="0">
              <a:lnSpc>
                <a:spcPct val="120000"/>
              </a:lnSpc>
              <a:buNone/>
            </a:pPr>
            <a:r>
              <a:rPr lang="en-US" sz="1200" dirty="0">
                <a:solidFill>
                  <a:srgbClr val="2E2E2E"/>
                </a:solidFill>
                <a:latin typeface="Calibri" pitchFamily="34" charset="0"/>
                <a:ea typeface="Calibri" pitchFamily="34" charset="-122"/>
                <a:cs typeface="Calibri" pitchFamily="34" charset="-120"/>
              </a:rPr>
              <a:t>The OVS path is known-good, so its behaviour is the specification the P4 path is checked against. No separate spec to write, and no argument about what correct means.</a:t>
            </a:r>
            <a:endParaRPr lang="en-US" sz="1200" dirty="0"/>
          </a:p>
        </p:txBody>
      </p:sp>
      <p:sp>
        <p:nvSpPr>
          <p:cNvPr id="9" name="Shape 7"/>
          <p:cNvSpPr/>
          <p:nvPr/>
        </p:nvSpPr>
        <p:spPr>
          <a:xfrm>
            <a:off x="1106424" y="3310128"/>
            <a:ext cx="27432" cy="475488"/>
          </a:xfrm>
          <a:prstGeom prst="rect">
            <a:avLst/>
          </a:prstGeom>
          <a:solidFill>
            <a:srgbClr val="065A82"/>
          </a:solidFill>
          <a:ln/>
        </p:spPr>
      </p:sp>
      <p:sp>
        <p:nvSpPr>
          <p:cNvPr id="10" name="Text 8"/>
          <p:cNvSpPr/>
          <p:nvPr/>
        </p:nvSpPr>
        <p:spPr>
          <a:xfrm>
            <a:off x="1325880" y="3273552"/>
            <a:ext cx="4495648" cy="530352"/>
          </a:xfrm>
          <a:prstGeom prst="rect">
            <a:avLst/>
          </a:prstGeom>
          <a:noFill/>
          <a:ln/>
        </p:spPr>
        <p:txBody>
          <a:bodyPr wrap="square" lIns="0" tIns="0" rIns="0" bIns="0" rtlCol="0" anchor="ctr"/>
          <a:lstStyle/>
          <a:p>
            <a:pPr indent="0" marL="0">
              <a:lnSpc>
                <a:spcPct val="118000"/>
              </a:lnSpc>
              <a:buNone/>
            </a:pPr>
            <a:r>
              <a:rPr lang="en-US" sz="1100" dirty="0">
                <a:solidFill>
                  <a:srgbClr val="4F4F4F"/>
                </a:solidFill>
                <a:latin typeface="Calibri" pitchFamily="34" charset="0"/>
                <a:ea typeface="Calibri" pitchFamily="34" charset="-122"/>
                <a:cs typeface="Calibri" pitchFamily="34" charset="-120"/>
              </a:rPr>
              <a:t>The same method timed the inherited router at 180.75 s × 3 against 51.8 s now — no claim about anyone’s code required.</a:t>
            </a:r>
            <a:endParaRPr lang="en-US" sz="1100" dirty="0"/>
          </a:p>
        </p:txBody>
      </p:sp>
      <p:sp>
        <p:nvSpPr>
          <p:cNvPr id="11" name="Text 9"/>
          <p:cNvSpPr/>
          <p:nvPr/>
        </p:nvSpPr>
        <p:spPr>
          <a:xfrm>
            <a:off x="6370168" y="2048256"/>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6699352" y="2039112"/>
            <a:ext cx="4715104" cy="292608"/>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Mutation testing as an acceptance gate</a:t>
            </a:r>
            <a:endParaRPr lang="en-US" sz="1500" dirty="0"/>
          </a:p>
        </p:txBody>
      </p:sp>
      <p:sp>
        <p:nvSpPr>
          <p:cNvPr id="13" name="Text 11"/>
          <p:cNvSpPr/>
          <p:nvPr/>
        </p:nvSpPr>
        <p:spPr>
          <a:xfrm>
            <a:off x="6699352" y="2377440"/>
            <a:ext cx="4715104" cy="868680"/>
          </a:xfrm>
          <a:prstGeom prst="rect">
            <a:avLst/>
          </a:prstGeom>
          <a:noFill/>
          <a:ln/>
        </p:spPr>
        <p:txBody>
          <a:bodyPr wrap="square" lIns="0" tIns="0" rIns="0" bIns="0" rtlCol="0" anchor="ctr"/>
          <a:lstStyle/>
          <a:p>
            <a:pPr indent="0" marL="0">
              <a:lnSpc>
                <a:spcPct val="120000"/>
              </a:lnSpc>
              <a:buNone/>
            </a:pPr>
            <a:r>
              <a:rPr lang="en-US" sz="1200" dirty="0">
                <a:solidFill>
                  <a:srgbClr val="2E2E2E"/>
                </a:solidFill>
                <a:latin typeface="Calibri" pitchFamily="34" charset="0"/>
                <a:ea typeface="Calibri" pitchFamily="34" charset="-122"/>
                <a:cs typeface="Calibri" pitchFamily="34" charset="-120"/>
              </a:rPr>
              <a:t>A test does not count until it has been watched failing: break the implementation, see it go red, restore. The evidence is filed per test.</a:t>
            </a:r>
            <a:endParaRPr lang="en-US" sz="1200" dirty="0"/>
          </a:p>
        </p:txBody>
      </p:sp>
      <p:sp>
        <p:nvSpPr>
          <p:cNvPr id="14" name="Shape 12"/>
          <p:cNvSpPr/>
          <p:nvPr/>
        </p:nvSpPr>
        <p:spPr>
          <a:xfrm>
            <a:off x="6699352" y="3310128"/>
            <a:ext cx="27432" cy="475488"/>
          </a:xfrm>
          <a:prstGeom prst="rect">
            <a:avLst/>
          </a:prstGeom>
          <a:solidFill>
            <a:srgbClr val="065A82"/>
          </a:solidFill>
          <a:ln/>
        </p:spPr>
      </p:sp>
      <p:sp>
        <p:nvSpPr>
          <p:cNvPr id="15" name="Text 13"/>
          <p:cNvSpPr/>
          <p:nvPr/>
        </p:nvSpPr>
        <p:spPr>
          <a:xfrm>
            <a:off x="6918808" y="3273552"/>
            <a:ext cx="4495648" cy="530352"/>
          </a:xfrm>
          <a:prstGeom prst="rect">
            <a:avLst/>
          </a:prstGeom>
          <a:noFill/>
          <a:ln/>
        </p:spPr>
        <p:txBody>
          <a:bodyPr wrap="square" lIns="0" tIns="0" rIns="0" bIns="0" rtlCol="0" anchor="ctr"/>
          <a:lstStyle/>
          <a:p>
            <a:pPr indent="0" marL="0">
              <a:lnSpc>
                <a:spcPct val="118000"/>
              </a:lnSpc>
              <a:buNone/>
            </a:pPr>
            <a:r>
              <a:rPr lang="en-US" sz="1100" dirty="0">
                <a:solidFill>
                  <a:srgbClr val="4F4F4F"/>
                </a:solidFill>
                <a:latin typeface="Calibri" pitchFamily="34" charset="0"/>
                <a:ea typeface="Calibri" pitchFamily="34" charset="-122"/>
                <a:cs typeface="Calibri" pitchFamily="34" charset="-120"/>
              </a:rPr>
              <a:t>This caught eleven tests that passed while proving nothing at all.</a:t>
            </a:r>
            <a:endParaRPr lang="en-US" sz="1100" dirty="0"/>
          </a:p>
        </p:txBody>
      </p:sp>
      <p:sp>
        <p:nvSpPr>
          <p:cNvPr id="16" name="Text 14"/>
          <p:cNvSpPr/>
          <p:nvPr/>
        </p:nvSpPr>
        <p:spPr>
          <a:xfrm>
            <a:off x="777240" y="4078224"/>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1106424" y="4069080"/>
            <a:ext cx="4715104" cy="292608"/>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Allowlist gates</a:t>
            </a:r>
            <a:endParaRPr lang="en-US" sz="1500" dirty="0"/>
          </a:p>
        </p:txBody>
      </p:sp>
      <p:sp>
        <p:nvSpPr>
          <p:cNvPr id="18" name="Text 16"/>
          <p:cNvSpPr/>
          <p:nvPr/>
        </p:nvSpPr>
        <p:spPr>
          <a:xfrm>
            <a:off x="1106424" y="4407408"/>
            <a:ext cx="4715104" cy="868680"/>
          </a:xfrm>
          <a:prstGeom prst="rect">
            <a:avLst/>
          </a:prstGeom>
          <a:noFill/>
          <a:ln/>
        </p:spPr>
        <p:txBody>
          <a:bodyPr wrap="square" lIns="0" tIns="0" rIns="0" bIns="0" rtlCol="0" anchor="ctr"/>
          <a:lstStyle/>
          <a:p>
            <a:pPr indent="0" marL="0">
              <a:lnSpc>
                <a:spcPct val="120000"/>
              </a:lnSpc>
              <a:buNone/>
            </a:pPr>
            <a:r>
              <a:rPr lang="en-US" sz="1200" dirty="0">
                <a:solidFill>
                  <a:srgbClr val="2E2E2E"/>
                </a:solidFill>
                <a:latin typeface="Calibri" pitchFamily="34" charset="0"/>
                <a:ea typeface="Calibri" pitchFamily="34" charset="-122"/>
                <a:cs typeface="Calibri" pitchFamily="34" charset="-120"/>
              </a:rPr>
              <a:t>Any warning or OVS/P4 difference not on a list is a failure. Every accepted difference has to be written down as a sentence with a reason.</a:t>
            </a:r>
            <a:endParaRPr lang="en-US" sz="1200" dirty="0"/>
          </a:p>
        </p:txBody>
      </p:sp>
      <p:sp>
        <p:nvSpPr>
          <p:cNvPr id="19" name="Shape 17"/>
          <p:cNvSpPr/>
          <p:nvPr/>
        </p:nvSpPr>
        <p:spPr>
          <a:xfrm>
            <a:off x="1106424" y="5340096"/>
            <a:ext cx="27432" cy="475488"/>
          </a:xfrm>
          <a:prstGeom prst="rect">
            <a:avLst/>
          </a:prstGeom>
          <a:solidFill>
            <a:srgbClr val="065A82"/>
          </a:solidFill>
          <a:ln/>
        </p:spPr>
      </p:sp>
      <p:sp>
        <p:nvSpPr>
          <p:cNvPr id="20" name="Text 18"/>
          <p:cNvSpPr/>
          <p:nvPr/>
        </p:nvSpPr>
        <p:spPr>
          <a:xfrm>
            <a:off x="1325880" y="5303520"/>
            <a:ext cx="4495648" cy="530352"/>
          </a:xfrm>
          <a:prstGeom prst="rect">
            <a:avLst/>
          </a:prstGeom>
          <a:noFill/>
          <a:ln/>
        </p:spPr>
        <p:txBody>
          <a:bodyPr wrap="square" lIns="0" tIns="0" rIns="0" bIns="0" rtlCol="0" anchor="ctr"/>
          <a:lstStyle/>
          <a:p>
            <a:pPr indent="0" marL="0">
              <a:lnSpc>
                <a:spcPct val="118000"/>
              </a:lnSpc>
              <a:buNone/>
            </a:pPr>
            <a:r>
              <a:rPr lang="en-US" sz="1100" dirty="0">
                <a:solidFill>
                  <a:srgbClr val="4F4F4F"/>
                </a:solidFill>
                <a:latin typeface="Calibri" pitchFamily="34" charset="0"/>
                <a:ea typeface="Calibri" pitchFamily="34" charset="-122"/>
                <a:cs typeface="Calibri" pitchFamily="34" charset="-120"/>
              </a:rPr>
              <a:t>New problems cannot hide inside old noise.</a:t>
            </a:r>
            <a:endParaRPr lang="en-US" sz="1100" dirty="0"/>
          </a:p>
        </p:txBody>
      </p:sp>
      <p:sp>
        <p:nvSpPr>
          <p:cNvPr id="21" name="Text 19"/>
          <p:cNvSpPr/>
          <p:nvPr/>
        </p:nvSpPr>
        <p:spPr>
          <a:xfrm>
            <a:off x="6370168" y="4078224"/>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6699352" y="4069080"/>
            <a:ext cx="4715104" cy="292608"/>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Evidence-based design</a:t>
            </a:r>
            <a:endParaRPr lang="en-US" sz="1500" dirty="0"/>
          </a:p>
        </p:txBody>
      </p:sp>
      <p:sp>
        <p:nvSpPr>
          <p:cNvPr id="23" name="Text 21"/>
          <p:cNvSpPr/>
          <p:nvPr/>
        </p:nvSpPr>
        <p:spPr>
          <a:xfrm>
            <a:off x="6699352" y="4407408"/>
            <a:ext cx="4715104" cy="868680"/>
          </a:xfrm>
          <a:prstGeom prst="rect">
            <a:avLst/>
          </a:prstGeom>
          <a:noFill/>
          <a:ln/>
        </p:spPr>
        <p:txBody>
          <a:bodyPr wrap="square" lIns="0" tIns="0" rIns="0" bIns="0" rtlCol="0" anchor="ctr"/>
          <a:lstStyle/>
          <a:p>
            <a:pPr indent="0" marL="0">
              <a:lnSpc>
                <a:spcPct val="120000"/>
              </a:lnSpc>
              <a:buNone/>
            </a:pPr>
            <a:r>
              <a:rPr lang="en-US" sz="1200" dirty="0">
                <a:solidFill>
                  <a:srgbClr val="2E2E2E"/>
                </a:solidFill>
                <a:latin typeface="Calibri" pitchFamily="34" charset="0"/>
                <a:ea typeface="Calibri" pitchFamily="34" charset="-122"/>
                <a:cs typeface="Calibri" pitchFamily="34" charset="-120"/>
              </a:rPr>
              <a:t>Liveness has three states, not two. Southbound calls return OpResult, not bool. "I could not tell" and "it failed" are never allowed to render as "it worked".</a:t>
            </a:r>
            <a:endParaRPr lang="en-US" sz="1200" dirty="0"/>
          </a:p>
        </p:txBody>
      </p:sp>
      <p:sp>
        <p:nvSpPr>
          <p:cNvPr id="24" name="Shape 22"/>
          <p:cNvSpPr/>
          <p:nvPr/>
        </p:nvSpPr>
        <p:spPr>
          <a:xfrm>
            <a:off x="6699352" y="5340096"/>
            <a:ext cx="27432" cy="475488"/>
          </a:xfrm>
          <a:prstGeom prst="rect">
            <a:avLst/>
          </a:prstGeom>
          <a:solidFill>
            <a:srgbClr val="065A82"/>
          </a:solidFill>
          <a:ln/>
        </p:spPr>
      </p:sp>
      <p:sp>
        <p:nvSpPr>
          <p:cNvPr id="25" name="Text 23"/>
          <p:cNvSpPr/>
          <p:nvPr/>
        </p:nvSpPr>
        <p:spPr>
          <a:xfrm>
            <a:off x="6918808" y="5303520"/>
            <a:ext cx="4495648" cy="530352"/>
          </a:xfrm>
          <a:prstGeom prst="rect">
            <a:avLst/>
          </a:prstGeom>
          <a:noFill/>
          <a:ln/>
        </p:spPr>
        <p:txBody>
          <a:bodyPr wrap="square" lIns="0" tIns="0" rIns="0" bIns="0" rtlCol="0" anchor="ctr"/>
          <a:lstStyle/>
          <a:p>
            <a:pPr indent="0" marL="0">
              <a:lnSpc>
                <a:spcPct val="118000"/>
              </a:lnSpc>
              <a:buNone/>
            </a:pPr>
            <a:r>
              <a:rPr lang="en-US" sz="1100" dirty="0">
                <a:solidFill>
                  <a:srgbClr val="4F4F4F"/>
                </a:solidFill>
                <a:latin typeface="Calibri" pitchFamily="34" charset="0"/>
                <a:ea typeface="Calibri" pitchFamily="34" charset="-122"/>
                <a:cs typeface="Calibri" pitchFamily="34" charset="-120"/>
              </a:rPr>
              <a:t>Liveness on page 16 is the instance of this that carries the most weight.</a:t>
            </a:r>
            <a:endParaRPr lang="en-US" sz="1100" dirty="0"/>
          </a:p>
        </p:txBody>
      </p:sp>
      <p:sp>
        <p:nvSpPr>
          <p:cNvPr id="26" name="Text 24"/>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56032"/>
            <a:ext cx="5486400" cy="237744"/>
          </a:xfrm>
          <a:prstGeom prst="rect">
            <a:avLst/>
          </a:prstGeom>
          <a:noFill/>
          <a:ln/>
        </p:spPr>
        <p:txBody>
          <a:bodyPr wrap="square" lIns="0" tIns="0" rIns="0" bIns="0" rtlCol="0" anchor="ctr"/>
          <a:lstStyle/>
          <a:p>
            <a:pPr indent="0" marL="0">
              <a:buNone/>
            </a:pPr>
            <a:r>
              <a:rPr lang="en-US" sz="1050" b="1" spc="100" kern="0" dirty="0">
                <a:solidFill>
                  <a:srgbClr val="065A82"/>
                </a:solidFill>
                <a:latin typeface="Calibri" pitchFamily="34" charset="0"/>
                <a:ea typeface="Calibri" pitchFamily="34" charset="-122"/>
                <a:cs typeface="Calibri" pitchFamily="34" charset="-120"/>
              </a:rPr>
              <a:t>2 · TEST TOOLING AND DOCUMENTATION</a:t>
            </a:r>
            <a:endParaRPr lang="en-US" sz="1050" dirty="0"/>
          </a:p>
        </p:txBody>
      </p:sp>
      <p:sp>
        <p:nvSpPr>
          <p:cNvPr id="3" name="Text 1"/>
          <p:cNvSpPr/>
          <p:nvPr/>
        </p:nvSpPr>
        <p:spPr>
          <a:xfrm>
            <a:off x="777240" y="566928"/>
            <a:ext cx="10637215" cy="621792"/>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Five layers, five different questions</a:t>
            </a:r>
            <a:endParaRPr lang="en-US" sz="3000" dirty="0"/>
          </a:p>
        </p:txBody>
      </p:sp>
      <p:sp>
        <p:nvSpPr>
          <p:cNvPr id="4" name="Text 2"/>
          <p:cNvSpPr/>
          <p:nvPr/>
        </p:nvSpPr>
        <p:spPr>
          <a:xfrm>
            <a:off x="777240" y="1207008"/>
            <a:ext cx="10637215" cy="347472"/>
          </a:xfrm>
          <a:prstGeom prst="rect">
            <a:avLst/>
          </a:prstGeom>
          <a:noFill/>
          <a:ln/>
        </p:spPr>
        <p:txBody>
          <a:bodyPr wrap="square" lIns="0" tIns="0" rIns="0" bIns="0" rtlCol="0" anchor="ctr"/>
          <a:lstStyle/>
          <a:p>
            <a:pPr indent="0" marL="0">
              <a:buNone/>
            </a:pPr>
            <a:r>
              <a:rPr lang="en-US" sz="1400" dirty="0">
                <a:solidFill>
                  <a:srgbClr val="4F4F4F"/>
                </a:solidFill>
                <a:latin typeface="Calibri" pitchFamily="34" charset="0"/>
                <a:ea typeface="Calibri" pitchFamily="34" charset="-122"/>
                <a:cs typeface="Calibri" pitchFamily="34" charset="-120"/>
              </a:rPr>
              <a:t>Different failure modes surface at different stages, and each layer costs a different amount to run and to debug</a:t>
            </a:r>
            <a:endParaRPr lang="en-US" sz="1400" dirty="0"/>
          </a:p>
        </p:txBody>
      </p:sp>
      <p:sp>
        <p:nvSpPr>
          <p:cNvPr id="5" name="Shape 3"/>
          <p:cNvSpPr/>
          <p:nvPr/>
        </p:nvSpPr>
        <p:spPr>
          <a:xfrm>
            <a:off x="777240" y="1700784"/>
            <a:ext cx="10637215" cy="9144"/>
          </a:xfrm>
          <a:prstGeom prst="line">
            <a:avLst/>
          </a:prstGeom>
          <a:noFill/>
          <a:ln w="12700">
            <a:solidFill>
              <a:srgbClr val="D0D0D0"/>
            </a:solidFill>
            <a:prstDash val="solid"/>
          </a:ln>
        </p:spPr>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777240" y="1975104"/>
          <a:ext cx="10637215" cy="914400"/>
        </p:xfrm>
        <a:graphic>
          <a:graphicData uri="http://schemas.openxmlformats.org/drawingml/2006/table">
            <a:tbl>
              <a:tblPr/>
              <a:tblGrid>
                <a:gridCol w="2240280"/>
                <a:gridCol w="4572000"/>
                <a:gridCol w="2148840"/>
                <a:gridCol w="1673352"/>
              </a:tblGrid>
              <a:tr h="36576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Layer</a:t>
                      </a:r>
                      <a:endParaRPr lang="en-US" sz="1150" dirty="0">
                        <a:latin typeface="Calibri" charset="0"/>
                        <a:ea typeface="Calibri" charset="0"/>
                        <a:cs typeface="Calibri" charset="0"/>
                      </a:endParaRPr>
                    </a:p>
                  </a:txBody>
                  <a:tcPr marL="109728" marR="109728" marT="54864" marB="54864"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065A8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The question it answers</a:t>
                      </a:r>
                      <a:endParaRPr lang="en-US" sz="1150" dirty="0">
                        <a:latin typeface="Calibri" charset="0"/>
                        <a:ea typeface="Calibri" charset="0"/>
                        <a:cs typeface="Calibri" charset="0"/>
                      </a:endParaRPr>
                    </a:p>
                  </a:txBody>
                  <a:tcPr marL="109728" marR="109728" marT="54864" marB="54864"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065A8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Cost</a:t>
                      </a:r>
                      <a:endParaRPr lang="en-US" sz="1150" dirty="0">
                        <a:latin typeface="Calibri" charset="0"/>
                        <a:ea typeface="Calibri" charset="0"/>
                        <a:cs typeface="Calibri" charset="0"/>
                      </a:endParaRPr>
                    </a:p>
                  </a:txBody>
                  <a:tcPr marL="109728" marR="109728" marT="54864" marB="54864"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065A8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Mininet</a:t>
                      </a:r>
                      <a:endParaRPr lang="en-US" sz="1150" dirty="0">
                        <a:latin typeface="Calibri" charset="0"/>
                        <a:ea typeface="Calibri" charset="0"/>
                        <a:cs typeface="Calibri" charset="0"/>
                      </a:endParaRPr>
                    </a:p>
                  </a:txBody>
                  <a:tcPr marL="109728" marR="109728" marT="54864" marB="54864"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065A82"/>
                    </a:solidFill>
                  </a:tcPr>
                </a:tc>
              </a:tr>
              <a:tr h="603504">
                <a:tc>
                  <a:txBody>
                    <a:bodyPr/>
                    <a:lstStyle/>
                    <a:p>
                      <a:pPr indent="0" marL="0">
                        <a:buNone/>
                      </a:pPr>
                      <a:r>
                        <a:rPr lang="en-US" sz="1150" b="1" dirty="0">
                          <a:solidFill>
                            <a:srgbClr val="065A82"/>
                          </a:solidFill>
                          <a:latin typeface="Calibri" pitchFamily="34" charset="0"/>
                          <a:ea typeface="Calibri" pitchFamily="34" charset="-122"/>
                          <a:cs typeface="Calibri" pitchFamily="34" charset="-120"/>
                        </a:rPr>
                        <a:t>L0   Build check</a:t>
                      </a:r>
                      <a:endParaRPr lang="en-US" sz="1150" dirty="0">
                        <a:latin typeface="Calibri" charset="0"/>
                        <a:ea typeface="Calibri" charset="0"/>
                        <a:cs typeface="Calibri" charset="0"/>
                      </a:endParaRPr>
                    </a:p>
                  </a:txBody>
                  <a:tcPr marL="109728" marR="109728" marT="54864" marB="54864"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100" dirty="0">
                          <a:solidFill>
                            <a:srgbClr val="2E2E2E"/>
                          </a:solidFill>
                          <a:latin typeface="Calibri" pitchFamily="34" charset="0"/>
                          <a:ea typeface="Calibri" pitchFamily="34" charset="-122"/>
                          <a:cs typeface="Calibri" pitchFamily="34" charset="-120"/>
                        </a:rPr>
                        <a:t>Does every component still compile?</a:t>
                      </a:r>
                      <a:endParaRPr lang="en-US" sz="1100" dirty="0">
                        <a:latin typeface="Calibri" charset="0"/>
                        <a:ea typeface="Calibri" charset="0"/>
                        <a:cs typeface="Calibri" charset="0"/>
                      </a:endParaRPr>
                    </a:p>
                  </a:txBody>
                  <a:tcPr marL="109728" marR="109728" marT="54864" marB="54864"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050" dirty="0">
                          <a:solidFill>
                            <a:srgbClr val="4F4F4F"/>
                          </a:solidFill>
                          <a:latin typeface="Calibri" pitchFamily="34" charset="0"/>
                          <a:ea typeface="Calibri" pitchFamily="34" charset="-122"/>
                          <a:cs typeface="Calibri" pitchFamily="34" charset="-120"/>
                        </a:rPr>
                        <a:t>seconds–minutes</a:t>
                      </a:r>
                      <a:endParaRPr lang="en-US" sz="1050" dirty="0">
                        <a:latin typeface="Calibri" charset="0"/>
                        <a:ea typeface="Calibri" charset="0"/>
                        <a:cs typeface="Calibri" charset="0"/>
                      </a:endParaRPr>
                    </a:p>
                  </a:txBody>
                  <a:tcPr marL="109728" marR="109728" marT="54864" marB="54864"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050" dirty="0">
                          <a:solidFill>
                            <a:srgbClr val="4F4F4F"/>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109728" marR="109728" marT="54864" marB="54864"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r>
              <a:tr h="603504">
                <a:tc>
                  <a:txBody>
                    <a:bodyPr/>
                    <a:lstStyle/>
                    <a:p>
                      <a:pPr indent="0" marL="0">
                        <a:buNone/>
                      </a:pPr>
                      <a:r>
                        <a:rPr lang="en-US" sz="1150" b="1" dirty="0">
                          <a:solidFill>
                            <a:srgbClr val="065A82"/>
                          </a:solidFill>
                          <a:latin typeface="Calibri" pitchFamily="34" charset="0"/>
                          <a:ea typeface="Calibri" pitchFamily="34" charset="-122"/>
                          <a:cs typeface="Calibri" pitchFamily="34" charset="-120"/>
                        </a:rPr>
                        <a:t>L1   Unit tests</a:t>
                      </a:r>
                      <a:endParaRPr lang="en-US" sz="1150" dirty="0">
                        <a:latin typeface="Calibri" charset="0"/>
                        <a:ea typeface="Calibri" charset="0"/>
                        <a:cs typeface="Calibri" charset="0"/>
                      </a:endParaRPr>
                    </a:p>
                  </a:txBody>
                  <a:tcPr marL="109728" marR="109728" marT="54864" marB="54864"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100" dirty="0">
                          <a:solidFill>
                            <a:srgbClr val="2E2E2E"/>
                          </a:solidFill>
                          <a:latin typeface="Calibri" pitchFamily="34" charset="0"/>
                          <a:ea typeface="Calibri" pitchFamily="34" charset="-122"/>
                          <a:cs typeface="Calibri" pitchFamily="34" charset="-120"/>
                        </a:rPr>
                        <a:t>Is unit behaviour correct — and still correct in a shared process?</a:t>
                      </a:r>
                      <a:endParaRPr lang="en-US" sz="1100" dirty="0">
                        <a:latin typeface="Calibri" charset="0"/>
                        <a:ea typeface="Calibri" charset="0"/>
                        <a:cs typeface="Calibri" charset="0"/>
                      </a:endParaRPr>
                    </a:p>
                  </a:txBody>
                  <a:tcPr marL="109728" marR="109728" marT="54864" marB="54864"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050" dirty="0">
                          <a:solidFill>
                            <a:srgbClr val="4F4F4F"/>
                          </a:solidFill>
                          <a:latin typeface="Calibri" pitchFamily="34" charset="0"/>
                          <a:ea typeface="Calibri" pitchFamily="34" charset="-122"/>
                          <a:cs typeface="Calibri" pitchFamily="34" charset="-120"/>
                        </a:rPr>
                        <a:t>~2 minutes</a:t>
                      </a:r>
                      <a:endParaRPr lang="en-US" sz="1050" dirty="0">
                        <a:latin typeface="Calibri" charset="0"/>
                        <a:ea typeface="Calibri" charset="0"/>
                        <a:cs typeface="Calibri" charset="0"/>
                      </a:endParaRPr>
                    </a:p>
                  </a:txBody>
                  <a:tcPr marL="109728" marR="109728" marT="54864" marB="54864"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050" dirty="0">
                          <a:solidFill>
                            <a:srgbClr val="4F4F4F"/>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109728" marR="109728" marT="54864" marB="54864"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r>
              <a:tr h="603504">
                <a:tc>
                  <a:txBody>
                    <a:bodyPr/>
                    <a:lstStyle/>
                    <a:p>
                      <a:pPr indent="0" marL="0">
                        <a:buNone/>
                      </a:pPr>
                      <a:r>
                        <a:rPr lang="en-US" sz="1150" b="1" dirty="0">
                          <a:solidFill>
                            <a:srgbClr val="065A82"/>
                          </a:solidFill>
                          <a:latin typeface="Calibri" pitchFamily="34" charset="0"/>
                          <a:ea typeface="Calibri" pitchFamily="34" charset="-122"/>
                          <a:cs typeface="Calibri" pitchFamily="34" charset="-120"/>
                        </a:rPr>
                        <a:t>L2   API contract</a:t>
                      </a:r>
                      <a:endParaRPr lang="en-US" sz="1150" dirty="0">
                        <a:latin typeface="Calibri" charset="0"/>
                        <a:ea typeface="Calibri" charset="0"/>
                        <a:cs typeface="Calibri" charset="0"/>
                      </a:endParaRPr>
                    </a:p>
                  </a:txBody>
                  <a:tcPr marL="109728" marR="109728" marT="54864" marB="54864"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100" dirty="0">
                          <a:solidFill>
                            <a:srgbClr val="2E2E2E"/>
                          </a:solidFill>
                          <a:latin typeface="Calibri" pitchFamily="34" charset="0"/>
                          <a:ea typeface="Calibri" pitchFamily="34" charset="-122"/>
                          <a:cs typeface="Calibri" pitchFamily="34" charset="-120"/>
                        </a:rPr>
                        <a:t>Does /ndt/* honour its structure, invariants and error paths?</a:t>
                      </a:r>
                      <a:endParaRPr lang="en-US" sz="1100" dirty="0">
                        <a:latin typeface="Calibri" charset="0"/>
                        <a:ea typeface="Calibri" charset="0"/>
                        <a:cs typeface="Calibri" charset="0"/>
                      </a:endParaRPr>
                    </a:p>
                  </a:txBody>
                  <a:tcPr marL="109728" marR="109728" marT="54864" marB="54864"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050" dirty="0">
                          <a:solidFill>
                            <a:srgbClr val="4F4F4F"/>
                          </a:solidFill>
                          <a:latin typeface="Calibri" pitchFamily="34" charset="0"/>
                          <a:ea typeface="Calibri" pitchFamily="34" charset="-122"/>
                          <a:cs typeface="Calibri" pitchFamily="34" charset="-120"/>
                        </a:rPr>
                        <a:t>needs a running stack</a:t>
                      </a:r>
                      <a:endParaRPr lang="en-US" sz="1050" dirty="0">
                        <a:latin typeface="Calibri" charset="0"/>
                        <a:ea typeface="Calibri" charset="0"/>
                        <a:cs typeface="Calibri" charset="0"/>
                      </a:endParaRPr>
                    </a:p>
                  </a:txBody>
                  <a:tcPr marL="109728" marR="109728" marT="54864" marB="54864"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050" dirty="0">
                          <a:solidFill>
                            <a:srgbClr val="4F4F4F"/>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109728" marR="109728" marT="54864" marB="54864"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r>
              <a:tr h="603504">
                <a:tc>
                  <a:txBody>
                    <a:bodyPr/>
                    <a:lstStyle/>
                    <a:p>
                      <a:pPr indent="0" marL="0">
                        <a:buNone/>
                      </a:pPr>
                      <a:r>
                        <a:rPr lang="en-US" sz="1150" b="1" dirty="0">
                          <a:solidFill>
                            <a:srgbClr val="065A82"/>
                          </a:solidFill>
                          <a:latin typeface="Calibri" pitchFamily="34" charset="0"/>
                          <a:ea typeface="Calibri" pitchFamily="34" charset="-122"/>
                          <a:cs typeface="Calibri" pitchFamily="34" charset="-120"/>
                        </a:rPr>
                        <a:t>L3   Component contract</a:t>
                      </a:r>
                      <a:endParaRPr lang="en-US" sz="1150" dirty="0">
                        <a:latin typeface="Calibri" charset="0"/>
                        <a:ea typeface="Calibri" charset="0"/>
                        <a:cs typeface="Calibri" charset="0"/>
                      </a:endParaRPr>
                    </a:p>
                  </a:txBody>
                  <a:tcPr marL="109728" marR="109728" marT="54864" marB="54864"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100" dirty="0">
                          <a:solidFill>
                            <a:srgbClr val="2E2E2E"/>
                          </a:solidFill>
                          <a:latin typeface="Calibri" pitchFamily="34" charset="0"/>
                          <a:ea typeface="Calibri" pitchFamily="34" charset="-122"/>
                          <a:cs typeface="Calibri" pitchFamily="34" charset="-120"/>
                        </a:rPr>
                        <a:t>Change one endpoint — which of the seven components break?</a:t>
                      </a:r>
                      <a:endParaRPr lang="en-US" sz="1100" dirty="0">
                        <a:latin typeface="Calibri" charset="0"/>
                        <a:ea typeface="Calibri" charset="0"/>
                        <a:cs typeface="Calibri" charset="0"/>
                      </a:endParaRPr>
                    </a:p>
                  </a:txBody>
                  <a:tcPr marL="109728" marR="109728" marT="54864" marB="54864"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050" dirty="0">
                          <a:solidFill>
                            <a:srgbClr val="4F4F4F"/>
                          </a:solidFill>
                          <a:latin typeface="Calibri" pitchFamily="34" charset="0"/>
                          <a:ea typeface="Calibri" pitchFamily="34" charset="-122"/>
                          <a:cs typeface="Calibri" pitchFamily="34" charset="-120"/>
                        </a:rPr>
                        <a:t>needs a running stack</a:t>
                      </a:r>
                      <a:endParaRPr lang="en-US" sz="1050" dirty="0">
                        <a:latin typeface="Calibri" charset="0"/>
                        <a:ea typeface="Calibri" charset="0"/>
                        <a:cs typeface="Calibri" charset="0"/>
                      </a:endParaRPr>
                    </a:p>
                  </a:txBody>
                  <a:tcPr marL="109728" marR="109728" marT="54864" marB="54864"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050" dirty="0">
                          <a:solidFill>
                            <a:srgbClr val="4F4F4F"/>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109728" marR="109728" marT="54864" marB="54864"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r>
              <a:tr h="603504">
                <a:tc>
                  <a:txBody>
                    <a:bodyPr/>
                    <a:lstStyle/>
                    <a:p>
                      <a:pPr indent="0" marL="0">
                        <a:buNone/>
                      </a:pPr>
                      <a:r>
                        <a:rPr lang="en-US" sz="1150" b="1" dirty="0">
                          <a:solidFill>
                            <a:srgbClr val="065A82"/>
                          </a:solidFill>
                          <a:latin typeface="Calibri" pitchFamily="34" charset="0"/>
                          <a:ea typeface="Calibri" pitchFamily="34" charset="-122"/>
                          <a:cs typeface="Calibri" pitchFamily="34" charset="-120"/>
                        </a:rPr>
                        <a:t>L4   Differential</a:t>
                      </a:r>
                      <a:endParaRPr lang="en-US" sz="1150" dirty="0">
                        <a:latin typeface="Calibri" charset="0"/>
                        <a:ea typeface="Calibri" charset="0"/>
                        <a:cs typeface="Calibri" charset="0"/>
                      </a:endParaRPr>
                    </a:p>
                  </a:txBody>
                  <a:tcPr marL="109728" marR="109728" marT="54864" marB="54864"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100" dirty="0">
                          <a:solidFill>
                            <a:srgbClr val="2E2E2E"/>
                          </a:solidFill>
                          <a:latin typeface="Calibri" pitchFamily="34" charset="0"/>
                          <a:ea typeface="Calibri" pitchFamily="34" charset="-122"/>
                          <a:cs typeface="Calibri" pitchFamily="34" charset="-120"/>
                        </a:rPr>
                        <a:t>Does the P4 path behave like the known-good OVS path?</a:t>
                      </a:r>
                      <a:endParaRPr lang="en-US" sz="1100" dirty="0">
                        <a:latin typeface="Calibri" charset="0"/>
                        <a:ea typeface="Calibri" charset="0"/>
                        <a:cs typeface="Calibri" charset="0"/>
                      </a:endParaRPr>
                    </a:p>
                  </a:txBody>
                  <a:tcPr marL="109728" marR="109728" marT="54864" marB="54864"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050" dirty="0">
                          <a:solidFill>
                            <a:srgbClr val="4F4F4F"/>
                          </a:solidFill>
                          <a:latin typeface="Calibri" pitchFamily="34" charset="0"/>
                          <a:ea typeface="Calibri" pitchFamily="34" charset="-122"/>
                          <a:cs typeface="Calibri" pitchFamily="34" charset="-120"/>
                        </a:rPr>
                        <a:t>full stack + traffic</a:t>
                      </a:r>
                      <a:endParaRPr lang="en-US" sz="1050" dirty="0">
                        <a:latin typeface="Calibri" charset="0"/>
                        <a:ea typeface="Calibri" charset="0"/>
                        <a:cs typeface="Calibri" charset="0"/>
                      </a:endParaRPr>
                    </a:p>
                  </a:txBody>
                  <a:tcPr marL="109728" marR="109728" marT="54864" marB="54864"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050" dirty="0">
                          <a:solidFill>
                            <a:srgbClr val="4F4F4F"/>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109728" marR="109728" marT="54864" marB="54864"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r>
            </a:tbl>
          </a:graphicData>
        </a:graphic>
      </p:graphicFrame>
      <p:sp>
        <p:nvSpPr>
          <p:cNvPr id="7" name="Text 4"/>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56032"/>
            <a:ext cx="5486400" cy="237744"/>
          </a:xfrm>
          <a:prstGeom prst="rect">
            <a:avLst/>
          </a:prstGeom>
          <a:noFill/>
          <a:ln/>
        </p:spPr>
        <p:txBody>
          <a:bodyPr wrap="square" lIns="0" tIns="0" rIns="0" bIns="0" rtlCol="0" anchor="ctr"/>
          <a:lstStyle/>
          <a:p>
            <a:pPr indent="0" marL="0">
              <a:buNone/>
            </a:pPr>
            <a:r>
              <a:rPr lang="en-US" sz="1050" b="1" spc="100" kern="0" dirty="0">
                <a:solidFill>
                  <a:srgbClr val="065A82"/>
                </a:solidFill>
                <a:latin typeface="Calibri" pitchFamily="34" charset="0"/>
                <a:ea typeface="Calibri" pitchFamily="34" charset="-122"/>
                <a:cs typeface="Calibri" pitchFamily="34" charset="-120"/>
              </a:rPr>
              <a:t>2 · TEST TOOLING AND DOCUMENTATION</a:t>
            </a:r>
            <a:endParaRPr lang="en-US" sz="1050" dirty="0"/>
          </a:p>
        </p:txBody>
      </p:sp>
      <p:sp>
        <p:nvSpPr>
          <p:cNvPr id="3" name="Text 1"/>
          <p:cNvSpPr/>
          <p:nvPr/>
        </p:nvSpPr>
        <p:spPr>
          <a:xfrm>
            <a:off x="777240" y="566928"/>
            <a:ext cx="10637215" cy="621792"/>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What the suite contains, and what makes it trustworthy</a:t>
            </a:r>
            <a:endParaRPr lang="en-US" sz="3000" dirty="0"/>
          </a:p>
        </p:txBody>
      </p:sp>
      <p:sp>
        <p:nvSpPr>
          <p:cNvPr id="4" name="Text 2"/>
          <p:cNvSpPr/>
          <p:nvPr/>
        </p:nvSpPr>
        <p:spPr>
          <a:xfrm>
            <a:off x="777240" y="1207008"/>
            <a:ext cx="10637215" cy="347472"/>
          </a:xfrm>
          <a:prstGeom prst="rect">
            <a:avLst/>
          </a:prstGeom>
          <a:noFill/>
          <a:ln/>
        </p:spPr>
        <p:txBody>
          <a:bodyPr wrap="square" lIns="0" tIns="0" rIns="0" bIns="0" rtlCol="0" anchor="ctr"/>
          <a:lstStyle/>
          <a:p>
            <a:pPr indent="0" marL="0">
              <a:buNone/>
            </a:pPr>
            <a:r>
              <a:rPr lang="en-US" sz="1400" dirty="0">
                <a:solidFill>
                  <a:srgbClr val="4F4F4F"/>
                </a:solidFill>
                <a:latin typeface="Calibri" pitchFamily="34" charset="0"/>
                <a:ea typeface="Calibri" pitchFamily="34" charset="-122"/>
                <a:cs typeface="Calibri" pitchFamily="34" charset="-120"/>
              </a:rPr>
              <a:t>A test count proves nothing on its own — so every test here was watched failing before it was allowed to count</a:t>
            </a:r>
            <a:endParaRPr lang="en-US" sz="1400" dirty="0"/>
          </a:p>
        </p:txBody>
      </p:sp>
      <p:sp>
        <p:nvSpPr>
          <p:cNvPr id="5" name="Shape 3"/>
          <p:cNvSpPr/>
          <p:nvPr/>
        </p:nvSpPr>
        <p:spPr>
          <a:xfrm>
            <a:off x="777240" y="1700784"/>
            <a:ext cx="10637215" cy="9144"/>
          </a:xfrm>
          <a:prstGeom prst="line">
            <a:avLst/>
          </a:prstGeom>
          <a:noFill/>
          <a:ln w="12700">
            <a:solidFill>
              <a:srgbClr val="D0D0D0"/>
            </a:solidFill>
            <a:prstDash val="solid"/>
          </a:ln>
        </p:spPr>
      </p:sp>
      <p:sp>
        <p:nvSpPr>
          <p:cNvPr id="6" name="Text 4"/>
          <p:cNvSpPr/>
          <p:nvPr/>
        </p:nvSpPr>
        <p:spPr>
          <a:xfrm>
            <a:off x="777240" y="1975104"/>
            <a:ext cx="2522144" cy="530352"/>
          </a:xfrm>
          <a:prstGeom prst="rect">
            <a:avLst/>
          </a:prstGeom>
          <a:noFill/>
          <a:ln/>
        </p:spPr>
        <p:txBody>
          <a:bodyPr wrap="square" lIns="0" tIns="0" rIns="0" bIns="0" rtlCol="0" anchor="ctr"/>
          <a:lstStyle/>
          <a:p>
            <a:pPr indent="0" marL="0">
              <a:buNone/>
            </a:pPr>
            <a:r>
              <a:rPr lang="en-US" sz="2800" b="1" dirty="0">
                <a:solidFill>
                  <a:srgbClr val="065A82"/>
                </a:solidFill>
                <a:latin typeface="Cambria" pitchFamily="34" charset="0"/>
                <a:ea typeface="Cambria" pitchFamily="34" charset="-122"/>
                <a:cs typeface="Cambria" pitchFamily="34" charset="-120"/>
              </a:rPr>
              <a:t>603</a:t>
            </a:r>
            <a:endParaRPr lang="en-US" sz="2800" dirty="0"/>
          </a:p>
        </p:txBody>
      </p:sp>
      <p:sp>
        <p:nvSpPr>
          <p:cNvPr id="7" name="Text 5"/>
          <p:cNvSpPr/>
          <p:nvPr/>
        </p:nvSpPr>
        <p:spPr>
          <a:xfrm>
            <a:off x="777240" y="2523744"/>
            <a:ext cx="2522144" cy="237744"/>
          </a:xfrm>
          <a:prstGeom prst="rect">
            <a:avLst/>
          </a:prstGeom>
          <a:noFill/>
          <a:ln/>
        </p:spPr>
        <p:txBody>
          <a:bodyPr wrap="square" lIns="0" tIns="0" rIns="0" bIns="0"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gtest cases</a:t>
            </a:r>
            <a:endParaRPr lang="en-US" sz="1200" dirty="0"/>
          </a:p>
        </p:txBody>
      </p:sp>
      <p:sp>
        <p:nvSpPr>
          <p:cNvPr id="8" name="Text 6"/>
          <p:cNvSpPr/>
          <p:nvPr/>
        </p:nvSpPr>
        <p:spPr>
          <a:xfrm>
            <a:off x="777240" y="2743200"/>
            <a:ext cx="2522144" cy="237744"/>
          </a:xfrm>
          <a:prstGeom prst="rect">
            <a:avLst/>
          </a:prstGeom>
          <a:noFill/>
          <a:ln/>
        </p:spPr>
        <p:txBody>
          <a:bodyPr wrap="square" lIns="0" tIns="0" rIns="0" bIns="0" rtlCol="0" anchor="ctr"/>
          <a:lstStyle/>
          <a:p>
            <a:pPr indent="0" marL="0">
              <a:buNone/>
            </a:pPr>
            <a:r>
              <a:rPr lang="en-US" sz="1050" dirty="0">
                <a:solidFill>
                  <a:srgbClr val="4F4F4F"/>
                </a:solidFill>
                <a:latin typeface="Calibri" pitchFamily="34" charset="0"/>
                <a:ea typeface="Calibri" pitchFamily="34" charset="-122"/>
                <a:cs typeface="Calibri" pitchFamily="34" charset="-120"/>
              </a:rPr>
              <a:t>in 47 files</a:t>
            </a:r>
            <a:endParaRPr lang="en-US" sz="1050" dirty="0"/>
          </a:p>
        </p:txBody>
      </p:sp>
      <p:sp>
        <p:nvSpPr>
          <p:cNvPr id="9" name="Text 7"/>
          <p:cNvSpPr/>
          <p:nvPr/>
        </p:nvSpPr>
        <p:spPr>
          <a:xfrm>
            <a:off x="3482264" y="1975104"/>
            <a:ext cx="2522144" cy="530352"/>
          </a:xfrm>
          <a:prstGeom prst="rect">
            <a:avLst/>
          </a:prstGeom>
          <a:noFill/>
          <a:ln/>
        </p:spPr>
        <p:txBody>
          <a:bodyPr wrap="square" lIns="0" tIns="0" rIns="0" bIns="0" rtlCol="0" anchor="ctr"/>
          <a:lstStyle/>
          <a:p>
            <a:pPr indent="0" marL="0">
              <a:buNone/>
            </a:pPr>
            <a:r>
              <a:rPr lang="en-US" sz="2800" b="1" dirty="0">
                <a:solidFill>
                  <a:srgbClr val="065A82"/>
                </a:solidFill>
                <a:latin typeface="Cambria" pitchFamily="34" charset="0"/>
                <a:ea typeface="Cambria" pitchFamily="34" charset="-122"/>
                <a:cs typeface="Cambria" pitchFamily="34" charset="-120"/>
              </a:rPr>
              <a:t>453</a:t>
            </a:r>
            <a:endParaRPr lang="en-US" sz="2800" dirty="0"/>
          </a:p>
        </p:txBody>
      </p:sp>
      <p:sp>
        <p:nvSpPr>
          <p:cNvPr id="10" name="Text 8"/>
          <p:cNvSpPr/>
          <p:nvPr/>
        </p:nvSpPr>
        <p:spPr>
          <a:xfrm>
            <a:off x="3482264" y="2523744"/>
            <a:ext cx="2522144" cy="237744"/>
          </a:xfrm>
          <a:prstGeom prst="rect">
            <a:avLst/>
          </a:prstGeom>
          <a:noFill/>
          <a:ln/>
        </p:spPr>
        <p:txBody>
          <a:bodyPr wrap="square" lIns="0" tIns="0" rIns="0" bIns="0"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P4-proxy tests</a:t>
            </a:r>
            <a:endParaRPr lang="en-US" sz="1200" dirty="0"/>
          </a:p>
        </p:txBody>
      </p:sp>
      <p:sp>
        <p:nvSpPr>
          <p:cNvPr id="11" name="Text 9"/>
          <p:cNvSpPr/>
          <p:nvPr/>
        </p:nvSpPr>
        <p:spPr>
          <a:xfrm>
            <a:off x="3482264" y="2743200"/>
            <a:ext cx="2522144" cy="237744"/>
          </a:xfrm>
          <a:prstGeom prst="rect">
            <a:avLst/>
          </a:prstGeom>
          <a:noFill/>
          <a:ln/>
        </p:spPr>
        <p:txBody>
          <a:bodyPr wrap="square" lIns="0" tIns="0" rIns="0" bIns="0" rtlCol="0" anchor="ctr"/>
          <a:lstStyle/>
          <a:p>
            <a:pPr indent="0" marL="0">
              <a:buNone/>
            </a:pPr>
            <a:r>
              <a:rPr lang="en-US" sz="1050" dirty="0">
                <a:solidFill>
                  <a:srgbClr val="4F4F4F"/>
                </a:solidFill>
                <a:latin typeface="Calibri" pitchFamily="34" charset="0"/>
                <a:ea typeface="Calibri" pitchFamily="34" charset="-122"/>
                <a:cs typeface="Calibri" pitchFamily="34" charset="-120"/>
              </a:rPr>
              <a:t>in 17 files</a:t>
            </a:r>
            <a:endParaRPr lang="en-US" sz="1050" dirty="0"/>
          </a:p>
        </p:txBody>
      </p:sp>
      <p:sp>
        <p:nvSpPr>
          <p:cNvPr id="12" name="Text 10"/>
          <p:cNvSpPr/>
          <p:nvPr/>
        </p:nvSpPr>
        <p:spPr>
          <a:xfrm>
            <a:off x="6187288" y="1975104"/>
            <a:ext cx="2522144" cy="530352"/>
          </a:xfrm>
          <a:prstGeom prst="rect">
            <a:avLst/>
          </a:prstGeom>
          <a:noFill/>
          <a:ln/>
        </p:spPr>
        <p:txBody>
          <a:bodyPr wrap="square" lIns="0" tIns="0" rIns="0" bIns="0" rtlCol="0" anchor="ctr"/>
          <a:lstStyle/>
          <a:p>
            <a:pPr indent="0" marL="0">
              <a:buNone/>
            </a:pPr>
            <a:r>
              <a:rPr lang="en-US" sz="2800" b="1" dirty="0">
                <a:solidFill>
                  <a:srgbClr val="065A82"/>
                </a:solidFill>
                <a:latin typeface="Cambria" pitchFamily="34" charset="0"/>
                <a:ea typeface="Cambria" pitchFamily="34" charset="-122"/>
                <a:cs typeface="Cambria" pitchFamily="34" charset="-120"/>
              </a:rPr>
              <a:t>243</a:t>
            </a:r>
            <a:endParaRPr lang="en-US" sz="2800" dirty="0"/>
          </a:p>
        </p:txBody>
      </p:sp>
      <p:sp>
        <p:nvSpPr>
          <p:cNvPr id="13" name="Text 11"/>
          <p:cNvSpPr/>
          <p:nvPr/>
        </p:nvSpPr>
        <p:spPr>
          <a:xfrm>
            <a:off x="6187288" y="2523744"/>
            <a:ext cx="2522144" cy="237744"/>
          </a:xfrm>
          <a:prstGeom prst="rect">
            <a:avLst/>
          </a:prstGeom>
          <a:noFill/>
          <a:ln/>
        </p:spPr>
        <p:txBody>
          <a:bodyPr wrap="square" lIns="0" tIns="0" rIns="0" bIns="0"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kernel-side Python</a:t>
            </a:r>
            <a:endParaRPr lang="en-US" sz="1200" dirty="0"/>
          </a:p>
        </p:txBody>
      </p:sp>
      <p:sp>
        <p:nvSpPr>
          <p:cNvPr id="14" name="Text 12"/>
          <p:cNvSpPr/>
          <p:nvPr/>
        </p:nvSpPr>
        <p:spPr>
          <a:xfrm>
            <a:off x="6187288" y="2743200"/>
            <a:ext cx="2522144" cy="237744"/>
          </a:xfrm>
          <a:prstGeom prst="rect">
            <a:avLst/>
          </a:prstGeom>
          <a:noFill/>
          <a:ln/>
        </p:spPr>
        <p:txBody>
          <a:bodyPr wrap="square" lIns="0" tIns="0" rIns="0" bIns="0" rtlCol="0" anchor="ctr"/>
          <a:lstStyle/>
          <a:p>
            <a:pPr indent="0" marL="0">
              <a:buNone/>
            </a:pPr>
            <a:r>
              <a:rPr lang="en-US" sz="1050" dirty="0">
                <a:solidFill>
                  <a:srgbClr val="4F4F4F"/>
                </a:solidFill>
                <a:latin typeface="Calibri" pitchFamily="34" charset="0"/>
                <a:ea typeface="Calibri" pitchFamily="34" charset="-122"/>
                <a:cs typeface="Calibri" pitchFamily="34" charset="-120"/>
              </a:rPr>
              <a:t>in 7 files</a:t>
            </a:r>
            <a:endParaRPr lang="en-US" sz="1050" dirty="0"/>
          </a:p>
        </p:txBody>
      </p:sp>
      <p:sp>
        <p:nvSpPr>
          <p:cNvPr id="15" name="Text 13"/>
          <p:cNvSpPr/>
          <p:nvPr/>
        </p:nvSpPr>
        <p:spPr>
          <a:xfrm>
            <a:off x="8892311" y="1975104"/>
            <a:ext cx="2522144" cy="530352"/>
          </a:xfrm>
          <a:prstGeom prst="rect">
            <a:avLst/>
          </a:prstGeom>
          <a:noFill/>
          <a:ln/>
        </p:spPr>
        <p:txBody>
          <a:bodyPr wrap="square" lIns="0" tIns="0" rIns="0" bIns="0" rtlCol="0" anchor="ctr"/>
          <a:lstStyle/>
          <a:p>
            <a:pPr indent="0" marL="0">
              <a:buNone/>
            </a:pPr>
            <a:r>
              <a:rPr lang="en-US" sz="2800" b="1" dirty="0">
                <a:solidFill>
                  <a:srgbClr val="065A82"/>
                </a:solidFill>
                <a:latin typeface="Cambria" pitchFamily="34" charset="0"/>
                <a:ea typeface="Cambria" pitchFamily="34" charset="-122"/>
                <a:cs typeface="Cambria" pitchFamily="34" charset="-120"/>
              </a:rPr>
              <a:t>7</a:t>
            </a:r>
            <a:endParaRPr lang="en-US" sz="2800" dirty="0"/>
          </a:p>
        </p:txBody>
      </p:sp>
      <p:sp>
        <p:nvSpPr>
          <p:cNvPr id="16" name="Text 14"/>
          <p:cNvSpPr/>
          <p:nvPr/>
        </p:nvSpPr>
        <p:spPr>
          <a:xfrm>
            <a:off x="8892311" y="2523744"/>
            <a:ext cx="2522144" cy="237744"/>
          </a:xfrm>
          <a:prstGeom prst="rect">
            <a:avLst/>
          </a:prstGeom>
          <a:noFill/>
          <a:ln/>
        </p:spPr>
        <p:txBody>
          <a:bodyPr wrap="square" lIns="0" tIns="0" rIns="0" bIns="0"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shell suites</a:t>
            </a:r>
            <a:endParaRPr lang="en-US" sz="1200" dirty="0"/>
          </a:p>
        </p:txBody>
      </p:sp>
      <p:sp>
        <p:nvSpPr>
          <p:cNvPr id="17" name="Text 15"/>
          <p:cNvSpPr/>
          <p:nvPr/>
        </p:nvSpPr>
        <p:spPr>
          <a:xfrm>
            <a:off x="8892311" y="2743200"/>
            <a:ext cx="2522144" cy="237744"/>
          </a:xfrm>
          <a:prstGeom prst="rect">
            <a:avLst/>
          </a:prstGeom>
          <a:noFill/>
          <a:ln/>
        </p:spPr>
        <p:txBody>
          <a:bodyPr wrap="square" lIns="0" tIns="0" rIns="0" bIns="0" rtlCol="0" anchor="ctr"/>
          <a:lstStyle/>
          <a:p>
            <a:pPr indent="0" marL="0">
              <a:buNone/>
            </a:pPr>
            <a:r>
              <a:rPr lang="en-US" sz="1050" dirty="0">
                <a:solidFill>
                  <a:srgbClr val="4F4F4F"/>
                </a:solidFill>
                <a:latin typeface="Calibri" pitchFamily="34" charset="0"/>
                <a:ea typeface="Calibri" pitchFamily="34" charset="-122"/>
                <a:cs typeface="Calibri" pitchFamily="34" charset="-120"/>
              </a:rPr>
              <a:t>orchestration and gates</a:t>
            </a:r>
            <a:endParaRPr lang="en-US" sz="1050" dirty="0"/>
          </a:p>
        </p:txBody>
      </p:sp>
      <p:sp>
        <p:nvSpPr>
          <p:cNvPr id="18" name="Shape 16"/>
          <p:cNvSpPr/>
          <p:nvPr/>
        </p:nvSpPr>
        <p:spPr>
          <a:xfrm>
            <a:off x="777240" y="3127248"/>
            <a:ext cx="10637215" cy="9144"/>
          </a:xfrm>
          <a:prstGeom prst="line">
            <a:avLst/>
          </a:prstGeom>
          <a:noFill/>
          <a:ln w="12700">
            <a:solidFill>
              <a:srgbClr val="D0D0D0"/>
            </a:solidFill>
            <a:prstDash val="solid"/>
          </a:ln>
        </p:spPr>
      </p:sp>
      <p:sp>
        <p:nvSpPr>
          <p:cNvPr id="19" name="Text 17"/>
          <p:cNvSpPr/>
          <p:nvPr/>
        </p:nvSpPr>
        <p:spPr>
          <a:xfrm>
            <a:off x="777240" y="3310128"/>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1</a:t>
            </a:r>
            <a:endParaRPr lang="en-US" sz="1300" dirty="0"/>
          </a:p>
        </p:txBody>
      </p:sp>
      <p:sp>
        <p:nvSpPr>
          <p:cNvPr id="20" name="Text 18"/>
          <p:cNvSpPr/>
          <p:nvPr/>
        </p:nvSpPr>
        <p:spPr>
          <a:xfrm>
            <a:off x="1106424" y="3300984"/>
            <a:ext cx="6528816" cy="292608"/>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Every test ships with the mutation that breaks it</a:t>
            </a:r>
            <a:endParaRPr lang="en-US" sz="1550" dirty="0"/>
          </a:p>
        </p:txBody>
      </p:sp>
      <p:sp>
        <p:nvSpPr>
          <p:cNvPr id="21" name="Text 19"/>
          <p:cNvSpPr/>
          <p:nvPr/>
        </p:nvSpPr>
        <p:spPr>
          <a:xfrm>
            <a:off x="1106424" y="3639312"/>
            <a:ext cx="6528816" cy="822960"/>
          </a:xfrm>
          <a:prstGeom prst="rect">
            <a:avLst/>
          </a:prstGeom>
          <a:noFill/>
          <a:ln/>
        </p:spPr>
        <p:txBody>
          <a:bodyPr wrap="square" lIns="0" tIns="0" rIns="0" bIns="0" rtlCol="0" anchor="ctr"/>
          <a:lstStyle/>
          <a:p>
            <a:pPr indent="0" marL="0">
              <a:lnSpc>
                <a:spcPct val="124000"/>
              </a:lnSpc>
              <a:buNone/>
            </a:pPr>
            <a:r>
              <a:rPr lang="en-US" sz="1250" dirty="0">
                <a:solidFill>
                  <a:srgbClr val="2E2E2E"/>
                </a:solidFill>
                <a:latin typeface="Calibri" pitchFamily="34" charset="0"/>
                <a:ea typeface="Calibri" pitchFamily="34" charset="-122"/>
                <a:cs typeface="Calibri" pitchFamily="34" charset="-120"/>
              </a:rPr>
              <a:t>Applied, observed failing, reverted — and the evidence filed in four dated records under doc/audit/. This is what caught eleven tests that passed while proving nothing.</a:t>
            </a:r>
            <a:endParaRPr lang="en-US" sz="1250" dirty="0"/>
          </a:p>
        </p:txBody>
      </p:sp>
      <p:sp>
        <p:nvSpPr>
          <p:cNvPr id="22" name="Text 20"/>
          <p:cNvSpPr/>
          <p:nvPr/>
        </p:nvSpPr>
        <p:spPr>
          <a:xfrm>
            <a:off x="777240" y="4443984"/>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2</a:t>
            </a:r>
            <a:endParaRPr lang="en-US" sz="1300" dirty="0"/>
          </a:p>
        </p:txBody>
      </p:sp>
      <p:sp>
        <p:nvSpPr>
          <p:cNvPr id="23" name="Text 21"/>
          <p:cNvSpPr/>
          <p:nvPr/>
        </p:nvSpPr>
        <p:spPr>
          <a:xfrm>
            <a:off x="1106424" y="4434840"/>
            <a:ext cx="6528816" cy="292608"/>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The tooling's own false passes were fixed</a:t>
            </a:r>
            <a:endParaRPr lang="en-US" sz="1550" dirty="0"/>
          </a:p>
        </p:txBody>
      </p:sp>
      <p:sp>
        <p:nvSpPr>
          <p:cNvPr id="24" name="Text 22"/>
          <p:cNvSpPr/>
          <p:nvPr/>
        </p:nvSpPr>
        <p:spPr>
          <a:xfrm>
            <a:off x="1106424" y="4773168"/>
            <a:ext cx="6528816" cy="822960"/>
          </a:xfrm>
          <a:prstGeom prst="rect">
            <a:avLst/>
          </a:prstGeom>
          <a:noFill/>
          <a:ln/>
        </p:spPr>
        <p:txBody>
          <a:bodyPr wrap="square" lIns="0" tIns="0" rIns="0" bIns="0" rtlCol="0" anchor="ctr"/>
          <a:lstStyle/>
          <a:p>
            <a:pPr indent="0" marL="0">
              <a:lnSpc>
                <a:spcPct val="124000"/>
              </a:lnSpc>
              <a:buNone/>
            </a:pPr>
            <a:r>
              <a:rPr lang="en-US" sz="1250" dirty="0">
                <a:solidFill>
                  <a:srgbClr val="2E2E2E"/>
                </a:solidFill>
                <a:latin typeface="Calibri" pitchFamily="34" charset="0"/>
                <a:ea typeface="Calibri" pitchFamily="34" charset="-122"/>
                <a:cs typeface="Calibri" pitchFamily="34" charset="-120"/>
              </a:rPr>
              <a:t>Four of them. unittest counts skipped tests inside "Ran N", so a fully-skipped file printed green — and three tests sat below unittest.main(), so they had never executed at all.</a:t>
            </a:r>
            <a:endParaRPr lang="en-US" sz="1250" dirty="0"/>
          </a:p>
        </p:txBody>
      </p:sp>
      <p:sp>
        <p:nvSpPr>
          <p:cNvPr id="25" name="Text 23"/>
          <p:cNvSpPr/>
          <p:nvPr/>
        </p:nvSpPr>
        <p:spPr>
          <a:xfrm>
            <a:off x="777240" y="5577840"/>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3</a:t>
            </a:r>
            <a:endParaRPr lang="en-US" sz="1300" dirty="0"/>
          </a:p>
        </p:txBody>
      </p:sp>
      <p:sp>
        <p:nvSpPr>
          <p:cNvPr id="26" name="Text 24"/>
          <p:cNvSpPr/>
          <p:nvPr/>
        </p:nvSpPr>
        <p:spPr>
          <a:xfrm>
            <a:off x="1106424" y="5568696"/>
            <a:ext cx="6528816" cy="292608"/>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Log output is a pass/fail gate, not a thing to read</a:t>
            </a:r>
            <a:endParaRPr lang="en-US" sz="1550" dirty="0"/>
          </a:p>
        </p:txBody>
      </p:sp>
      <p:sp>
        <p:nvSpPr>
          <p:cNvPr id="27" name="Text 25"/>
          <p:cNvSpPr/>
          <p:nvPr/>
        </p:nvSpPr>
        <p:spPr>
          <a:xfrm>
            <a:off x="1106424" y="5907024"/>
            <a:ext cx="6528816" cy="822960"/>
          </a:xfrm>
          <a:prstGeom prst="rect">
            <a:avLst/>
          </a:prstGeom>
          <a:noFill/>
          <a:ln/>
        </p:spPr>
        <p:txBody>
          <a:bodyPr wrap="square" lIns="0" tIns="0" rIns="0" bIns="0" rtlCol="0" anchor="ctr"/>
          <a:lstStyle/>
          <a:p>
            <a:pPr indent="0" marL="0">
              <a:lnSpc>
                <a:spcPct val="124000"/>
              </a:lnSpc>
              <a:buNone/>
            </a:pPr>
            <a:r>
              <a:rPr lang="en-US" sz="1250" dirty="0">
                <a:solidFill>
                  <a:srgbClr val="2E2E2E"/>
                </a:solidFill>
                <a:latin typeface="Calibri" pitchFamily="34" charset="0"/>
                <a:ea typeface="Calibri" pitchFamily="34" charset="-122"/>
                <a:cs typeface="Calibri" pitchFamily="34" charset="-120"/>
              </a:rPr>
              <a:t>check_logs.py fails on any warning or error not on the allowlist, has a FORBID list that overrides it, and treats crash signatures as unconditional failures that no allowlist can excuse.</a:t>
            </a:r>
            <a:endParaRPr lang="en-US" sz="1250" dirty="0"/>
          </a:p>
        </p:txBody>
      </p:sp>
      <p:sp>
        <p:nvSpPr>
          <p:cNvPr id="28" name="Shape 26"/>
          <p:cNvSpPr/>
          <p:nvPr/>
        </p:nvSpPr>
        <p:spPr>
          <a:xfrm>
            <a:off x="8001000" y="3346704"/>
            <a:ext cx="27432" cy="1371600"/>
          </a:xfrm>
          <a:prstGeom prst="rect">
            <a:avLst/>
          </a:prstGeom>
          <a:solidFill>
            <a:srgbClr val="065A82"/>
          </a:solidFill>
          <a:ln/>
        </p:spPr>
      </p:sp>
      <p:sp>
        <p:nvSpPr>
          <p:cNvPr id="29" name="Text 27"/>
          <p:cNvSpPr/>
          <p:nvPr/>
        </p:nvSpPr>
        <p:spPr>
          <a:xfrm>
            <a:off x="8202168" y="3310128"/>
            <a:ext cx="3209544" cy="237744"/>
          </a:xfrm>
          <a:prstGeom prst="rect">
            <a:avLst/>
          </a:prstGeom>
          <a:noFill/>
          <a:ln/>
        </p:spPr>
        <p:txBody>
          <a:bodyPr wrap="square" lIns="0" tIns="0" rIns="0" bIns="0" rtlCol="0" anchor="ctr"/>
          <a:lstStyle/>
          <a:p>
            <a:pPr indent="0" marL="0">
              <a:buNone/>
            </a:pPr>
            <a:r>
              <a:rPr lang="en-US" sz="1150" b="1" dirty="0">
                <a:solidFill>
                  <a:srgbClr val="065A82"/>
                </a:solidFill>
                <a:latin typeface="Calibri" pitchFamily="34" charset="0"/>
                <a:ea typeface="Calibri" pitchFamily="34" charset="-122"/>
                <a:cs typeface="Calibri" pitchFamily="34" charset="-120"/>
              </a:rPr>
              <a:t>Why the count moves</a:t>
            </a:r>
            <a:endParaRPr lang="en-US" sz="1150" dirty="0"/>
          </a:p>
        </p:txBody>
      </p:sp>
      <p:sp>
        <p:nvSpPr>
          <p:cNvPr id="30" name="Text 28"/>
          <p:cNvSpPr/>
          <p:nvPr/>
        </p:nvSpPr>
        <p:spPr>
          <a:xfrm>
            <a:off x="8202168" y="3584448"/>
            <a:ext cx="3209544" cy="1097280"/>
          </a:xfrm>
          <a:prstGeom prst="rect">
            <a:avLst/>
          </a:prstGeom>
          <a:noFill/>
          <a:ln/>
        </p:spPr>
        <p:txBody>
          <a:bodyPr wrap="square" lIns="0" tIns="0" rIns="0" bIns="0" rtlCol="0" anchor="ctr"/>
          <a:lstStyle/>
          <a:p>
            <a:pPr indent="0" marL="0">
              <a:lnSpc>
                <a:spcPct val="120000"/>
              </a:lnSpc>
              <a:buNone/>
            </a:pPr>
            <a:r>
              <a:rPr lang="en-US" sz="1100" dirty="0">
                <a:solidFill>
                  <a:srgbClr val="2E2E2E"/>
                </a:solidFill>
                <a:latin typeface="Calibri" pitchFamily="34" charset="0"/>
                <a:ea typeface="Calibri" pitchFamily="34" charset="-122"/>
                <a:cs typeface="Calibri" pitchFamily="34" charset="-120"/>
              </a:rPr>
              <a:t>426 → 547 → 603 in seven days. That is real growth, not miscounting: three live defects each got a regression test, and four new tool suites arrived with their own.</a:t>
            </a:r>
            <a:endParaRPr lang="en-US" sz="1100" dirty="0"/>
          </a:p>
        </p:txBody>
      </p:sp>
      <p:sp>
        <p:nvSpPr>
          <p:cNvPr id="31" name="Shape 29"/>
          <p:cNvSpPr/>
          <p:nvPr/>
        </p:nvSpPr>
        <p:spPr>
          <a:xfrm>
            <a:off x="8001000" y="4956048"/>
            <a:ext cx="27432" cy="1325880"/>
          </a:xfrm>
          <a:prstGeom prst="rect">
            <a:avLst/>
          </a:prstGeom>
          <a:solidFill>
            <a:srgbClr val="065A82"/>
          </a:solidFill>
          <a:ln/>
        </p:spPr>
      </p:sp>
      <p:sp>
        <p:nvSpPr>
          <p:cNvPr id="32" name="Text 30"/>
          <p:cNvSpPr/>
          <p:nvPr/>
        </p:nvSpPr>
        <p:spPr>
          <a:xfrm>
            <a:off x="8202168" y="4919472"/>
            <a:ext cx="3209544" cy="237744"/>
          </a:xfrm>
          <a:prstGeom prst="rect">
            <a:avLst/>
          </a:prstGeom>
          <a:noFill/>
          <a:ln/>
        </p:spPr>
        <p:txBody>
          <a:bodyPr wrap="square" lIns="0" tIns="0" rIns="0" bIns="0" rtlCol="0" anchor="ctr"/>
          <a:lstStyle/>
          <a:p>
            <a:pPr indent="0" marL="0">
              <a:buNone/>
            </a:pPr>
            <a:r>
              <a:rPr lang="en-US" sz="1150" b="1" dirty="0">
                <a:solidFill>
                  <a:srgbClr val="065A82"/>
                </a:solidFill>
                <a:latin typeface="Calibri" pitchFamily="34" charset="0"/>
                <a:ea typeface="Calibri" pitchFamily="34" charset="-122"/>
                <a:cs typeface="Calibri" pitchFamily="34" charset="-120"/>
              </a:rPr>
              <a:t>The claim being made</a:t>
            </a:r>
            <a:endParaRPr lang="en-US" sz="1150" dirty="0"/>
          </a:p>
        </p:txBody>
      </p:sp>
      <p:sp>
        <p:nvSpPr>
          <p:cNvPr id="33" name="Text 31"/>
          <p:cNvSpPr/>
          <p:nvPr/>
        </p:nvSpPr>
        <p:spPr>
          <a:xfrm>
            <a:off x="8202168" y="5193792"/>
            <a:ext cx="3209544" cy="1051560"/>
          </a:xfrm>
          <a:prstGeom prst="rect">
            <a:avLst/>
          </a:prstGeom>
          <a:noFill/>
          <a:ln/>
        </p:spPr>
        <p:txBody>
          <a:bodyPr wrap="square" lIns="0" tIns="0" rIns="0" bIns="0" rtlCol="0" anchor="ctr"/>
          <a:lstStyle/>
          <a:p>
            <a:pPr indent="0" marL="0">
              <a:lnSpc>
                <a:spcPct val="120000"/>
              </a:lnSpc>
              <a:buNone/>
            </a:pPr>
            <a:r>
              <a:rPr lang="en-US" sz="1100" dirty="0">
                <a:solidFill>
                  <a:srgbClr val="2E2E2E"/>
                </a:solidFill>
                <a:latin typeface="Calibri" pitchFamily="34" charset="0"/>
                <a:ea typeface="Calibri" pitchFamily="34" charset="-122"/>
                <a:cs typeface="Calibri" pitchFamily="34" charset="-120"/>
              </a:rPr>
              <a:t>Not "we have many tests". The claim is that each one has been observed failing for the reason it exists — which is a different and checkable statement.</a:t>
            </a:r>
            <a:endParaRPr lang="en-US" sz="1100" dirty="0"/>
          </a:p>
        </p:txBody>
      </p:sp>
      <p:sp>
        <p:nvSpPr>
          <p:cNvPr id="34" name="Text 32"/>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56032"/>
            <a:ext cx="5486400" cy="237744"/>
          </a:xfrm>
          <a:prstGeom prst="rect">
            <a:avLst/>
          </a:prstGeom>
          <a:noFill/>
          <a:ln/>
        </p:spPr>
        <p:txBody>
          <a:bodyPr wrap="square" lIns="0" tIns="0" rIns="0" bIns="0" rtlCol="0" anchor="ctr"/>
          <a:lstStyle/>
          <a:p>
            <a:pPr indent="0" marL="0">
              <a:buNone/>
            </a:pPr>
            <a:r>
              <a:rPr lang="en-US" sz="1050" b="1" spc="100" kern="0" dirty="0">
                <a:solidFill>
                  <a:srgbClr val="065A82"/>
                </a:solidFill>
                <a:latin typeface="Calibri" pitchFamily="34" charset="0"/>
                <a:ea typeface="Calibri" pitchFamily="34" charset="-122"/>
                <a:cs typeface="Calibri" pitchFamily="34" charset="-120"/>
              </a:rPr>
              <a:t>2 · TEST TOOLING AND DOCUMENTATION</a:t>
            </a:r>
            <a:endParaRPr lang="en-US" sz="1050" dirty="0"/>
          </a:p>
        </p:txBody>
      </p:sp>
      <p:sp>
        <p:nvSpPr>
          <p:cNvPr id="3" name="Text 1"/>
          <p:cNvSpPr/>
          <p:nvPr/>
        </p:nvSpPr>
        <p:spPr>
          <a:xfrm>
            <a:off x="777240" y="566928"/>
            <a:ext cx="10637215" cy="621792"/>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What was written down</a:t>
            </a:r>
            <a:endParaRPr lang="en-US" sz="3000" dirty="0"/>
          </a:p>
        </p:txBody>
      </p:sp>
      <p:sp>
        <p:nvSpPr>
          <p:cNvPr id="4" name="Text 2"/>
          <p:cNvSpPr/>
          <p:nvPr/>
        </p:nvSpPr>
        <p:spPr>
          <a:xfrm>
            <a:off x="777240" y="1207008"/>
            <a:ext cx="10637215" cy="347472"/>
          </a:xfrm>
          <a:prstGeom prst="rect">
            <a:avLst/>
          </a:prstGeom>
          <a:noFill/>
          <a:ln/>
        </p:spPr>
        <p:txBody>
          <a:bodyPr wrap="square" lIns="0" tIns="0" rIns="0" bIns="0" rtlCol="0" anchor="ctr"/>
          <a:lstStyle/>
          <a:p>
            <a:pPr indent="0" marL="0">
              <a:buNone/>
            </a:pPr>
            <a:r>
              <a:rPr lang="en-US" sz="1400" dirty="0">
                <a:solidFill>
                  <a:srgbClr val="4F4F4F"/>
                </a:solidFill>
                <a:latin typeface="Calibri" pitchFamily="34" charset="0"/>
                <a:ea typeface="Calibri" pitchFamily="34" charset="-122"/>
                <a:cs typeface="Calibri" pitchFamily="34" charset="-120"/>
              </a:rPr>
              <a:t>Twenty-four documents under doc/, organised so that the next person has a route through</a:t>
            </a:r>
            <a:endParaRPr lang="en-US" sz="1400" dirty="0"/>
          </a:p>
        </p:txBody>
      </p:sp>
      <p:sp>
        <p:nvSpPr>
          <p:cNvPr id="5" name="Shape 3"/>
          <p:cNvSpPr/>
          <p:nvPr/>
        </p:nvSpPr>
        <p:spPr>
          <a:xfrm>
            <a:off x="777240" y="1700784"/>
            <a:ext cx="10637215" cy="9144"/>
          </a:xfrm>
          <a:prstGeom prst="line">
            <a:avLst/>
          </a:prstGeom>
          <a:noFill/>
          <a:ln w="12700">
            <a:solidFill>
              <a:srgbClr val="D0D0D0"/>
            </a:solidFill>
            <a:prstDash val="solid"/>
          </a:ln>
        </p:spPr>
      </p:sp>
      <p:sp>
        <p:nvSpPr>
          <p:cNvPr id="6" name="Text 4"/>
          <p:cNvSpPr/>
          <p:nvPr/>
        </p:nvSpPr>
        <p:spPr>
          <a:xfrm>
            <a:off x="777240" y="1993392"/>
            <a:ext cx="327141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Operational — how to run it</a:t>
            </a:r>
            <a:endParaRPr lang="en-US" sz="1300" dirty="0"/>
          </a:p>
        </p:txBody>
      </p:sp>
      <p:sp>
        <p:nvSpPr>
          <p:cNvPr id="7" name="Shape 5"/>
          <p:cNvSpPr/>
          <p:nvPr/>
        </p:nvSpPr>
        <p:spPr>
          <a:xfrm>
            <a:off x="777240" y="2304288"/>
            <a:ext cx="3271418" cy="9144"/>
          </a:xfrm>
          <a:prstGeom prst="line">
            <a:avLst/>
          </a:prstGeom>
          <a:noFill/>
          <a:ln w="12700">
            <a:solidFill>
              <a:srgbClr val="D0D0D0"/>
            </a:solidFill>
            <a:prstDash val="solid"/>
          </a:ln>
        </p:spPr>
      </p:sp>
      <p:sp>
        <p:nvSpPr>
          <p:cNvPr id="8" name="Text 6"/>
          <p:cNvSpPr/>
          <p:nvPr/>
        </p:nvSpPr>
        <p:spPr>
          <a:xfrm>
            <a:off x="777240" y="2432304"/>
            <a:ext cx="3271418" cy="219456"/>
          </a:xfrm>
          <a:prstGeom prst="rect">
            <a:avLst/>
          </a:prstGeom>
          <a:noFill/>
          <a:ln/>
        </p:spPr>
        <p:txBody>
          <a:bodyPr wrap="square" lIns="0" tIns="0" rIns="0" bIns="0" rtlCol="0" anchor="ctr"/>
          <a:lstStyle/>
          <a:p>
            <a:pPr indent="0" marL="0">
              <a:buNone/>
            </a:pPr>
            <a:r>
              <a:rPr lang="en-US" sz="1050" dirty="0">
                <a:solidFill>
                  <a:srgbClr val="2E2E2E"/>
                </a:solidFill>
                <a:latin typeface="Courier New" pitchFamily="34" charset="0"/>
                <a:ea typeface="Courier New" pitchFamily="34" charset="-122"/>
                <a:cs typeface="Courier New" pitchFamily="34" charset="-120"/>
              </a:rPr>
              <a:t>full_test_runbook</a:t>
            </a:r>
            <a:endParaRPr lang="en-US" sz="1050" dirty="0"/>
          </a:p>
        </p:txBody>
      </p:sp>
      <p:sp>
        <p:nvSpPr>
          <p:cNvPr id="9" name="Text 7"/>
          <p:cNvSpPr/>
          <p:nvPr/>
        </p:nvSpPr>
        <p:spPr>
          <a:xfrm>
            <a:off x="777240" y="2642616"/>
            <a:ext cx="3271418" cy="384048"/>
          </a:xfrm>
          <a:prstGeom prst="rect">
            <a:avLst/>
          </a:prstGeom>
          <a:noFill/>
          <a:ln/>
        </p:spPr>
        <p:txBody>
          <a:bodyPr wrap="square" lIns="0" tIns="0" rIns="0" bIns="0" rtlCol="0" anchor="ctr"/>
          <a:lstStyle/>
          <a:p>
            <a:pPr indent="0" marL="0">
              <a:lnSpc>
                <a:spcPct val="112000"/>
              </a:lnSpc>
              <a:buNone/>
            </a:pPr>
            <a:r>
              <a:rPr lang="en-US" sz="1050" dirty="0">
                <a:solidFill>
                  <a:srgbClr val="4F4F4F"/>
                </a:solidFill>
                <a:latin typeface="Calibri" pitchFamily="34" charset="0"/>
                <a:ea typeface="Calibri" pitchFamily="34" charset="-122"/>
                <a:cs typeface="Calibri" pitchFamily="34" charset="-120"/>
              </a:rPr>
              <a:t>the whole stack, end to end</a:t>
            </a:r>
            <a:endParaRPr lang="en-US" sz="1050" dirty="0"/>
          </a:p>
        </p:txBody>
      </p:sp>
      <p:sp>
        <p:nvSpPr>
          <p:cNvPr id="10" name="Text 8"/>
          <p:cNvSpPr/>
          <p:nvPr/>
        </p:nvSpPr>
        <p:spPr>
          <a:xfrm>
            <a:off x="777240" y="3054096"/>
            <a:ext cx="3271418" cy="219456"/>
          </a:xfrm>
          <a:prstGeom prst="rect">
            <a:avLst/>
          </a:prstGeom>
          <a:noFill/>
          <a:ln/>
        </p:spPr>
        <p:txBody>
          <a:bodyPr wrap="square" lIns="0" tIns="0" rIns="0" bIns="0" rtlCol="0" anchor="ctr"/>
          <a:lstStyle/>
          <a:p>
            <a:pPr indent="0" marL="0">
              <a:buNone/>
            </a:pPr>
            <a:r>
              <a:rPr lang="en-US" sz="1050" dirty="0">
                <a:solidFill>
                  <a:srgbClr val="2E2E2E"/>
                </a:solidFill>
                <a:latin typeface="Courier New" pitchFamily="34" charset="0"/>
                <a:ea typeface="Courier New" pitchFamily="34" charset="-122"/>
                <a:cs typeface="Courier New" pitchFamily="34" charset="-120"/>
              </a:rPr>
              <a:t>ovs_manual_test_runbook</a:t>
            </a:r>
            <a:endParaRPr lang="en-US" sz="1050" dirty="0"/>
          </a:p>
        </p:txBody>
      </p:sp>
      <p:sp>
        <p:nvSpPr>
          <p:cNvPr id="11" name="Text 9"/>
          <p:cNvSpPr/>
          <p:nvPr/>
        </p:nvSpPr>
        <p:spPr>
          <a:xfrm>
            <a:off x="777240" y="3264408"/>
            <a:ext cx="3271418" cy="384048"/>
          </a:xfrm>
          <a:prstGeom prst="rect">
            <a:avLst/>
          </a:prstGeom>
          <a:noFill/>
          <a:ln/>
        </p:spPr>
        <p:txBody>
          <a:bodyPr wrap="square" lIns="0" tIns="0" rIns="0" bIns="0" rtlCol="0" anchor="ctr"/>
          <a:lstStyle/>
          <a:p>
            <a:pPr indent="0" marL="0">
              <a:lnSpc>
                <a:spcPct val="112000"/>
              </a:lnSpc>
              <a:buNone/>
            </a:pPr>
            <a:r>
              <a:rPr lang="en-US" sz="1050" dirty="0">
                <a:solidFill>
                  <a:srgbClr val="4F4F4F"/>
                </a:solidFill>
                <a:latin typeface="Calibri" pitchFamily="34" charset="0"/>
                <a:ea typeface="Calibri" pitchFamily="34" charset="-122"/>
                <a:cs typeface="Calibri" pitchFamily="34" charset="-120"/>
              </a:rPr>
              <a:t>the OVS round</a:t>
            </a:r>
            <a:endParaRPr lang="en-US" sz="1050" dirty="0"/>
          </a:p>
        </p:txBody>
      </p:sp>
      <p:sp>
        <p:nvSpPr>
          <p:cNvPr id="12" name="Text 10"/>
          <p:cNvSpPr/>
          <p:nvPr/>
        </p:nvSpPr>
        <p:spPr>
          <a:xfrm>
            <a:off x="777240" y="3675888"/>
            <a:ext cx="3271418" cy="219456"/>
          </a:xfrm>
          <a:prstGeom prst="rect">
            <a:avLst/>
          </a:prstGeom>
          <a:noFill/>
          <a:ln/>
        </p:spPr>
        <p:txBody>
          <a:bodyPr wrap="square" lIns="0" tIns="0" rIns="0" bIns="0" rtlCol="0" anchor="ctr"/>
          <a:lstStyle/>
          <a:p>
            <a:pPr indent="0" marL="0">
              <a:buNone/>
            </a:pPr>
            <a:r>
              <a:rPr lang="en-US" sz="1050" dirty="0">
                <a:solidFill>
                  <a:srgbClr val="2E2E2E"/>
                </a:solidFill>
                <a:latin typeface="Courier New" pitchFamily="34" charset="0"/>
                <a:ea typeface="Courier New" pitchFamily="34" charset="-122"/>
                <a:cs typeface="Courier New" pitchFamily="34" charset="-120"/>
              </a:rPr>
              <a:t>p4_manual_test_runbook</a:t>
            </a:r>
            <a:endParaRPr lang="en-US" sz="1050" dirty="0"/>
          </a:p>
        </p:txBody>
      </p:sp>
      <p:sp>
        <p:nvSpPr>
          <p:cNvPr id="13" name="Text 11"/>
          <p:cNvSpPr/>
          <p:nvPr/>
        </p:nvSpPr>
        <p:spPr>
          <a:xfrm>
            <a:off x="777240" y="3886200"/>
            <a:ext cx="3271418" cy="384048"/>
          </a:xfrm>
          <a:prstGeom prst="rect">
            <a:avLst/>
          </a:prstGeom>
          <a:noFill/>
          <a:ln/>
        </p:spPr>
        <p:txBody>
          <a:bodyPr wrap="square" lIns="0" tIns="0" rIns="0" bIns="0" rtlCol="0" anchor="ctr"/>
          <a:lstStyle/>
          <a:p>
            <a:pPr indent="0" marL="0">
              <a:lnSpc>
                <a:spcPct val="112000"/>
              </a:lnSpc>
              <a:buNone/>
            </a:pPr>
            <a:r>
              <a:rPr lang="en-US" sz="1050" dirty="0">
                <a:solidFill>
                  <a:srgbClr val="4F4F4F"/>
                </a:solidFill>
                <a:latin typeface="Calibri" pitchFamily="34" charset="0"/>
                <a:ea typeface="Calibri" pitchFamily="34" charset="-122"/>
                <a:cs typeface="Calibri" pitchFamily="34" charset="-120"/>
              </a:rPr>
              <a:t>the P4 round</a:t>
            </a:r>
            <a:endParaRPr lang="en-US" sz="1050" dirty="0"/>
          </a:p>
        </p:txBody>
      </p:sp>
      <p:sp>
        <p:nvSpPr>
          <p:cNvPr id="14" name="Text 12"/>
          <p:cNvSpPr/>
          <p:nvPr/>
        </p:nvSpPr>
        <p:spPr>
          <a:xfrm>
            <a:off x="777240" y="4297680"/>
            <a:ext cx="3271418" cy="219456"/>
          </a:xfrm>
          <a:prstGeom prst="rect">
            <a:avLst/>
          </a:prstGeom>
          <a:noFill/>
          <a:ln/>
        </p:spPr>
        <p:txBody>
          <a:bodyPr wrap="square" lIns="0" tIns="0" rIns="0" bIns="0" rtlCol="0" anchor="ctr"/>
          <a:lstStyle/>
          <a:p>
            <a:pPr indent="0" marL="0">
              <a:buNone/>
            </a:pPr>
            <a:r>
              <a:rPr lang="en-US" sz="1050" dirty="0">
                <a:solidFill>
                  <a:srgbClr val="2E2E2E"/>
                </a:solidFill>
                <a:latin typeface="Courier New" pitchFamily="34" charset="0"/>
                <a:ea typeface="Courier New" pitchFamily="34" charset="-122"/>
                <a:cs typeface="Courier New" pitchFamily="34" charset="-120"/>
              </a:rPr>
              <a:t>environment_gotchas</a:t>
            </a:r>
            <a:endParaRPr lang="en-US" sz="1050" dirty="0"/>
          </a:p>
        </p:txBody>
      </p:sp>
      <p:sp>
        <p:nvSpPr>
          <p:cNvPr id="15" name="Text 13"/>
          <p:cNvSpPr/>
          <p:nvPr/>
        </p:nvSpPr>
        <p:spPr>
          <a:xfrm>
            <a:off x="777240" y="4507992"/>
            <a:ext cx="3271418" cy="384048"/>
          </a:xfrm>
          <a:prstGeom prst="rect">
            <a:avLst/>
          </a:prstGeom>
          <a:noFill/>
          <a:ln/>
        </p:spPr>
        <p:txBody>
          <a:bodyPr wrap="square" lIns="0" tIns="0" rIns="0" bIns="0" rtlCol="0" anchor="ctr"/>
          <a:lstStyle/>
          <a:p>
            <a:pPr indent="0" marL="0">
              <a:lnSpc>
                <a:spcPct val="112000"/>
              </a:lnSpc>
              <a:buNone/>
            </a:pPr>
            <a:r>
              <a:rPr lang="en-US" sz="1050" dirty="0">
                <a:solidFill>
                  <a:srgbClr val="4F4F4F"/>
                </a:solidFill>
                <a:latin typeface="Calibri" pitchFamily="34" charset="0"/>
                <a:ea typeface="Calibri" pitchFamily="34" charset="-122"/>
                <a:cs typeface="Calibri" pitchFamily="34" charset="-120"/>
              </a:rPr>
              <a:t>sudo, pgrep, cleanup, ordering</a:t>
            </a:r>
            <a:endParaRPr lang="en-US" sz="1050" dirty="0"/>
          </a:p>
        </p:txBody>
      </p:sp>
      <p:sp>
        <p:nvSpPr>
          <p:cNvPr id="16" name="Text 14"/>
          <p:cNvSpPr/>
          <p:nvPr/>
        </p:nvSpPr>
        <p:spPr>
          <a:xfrm>
            <a:off x="777240" y="4919472"/>
            <a:ext cx="3271418" cy="219456"/>
          </a:xfrm>
          <a:prstGeom prst="rect">
            <a:avLst/>
          </a:prstGeom>
          <a:noFill/>
          <a:ln/>
        </p:spPr>
        <p:txBody>
          <a:bodyPr wrap="square" lIns="0" tIns="0" rIns="0" bIns="0" rtlCol="0" anchor="ctr"/>
          <a:lstStyle/>
          <a:p>
            <a:pPr indent="0" marL="0">
              <a:buNone/>
            </a:pPr>
            <a:r>
              <a:rPr lang="en-US" sz="1050" dirty="0">
                <a:solidFill>
                  <a:srgbClr val="2E2E2E"/>
                </a:solidFill>
                <a:latin typeface="Courier New" pitchFamily="34" charset="0"/>
                <a:ea typeface="Courier New" pitchFamily="34" charset="-122"/>
                <a:cs typeface="Courier New" pitchFamily="34" charset="-120"/>
              </a:rPr>
              <a:t>testing-manual</a:t>
            </a:r>
            <a:endParaRPr lang="en-US" sz="1050" dirty="0"/>
          </a:p>
        </p:txBody>
      </p:sp>
      <p:sp>
        <p:nvSpPr>
          <p:cNvPr id="17" name="Text 15"/>
          <p:cNvSpPr/>
          <p:nvPr/>
        </p:nvSpPr>
        <p:spPr>
          <a:xfrm>
            <a:off x="777240" y="5129784"/>
            <a:ext cx="3271418" cy="384048"/>
          </a:xfrm>
          <a:prstGeom prst="rect">
            <a:avLst/>
          </a:prstGeom>
          <a:noFill/>
          <a:ln/>
        </p:spPr>
        <p:txBody>
          <a:bodyPr wrap="square" lIns="0" tIns="0" rIns="0" bIns="0" rtlCol="0" anchor="ctr"/>
          <a:lstStyle/>
          <a:p>
            <a:pPr indent="0" marL="0">
              <a:lnSpc>
                <a:spcPct val="112000"/>
              </a:lnSpc>
              <a:buNone/>
            </a:pPr>
            <a:r>
              <a:rPr lang="en-US" sz="1050" dirty="0">
                <a:solidFill>
                  <a:srgbClr val="4F4F4F"/>
                </a:solidFill>
                <a:latin typeface="Calibri" pitchFamily="34" charset="0"/>
                <a:ea typeface="Calibri" pitchFamily="34" charset="-122"/>
                <a:cs typeface="Calibri" pitchFamily="34" charset="-120"/>
              </a:rPr>
              <a:t>the current consolidated guide</a:t>
            </a:r>
            <a:endParaRPr lang="en-US" sz="1050" dirty="0"/>
          </a:p>
        </p:txBody>
      </p:sp>
      <p:sp>
        <p:nvSpPr>
          <p:cNvPr id="18" name="Text 16"/>
          <p:cNvSpPr/>
          <p:nvPr/>
        </p:nvSpPr>
        <p:spPr>
          <a:xfrm>
            <a:off x="4460138" y="1993392"/>
            <a:ext cx="327141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Design and status</a:t>
            </a:r>
            <a:endParaRPr lang="en-US" sz="1300" dirty="0"/>
          </a:p>
        </p:txBody>
      </p:sp>
      <p:sp>
        <p:nvSpPr>
          <p:cNvPr id="19" name="Shape 17"/>
          <p:cNvSpPr/>
          <p:nvPr/>
        </p:nvSpPr>
        <p:spPr>
          <a:xfrm>
            <a:off x="4460138" y="2304288"/>
            <a:ext cx="3271418" cy="9144"/>
          </a:xfrm>
          <a:prstGeom prst="line">
            <a:avLst/>
          </a:prstGeom>
          <a:noFill/>
          <a:ln w="12700">
            <a:solidFill>
              <a:srgbClr val="D0D0D0"/>
            </a:solidFill>
            <a:prstDash val="solid"/>
          </a:ln>
        </p:spPr>
      </p:sp>
      <p:sp>
        <p:nvSpPr>
          <p:cNvPr id="20" name="Text 18"/>
          <p:cNvSpPr/>
          <p:nvPr/>
        </p:nvSpPr>
        <p:spPr>
          <a:xfrm>
            <a:off x="4460138" y="2432304"/>
            <a:ext cx="3271418" cy="219456"/>
          </a:xfrm>
          <a:prstGeom prst="rect">
            <a:avLst/>
          </a:prstGeom>
          <a:noFill/>
          <a:ln/>
        </p:spPr>
        <p:txBody>
          <a:bodyPr wrap="square" lIns="0" tIns="0" rIns="0" bIns="0" rtlCol="0" anchor="ctr"/>
          <a:lstStyle/>
          <a:p>
            <a:pPr indent="0" marL="0">
              <a:buNone/>
            </a:pPr>
            <a:r>
              <a:rPr lang="en-US" sz="1050" dirty="0">
                <a:solidFill>
                  <a:srgbClr val="2E2E2E"/>
                </a:solidFill>
                <a:latin typeface="Courier New" pitchFamily="34" charset="0"/>
                <a:ea typeface="Courier New" pitchFamily="34" charset="-122"/>
                <a:cs typeface="Courier New" pitchFamily="34" charset="-120"/>
              </a:rPr>
              <a:t>p4_bmv2_support_plan</a:t>
            </a:r>
            <a:endParaRPr lang="en-US" sz="1050" dirty="0"/>
          </a:p>
        </p:txBody>
      </p:sp>
      <p:sp>
        <p:nvSpPr>
          <p:cNvPr id="21" name="Text 19"/>
          <p:cNvSpPr/>
          <p:nvPr/>
        </p:nvSpPr>
        <p:spPr>
          <a:xfrm>
            <a:off x="4460138" y="2642616"/>
            <a:ext cx="3271418" cy="384048"/>
          </a:xfrm>
          <a:prstGeom prst="rect">
            <a:avLst/>
          </a:prstGeom>
          <a:noFill/>
          <a:ln/>
        </p:spPr>
        <p:txBody>
          <a:bodyPr wrap="square" lIns="0" tIns="0" rIns="0" bIns="0" rtlCol="0" anchor="ctr"/>
          <a:lstStyle/>
          <a:p>
            <a:pPr indent="0" marL="0">
              <a:lnSpc>
                <a:spcPct val="112000"/>
              </a:lnSpc>
              <a:buNone/>
            </a:pPr>
            <a:r>
              <a:rPr lang="en-US" sz="1050" dirty="0">
                <a:solidFill>
                  <a:srgbClr val="4F4F4F"/>
                </a:solidFill>
                <a:latin typeface="Calibri" pitchFamily="34" charset="0"/>
                <a:ea typeface="Calibri" pitchFamily="34" charset="-122"/>
                <a:cs typeface="Calibri" pitchFamily="34" charset="-120"/>
              </a:rPr>
              <a:t>phase-by-phase plan and status</a:t>
            </a:r>
            <a:endParaRPr lang="en-US" sz="1050" dirty="0"/>
          </a:p>
        </p:txBody>
      </p:sp>
      <p:sp>
        <p:nvSpPr>
          <p:cNvPr id="22" name="Text 20"/>
          <p:cNvSpPr/>
          <p:nvPr/>
        </p:nvSpPr>
        <p:spPr>
          <a:xfrm>
            <a:off x="4460138" y="3054096"/>
            <a:ext cx="3271418" cy="219456"/>
          </a:xfrm>
          <a:prstGeom prst="rect">
            <a:avLst/>
          </a:prstGeom>
          <a:noFill/>
          <a:ln/>
        </p:spPr>
        <p:txBody>
          <a:bodyPr wrap="square" lIns="0" tIns="0" rIns="0" bIns="0" rtlCol="0" anchor="ctr"/>
          <a:lstStyle/>
          <a:p>
            <a:pPr indent="0" marL="0">
              <a:buNone/>
            </a:pPr>
            <a:r>
              <a:rPr lang="en-US" sz="1050" dirty="0">
                <a:solidFill>
                  <a:srgbClr val="2E2E2E"/>
                </a:solidFill>
                <a:latin typeface="Courier New" pitchFamily="34" charset="0"/>
                <a:ea typeface="Courier New" pitchFamily="34" charset="-122"/>
                <a:cs typeface="Courier New" pitchFamily="34" charset="-120"/>
              </a:rPr>
              <a:t>phase7_power_mechanism_design</a:t>
            </a:r>
            <a:endParaRPr lang="en-US" sz="1050" dirty="0"/>
          </a:p>
        </p:txBody>
      </p:sp>
      <p:sp>
        <p:nvSpPr>
          <p:cNvPr id="23" name="Text 21"/>
          <p:cNvSpPr/>
          <p:nvPr/>
        </p:nvSpPr>
        <p:spPr>
          <a:xfrm>
            <a:off x="4460138" y="3264408"/>
            <a:ext cx="3271418" cy="384048"/>
          </a:xfrm>
          <a:prstGeom prst="rect">
            <a:avLst/>
          </a:prstGeom>
          <a:noFill/>
          <a:ln/>
        </p:spPr>
        <p:txBody>
          <a:bodyPr wrap="square" lIns="0" tIns="0" rIns="0" bIns="0" rtlCol="0" anchor="ctr"/>
          <a:lstStyle/>
          <a:p>
            <a:pPr indent="0" marL="0">
              <a:lnSpc>
                <a:spcPct val="112000"/>
              </a:lnSpc>
              <a:buNone/>
            </a:pPr>
            <a:r>
              <a:rPr lang="en-US" sz="1050" dirty="0">
                <a:solidFill>
                  <a:srgbClr val="4F4F4F"/>
                </a:solidFill>
                <a:latin typeface="Calibri" pitchFamily="34" charset="0"/>
                <a:ea typeface="Calibri" pitchFamily="34" charset="-122"/>
                <a:cs typeface="Calibri" pitchFamily="34" charset="-120"/>
              </a:rPr>
              <a:t>the power path</a:t>
            </a:r>
            <a:endParaRPr lang="en-US" sz="1050" dirty="0"/>
          </a:p>
        </p:txBody>
      </p:sp>
      <p:sp>
        <p:nvSpPr>
          <p:cNvPr id="24" name="Text 22"/>
          <p:cNvSpPr/>
          <p:nvPr/>
        </p:nvSpPr>
        <p:spPr>
          <a:xfrm>
            <a:off x="4460138" y="3675888"/>
            <a:ext cx="3271418" cy="219456"/>
          </a:xfrm>
          <a:prstGeom prst="rect">
            <a:avLst/>
          </a:prstGeom>
          <a:noFill/>
          <a:ln/>
        </p:spPr>
        <p:txBody>
          <a:bodyPr wrap="square" lIns="0" tIns="0" rIns="0" bIns="0" rtlCol="0" anchor="ctr"/>
          <a:lstStyle/>
          <a:p>
            <a:pPr indent="0" marL="0">
              <a:buNone/>
            </a:pPr>
            <a:r>
              <a:rPr lang="en-US" sz="1050" dirty="0">
                <a:solidFill>
                  <a:srgbClr val="2E2E2E"/>
                </a:solidFill>
                <a:latin typeface="Courier New" pitchFamily="34" charset="0"/>
                <a:ea typeface="Courier New" pitchFamily="34" charset="-122"/>
                <a:cs typeface="Courier New" pitchFamily="34" charset="-120"/>
              </a:rPr>
              <a:t>ndt_api</a:t>
            </a:r>
            <a:endParaRPr lang="en-US" sz="1050" dirty="0"/>
          </a:p>
        </p:txBody>
      </p:sp>
      <p:sp>
        <p:nvSpPr>
          <p:cNvPr id="25" name="Text 23"/>
          <p:cNvSpPr/>
          <p:nvPr/>
        </p:nvSpPr>
        <p:spPr>
          <a:xfrm>
            <a:off x="4460138" y="3886200"/>
            <a:ext cx="3271418" cy="384048"/>
          </a:xfrm>
          <a:prstGeom prst="rect">
            <a:avLst/>
          </a:prstGeom>
          <a:noFill/>
          <a:ln/>
        </p:spPr>
        <p:txBody>
          <a:bodyPr wrap="square" lIns="0" tIns="0" rIns="0" bIns="0" rtlCol="0" anchor="ctr"/>
          <a:lstStyle/>
          <a:p>
            <a:pPr indent="0" marL="0">
              <a:lnSpc>
                <a:spcPct val="112000"/>
              </a:lnSpc>
              <a:buNone/>
            </a:pPr>
            <a:r>
              <a:rPr lang="en-US" sz="1050" dirty="0">
                <a:solidFill>
                  <a:srgbClr val="4F4F4F"/>
                </a:solidFill>
                <a:latin typeface="Calibri" pitchFamily="34" charset="0"/>
                <a:ea typeface="Calibri" pitchFamily="34" charset="-122"/>
                <a:cs typeface="Calibri" pitchFamily="34" charset="-120"/>
              </a:rPr>
              <a:t>every /ndt/ endpoint, with byte-order and lock-type clarifications</a:t>
            </a:r>
            <a:endParaRPr lang="en-US" sz="1050" dirty="0"/>
          </a:p>
        </p:txBody>
      </p:sp>
      <p:sp>
        <p:nvSpPr>
          <p:cNvPr id="26" name="Text 24"/>
          <p:cNvSpPr/>
          <p:nvPr/>
        </p:nvSpPr>
        <p:spPr>
          <a:xfrm>
            <a:off x="4460138" y="4297680"/>
            <a:ext cx="3271418" cy="219456"/>
          </a:xfrm>
          <a:prstGeom prst="rect">
            <a:avLst/>
          </a:prstGeom>
          <a:noFill/>
          <a:ln/>
        </p:spPr>
        <p:txBody>
          <a:bodyPr wrap="square" lIns="0" tIns="0" rIns="0" bIns="0" rtlCol="0" anchor="ctr"/>
          <a:lstStyle/>
          <a:p>
            <a:pPr indent="0" marL="0">
              <a:buNone/>
            </a:pPr>
            <a:r>
              <a:rPr lang="en-US" sz="1050" dirty="0">
                <a:solidFill>
                  <a:srgbClr val="2E2E2E"/>
                </a:solidFill>
                <a:latin typeface="Courier New" pitchFamily="34" charset="0"/>
                <a:ea typeface="Courier New" pitchFamily="34" charset="-122"/>
                <a:cs typeface="Courier New" pitchFamily="34" charset="-120"/>
              </a:rPr>
              <a:t>HANDOFF</a:t>
            </a:r>
            <a:endParaRPr lang="en-US" sz="1050" dirty="0"/>
          </a:p>
        </p:txBody>
      </p:sp>
      <p:sp>
        <p:nvSpPr>
          <p:cNvPr id="27" name="Text 25"/>
          <p:cNvSpPr/>
          <p:nvPr/>
        </p:nvSpPr>
        <p:spPr>
          <a:xfrm>
            <a:off x="4460138" y="4507992"/>
            <a:ext cx="3271418" cy="384048"/>
          </a:xfrm>
          <a:prstGeom prst="rect">
            <a:avLst/>
          </a:prstGeom>
          <a:noFill/>
          <a:ln/>
        </p:spPr>
        <p:txBody>
          <a:bodyPr wrap="square" lIns="0" tIns="0" rIns="0" bIns="0" rtlCol="0" anchor="ctr"/>
          <a:lstStyle/>
          <a:p>
            <a:pPr indent="0" marL="0">
              <a:lnSpc>
                <a:spcPct val="112000"/>
              </a:lnSpc>
              <a:buNone/>
            </a:pPr>
            <a:r>
              <a:rPr lang="en-US" sz="1050" dirty="0">
                <a:solidFill>
                  <a:srgbClr val="4F4F4F"/>
                </a:solidFill>
                <a:latin typeface="Calibri" pitchFamily="34" charset="0"/>
                <a:ea typeface="Calibri" pitchFamily="34" charset="-122"/>
                <a:cs typeface="Calibri" pitchFamily="34" charset="-120"/>
              </a:rPr>
              <a:t>what is still open</a:t>
            </a:r>
            <a:endParaRPr lang="en-US" sz="1050" dirty="0"/>
          </a:p>
        </p:txBody>
      </p:sp>
      <p:sp>
        <p:nvSpPr>
          <p:cNvPr id="28" name="Text 26"/>
          <p:cNvSpPr/>
          <p:nvPr/>
        </p:nvSpPr>
        <p:spPr>
          <a:xfrm>
            <a:off x="8143037" y="1993392"/>
            <a:ext cx="327141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Investigation records</a:t>
            </a:r>
            <a:endParaRPr lang="en-US" sz="1300" dirty="0"/>
          </a:p>
        </p:txBody>
      </p:sp>
      <p:sp>
        <p:nvSpPr>
          <p:cNvPr id="29" name="Shape 27"/>
          <p:cNvSpPr/>
          <p:nvPr/>
        </p:nvSpPr>
        <p:spPr>
          <a:xfrm>
            <a:off x="8143037" y="2304288"/>
            <a:ext cx="3271418" cy="9144"/>
          </a:xfrm>
          <a:prstGeom prst="line">
            <a:avLst/>
          </a:prstGeom>
          <a:noFill/>
          <a:ln w="12700">
            <a:solidFill>
              <a:srgbClr val="D0D0D0"/>
            </a:solidFill>
            <a:prstDash val="solid"/>
          </a:ln>
        </p:spPr>
      </p:sp>
      <p:sp>
        <p:nvSpPr>
          <p:cNvPr id="30" name="Text 28"/>
          <p:cNvSpPr/>
          <p:nvPr/>
        </p:nvSpPr>
        <p:spPr>
          <a:xfrm>
            <a:off x="8143037" y="2432304"/>
            <a:ext cx="3271418" cy="219456"/>
          </a:xfrm>
          <a:prstGeom prst="rect">
            <a:avLst/>
          </a:prstGeom>
          <a:noFill/>
          <a:ln/>
        </p:spPr>
        <p:txBody>
          <a:bodyPr wrap="square" lIns="0" tIns="0" rIns="0" bIns="0" rtlCol="0" anchor="ctr"/>
          <a:lstStyle/>
          <a:p>
            <a:pPr indent="0" marL="0">
              <a:buNone/>
            </a:pPr>
            <a:r>
              <a:rPr lang="en-US" sz="1050" dirty="0">
                <a:solidFill>
                  <a:srgbClr val="2E2E2E"/>
                </a:solidFill>
                <a:latin typeface="Courier New" pitchFamily="34" charset="0"/>
                <a:ea typeface="Courier New" pitchFamily="34" charset="-122"/>
                <a:cs typeface="Courier New" pitchFamily="34" charset="-120"/>
              </a:rPr>
              <a:t>p4runtime-mastership-spec-check</a:t>
            </a:r>
            <a:endParaRPr lang="en-US" sz="1050" dirty="0"/>
          </a:p>
        </p:txBody>
      </p:sp>
      <p:sp>
        <p:nvSpPr>
          <p:cNvPr id="31" name="Text 29"/>
          <p:cNvSpPr/>
          <p:nvPr/>
        </p:nvSpPr>
        <p:spPr>
          <a:xfrm>
            <a:off x="8143037" y="2642616"/>
            <a:ext cx="3271418" cy="384048"/>
          </a:xfrm>
          <a:prstGeom prst="rect">
            <a:avLst/>
          </a:prstGeom>
          <a:noFill/>
          <a:ln/>
        </p:spPr>
        <p:txBody>
          <a:bodyPr wrap="square" lIns="0" tIns="0" rIns="0" bIns="0" rtlCol="0" anchor="ctr"/>
          <a:lstStyle/>
          <a:p>
            <a:pPr indent="0" marL="0">
              <a:lnSpc>
                <a:spcPct val="112000"/>
              </a:lnSpc>
              <a:buNone/>
            </a:pPr>
            <a:r>
              <a:rPr lang="en-US" sz="1050" dirty="0">
                <a:solidFill>
                  <a:srgbClr val="4F4F4F"/>
                </a:solidFill>
                <a:latin typeface="Calibri" pitchFamily="34" charset="0"/>
                <a:ea typeface="Calibri" pitchFamily="34" charset="-122"/>
                <a:cs typeface="Calibri" pitchFamily="34" charset="-120"/>
              </a:rPr>
              <a:t>the conclusion that was withdrawn</a:t>
            </a:r>
            <a:endParaRPr lang="en-US" sz="1050" dirty="0"/>
          </a:p>
        </p:txBody>
      </p:sp>
      <p:sp>
        <p:nvSpPr>
          <p:cNvPr id="32" name="Text 30"/>
          <p:cNvSpPr/>
          <p:nvPr/>
        </p:nvSpPr>
        <p:spPr>
          <a:xfrm>
            <a:off x="8143037" y="3054096"/>
            <a:ext cx="3271418" cy="219456"/>
          </a:xfrm>
          <a:prstGeom prst="rect">
            <a:avLst/>
          </a:prstGeom>
          <a:noFill/>
          <a:ln/>
        </p:spPr>
        <p:txBody>
          <a:bodyPr wrap="square" lIns="0" tIns="0" rIns="0" bIns="0" rtlCol="0" anchor="ctr"/>
          <a:lstStyle/>
          <a:p>
            <a:pPr indent="0" marL="0">
              <a:buNone/>
            </a:pPr>
            <a:r>
              <a:rPr lang="en-US" sz="1050" dirty="0">
                <a:solidFill>
                  <a:srgbClr val="2E2E2E"/>
                </a:solidFill>
                <a:latin typeface="Courier New" pitchFamily="34" charset="0"/>
                <a:ea typeface="Courier New" pitchFamily="34" charset="-122"/>
                <a:cs typeface="Courier New" pitchFamily="34" charset="-120"/>
              </a:rPr>
              <a:t>bmv2-performance-report</a:t>
            </a:r>
            <a:endParaRPr lang="en-US" sz="1050" dirty="0"/>
          </a:p>
        </p:txBody>
      </p:sp>
      <p:sp>
        <p:nvSpPr>
          <p:cNvPr id="33" name="Text 31"/>
          <p:cNvSpPr/>
          <p:nvPr/>
        </p:nvSpPr>
        <p:spPr>
          <a:xfrm>
            <a:off x="8143037" y="3264408"/>
            <a:ext cx="3271418" cy="384048"/>
          </a:xfrm>
          <a:prstGeom prst="rect">
            <a:avLst/>
          </a:prstGeom>
          <a:noFill/>
          <a:ln/>
        </p:spPr>
        <p:txBody>
          <a:bodyPr wrap="square" lIns="0" tIns="0" rIns="0" bIns="0" rtlCol="0" anchor="ctr"/>
          <a:lstStyle/>
          <a:p>
            <a:pPr indent="0" marL="0">
              <a:lnSpc>
                <a:spcPct val="112000"/>
              </a:lnSpc>
              <a:buNone/>
            </a:pPr>
            <a:r>
              <a:rPr lang="en-US" sz="1050" dirty="0">
                <a:solidFill>
                  <a:srgbClr val="4F4F4F"/>
                </a:solidFill>
                <a:latin typeface="Calibri" pitchFamily="34" charset="0"/>
                <a:ea typeface="Calibri" pitchFamily="34" charset="-122"/>
                <a:cs typeface="Calibri" pitchFamily="34" charset="-120"/>
              </a:rPr>
              <a:t>the throughput A/B</a:t>
            </a:r>
            <a:endParaRPr lang="en-US" sz="1050" dirty="0"/>
          </a:p>
        </p:txBody>
      </p:sp>
      <p:sp>
        <p:nvSpPr>
          <p:cNvPr id="34" name="Text 32"/>
          <p:cNvSpPr/>
          <p:nvPr/>
        </p:nvSpPr>
        <p:spPr>
          <a:xfrm>
            <a:off x="8143037" y="3675888"/>
            <a:ext cx="3271418" cy="219456"/>
          </a:xfrm>
          <a:prstGeom prst="rect">
            <a:avLst/>
          </a:prstGeom>
          <a:noFill/>
          <a:ln/>
        </p:spPr>
        <p:txBody>
          <a:bodyPr wrap="square" lIns="0" tIns="0" rIns="0" bIns="0" rtlCol="0" anchor="ctr"/>
          <a:lstStyle/>
          <a:p>
            <a:pPr indent="0" marL="0">
              <a:buNone/>
            </a:pPr>
            <a:r>
              <a:rPr lang="en-US" sz="1050" dirty="0">
                <a:solidFill>
                  <a:srgbClr val="2E2E2E"/>
                </a:solidFill>
                <a:latin typeface="Courier New" pitchFamily="34" charset="0"/>
                <a:ea typeface="Courier New" pitchFamily="34" charset="-122"/>
                <a:cs typeface="Courier New" pitchFamily="34" charset="-120"/>
              </a:rPr>
              <a:t>src-ip-endianness-review</a:t>
            </a:r>
            <a:endParaRPr lang="en-US" sz="1050" dirty="0"/>
          </a:p>
        </p:txBody>
      </p:sp>
      <p:sp>
        <p:nvSpPr>
          <p:cNvPr id="35" name="Text 33"/>
          <p:cNvSpPr/>
          <p:nvPr/>
        </p:nvSpPr>
        <p:spPr>
          <a:xfrm>
            <a:off x="8143037" y="3886200"/>
            <a:ext cx="3271418" cy="384048"/>
          </a:xfrm>
          <a:prstGeom prst="rect">
            <a:avLst/>
          </a:prstGeom>
          <a:noFill/>
          <a:ln/>
        </p:spPr>
        <p:txBody>
          <a:bodyPr wrap="square" lIns="0" tIns="0" rIns="0" bIns="0" rtlCol="0" anchor="ctr"/>
          <a:lstStyle/>
          <a:p>
            <a:pPr indent="0" marL="0">
              <a:lnSpc>
                <a:spcPct val="112000"/>
              </a:lnSpc>
              <a:buNone/>
            </a:pPr>
            <a:r>
              <a:rPr lang="en-US" sz="1050" dirty="0">
                <a:solidFill>
                  <a:srgbClr val="4F4F4F"/>
                </a:solidFill>
                <a:latin typeface="Calibri" pitchFamily="34" charset="0"/>
                <a:ea typeface="Calibri" pitchFamily="34" charset="-122"/>
                <a:cs typeface="Calibri" pitchFamily="34" charset="-120"/>
              </a:rPr>
              <a:t>a field that looked wrong and was not</a:t>
            </a:r>
            <a:endParaRPr lang="en-US" sz="1050" dirty="0"/>
          </a:p>
        </p:txBody>
      </p:sp>
      <p:sp>
        <p:nvSpPr>
          <p:cNvPr id="36" name="Text 34"/>
          <p:cNvSpPr/>
          <p:nvPr/>
        </p:nvSpPr>
        <p:spPr>
          <a:xfrm>
            <a:off x="8143037" y="4297680"/>
            <a:ext cx="3271418" cy="219456"/>
          </a:xfrm>
          <a:prstGeom prst="rect">
            <a:avLst/>
          </a:prstGeom>
          <a:noFill/>
          <a:ln/>
        </p:spPr>
        <p:txBody>
          <a:bodyPr wrap="square" lIns="0" tIns="0" rIns="0" bIns="0" rtlCol="0" anchor="ctr"/>
          <a:lstStyle/>
          <a:p>
            <a:pPr indent="0" marL="0">
              <a:buNone/>
            </a:pPr>
            <a:r>
              <a:rPr lang="en-US" sz="1050" dirty="0">
                <a:solidFill>
                  <a:srgbClr val="2E2E2E"/>
                </a:solidFill>
                <a:latin typeface="Courier New" pitchFamily="34" charset="0"/>
                <a:ea typeface="Courier New" pitchFamily="34" charset="-122"/>
                <a:cs typeface="Courier New" pitchFamily="34" charset="-120"/>
              </a:rPr>
              <a:t>doc/audit/</a:t>
            </a:r>
            <a:endParaRPr lang="en-US" sz="1050" dirty="0"/>
          </a:p>
        </p:txBody>
      </p:sp>
      <p:sp>
        <p:nvSpPr>
          <p:cNvPr id="37" name="Text 35"/>
          <p:cNvSpPr/>
          <p:nvPr/>
        </p:nvSpPr>
        <p:spPr>
          <a:xfrm>
            <a:off x="8143037" y="4507992"/>
            <a:ext cx="3271418" cy="384048"/>
          </a:xfrm>
          <a:prstGeom prst="rect">
            <a:avLst/>
          </a:prstGeom>
          <a:noFill/>
          <a:ln/>
        </p:spPr>
        <p:txBody>
          <a:bodyPr wrap="square" lIns="0" tIns="0" rIns="0" bIns="0" rtlCol="0" anchor="ctr"/>
          <a:lstStyle/>
          <a:p>
            <a:pPr indent="0" marL="0">
              <a:lnSpc>
                <a:spcPct val="112000"/>
              </a:lnSpc>
              <a:buNone/>
            </a:pPr>
            <a:r>
              <a:rPr lang="en-US" sz="1050" dirty="0">
                <a:solidFill>
                  <a:srgbClr val="4F4F4F"/>
                </a:solidFill>
                <a:latin typeface="Calibri" pitchFamily="34" charset="0"/>
                <a:ea typeface="Calibri" pitchFamily="34" charset="-122"/>
                <a:cs typeface="Calibri" pitchFamily="34" charset="-120"/>
              </a:rPr>
              <a:t>wedge trace, mutation evidence, scoped reviews</a:t>
            </a:r>
            <a:endParaRPr lang="en-US" sz="1050" dirty="0"/>
          </a:p>
        </p:txBody>
      </p:sp>
      <p:sp>
        <p:nvSpPr>
          <p:cNvPr id="38" name="Shape 36"/>
          <p:cNvSpPr/>
          <p:nvPr/>
        </p:nvSpPr>
        <p:spPr>
          <a:xfrm>
            <a:off x="777240" y="5504688"/>
            <a:ext cx="27432" cy="868680"/>
          </a:xfrm>
          <a:prstGeom prst="rect">
            <a:avLst/>
          </a:prstGeom>
          <a:solidFill>
            <a:srgbClr val="065A82"/>
          </a:solidFill>
          <a:ln/>
        </p:spPr>
      </p:sp>
      <p:sp>
        <p:nvSpPr>
          <p:cNvPr id="39" name="Text 37"/>
          <p:cNvSpPr/>
          <p:nvPr/>
        </p:nvSpPr>
        <p:spPr>
          <a:xfrm>
            <a:off x="978408" y="5468112"/>
            <a:ext cx="10436047" cy="237744"/>
          </a:xfrm>
          <a:prstGeom prst="rect">
            <a:avLst/>
          </a:prstGeom>
          <a:noFill/>
          <a:ln/>
        </p:spPr>
        <p:txBody>
          <a:bodyPr wrap="square" lIns="0" tIns="0" rIns="0" bIns="0" rtlCol="0" anchor="ctr"/>
          <a:lstStyle/>
          <a:p>
            <a:pPr indent="0" marL="0">
              <a:buNone/>
            </a:pPr>
            <a:r>
              <a:rPr lang="en-US" sz="1150" b="1" dirty="0">
                <a:solidFill>
                  <a:srgbClr val="065A82"/>
                </a:solidFill>
                <a:latin typeface="Calibri" pitchFamily="34" charset="0"/>
                <a:ea typeface="Calibri" pitchFamily="34" charset="-122"/>
                <a:cs typeface="Calibri" pitchFamily="34" charset="-120"/>
              </a:rPr>
              <a:t>The one that matters most is the one listing what is not done</a:t>
            </a:r>
            <a:endParaRPr lang="en-US" sz="1150" dirty="0"/>
          </a:p>
        </p:txBody>
      </p:sp>
      <p:sp>
        <p:nvSpPr>
          <p:cNvPr id="40" name="Text 38"/>
          <p:cNvSpPr/>
          <p:nvPr/>
        </p:nvSpPr>
        <p:spPr>
          <a:xfrm>
            <a:off x="978408" y="5742432"/>
            <a:ext cx="10436047" cy="594360"/>
          </a:xfrm>
          <a:prstGeom prst="rect">
            <a:avLst/>
          </a:prstGeom>
          <a:noFill/>
          <a:ln/>
        </p:spPr>
        <p:txBody>
          <a:bodyPr wrap="square" lIns="0" tIns="0" rIns="0" bIns="0" rtlCol="0" anchor="ctr"/>
          <a:lstStyle/>
          <a:p>
            <a:pPr indent="0" marL="0">
              <a:lnSpc>
                <a:spcPct val="120000"/>
              </a:lnSpc>
              <a:buNone/>
            </a:pPr>
            <a:r>
              <a:rPr lang="en-US" sz="1100" dirty="0">
                <a:solidFill>
                  <a:srgbClr val="2E2E2E"/>
                </a:solidFill>
                <a:latin typeface="Calibri" pitchFamily="34" charset="0"/>
                <a:ea typeface="Calibri" pitchFamily="34" charset="-122"/>
                <a:cs typeface="Calibri" pitchFamily="34" charset="-120"/>
              </a:rPr>
              <a:t>test_coverage_gaps records what has no test yet, and HANDOFF records what is still open — including a defect found and deliberately left unfixed. A handover document that only lists successes is not a handover document.</a:t>
            </a:r>
            <a:endParaRPr lang="en-US" sz="1100" dirty="0"/>
          </a:p>
        </p:txBody>
      </p:sp>
      <p:sp>
        <p:nvSpPr>
          <p:cNvPr id="41" name="Text 39"/>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1975104"/>
            <a:ext cx="10058400" cy="384048"/>
          </a:xfrm>
          <a:prstGeom prst="rect">
            <a:avLst/>
          </a:prstGeom>
          <a:noFill/>
          <a:ln/>
        </p:spPr>
        <p:txBody>
          <a:bodyPr wrap="square" lIns="0" tIns="0" rIns="0" bIns="0" rtlCol="0" anchor="ctr"/>
          <a:lstStyle/>
          <a:p>
            <a:pPr indent="0" marL="0">
              <a:buNone/>
            </a:pPr>
            <a:r>
              <a:rPr lang="en-US" sz="1600" spc="120" kern="0" dirty="0">
                <a:solidFill>
                  <a:srgbClr val="065A82"/>
                </a:solidFill>
                <a:latin typeface="Calibri" pitchFamily="34" charset="0"/>
                <a:ea typeface="Calibri" pitchFamily="34" charset="-122"/>
                <a:cs typeface="Calibri" pitchFamily="34" charset="-120"/>
              </a:rPr>
              <a:t>SECTION 3</a:t>
            </a:r>
            <a:endParaRPr lang="en-US" sz="1600" dirty="0"/>
          </a:p>
        </p:txBody>
      </p:sp>
      <p:sp>
        <p:nvSpPr>
          <p:cNvPr id="3" name="Text 1"/>
          <p:cNvSpPr/>
          <p:nvPr/>
        </p:nvSpPr>
        <p:spPr>
          <a:xfrm>
            <a:off x="777240" y="2487168"/>
            <a:ext cx="10058400" cy="868680"/>
          </a:xfrm>
          <a:prstGeom prst="rect">
            <a:avLst/>
          </a:prstGeom>
          <a:noFill/>
          <a:ln/>
        </p:spPr>
        <p:txBody>
          <a:bodyPr wrap="square" lIns="0" tIns="0" rIns="0" bIns="0" rtlCol="0" anchor="ctr"/>
          <a:lstStyle/>
          <a:p>
            <a:pPr indent="0" marL="0">
              <a:buNone/>
            </a:pPr>
            <a:r>
              <a:rPr lang="en-US" sz="4400" b="1" dirty="0">
                <a:solidFill>
                  <a:srgbClr val="1A1A1A"/>
                </a:solidFill>
                <a:latin typeface="Cambria" pitchFamily="34" charset="0"/>
                <a:ea typeface="Cambria" pitchFamily="34" charset="-122"/>
                <a:cs typeface="Cambria" pitchFamily="34" charset="-120"/>
              </a:rPr>
              <a:t>Measured results</a:t>
            </a:r>
            <a:endParaRPr lang="en-US" sz="4400" dirty="0"/>
          </a:p>
        </p:txBody>
      </p:sp>
      <p:sp>
        <p:nvSpPr>
          <p:cNvPr id="4" name="Text 2"/>
          <p:cNvSpPr/>
          <p:nvPr/>
        </p:nvSpPr>
        <p:spPr>
          <a:xfrm>
            <a:off x="777240" y="3401568"/>
            <a:ext cx="10058400" cy="566928"/>
          </a:xfrm>
          <a:prstGeom prst="rect">
            <a:avLst/>
          </a:prstGeom>
          <a:noFill/>
          <a:ln/>
        </p:spPr>
        <p:txBody>
          <a:bodyPr wrap="square" lIns="0" tIns="0" rIns="0" bIns="0" rtlCol="0" anchor="ctr"/>
          <a:lstStyle/>
          <a:p>
            <a:pPr indent="0" marL="0">
              <a:lnSpc>
                <a:spcPct val="115000"/>
              </a:lnSpc>
              <a:buNone/>
            </a:pPr>
            <a:r>
              <a:rPr lang="en-US" sz="2000" dirty="0">
                <a:solidFill>
                  <a:srgbClr val="4F4F4F"/>
                </a:solidFill>
                <a:latin typeface="Calibri" pitchFamily="34" charset="0"/>
                <a:ea typeface="Calibri" pitchFamily="34" charset="-122"/>
                <a:cs typeface="Calibri" pitchFamily="34" charset="-120"/>
              </a:rPr>
              <a:t>Differential testing, failover, load, twin accuracy — and a live demo</a:t>
            </a:r>
            <a:endParaRPr lang="en-US" sz="2000" dirty="0"/>
          </a:p>
        </p:txBody>
      </p:sp>
      <p:sp>
        <p:nvSpPr>
          <p:cNvPr id="5" name="Shape 3"/>
          <p:cNvSpPr/>
          <p:nvPr/>
        </p:nvSpPr>
        <p:spPr>
          <a:xfrm>
            <a:off x="777240" y="4261104"/>
            <a:ext cx="1005840" cy="9144"/>
          </a:xfrm>
          <a:prstGeom prst="line">
            <a:avLst/>
          </a:prstGeom>
          <a:noFill/>
          <a:ln w="25400">
            <a:solidFill>
              <a:srgbClr val="065A82"/>
            </a:solidFill>
            <a:prstDash val="solid"/>
          </a:ln>
        </p:spPr>
      </p:sp>
      <p:sp>
        <p:nvSpPr>
          <p:cNvPr id="6" name="Text 4"/>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56032"/>
            <a:ext cx="5486400" cy="237744"/>
          </a:xfrm>
          <a:prstGeom prst="rect">
            <a:avLst/>
          </a:prstGeom>
          <a:noFill/>
          <a:ln/>
        </p:spPr>
        <p:txBody>
          <a:bodyPr wrap="square" lIns="0" tIns="0" rIns="0" bIns="0" rtlCol="0" anchor="ctr"/>
          <a:lstStyle/>
          <a:p>
            <a:pPr indent="0" marL="0">
              <a:buNone/>
            </a:pPr>
            <a:r>
              <a:rPr lang="en-US" sz="1050" b="1" spc="100" kern="0" dirty="0">
                <a:solidFill>
                  <a:srgbClr val="065A82"/>
                </a:solidFill>
                <a:latin typeface="Calibri" pitchFamily="34" charset="0"/>
                <a:ea typeface="Calibri" pitchFamily="34" charset="-122"/>
                <a:cs typeface="Calibri" pitchFamily="34" charset="-120"/>
              </a:rPr>
              <a:t>3 · MEASURED RESULTS</a:t>
            </a:r>
            <a:endParaRPr lang="en-US" sz="1050" dirty="0"/>
          </a:p>
        </p:txBody>
      </p:sp>
      <p:sp>
        <p:nvSpPr>
          <p:cNvPr id="3" name="Text 1"/>
          <p:cNvSpPr/>
          <p:nvPr/>
        </p:nvSpPr>
        <p:spPr>
          <a:xfrm>
            <a:off x="777240" y="566928"/>
            <a:ext cx="10637215" cy="621792"/>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The P4 path matches the OVS baseline</a:t>
            </a:r>
            <a:endParaRPr lang="en-US" sz="3000" dirty="0"/>
          </a:p>
        </p:txBody>
      </p:sp>
      <p:sp>
        <p:nvSpPr>
          <p:cNvPr id="4" name="Text 2"/>
          <p:cNvSpPr/>
          <p:nvPr/>
        </p:nvSpPr>
        <p:spPr>
          <a:xfrm>
            <a:off x="777240" y="1207008"/>
            <a:ext cx="10637215" cy="347472"/>
          </a:xfrm>
          <a:prstGeom prst="rect">
            <a:avLst/>
          </a:prstGeom>
          <a:noFill/>
          <a:ln/>
        </p:spPr>
        <p:txBody>
          <a:bodyPr wrap="square" lIns="0" tIns="0" rIns="0" bIns="0" rtlCol="0" anchor="ctr"/>
          <a:lstStyle/>
          <a:p>
            <a:pPr indent="0" marL="0">
              <a:buNone/>
            </a:pPr>
            <a:r>
              <a:rPr lang="en-US" sz="1400" dirty="0">
                <a:solidFill>
                  <a:srgbClr val="4F4F4F"/>
                </a:solidFill>
                <a:latin typeface="Calibri" pitchFamily="34" charset="0"/>
                <a:ea typeface="Calibri" pitchFamily="34" charset="-122"/>
                <a:cs typeface="Calibri" pitchFamily="34" charset="-120"/>
              </a:rPr>
              <a:t>L4 differential: the OVS path is the specification, and every difference the P4 path shows has to be justified in writing or it fails</a:t>
            </a:r>
            <a:endParaRPr lang="en-US" sz="1400" dirty="0"/>
          </a:p>
        </p:txBody>
      </p:sp>
      <p:sp>
        <p:nvSpPr>
          <p:cNvPr id="5" name="Shape 3"/>
          <p:cNvSpPr/>
          <p:nvPr/>
        </p:nvSpPr>
        <p:spPr>
          <a:xfrm>
            <a:off x="777240" y="1700784"/>
            <a:ext cx="10637215" cy="9144"/>
          </a:xfrm>
          <a:prstGeom prst="line">
            <a:avLst/>
          </a:prstGeom>
          <a:noFill/>
          <a:ln w="12700">
            <a:solidFill>
              <a:srgbClr val="D0D0D0"/>
            </a:solidFill>
            <a:prstDash val="solid"/>
          </a:ln>
        </p:spPr>
      </p:sp>
      <p:sp>
        <p:nvSpPr>
          <p:cNvPr id="6" name="Text 4"/>
          <p:cNvSpPr/>
          <p:nvPr/>
        </p:nvSpPr>
        <p:spPr>
          <a:xfrm>
            <a:off x="777240" y="1993392"/>
            <a:ext cx="2522144" cy="548640"/>
          </a:xfrm>
          <a:prstGeom prst="rect">
            <a:avLst/>
          </a:prstGeom>
          <a:noFill/>
          <a:ln/>
        </p:spPr>
        <p:txBody>
          <a:bodyPr wrap="square" lIns="0" tIns="0" rIns="0" bIns="0" rtlCol="0" anchor="ctr"/>
          <a:lstStyle/>
          <a:p>
            <a:pPr indent="0" marL="0">
              <a:buNone/>
            </a:pPr>
            <a:r>
              <a:rPr lang="en-US" sz="2800" b="1" dirty="0">
                <a:solidFill>
                  <a:srgbClr val="1A1A1A"/>
                </a:solidFill>
                <a:latin typeface="Cambria" pitchFamily="34" charset="0"/>
                <a:ea typeface="Cambria" pitchFamily="34" charset="-122"/>
                <a:cs typeface="Cambria" pitchFamily="34" charset="-120"/>
              </a:rPr>
              <a:t>PASS</a:t>
            </a:r>
            <a:endParaRPr lang="en-US" sz="2800" dirty="0"/>
          </a:p>
        </p:txBody>
      </p:sp>
      <p:sp>
        <p:nvSpPr>
          <p:cNvPr id="7" name="Text 5"/>
          <p:cNvSpPr/>
          <p:nvPr/>
        </p:nvSpPr>
        <p:spPr>
          <a:xfrm>
            <a:off x="777240" y="2560320"/>
            <a:ext cx="2522144" cy="457200"/>
          </a:xfrm>
          <a:prstGeom prst="rect">
            <a:avLst/>
          </a:prstGeom>
          <a:noFill/>
          <a:ln/>
        </p:spPr>
        <p:txBody>
          <a:bodyPr wrap="square" lIns="0" tIns="0" rIns="0" bIns="0" rtlCol="0" anchor="ctr"/>
          <a:lstStyle/>
          <a:p>
            <a:pPr indent="0" marL="0">
              <a:lnSpc>
                <a:spcPct val="114000"/>
              </a:lnSpc>
              <a:buNone/>
            </a:pPr>
            <a:r>
              <a:rPr lang="en-US" sz="1150" dirty="0">
                <a:solidFill>
                  <a:srgbClr val="4F4F4F"/>
                </a:solidFill>
                <a:latin typeface="Calibri" pitchFamily="34" charset="0"/>
                <a:ea typeface="Calibri" pitchFamily="34" charset="-122"/>
                <a:cs typeface="Calibri" pitchFamily="34" charset="-120"/>
              </a:rPr>
              <a:t>L4 differential</a:t>
            </a:r>
            <a:endParaRPr lang="en-US" sz="1150" dirty="0"/>
          </a:p>
        </p:txBody>
      </p:sp>
      <p:sp>
        <p:nvSpPr>
          <p:cNvPr id="8" name="Text 6"/>
          <p:cNvSpPr/>
          <p:nvPr/>
        </p:nvSpPr>
        <p:spPr>
          <a:xfrm>
            <a:off x="3482264" y="1993392"/>
            <a:ext cx="2522144" cy="548640"/>
          </a:xfrm>
          <a:prstGeom prst="rect">
            <a:avLst/>
          </a:prstGeom>
          <a:noFill/>
          <a:ln/>
        </p:spPr>
        <p:txBody>
          <a:bodyPr wrap="square" lIns="0" tIns="0" rIns="0" bIns="0" rtlCol="0" anchor="ctr"/>
          <a:lstStyle/>
          <a:p>
            <a:pPr indent="0" marL="0">
              <a:buNone/>
            </a:pPr>
            <a:r>
              <a:rPr lang="en-US" sz="2800" b="1" dirty="0">
                <a:solidFill>
                  <a:srgbClr val="1A1A1A"/>
                </a:solidFill>
                <a:latin typeface="Cambria" pitchFamily="34" charset="0"/>
                <a:ea typeface="Cambria" pitchFamily="34" charset="-122"/>
                <a:cs typeface="Cambria" pitchFamily="34" charset="-120"/>
              </a:rPr>
              <a:t>18</a:t>
            </a:r>
            <a:endParaRPr lang="en-US" sz="2800" dirty="0"/>
          </a:p>
        </p:txBody>
      </p:sp>
      <p:sp>
        <p:nvSpPr>
          <p:cNvPr id="9" name="Text 7"/>
          <p:cNvSpPr/>
          <p:nvPr/>
        </p:nvSpPr>
        <p:spPr>
          <a:xfrm>
            <a:off x="3482264" y="2560320"/>
            <a:ext cx="2522144" cy="457200"/>
          </a:xfrm>
          <a:prstGeom prst="rect">
            <a:avLst/>
          </a:prstGeom>
          <a:noFill/>
          <a:ln/>
        </p:spPr>
        <p:txBody>
          <a:bodyPr wrap="square" lIns="0" tIns="0" rIns="0" bIns="0" rtlCol="0" anchor="ctr"/>
          <a:lstStyle/>
          <a:p>
            <a:pPr indent="0" marL="0">
              <a:lnSpc>
                <a:spcPct val="114000"/>
              </a:lnSpc>
              <a:buNone/>
            </a:pPr>
            <a:r>
              <a:rPr lang="en-US" sz="1150" dirty="0">
                <a:solidFill>
                  <a:srgbClr val="4F4F4F"/>
                </a:solidFill>
                <a:latin typeface="Calibri" pitchFamily="34" charset="0"/>
                <a:ea typeface="Calibri" pitchFamily="34" charset="-122"/>
                <a:cs typeface="Calibri" pitchFamily="34" charset="-120"/>
              </a:rPr>
              <a:t>allowlist entries, each with a reason</a:t>
            </a:r>
            <a:endParaRPr lang="en-US" sz="1150" dirty="0"/>
          </a:p>
        </p:txBody>
      </p:sp>
      <p:sp>
        <p:nvSpPr>
          <p:cNvPr id="10" name="Text 8"/>
          <p:cNvSpPr/>
          <p:nvPr/>
        </p:nvSpPr>
        <p:spPr>
          <a:xfrm>
            <a:off x="6187288" y="1993392"/>
            <a:ext cx="2522144" cy="548640"/>
          </a:xfrm>
          <a:prstGeom prst="rect">
            <a:avLst/>
          </a:prstGeom>
          <a:noFill/>
          <a:ln/>
        </p:spPr>
        <p:txBody>
          <a:bodyPr wrap="square" lIns="0" tIns="0" rIns="0" bIns="0" rtlCol="0" anchor="ctr"/>
          <a:lstStyle/>
          <a:p>
            <a:pPr indent="0" marL="0">
              <a:buNone/>
            </a:pPr>
            <a:r>
              <a:rPr lang="en-US" sz="2800" b="1" dirty="0">
                <a:solidFill>
                  <a:srgbClr val="065A82"/>
                </a:solidFill>
                <a:latin typeface="Cambria" pitchFamily="34" charset="0"/>
                <a:ea typeface="Cambria" pitchFamily="34" charset="-122"/>
                <a:cs typeface="Cambria" pitchFamily="34" charset="-120"/>
              </a:rPr>
              <a:t>0</a:t>
            </a:r>
            <a:endParaRPr lang="en-US" sz="2800" dirty="0"/>
          </a:p>
        </p:txBody>
      </p:sp>
      <p:sp>
        <p:nvSpPr>
          <p:cNvPr id="11" name="Text 9"/>
          <p:cNvSpPr/>
          <p:nvPr/>
        </p:nvSpPr>
        <p:spPr>
          <a:xfrm>
            <a:off x="6187288" y="2560320"/>
            <a:ext cx="2522144" cy="457200"/>
          </a:xfrm>
          <a:prstGeom prst="rect">
            <a:avLst/>
          </a:prstGeom>
          <a:noFill/>
          <a:ln/>
        </p:spPr>
        <p:txBody>
          <a:bodyPr wrap="square" lIns="0" tIns="0" rIns="0" bIns="0" rtlCol="0" anchor="ctr"/>
          <a:lstStyle/>
          <a:p>
            <a:pPr indent="0" marL="0">
              <a:lnSpc>
                <a:spcPct val="114000"/>
              </a:lnSpc>
              <a:buNone/>
            </a:pPr>
            <a:r>
              <a:rPr lang="en-US" sz="1150" dirty="0">
                <a:solidFill>
                  <a:srgbClr val="4F4F4F"/>
                </a:solidFill>
                <a:latin typeface="Calibri" pitchFamily="34" charset="0"/>
                <a:ea typeface="Calibri" pitchFamily="34" charset="-122"/>
                <a:cs typeface="Calibri" pitchFamily="34" charset="-120"/>
              </a:rPr>
              <a:t>unexplained differences</a:t>
            </a:r>
            <a:endParaRPr lang="en-US" sz="1150" dirty="0"/>
          </a:p>
        </p:txBody>
      </p:sp>
      <p:sp>
        <p:nvSpPr>
          <p:cNvPr id="12" name="Text 10"/>
          <p:cNvSpPr/>
          <p:nvPr/>
        </p:nvSpPr>
        <p:spPr>
          <a:xfrm>
            <a:off x="8892311" y="1993392"/>
            <a:ext cx="2522144" cy="548640"/>
          </a:xfrm>
          <a:prstGeom prst="rect">
            <a:avLst/>
          </a:prstGeom>
          <a:noFill/>
          <a:ln/>
        </p:spPr>
        <p:txBody>
          <a:bodyPr wrap="square" lIns="0" tIns="0" rIns="0" bIns="0" rtlCol="0" anchor="ctr"/>
          <a:lstStyle/>
          <a:p>
            <a:pPr indent="0" marL="0">
              <a:buNone/>
            </a:pPr>
            <a:r>
              <a:rPr lang="en-US" sz="2800" b="1" dirty="0">
                <a:solidFill>
                  <a:srgbClr val="1A1A1A"/>
                </a:solidFill>
                <a:latin typeface="Cambria" pitchFamily="34" charset="0"/>
                <a:ea typeface="Cambria" pitchFamily="34" charset="-122"/>
                <a:cs typeface="Cambria" pitchFamily="34" charset="-120"/>
              </a:rPr>
              <a:t>12</a:t>
            </a:r>
            <a:endParaRPr lang="en-US" sz="2800" dirty="0"/>
          </a:p>
        </p:txBody>
      </p:sp>
      <p:sp>
        <p:nvSpPr>
          <p:cNvPr id="13" name="Text 11"/>
          <p:cNvSpPr/>
          <p:nvPr/>
        </p:nvSpPr>
        <p:spPr>
          <a:xfrm>
            <a:off x="8892311" y="2560320"/>
            <a:ext cx="2522144" cy="457200"/>
          </a:xfrm>
          <a:prstGeom prst="rect">
            <a:avLst/>
          </a:prstGeom>
          <a:noFill/>
          <a:ln/>
        </p:spPr>
        <p:txBody>
          <a:bodyPr wrap="square" lIns="0" tIns="0" rIns="0" bIns="0" rtlCol="0" anchor="ctr"/>
          <a:lstStyle/>
          <a:p>
            <a:pPr indent="0" marL="0">
              <a:lnSpc>
                <a:spcPct val="114000"/>
              </a:lnSpc>
              <a:buNone/>
            </a:pPr>
            <a:r>
              <a:rPr lang="en-US" sz="1150" dirty="0">
                <a:solidFill>
                  <a:srgbClr val="4F4F4F"/>
                </a:solidFill>
                <a:latin typeface="Calibri" pitchFamily="34" charset="0"/>
                <a:ea typeface="Calibri" pitchFamily="34" charset="-122"/>
                <a:cs typeface="Calibri" pitchFamily="34" charset="-120"/>
              </a:rPr>
              <a:t>allowlist entries deleted once P4 caught up</a:t>
            </a:r>
            <a:endParaRPr lang="en-US" sz="1150" dirty="0"/>
          </a:p>
        </p:txBody>
      </p:sp>
      <p:sp>
        <p:nvSpPr>
          <p:cNvPr id="14" name="Shape 12"/>
          <p:cNvSpPr/>
          <p:nvPr/>
        </p:nvSpPr>
        <p:spPr>
          <a:xfrm>
            <a:off x="777240" y="3163824"/>
            <a:ext cx="10637215" cy="9144"/>
          </a:xfrm>
          <a:prstGeom prst="line">
            <a:avLst/>
          </a:prstGeom>
          <a:noFill/>
          <a:ln w="12700">
            <a:solidFill>
              <a:srgbClr val="D0D0D0"/>
            </a:solidFill>
            <a:prstDash val="solid"/>
          </a:ln>
        </p:spPr>
      </p:sp>
      <p:sp>
        <p:nvSpPr>
          <p:cNvPr id="15" name="Text 13"/>
          <p:cNvSpPr/>
          <p:nvPr/>
        </p:nvSpPr>
        <p:spPr>
          <a:xfrm>
            <a:off x="777240" y="3346704"/>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1</a:t>
            </a:r>
            <a:endParaRPr lang="en-US" sz="1300" dirty="0"/>
          </a:p>
        </p:txBody>
      </p:sp>
      <p:sp>
        <p:nvSpPr>
          <p:cNvPr id="16" name="Text 14"/>
          <p:cNvSpPr/>
          <p:nvPr/>
        </p:nvSpPr>
        <p:spPr>
          <a:xfrm>
            <a:off x="1106424" y="3337560"/>
            <a:ext cx="6528816" cy="292608"/>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The allowlist is the mechanism, not a formality</a:t>
            </a:r>
            <a:endParaRPr lang="en-US" sz="1550" dirty="0"/>
          </a:p>
        </p:txBody>
      </p:sp>
      <p:sp>
        <p:nvSpPr>
          <p:cNvPr id="17" name="Text 15"/>
          <p:cNvSpPr/>
          <p:nvPr/>
        </p:nvSpPr>
        <p:spPr>
          <a:xfrm>
            <a:off x="1106424" y="3675888"/>
            <a:ext cx="6528816" cy="822960"/>
          </a:xfrm>
          <a:prstGeom prst="rect">
            <a:avLst/>
          </a:prstGeom>
          <a:noFill/>
          <a:ln/>
        </p:spPr>
        <p:txBody>
          <a:bodyPr wrap="square" lIns="0" tIns="0" rIns="0" bIns="0" rtlCol="0" anchor="ctr"/>
          <a:lstStyle/>
          <a:p>
            <a:pPr indent="0" marL="0">
              <a:lnSpc>
                <a:spcPct val="124000"/>
              </a:lnSpc>
              <a:buNone/>
            </a:pPr>
            <a:r>
              <a:rPr lang="en-US" sz="1250" dirty="0">
                <a:solidFill>
                  <a:srgbClr val="2E2E2E"/>
                </a:solidFill>
                <a:latin typeface="Calibri" pitchFamily="34" charset="0"/>
                <a:ea typeface="Calibri" pitchFamily="34" charset="-122"/>
                <a:cs typeface="Calibri" pitchFamily="34" charset="-120"/>
              </a:rPr>
              <a:t>compare_baseline.py fails on any difference not listed. Each entry is an endpoint, a regex and a reason, so "P4 cannot do this yet" has to be written as a sentence.</a:t>
            </a:r>
            <a:endParaRPr lang="en-US" sz="1250" dirty="0"/>
          </a:p>
        </p:txBody>
      </p:sp>
      <p:sp>
        <p:nvSpPr>
          <p:cNvPr id="18" name="Text 16"/>
          <p:cNvSpPr/>
          <p:nvPr/>
        </p:nvSpPr>
        <p:spPr>
          <a:xfrm>
            <a:off x="777240" y="4645152"/>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2</a:t>
            </a:r>
            <a:endParaRPr lang="en-US" sz="1300" dirty="0"/>
          </a:p>
        </p:txBody>
      </p:sp>
      <p:sp>
        <p:nvSpPr>
          <p:cNvPr id="19" name="Text 17"/>
          <p:cNvSpPr/>
          <p:nvPr/>
        </p:nvSpPr>
        <p:spPr>
          <a:xfrm>
            <a:off x="1106424" y="4636008"/>
            <a:ext cx="6528816" cy="292608"/>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Entries are deleted as phases land</a:t>
            </a:r>
            <a:endParaRPr lang="en-US" sz="1550" dirty="0"/>
          </a:p>
        </p:txBody>
      </p:sp>
      <p:sp>
        <p:nvSpPr>
          <p:cNvPr id="20" name="Text 18"/>
          <p:cNvSpPr/>
          <p:nvPr/>
        </p:nvSpPr>
        <p:spPr>
          <a:xfrm>
            <a:off x="1106424" y="4974336"/>
            <a:ext cx="6528816" cy="822960"/>
          </a:xfrm>
          <a:prstGeom prst="rect">
            <a:avLst/>
          </a:prstGeom>
          <a:noFill/>
          <a:ln/>
        </p:spPr>
        <p:txBody>
          <a:bodyPr wrap="square" lIns="0" tIns="0" rIns="0" bIns="0" rtlCol="0" anchor="ctr"/>
          <a:lstStyle/>
          <a:p>
            <a:pPr indent="0" marL="0">
              <a:lnSpc>
                <a:spcPct val="124000"/>
              </a:lnSpc>
              <a:buNone/>
            </a:pPr>
            <a:r>
              <a:rPr lang="en-US" sz="1250" dirty="0">
                <a:solidFill>
                  <a:srgbClr val="2E2E2E"/>
                </a:solidFill>
                <a:latin typeface="Calibri" pitchFamily="34" charset="0"/>
                <a:ea typeface="Calibri" pitchFamily="34" charset="-122"/>
                <a:cs typeface="Calibri" pitchFamily="34" charset="-120"/>
              </a:rPr>
              <a:t>Twelve were removed once P4 implemented what they excused — each re-verified against the live system first, not just crossed off.</a:t>
            </a:r>
            <a:endParaRPr lang="en-US" sz="1250" dirty="0"/>
          </a:p>
        </p:txBody>
      </p:sp>
      <p:sp>
        <p:nvSpPr>
          <p:cNvPr id="21" name="Shape 19"/>
          <p:cNvSpPr/>
          <p:nvPr/>
        </p:nvSpPr>
        <p:spPr>
          <a:xfrm>
            <a:off x="8001000" y="3383280"/>
            <a:ext cx="27432" cy="1965960"/>
          </a:xfrm>
          <a:prstGeom prst="rect">
            <a:avLst/>
          </a:prstGeom>
          <a:solidFill>
            <a:srgbClr val="065A82"/>
          </a:solidFill>
          <a:ln/>
        </p:spPr>
      </p:sp>
      <p:sp>
        <p:nvSpPr>
          <p:cNvPr id="22" name="Text 20"/>
          <p:cNvSpPr/>
          <p:nvPr/>
        </p:nvSpPr>
        <p:spPr>
          <a:xfrm>
            <a:off x="8202168" y="3346704"/>
            <a:ext cx="3209544" cy="237744"/>
          </a:xfrm>
          <a:prstGeom prst="rect">
            <a:avLst/>
          </a:prstGeom>
          <a:noFill/>
          <a:ln/>
        </p:spPr>
        <p:txBody>
          <a:bodyPr wrap="square" lIns="0" tIns="0" rIns="0" bIns="0" rtlCol="0" anchor="ctr"/>
          <a:lstStyle/>
          <a:p>
            <a:pPr indent="0" marL="0">
              <a:buNone/>
            </a:pPr>
            <a:r>
              <a:rPr lang="en-US" sz="1150" b="1" dirty="0">
                <a:solidFill>
                  <a:srgbClr val="065A82"/>
                </a:solidFill>
                <a:latin typeface="Calibri" pitchFamily="34" charset="0"/>
                <a:ea typeface="Calibri" pitchFamily="34" charset="-122"/>
                <a:cs typeface="Calibri" pitchFamily="34" charset="-120"/>
              </a:rPr>
              <a:t>Why this is the strongest single result</a:t>
            </a:r>
            <a:endParaRPr lang="en-US" sz="1150" dirty="0"/>
          </a:p>
        </p:txBody>
      </p:sp>
      <p:sp>
        <p:nvSpPr>
          <p:cNvPr id="23" name="Text 21"/>
          <p:cNvSpPr/>
          <p:nvPr/>
        </p:nvSpPr>
        <p:spPr>
          <a:xfrm>
            <a:off x="8202168" y="3621024"/>
            <a:ext cx="3209544" cy="1691640"/>
          </a:xfrm>
          <a:prstGeom prst="rect">
            <a:avLst/>
          </a:prstGeom>
          <a:noFill/>
          <a:ln/>
        </p:spPr>
        <p:txBody>
          <a:bodyPr wrap="square" lIns="0" tIns="0" rIns="0" bIns="0" rtlCol="0" anchor="ctr"/>
          <a:lstStyle/>
          <a:p>
            <a:pPr indent="0" marL="0">
              <a:lnSpc>
                <a:spcPct val="120000"/>
              </a:lnSpc>
              <a:buNone/>
            </a:pPr>
            <a:r>
              <a:rPr lang="en-US" sz="1100" dirty="0">
                <a:solidFill>
                  <a:srgbClr val="2E2E2E"/>
                </a:solidFill>
                <a:latin typeface="Calibri" pitchFamily="34" charset="0"/>
                <a:ea typeface="Calibri" pitchFamily="34" charset="-122"/>
                <a:cs typeface="Calibri" pitchFamily="34" charset="-120"/>
              </a:rPr>
              <a:t>It is the only check that compares two independent implementations of the same behaviour. Unit tests confirm the code does what I thought it should; this confirms the P4 path does what the known-good path does — a claim I could not have written down myself.</a:t>
            </a:r>
            <a:endParaRPr lang="en-US" sz="1100" dirty="0"/>
          </a:p>
        </p:txBody>
      </p:sp>
      <p:sp>
        <p:nvSpPr>
          <p:cNvPr id="24" name="Text 22"/>
          <p:cNvSpPr/>
          <p:nvPr/>
        </p:nvSpPr>
        <p:spPr>
          <a:xfrm>
            <a:off x="777240" y="6035040"/>
            <a:ext cx="6858000" cy="274320"/>
          </a:xfrm>
          <a:prstGeom prst="rect">
            <a:avLst/>
          </a:prstGeom>
          <a:noFill/>
          <a:ln/>
        </p:spPr>
        <p:txBody>
          <a:bodyPr wrap="square" lIns="0" tIns="0" rIns="0" bIns="0" rtlCol="0" anchor="ctr"/>
          <a:lstStyle/>
          <a:p>
            <a:pPr indent="0" marL="0">
              <a:buNone/>
            </a:pPr>
            <a:r>
              <a:rPr lang="en-US" sz="1050" dirty="0">
                <a:solidFill>
                  <a:srgbClr val="4F4F4F"/>
                </a:solidFill>
                <a:latin typeface="Calibri" pitchFamily="34" charset="0"/>
                <a:ea typeface="Calibri" pitchFamily="34" charset="-122"/>
                <a:cs typeface="Calibri" pitchFamily="34" charset="-120"/>
              </a:rPr>
              <a:t>PASS was recorded at dac192b and is stated as of that commit, not as a live status.</a:t>
            </a:r>
            <a:endParaRPr lang="en-US" sz="1050" dirty="0"/>
          </a:p>
        </p:txBody>
      </p:sp>
      <p:sp>
        <p:nvSpPr>
          <p:cNvPr id="25" name="Shape 23"/>
          <p:cNvSpPr/>
          <p:nvPr/>
        </p:nvSpPr>
        <p:spPr>
          <a:xfrm>
            <a:off x="8001000" y="5870448"/>
            <a:ext cx="3410712" cy="310896"/>
          </a:xfrm>
          <a:prstGeom prst="rect">
            <a:avLst/>
          </a:prstGeom>
          <a:solidFill>
            <a:srgbClr val="F7F8F9"/>
          </a:solidFill>
          <a:ln w="12700">
            <a:solidFill>
              <a:srgbClr val="D0D0D0"/>
            </a:solidFill>
            <a:prstDash val="solid"/>
          </a:ln>
        </p:spPr>
      </p:sp>
      <p:sp>
        <p:nvSpPr>
          <p:cNvPr id="26" name="Text 24"/>
          <p:cNvSpPr/>
          <p:nvPr/>
        </p:nvSpPr>
        <p:spPr>
          <a:xfrm>
            <a:off x="8147304" y="5870448"/>
            <a:ext cx="3118104" cy="310896"/>
          </a:xfrm>
          <a:prstGeom prst="rect">
            <a:avLst/>
          </a:prstGeom>
          <a:noFill/>
          <a:ln/>
        </p:spPr>
        <p:txBody>
          <a:bodyPr wrap="square" lIns="0" tIns="0" rIns="0" bIns="0" rtlCol="0" anchor="ctr"/>
          <a:lstStyle/>
          <a:p>
            <a:pPr indent="0" marL="0">
              <a:buNone/>
            </a:pPr>
            <a:r>
              <a:rPr lang="en-US" sz="1050" spc="40" kern="0" dirty="0">
                <a:solidFill>
                  <a:srgbClr val="4F4F4F"/>
                </a:solidFill>
                <a:latin typeface="Calibri" pitchFamily="34" charset="0"/>
                <a:ea typeface="Calibri" pitchFamily="34" charset="-122"/>
                <a:cs typeface="Calibri" pitchFamily="34" charset="-120"/>
              </a:rPr>
              <a:t>TO ADD   comparison output, difference table</a:t>
            </a:r>
            <a:endParaRPr lang="en-US" sz="1050" dirty="0"/>
          </a:p>
        </p:txBody>
      </p:sp>
      <p:sp>
        <p:nvSpPr>
          <p:cNvPr id="27" name="Text 25"/>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56032"/>
            <a:ext cx="5486400" cy="237744"/>
          </a:xfrm>
          <a:prstGeom prst="rect">
            <a:avLst/>
          </a:prstGeom>
          <a:noFill/>
          <a:ln/>
        </p:spPr>
        <p:txBody>
          <a:bodyPr wrap="square" lIns="0" tIns="0" rIns="0" bIns="0" rtlCol="0" anchor="ctr"/>
          <a:lstStyle/>
          <a:p>
            <a:pPr indent="0" marL="0">
              <a:buNone/>
            </a:pPr>
            <a:r>
              <a:rPr lang="en-US" sz="1050" b="1" spc="100" kern="0" dirty="0">
                <a:solidFill>
                  <a:srgbClr val="065A82"/>
                </a:solidFill>
                <a:latin typeface="Calibri" pitchFamily="34" charset="0"/>
                <a:ea typeface="Calibri" pitchFamily="34" charset="-122"/>
                <a:cs typeface="Calibri" pitchFamily="34" charset="-120"/>
              </a:rPr>
              <a:t>3 · MEASURED RESULTS</a:t>
            </a:r>
            <a:endParaRPr lang="en-US" sz="1050" dirty="0"/>
          </a:p>
        </p:txBody>
      </p:sp>
      <p:sp>
        <p:nvSpPr>
          <p:cNvPr id="3" name="Text 1"/>
          <p:cNvSpPr/>
          <p:nvPr/>
        </p:nvSpPr>
        <p:spPr>
          <a:xfrm>
            <a:off x="777240" y="566928"/>
            <a:ext cx="10637215" cy="621792"/>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Failover, measured under controlled conditions</a:t>
            </a:r>
            <a:endParaRPr lang="en-US" sz="3000" dirty="0"/>
          </a:p>
        </p:txBody>
      </p:sp>
      <p:sp>
        <p:nvSpPr>
          <p:cNvPr id="4" name="Text 2"/>
          <p:cNvSpPr/>
          <p:nvPr/>
        </p:nvSpPr>
        <p:spPr>
          <a:xfrm>
            <a:off x="777240" y="1207008"/>
            <a:ext cx="10637215" cy="347472"/>
          </a:xfrm>
          <a:prstGeom prst="rect">
            <a:avLst/>
          </a:prstGeom>
          <a:noFill/>
          <a:ln/>
        </p:spPr>
        <p:txBody>
          <a:bodyPr wrap="square" lIns="0" tIns="0" rIns="0" bIns="0" rtlCol="0" anchor="ctr"/>
          <a:lstStyle/>
          <a:p>
            <a:pPr indent="0" marL="0">
              <a:buNone/>
            </a:pPr>
            <a:r>
              <a:rPr lang="en-US" sz="1400" dirty="0">
                <a:solidFill>
                  <a:srgbClr val="4F4F4F"/>
                </a:solidFill>
                <a:latin typeface="Calibri" pitchFamily="34" charset="0"/>
                <a:ea typeface="Calibri" pitchFamily="34" charset="-122"/>
                <a:cs typeface="Calibri" pitchFamily="34" charset="-120"/>
              </a:rPr>
              <a:t>One fault model, one script, four cells, forty runs — the outage is timed from a continuous ping, not inferred from logs</a:t>
            </a:r>
            <a:endParaRPr lang="en-US" sz="1400" dirty="0"/>
          </a:p>
        </p:txBody>
      </p:sp>
      <p:sp>
        <p:nvSpPr>
          <p:cNvPr id="5" name="Shape 3"/>
          <p:cNvSpPr/>
          <p:nvPr/>
        </p:nvSpPr>
        <p:spPr>
          <a:xfrm>
            <a:off x="777240" y="1700784"/>
            <a:ext cx="10637215" cy="9144"/>
          </a:xfrm>
          <a:prstGeom prst="line">
            <a:avLst/>
          </a:prstGeom>
          <a:noFill/>
          <a:ln w="12700">
            <a:solidFill>
              <a:srgbClr val="D0D0D0"/>
            </a:solidFill>
            <a:prstDash val="solid"/>
          </a:ln>
        </p:spPr>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777240" y="2066544"/>
          <a:ext cx="6858000" cy="914400"/>
        </p:xfrm>
        <a:graphic>
          <a:graphicData uri="http://schemas.openxmlformats.org/drawingml/2006/table">
            <a:tbl>
              <a:tblPr/>
              <a:tblGrid>
                <a:gridCol w="2148840"/>
                <a:gridCol w="685800"/>
                <a:gridCol w="1234440"/>
                <a:gridCol w="868680"/>
                <a:gridCol w="192024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Cell</a:t>
                      </a:r>
                      <a:endParaRPr lang="en-US" sz="1150" dirty="0">
                        <a:latin typeface="Calibri" charset="0"/>
                        <a:ea typeface="Calibri" charset="0"/>
                        <a:cs typeface="Calibri" charset="0"/>
                      </a:endParaRPr>
                    </a:p>
                  </a:txBody>
                  <a:tcPr marL="109728" marR="109728"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065A8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n</a:t>
                      </a:r>
                      <a:endParaRPr lang="en-US" sz="1150" dirty="0">
                        <a:latin typeface="Calibri" charset="0"/>
                        <a:ea typeface="Calibri" charset="0"/>
                        <a:cs typeface="Calibri" charset="0"/>
                      </a:endParaRPr>
                    </a:p>
                  </a:txBody>
                  <a:tcPr marL="109728" marR="109728"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065A8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Mean</a:t>
                      </a:r>
                      <a:endParaRPr lang="en-US" sz="1150" dirty="0">
                        <a:latin typeface="Calibri" charset="0"/>
                        <a:ea typeface="Calibri" charset="0"/>
                        <a:cs typeface="Calibri" charset="0"/>
                      </a:endParaRPr>
                    </a:p>
                  </a:txBody>
                  <a:tcPr marL="109728" marR="109728"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065A8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SD</a:t>
                      </a:r>
                      <a:endParaRPr lang="en-US" sz="1150" dirty="0">
                        <a:latin typeface="Calibri" charset="0"/>
                        <a:ea typeface="Calibri" charset="0"/>
                        <a:cs typeface="Calibri" charset="0"/>
                      </a:endParaRPr>
                    </a:p>
                  </a:txBody>
                  <a:tcPr marL="109728" marR="109728"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065A8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Range</a:t>
                      </a:r>
                      <a:endParaRPr lang="en-US" sz="1150" dirty="0">
                        <a:latin typeface="Calibri" charset="0"/>
                        <a:ea typeface="Calibri" charset="0"/>
                        <a:cs typeface="Calibri" charset="0"/>
                      </a:endParaRPr>
                    </a:p>
                  </a:txBody>
                  <a:tcPr marL="109728" marR="109728"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065A82"/>
                    </a:solidFill>
                  </a:tcPr>
                </a:tc>
              </a:tr>
              <a:tr h="420624">
                <a:tc>
                  <a:txBody>
                    <a:bodyPr/>
                    <a:lstStyle/>
                    <a:p>
                      <a:pPr indent="0" marL="0">
                        <a:buNone/>
                      </a:pPr>
                      <a:r>
                        <a:rPr lang="en-US" sz="1150" b="1" dirty="0">
                          <a:solidFill>
                            <a:srgbClr val="1A1A1A"/>
                          </a:solidFill>
                          <a:latin typeface="Calibri" pitchFamily="34" charset="0"/>
                          <a:ea typeface="Calibri" pitchFamily="34" charset="-122"/>
                          <a:cs typeface="Calibri" pitchFamily="34" charset="-120"/>
                        </a:rPr>
                        <a:t>P4 / 4 hosts</a:t>
                      </a:r>
                      <a:endParaRPr lang="en-US" sz="1150" dirty="0">
                        <a:latin typeface="Calibri" charset="0"/>
                        <a:ea typeface="Calibri" charset="0"/>
                        <a:cs typeface="Calibri" charset="0"/>
                      </a:endParaRPr>
                    </a:p>
                  </a:txBody>
                  <a:tcPr marL="109728" marR="109728"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100" dirty="0">
                          <a:solidFill>
                            <a:srgbClr val="4F4F4F"/>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109728" marR="109728"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150" b="1" dirty="0">
                          <a:solidFill>
                            <a:srgbClr val="065A82"/>
                          </a:solidFill>
                          <a:latin typeface="Calibri" pitchFamily="34" charset="0"/>
                          <a:ea typeface="Calibri" pitchFamily="34" charset="-122"/>
                          <a:cs typeface="Calibri" pitchFamily="34" charset="-120"/>
                        </a:rPr>
                        <a:t>13.68 s</a:t>
                      </a:r>
                      <a:endParaRPr lang="en-US" sz="1150" dirty="0">
                        <a:latin typeface="Calibri" charset="0"/>
                        <a:ea typeface="Calibri" charset="0"/>
                        <a:cs typeface="Calibri" charset="0"/>
                      </a:endParaRPr>
                    </a:p>
                  </a:txBody>
                  <a:tcPr marL="109728" marR="109728"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100" dirty="0">
                          <a:solidFill>
                            <a:srgbClr val="4F4F4F"/>
                          </a:solidFill>
                          <a:latin typeface="Calibri" pitchFamily="34" charset="0"/>
                          <a:ea typeface="Calibri" pitchFamily="34" charset="-122"/>
                          <a:cs typeface="Calibri" pitchFamily="34" charset="-120"/>
                        </a:rPr>
                        <a:t>1.6</a:t>
                      </a:r>
                      <a:endParaRPr lang="en-US" sz="1100" dirty="0">
                        <a:latin typeface="Calibri" charset="0"/>
                        <a:ea typeface="Calibri" charset="0"/>
                        <a:cs typeface="Calibri" charset="0"/>
                      </a:endParaRPr>
                    </a:p>
                  </a:txBody>
                  <a:tcPr marL="109728" marR="109728"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100" dirty="0">
                          <a:solidFill>
                            <a:srgbClr val="2E2E2E"/>
                          </a:solidFill>
                          <a:latin typeface="Calibri" pitchFamily="34" charset="0"/>
                          <a:ea typeface="Calibri" pitchFamily="34" charset="-122"/>
                          <a:cs typeface="Calibri" pitchFamily="34" charset="-120"/>
                        </a:rPr>
                        <a:t>11.0 – 16.4</a:t>
                      </a:r>
                      <a:endParaRPr lang="en-US" sz="1100" dirty="0">
                        <a:latin typeface="Calibri" charset="0"/>
                        <a:ea typeface="Calibri" charset="0"/>
                        <a:cs typeface="Calibri" charset="0"/>
                      </a:endParaRPr>
                    </a:p>
                  </a:txBody>
                  <a:tcPr marL="109728" marR="109728"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r>
              <a:tr h="420624">
                <a:tc>
                  <a:txBody>
                    <a:bodyPr/>
                    <a:lstStyle/>
                    <a:p>
                      <a:pPr indent="0" marL="0">
                        <a:buNone/>
                      </a:pPr>
                      <a:r>
                        <a:rPr lang="en-US" sz="1150" b="1" dirty="0">
                          <a:solidFill>
                            <a:srgbClr val="1A1A1A"/>
                          </a:solidFill>
                          <a:latin typeface="Calibri" pitchFamily="34" charset="0"/>
                          <a:ea typeface="Calibri" pitchFamily="34" charset="-122"/>
                          <a:cs typeface="Calibri" pitchFamily="34" charset="-120"/>
                        </a:rPr>
                        <a:t>OVS / 4 hosts</a:t>
                      </a:r>
                      <a:endParaRPr lang="en-US" sz="1150" dirty="0">
                        <a:latin typeface="Calibri" charset="0"/>
                        <a:ea typeface="Calibri" charset="0"/>
                        <a:cs typeface="Calibri" charset="0"/>
                      </a:endParaRPr>
                    </a:p>
                  </a:txBody>
                  <a:tcPr marL="109728" marR="109728"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100" dirty="0">
                          <a:solidFill>
                            <a:srgbClr val="4F4F4F"/>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109728" marR="109728"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150" b="1" dirty="0">
                          <a:solidFill>
                            <a:srgbClr val="2E2E2E"/>
                          </a:solidFill>
                          <a:latin typeface="Calibri" pitchFamily="34" charset="0"/>
                          <a:ea typeface="Calibri" pitchFamily="34" charset="-122"/>
                          <a:cs typeface="Calibri" pitchFamily="34" charset="-120"/>
                        </a:rPr>
                        <a:t>15.71 s</a:t>
                      </a:r>
                      <a:endParaRPr lang="en-US" sz="1150" dirty="0">
                        <a:latin typeface="Calibri" charset="0"/>
                        <a:ea typeface="Calibri" charset="0"/>
                        <a:cs typeface="Calibri" charset="0"/>
                      </a:endParaRPr>
                    </a:p>
                  </a:txBody>
                  <a:tcPr marL="109728" marR="109728"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100" dirty="0">
                          <a:solidFill>
                            <a:srgbClr val="4F4F4F"/>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marL="109728" marR="109728"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100" dirty="0">
                          <a:solidFill>
                            <a:srgbClr val="2E2E2E"/>
                          </a:solidFill>
                          <a:latin typeface="Calibri" pitchFamily="34" charset="0"/>
                          <a:ea typeface="Calibri" pitchFamily="34" charset="-122"/>
                          <a:cs typeface="Calibri" pitchFamily="34" charset="-120"/>
                        </a:rPr>
                        <a:t>13.7 – 18.1</a:t>
                      </a:r>
                      <a:endParaRPr lang="en-US" sz="1100" dirty="0">
                        <a:latin typeface="Calibri" charset="0"/>
                        <a:ea typeface="Calibri" charset="0"/>
                        <a:cs typeface="Calibri" charset="0"/>
                      </a:endParaRPr>
                    </a:p>
                  </a:txBody>
                  <a:tcPr marL="109728" marR="109728"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r>
              <a:tr h="420624">
                <a:tc>
                  <a:txBody>
                    <a:bodyPr/>
                    <a:lstStyle/>
                    <a:p>
                      <a:pPr indent="0" marL="0">
                        <a:buNone/>
                      </a:pPr>
                      <a:r>
                        <a:rPr lang="en-US" sz="1150" b="1" dirty="0">
                          <a:solidFill>
                            <a:srgbClr val="1A1A1A"/>
                          </a:solidFill>
                          <a:latin typeface="Calibri" pitchFamily="34" charset="0"/>
                          <a:ea typeface="Calibri" pitchFamily="34" charset="-122"/>
                          <a:cs typeface="Calibri" pitchFamily="34" charset="-120"/>
                        </a:rPr>
                        <a:t>P4 / 128 hosts</a:t>
                      </a:r>
                      <a:endParaRPr lang="en-US" sz="1150" dirty="0">
                        <a:latin typeface="Calibri" charset="0"/>
                        <a:ea typeface="Calibri" charset="0"/>
                        <a:cs typeface="Calibri" charset="0"/>
                      </a:endParaRPr>
                    </a:p>
                  </a:txBody>
                  <a:tcPr marL="109728" marR="109728"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100" dirty="0">
                          <a:solidFill>
                            <a:srgbClr val="4F4F4F"/>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109728" marR="109728"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150" b="1" dirty="0">
                          <a:solidFill>
                            <a:srgbClr val="065A82"/>
                          </a:solidFill>
                          <a:latin typeface="Calibri" pitchFamily="34" charset="0"/>
                          <a:ea typeface="Calibri" pitchFamily="34" charset="-122"/>
                          <a:cs typeface="Calibri" pitchFamily="34" charset="-120"/>
                        </a:rPr>
                        <a:t>16.59 s</a:t>
                      </a:r>
                      <a:endParaRPr lang="en-US" sz="1150" dirty="0">
                        <a:latin typeface="Calibri" charset="0"/>
                        <a:ea typeface="Calibri" charset="0"/>
                        <a:cs typeface="Calibri" charset="0"/>
                      </a:endParaRPr>
                    </a:p>
                  </a:txBody>
                  <a:tcPr marL="109728" marR="109728"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100" dirty="0">
                          <a:solidFill>
                            <a:srgbClr val="4F4F4F"/>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marL="109728" marR="109728"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100" dirty="0">
                          <a:solidFill>
                            <a:srgbClr val="2E2E2E"/>
                          </a:solidFill>
                          <a:latin typeface="Calibri" pitchFamily="34" charset="0"/>
                          <a:ea typeface="Calibri" pitchFamily="34" charset="-122"/>
                          <a:cs typeface="Calibri" pitchFamily="34" charset="-120"/>
                        </a:rPr>
                        <a:t>14.3 – 20.8</a:t>
                      </a:r>
                      <a:endParaRPr lang="en-US" sz="1100" dirty="0">
                        <a:latin typeface="Calibri" charset="0"/>
                        <a:ea typeface="Calibri" charset="0"/>
                        <a:cs typeface="Calibri" charset="0"/>
                      </a:endParaRPr>
                    </a:p>
                  </a:txBody>
                  <a:tcPr marL="109728" marR="109728"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r>
              <a:tr h="420624">
                <a:tc>
                  <a:txBody>
                    <a:bodyPr/>
                    <a:lstStyle/>
                    <a:p>
                      <a:pPr indent="0" marL="0">
                        <a:buNone/>
                      </a:pPr>
                      <a:r>
                        <a:rPr lang="en-US" sz="1150" b="1" dirty="0">
                          <a:solidFill>
                            <a:srgbClr val="1A1A1A"/>
                          </a:solidFill>
                          <a:latin typeface="Calibri" pitchFamily="34" charset="0"/>
                          <a:ea typeface="Calibri" pitchFamily="34" charset="-122"/>
                          <a:cs typeface="Calibri" pitchFamily="34" charset="-120"/>
                        </a:rPr>
                        <a:t>OVS / 128 hosts</a:t>
                      </a:r>
                      <a:endParaRPr lang="en-US" sz="1150" dirty="0">
                        <a:latin typeface="Calibri" charset="0"/>
                        <a:ea typeface="Calibri" charset="0"/>
                        <a:cs typeface="Calibri" charset="0"/>
                      </a:endParaRPr>
                    </a:p>
                  </a:txBody>
                  <a:tcPr marL="109728" marR="109728"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100" dirty="0">
                          <a:solidFill>
                            <a:srgbClr val="4F4F4F"/>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109728" marR="109728"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150" b="1" dirty="0">
                          <a:solidFill>
                            <a:srgbClr val="9C3B2E"/>
                          </a:solidFill>
                          <a:latin typeface="Calibri" pitchFamily="34" charset="0"/>
                          <a:ea typeface="Calibri" pitchFamily="34" charset="-122"/>
                          <a:cs typeface="Calibri" pitchFamily="34" charset="-120"/>
                        </a:rPr>
                        <a:t>51.75 s</a:t>
                      </a:r>
                      <a:endParaRPr lang="en-US" sz="1150" dirty="0">
                        <a:latin typeface="Calibri" charset="0"/>
                        <a:ea typeface="Calibri" charset="0"/>
                        <a:cs typeface="Calibri" charset="0"/>
                      </a:endParaRPr>
                    </a:p>
                  </a:txBody>
                  <a:tcPr marL="109728" marR="109728"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100" dirty="0">
                          <a:solidFill>
                            <a:srgbClr val="4F4F4F"/>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marL="109728" marR="109728"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100" dirty="0">
                          <a:solidFill>
                            <a:srgbClr val="2E2E2E"/>
                          </a:solidFill>
                          <a:latin typeface="Calibri" pitchFamily="34" charset="0"/>
                          <a:ea typeface="Calibri" pitchFamily="34" charset="-122"/>
                          <a:cs typeface="Calibri" pitchFamily="34" charset="-120"/>
                        </a:rPr>
                        <a:t>47.0 – 56.4</a:t>
                      </a:r>
                      <a:endParaRPr lang="en-US" sz="1100" dirty="0">
                        <a:latin typeface="Calibri" charset="0"/>
                        <a:ea typeface="Calibri" charset="0"/>
                        <a:cs typeface="Calibri" charset="0"/>
                      </a:endParaRPr>
                    </a:p>
                  </a:txBody>
                  <a:tcPr marL="109728" marR="109728"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r>
            </a:tbl>
          </a:graphicData>
        </a:graphic>
      </p:graphicFrame>
      <p:sp>
        <p:nvSpPr>
          <p:cNvPr id="7" name="Text 4"/>
          <p:cNvSpPr/>
          <p:nvPr/>
        </p:nvSpPr>
        <p:spPr>
          <a:xfrm>
            <a:off x="777240" y="4114800"/>
            <a:ext cx="6858000" cy="786384"/>
          </a:xfrm>
          <a:prstGeom prst="rect">
            <a:avLst/>
          </a:prstGeom>
          <a:noFill/>
          <a:ln/>
        </p:spPr>
        <p:txBody>
          <a:bodyPr wrap="square" lIns="0" tIns="0" rIns="0" bIns="0" rtlCol="0" anchor="ctr"/>
          <a:lstStyle/>
          <a:p>
            <a:pPr indent="0" marL="0">
              <a:lnSpc>
                <a:spcPct val="120000"/>
              </a:lnSpc>
              <a:buNone/>
            </a:pPr>
            <a:r>
              <a:rPr lang="en-US" sz="1150" b="1" dirty="0">
                <a:solidFill>
                  <a:srgbClr val="065A82"/>
                </a:solidFill>
                <a:latin typeface="Calibri" pitchFamily="34" charset="0"/>
                <a:ea typeface="Calibri" pitchFamily="34" charset="-122"/>
                <a:cs typeface="Calibri" pitchFamily="34" charset="-120"/>
              </a:rPr>
              <a:t>At 4 hosts P4 is 2.0 s faster — 13%.  </a:t>
            </a:r>
            <a:pPr indent="0" marL="0">
              <a:lnSpc>
                <a:spcPct val="120000"/>
              </a:lnSpc>
              <a:buNone/>
            </a:pPr>
            <a:r>
              <a:rPr lang="en-US" sz="1150" dirty="0">
                <a:solidFill>
                  <a:srgbClr val="2E2E2E"/>
                </a:solidFill>
                <a:latin typeface="Calibri" pitchFamily="34" charset="0"/>
                <a:ea typeface="Calibri" pitchFamily="34" charset="-122"/>
                <a:cs typeface="Calibri" pitchFamily="34" charset="-120"/>
              </a:rPr>
              <a:t>Welch t = 2.89, p = 0.0098, 95% CI 0.55 – 3.50 s. At 128 hosts the gap is 3.12× and the two ranges do not overlap at all. Every one of the forty runs broke once and then recovered fully.  </a:t>
            </a:r>
            <a:pPr indent="0" marL="0">
              <a:lnSpc>
                <a:spcPct val="120000"/>
              </a:lnSpc>
              <a:buNone/>
            </a:pPr>
            <a:r>
              <a:rPr lang="en-US" sz="950" dirty="0">
                <a:solidFill>
                  <a:srgbClr val="6E6E6E"/>
                </a:solidFill>
                <a:latin typeface="Courier New" pitchFamily="34" charset="0"/>
                <a:ea typeface="Courier New" pitchFamily="34" charset="-122"/>
                <a:cs typeface="Courier New" pitchFamily="34" charset="-120"/>
              </a:rPr>
              <a:t>(9467ea0 / b6b75fa / 213d209)</a:t>
            </a:r>
            <a:endParaRPr lang="en-US" sz="1150" dirty="0"/>
          </a:p>
        </p:txBody>
      </p:sp>
      <p:sp>
        <p:nvSpPr>
          <p:cNvPr id="8" name="Text 5"/>
          <p:cNvSpPr/>
          <p:nvPr/>
        </p:nvSpPr>
        <p:spPr>
          <a:xfrm>
            <a:off x="777240" y="4992624"/>
            <a:ext cx="6858000" cy="27432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What separating the variables shows</a:t>
            </a:r>
            <a:endParaRPr lang="en-US" sz="1300" dirty="0"/>
          </a:p>
        </p:txBody>
      </p:sp>
      <p:sp>
        <p:nvSpPr>
          <p:cNvPr id="9" name="Shape 6"/>
          <p:cNvSpPr/>
          <p:nvPr/>
        </p:nvSpPr>
        <p:spPr>
          <a:xfrm>
            <a:off x="777240" y="5285232"/>
            <a:ext cx="6858000" cy="9144"/>
          </a:xfrm>
          <a:prstGeom prst="line">
            <a:avLst/>
          </a:prstGeom>
          <a:noFill/>
          <a:ln w="12700">
            <a:solidFill>
              <a:srgbClr val="D0D0D0"/>
            </a:solidFill>
            <a:prstDash val="solid"/>
          </a:ln>
        </p:spPr>
      </p:sp>
      <p:sp>
        <p:nvSpPr>
          <p:cNvPr id="10" name="Text 7"/>
          <p:cNvSpPr/>
          <p:nvPr/>
        </p:nvSpPr>
        <p:spPr>
          <a:xfrm>
            <a:off x="777240" y="5394960"/>
            <a:ext cx="6858000" cy="914400"/>
          </a:xfrm>
          <a:prstGeom prst="rect">
            <a:avLst/>
          </a:prstGeom>
          <a:noFill/>
          <a:ln/>
        </p:spPr>
        <p:txBody>
          <a:bodyPr wrap="square" lIns="0" tIns="0" rIns="0" bIns="0" rtlCol="0" anchor="ctr"/>
          <a:lstStyle/>
          <a:p>
            <a:pPr indent="0" marL="0">
              <a:lnSpc>
                <a:spcPct val="120000"/>
              </a:lnSpc>
              <a:buNone/>
            </a:pPr>
            <a:r>
              <a:rPr lang="en-US" sz="1150" dirty="0">
                <a:solidFill>
                  <a:srgbClr val="2E2E2E"/>
                </a:solidFill>
                <a:latin typeface="Calibri" pitchFamily="34" charset="0"/>
                <a:ea typeface="Calibri" pitchFamily="34" charset="-122"/>
                <a:cs typeface="Calibri" pitchFamily="34" charset="-120"/>
              </a:rPr>
              <a:t>Scaling 4 → 128 hosts costs OVS 3.29× but P4 only 1.21×, so the interaction is larger than either main effect. "The data plane is the smallest of the three" is true at 4 hosts and false at 128 — the mechanism is not established, and the honest statement is that the two control paths degrade differently with scale.</a:t>
            </a:r>
            <a:endParaRPr lang="en-US" sz="1150" dirty="0"/>
          </a:p>
        </p:txBody>
      </p:sp>
      <p:sp>
        <p:nvSpPr>
          <p:cNvPr id="11" name="Shape 8"/>
          <p:cNvSpPr/>
          <p:nvPr/>
        </p:nvSpPr>
        <p:spPr>
          <a:xfrm>
            <a:off x="7635240" y="2084832"/>
            <a:ext cx="27432" cy="1874520"/>
          </a:xfrm>
          <a:prstGeom prst="rect">
            <a:avLst/>
          </a:prstGeom>
          <a:solidFill>
            <a:srgbClr val="065A82"/>
          </a:solidFill>
          <a:ln/>
        </p:spPr>
      </p:sp>
      <p:sp>
        <p:nvSpPr>
          <p:cNvPr id="12" name="Text 9"/>
          <p:cNvSpPr/>
          <p:nvPr/>
        </p:nvSpPr>
        <p:spPr>
          <a:xfrm>
            <a:off x="7836408" y="2048256"/>
            <a:ext cx="3575304" cy="237744"/>
          </a:xfrm>
          <a:prstGeom prst="rect">
            <a:avLst/>
          </a:prstGeom>
          <a:noFill/>
          <a:ln/>
        </p:spPr>
        <p:txBody>
          <a:bodyPr wrap="square" lIns="0" tIns="0" rIns="0" bIns="0" rtlCol="0" anchor="ctr"/>
          <a:lstStyle/>
          <a:p>
            <a:pPr indent="0" marL="0">
              <a:buNone/>
            </a:pPr>
            <a:r>
              <a:rPr lang="en-US" sz="1150" b="1" dirty="0">
                <a:solidFill>
                  <a:srgbClr val="065A82"/>
                </a:solidFill>
                <a:latin typeface="Calibri" pitchFamily="34" charset="0"/>
                <a:ea typeface="Calibri" pitchFamily="34" charset="-122"/>
                <a:cs typeface="Calibri" pitchFamily="34" charset="-120"/>
              </a:rPr>
              <a:t>What makes these hold</a:t>
            </a:r>
            <a:endParaRPr lang="en-US" sz="1150" dirty="0"/>
          </a:p>
        </p:txBody>
      </p:sp>
      <p:sp>
        <p:nvSpPr>
          <p:cNvPr id="13" name="Text 10"/>
          <p:cNvSpPr/>
          <p:nvPr/>
        </p:nvSpPr>
        <p:spPr>
          <a:xfrm>
            <a:off x="7836408" y="2322576"/>
            <a:ext cx="3575304" cy="1600200"/>
          </a:xfrm>
          <a:prstGeom prst="rect">
            <a:avLst/>
          </a:prstGeom>
          <a:noFill/>
          <a:ln/>
        </p:spPr>
        <p:txBody>
          <a:bodyPr wrap="square" lIns="0" tIns="0" rIns="0" bIns="0" rtlCol="0" anchor="ctr"/>
          <a:lstStyle/>
          <a:p>
            <a:pPr indent="0" marL="0">
              <a:lnSpc>
                <a:spcPct val="120000"/>
              </a:lnSpc>
              <a:buNone/>
            </a:pPr>
            <a:r>
              <a:rPr lang="en-US" sz="1100" dirty="0">
                <a:solidFill>
                  <a:srgbClr val="2E2E2E"/>
                </a:solidFill>
                <a:latin typeface="Calibri" pitchFamily="34" charset="0"/>
                <a:ea typeface="Calibri" pitchFamily="34" charset="-122"/>
                <a:cs typeface="Calibri" pitchFamily="34" charset="-120"/>
              </a:rPr>
              <a:t>Continuous timestamped ping at 5 packets/s, so the outage is measured rather than inferred; the link to break is resolved at run time from the live path; netem re-checked every 5 s; recovery counted only while the fault is still present. “Recovered fully” is a filter rather than an impression — the raster only accepts a run with exactly one gap longer than a second, and all forty qualified.</a:t>
            </a:r>
            <a:endParaRPr lang="en-US" sz="1100" dirty="0"/>
          </a:p>
        </p:txBody>
      </p:sp>
      <p:sp>
        <p:nvSpPr>
          <p:cNvPr id="14" name="Shape 11"/>
          <p:cNvSpPr/>
          <p:nvPr/>
        </p:nvSpPr>
        <p:spPr>
          <a:xfrm>
            <a:off x="7635240" y="4187952"/>
            <a:ext cx="27432" cy="1737360"/>
          </a:xfrm>
          <a:prstGeom prst="rect">
            <a:avLst/>
          </a:prstGeom>
          <a:solidFill>
            <a:srgbClr val="065A82"/>
          </a:solidFill>
          <a:ln/>
        </p:spPr>
      </p:sp>
      <p:sp>
        <p:nvSpPr>
          <p:cNvPr id="15" name="Text 12"/>
          <p:cNvSpPr/>
          <p:nvPr/>
        </p:nvSpPr>
        <p:spPr>
          <a:xfrm>
            <a:off x="7836408" y="4151376"/>
            <a:ext cx="3575304" cy="237744"/>
          </a:xfrm>
          <a:prstGeom prst="rect">
            <a:avLst/>
          </a:prstGeom>
          <a:noFill/>
          <a:ln/>
        </p:spPr>
        <p:txBody>
          <a:bodyPr wrap="square" lIns="0" tIns="0" rIns="0" bIns="0" rtlCol="0" anchor="ctr"/>
          <a:lstStyle/>
          <a:p>
            <a:pPr indent="0" marL="0">
              <a:buNone/>
            </a:pPr>
            <a:r>
              <a:rPr lang="en-US" sz="1150" b="1" dirty="0">
                <a:solidFill>
                  <a:srgbClr val="065A82"/>
                </a:solidFill>
                <a:latin typeface="Calibri" pitchFamily="34" charset="0"/>
                <a:ea typeface="Calibri" pitchFamily="34" charset="-122"/>
                <a:cs typeface="Calibri" pitchFamily="34" charset="-120"/>
              </a:rPr>
              <a:t>128 hosts was assumed to be too heavy</a:t>
            </a:r>
            <a:endParaRPr lang="en-US" sz="1150" dirty="0"/>
          </a:p>
        </p:txBody>
      </p:sp>
      <p:sp>
        <p:nvSpPr>
          <p:cNvPr id="16" name="Text 13"/>
          <p:cNvSpPr/>
          <p:nvPr/>
        </p:nvSpPr>
        <p:spPr>
          <a:xfrm>
            <a:off x="7836408" y="4425696"/>
            <a:ext cx="3575304" cy="1463040"/>
          </a:xfrm>
          <a:prstGeom prst="rect">
            <a:avLst/>
          </a:prstGeom>
          <a:noFill/>
          <a:ln/>
        </p:spPr>
        <p:txBody>
          <a:bodyPr wrap="square" lIns="0" tIns="0" rIns="0" bIns="0" rtlCol="0" anchor="ctr"/>
          <a:lstStyle/>
          <a:p>
            <a:pPr indent="0" marL="0">
              <a:lnSpc>
                <a:spcPct val="120000"/>
              </a:lnSpc>
              <a:buNone/>
            </a:pPr>
            <a:r>
              <a:rPr lang="en-US" sz="1100" dirty="0">
                <a:solidFill>
                  <a:srgbClr val="2E2E2E"/>
                </a:solidFill>
                <a:latin typeface="Calibri" pitchFamily="34" charset="0"/>
                <a:ea typeface="Calibri" pitchFamily="34" charset="-122"/>
                <a:cs typeface="Calibri" pitchFamily="34" charset="-120"/>
              </a:rPr>
              <a:t>A comment in the topology script said bmv2 might not take it, and that assumption had gone unchecked. It takes it — 10/10 switches up, 16,256 paths converged in 11 s. What actually blocked the cell was four hard-coded four-host lists in three files.</a:t>
            </a:r>
            <a:endParaRPr lang="en-US" sz="1100" dirty="0"/>
          </a:p>
        </p:txBody>
      </p:sp>
      <p:sp>
        <p:nvSpPr>
          <p:cNvPr id="17" name="Text 14"/>
          <p:cNvSpPr/>
          <p:nvPr/>
        </p:nvSpPr>
        <p:spPr>
          <a:xfrm>
            <a:off x="7635240" y="6053328"/>
            <a:ext cx="3776472" cy="274320"/>
          </a:xfrm>
          <a:prstGeom prst="rect">
            <a:avLst/>
          </a:prstGeom>
          <a:noFill/>
          <a:ln/>
        </p:spPr>
        <p:txBody>
          <a:bodyPr wrap="square" lIns="0" tIns="0" rIns="0" bIns="0" rtlCol="0" anchor="ctr"/>
          <a:lstStyle/>
          <a:p>
            <a:pPr indent="0" marL="0">
              <a:buNone/>
            </a:pPr>
            <a:r>
              <a:rPr lang="en-US" sz="1050" dirty="0">
                <a:solidFill>
                  <a:srgbClr val="4F4F4F"/>
                </a:solidFill>
                <a:latin typeface="Calibri" pitchFamily="34" charset="0"/>
                <a:ea typeface="Calibri" pitchFamily="34" charset="-122"/>
                <a:cs typeface="Calibri" pitchFamily="34" charset="-120"/>
              </a:rPr>
              <a:t>Single fault, single host pair, single machine. Quote the interval, not the mean.</a:t>
            </a:r>
            <a:endParaRPr lang="en-US" sz="1050" dirty="0"/>
          </a:p>
        </p:txBody>
      </p:sp>
      <p:sp>
        <p:nvSpPr>
          <p:cNvPr id="18" name="Text 15"/>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56032"/>
            <a:ext cx="5486400" cy="237744"/>
          </a:xfrm>
          <a:prstGeom prst="rect">
            <a:avLst/>
          </a:prstGeom>
          <a:noFill/>
          <a:ln/>
        </p:spPr>
        <p:txBody>
          <a:bodyPr wrap="square" lIns="0" tIns="0" rIns="0" bIns="0" rtlCol="0" anchor="ctr"/>
          <a:lstStyle/>
          <a:p>
            <a:pPr indent="0" marL="0">
              <a:buNone/>
            </a:pPr>
            <a:r>
              <a:rPr lang="en-US" sz="1050" b="1" spc="100" kern="0" dirty="0">
                <a:solidFill>
                  <a:srgbClr val="065A82"/>
                </a:solidFill>
                <a:latin typeface="Calibri" pitchFamily="34" charset="0"/>
                <a:ea typeface="Calibri" pitchFamily="34" charset="-122"/>
                <a:cs typeface="Calibri" pitchFamily="34" charset="-120"/>
              </a:rPr>
              <a:t>3 · MEASURED RESULTS</a:t>
            </a:r>
            <a:endParaRPr lang="en-US" sz="1050" dirty="0"/>
          </a:p>
        </p:txBody>
      </p:sp>
      <p:pic>
        <p:nvPicPr>
          <p:cNvPr id="3" name="Image 0" descr="/sessions/hopeful-sharp-hopper/mnt/NDTwin Slide material/figures/page36_failover-boxplot.png">    </p:cNvPr>
          <p:cNvPicPr>
            <a:picLocks noChangeAspect="1"/>
          </p:cNvPicPr>
          <p:nvPr/>
        </p:nvPicPr>
        <p:blipFill>
          <a:blip r:embed="rId1"/>
          <a:stretch>
            <a:fillRect/>
          </a:stretch>
        </p:blipFill>
        <p:spPr>
          <a:xfrm>
            <a:off x="598390" y="896112"/>
            <a:ext cx="10994916" cy="5138928"/>
          </a:xfrm>
          <a:prstGeom prst="rect">
            <a:avLst/>
          </a:prstGeom>
        </p:spPr>
      </p:pic>
      <p:sp>
        <p:nvSpPr>
          <p:cNvPr id="4" name="Text 1"/>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56032"/>
            <a:ext cx="5486400" cy="237744"/>
          </a:xfrm>
          <a:prstGeom prst="rect">
            <a:avLst/>
          </a:prstGeom>
          <a:noFill/>
          <a:ln/>
        </p:spPr>
        <p:txBody>
          <a:bodyPr wrap="square" lIns="0" tIns="0" rIns="0" bIns="0" rtlCol="0" anchor="ctr"/>
          <a:lstStyle/>
          <a:p>
            <a:pPr indent="0" marL="0">
              <a:buNone/>
            </a:pPr>
            <a:r>
              <a:rPr lang="en-US" sz="1050" b="1" spc="100" kern="0" dirty="0">
                <a:solidFill>
                  <a:srgbClr val="065A82"/>
                </a:solidFill>
                <a:latin typeface="Calibri" pitchFamily="34" charset="0"/>
                <a:ea typeface="Calibri" pitchFamily="34" charset="-122"/>
                <a:cs typeface="Calibri" pitchFamily="34" charset="-120"/>
              </a:rPr>
              <a:t>3 · MEASURED RESULTS</a:t>
            </a:r>
            <a:endParaRPr lang="en-US" sz="1050" dirty="0"/>
          </a:p>
        </p:txBody>
      </p:sp>
      <p:pic>
        <p:nvPicPr>
          <p:cNvPr id="3" name="Image 0" descr="/sessions/hopeful-sharp-hopper/mnt/NDTwin Slide material/figures/page36_failover-raster.png">    </p:cNvPr>
          <p:cNvPicPr>
            <a:picLocks noChangeAspect="1"/>
          </p:cNvPicPr>
          <p:nvPr/>
        </p:nvPicPr>
        <p:blipFill>
          <a:blip r:embed="rId1"/>
          <a:stretch>
            <a:fillRect/>
          </a:stretch>
        </p:blipFill>
        <p:spPr>
          <a:xfrm>
            <a:off x="367132" y="1261064"/>
            <a:ext cx="11457432" cy="4065540"/>
          </a:xfrm>
          <a:prstGeom prst="rect">
            <a:avLst/>
          </a:prstGeom>
        </p:spPr>
      </p:pic>
      <p:sp>
        <p:nvSpPr>
          <p:cNvPr id="4" name="Text 1"/>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56032"/>
            <a:ext cx="5486400" cy="237744"/>
          </a:xfrm>
          <a:prstGeom prst="rect">
            <a:avLst/>
          </a:prstGeom>
          <a:noFill/>
          <a:ln/>
        </p:spPr>
        <p:txBody>
          <a:bodyPr wrap="square" lIns="0" tIns="0" rIns="0" bIns="0" rtlCol="0" anchor="ctr"/>
          <a:lstStyle/>
          <a:p>
            <a:pPr indent="0" marL="0">
              <a:buNone/>
            </a:pPr>
            <a:r>
              <a:rPr lang="en-US" sz="1050" b="1" spc="100" kern="0" dirty="0">
                <a:solidFill>
                  <a:srgbClr val="065A82"/>
                </a:solidFill>
                <a:latin typeface="Calibri" pitchFamily="34" charset="0"/>
                <a:ea typeface="Calibri" pitchFamily="34" charset="-122"/>
                <a:cs typeface="Calibri" pitchFamily="34" charset="-120"/>
              </a:rPr>
              <a:t>3 · MEASURED RESULTS</a:t>
            </a:r>
            <a:endParaRPr lang="en-US" sz="1050" dirty="0"/>
          </a:p>
        </p:txBody>
      </p:sp>
      <p:pic>
        <p:nvPicPr>
          <p:cNvPr id="3" name="Image 0" descr="/sessions/hopeful-sharp-hopper/mnt/NDTwin Slide material/figures/page36_failover-decomposition.png">    </p:cNvPr>
          <p:cNvPicPr>
            <a:picLocks noChangeAspect="1"/>
          </p:cNvPicPr>
          <p:nvPr/>
        </p:nvPicPr>
        <p:blipFill>
          <a:blip r:embed="rId1"/>
          <a:stretch>
            <a:fillRect/>
          </a:stretch>
        </p:blipFill>
        <p:spPr>
          <a:xfrm>
            <a:off x="1061796" y="896112"/>
            <a:ext cx="10068104" cy="5138928"/>
          </a:xfrm>
          <a:prstGeom prst="rect">
            <a:avLst/>
          </a:prstGeom>
        </p:spPr>
      </p:pic>
      <p:sp>
        <p:nvSpPr>
          <p:cNvPr id="4" name="Text 1"/>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29</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56032"/>
            <a:ext cx="5486400" cy="237744"/>
          </a:xfrm>
          <a:prstGeom prst="rect">
            <a:avLst/>
          </a:prstGeom>
          <a:noFill/>
          <a:ln/>
        </p:spPr>
        <p:txBody>
          <a:bodyPr wrap="square" lIns="0" tIns="0" rIns="0" bIns="0" rtlCol="0" anchor="ctr"/>
          <a:lstStyle/>
          <a:p>
            <a:pPr indent="0" marL="0">
              <a:buNone/>
            </a:pPr>
            <a:r>
              <a:rPr lang="en-US" sz="1050" b="1" spc="100" kern="0" dirty="0">
                <a:solidFill>
                  <a:srgbClr val="065A82"/>
                </a:solidFill>
                <a:latin typeface="Calibri" pitchFamily="34" charset="0"/>
                <a:ea typeface="Calibri" pitchFamily="34" charset="-122"/>
                <a:cs typeface="Calibri" pitchFamily="34" charset="-120"/>
              </a:rPr>
              <a:t>3 · MEASURED RESULTS</a:t>
            </a:r>
            <a:endParaRPr lang="en-US" sz="1050" dirty="0"/>
          </a:p>
        </p:txBody>
      </p:sp>
      <p:sp>
        <p:nvSpPr>
          <p:cNvPr id="3" name="Text 1"/>
          <p:cNvSpPr/>
          <p:nvPr/>
        </p:nvSpPr>
        <p:spPr>
          <a:xfrm>
            <a:off x="777240" y="566928"/>
            <a:ext cx="10637215" cy="621792"/>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What the data planes can actually carry</a:t>
            </a:r>
            <a:endParaRPr lang="en-US" sz="3000" dirty="0"/>
          </a:p>
        </p:txBody>
      </p:sp>
      <p:sp>
        <p:nvSpPr>
          <p:cNvPr id="4" name="Text 2"/>
          <p:cNvSpPr/>
          <p:nvPr/>
        </p:nvSpPr>
        <p:spPr>
          <a:xfrm>
            <a:off x="777240" y="1207008"/>
            <a:ext cx="10637215" cy="347472"/>
          </a:xfrm>
          <a:prstGeom prst="rect">
            <a:avLst/>
          </a:prstGeom>
          <a:noFill/>
          <a:ln/>
        </p:spPr>
        <p:txBody>
          <a:bodyPr wrap="square" lIns="0" tIns="0" rIns="0" bIns="0" rtlCol="0" anchor="ctr"/>
          <a:lstStyle/>
          <a:p>
            <a:pPr indent="0" marL="0">
              <a:buNone/>
            </a:pPr>
            <a:r>
              <a:rPr lang="en-US" sz="1400" dirty="0">
                <a:solidFill>
                  <a:srgbClr val="4F4F4F"/>
                </a:solidFill>
                <a:latin typeface="Calibri" pitchFamily="34" charset="0"/>
                <a:ea typeface="Calibri" pitchFamily="34" charset="-122"/>
                <a:cs typeface="Calibri" pitchFamily="34" charset="-120"/>
              </a:rPr>
              <a:t>Same fabric, same 3-hop path, same iperf3 script — two bmv2 builds and an OVS control</a:t>
            </a:r>
            <a:endParaRPr lang="en-US" sz="1400" dirty="0"/>
          </a:p>
        </p:txBody>
      </p:sp>
      <p:sp>
        <p:nvSpPr>
          <p:cNvPr id="5" name="Shape 3"/>
          <p:cNvSpPr/>
          <p:nvPr/>
        </p:nvSpPr>
        <p:spPr>
          <a:xfrm>
            <a:off x="777240" y="1700784"/>
            <a:ext cx="10637215" cy="9144"/>
          </a:xfrm>
          <a:prstGeom prst="line">
            <a:avLst/>
          </a:prstGeom>
          <a:noFill/>
          <a:ln w="12700">
            <a:solidFill>
              <a:srgbClr val="D0D0D0"/>
            </a:solidFill>
            <a:prstDash val="solid"/>
          </a:ln>
        </p:spPr>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777240" y="2048256"/>
          <a:ext cx="10637215" cy="914400"/>
        </p:xfrm>
        <a:graphic>
          <a:graphicData uri="http://schemas.openxmlformats.org/drawingml/2006/table">
            <a:tbl>
              <a:tblPr/>
              <a:tblGrid>
                <a:gridCol w="2377440"/>
                <a:gridCol w="2834640"/>
                <a:gridCol w="1965960"/>
                <a:gridCol w="1783080"/>
                <a:gridCol w="1673352"/>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Build</a:t>
                      </a:r>
                      <a:endParaRPr lang="en-US" sz="1150" dirty="0">
                        <a:latin typeface="Calibri" charset="0"/>
                        <a:ea typeface="Calibri" charset="0"/>
                        <a:cs typeface="Calibri" charset="0"/>
                      </a:endParaRPr>
                    </a:p>
                  </a:txBody>
                  <a:tcPr marL="109728" marR="109728" marT="54864" marB="54864"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065A8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Configuration</a:t>
                      </a:r>
                      <a:endParaRPr lang="en-US" sz="1150" dirty="0">
                        <a:latin typeface="Calibri" charset="0"/>
                        <a:ea typeface="Calibri" charset="0"/>
                        <a:cs typeface="Calibri" charset="0"/>
                      </a:endParaRPr>
                    </a:p>
                  </a:txBody>
                  <a:tcPr marL="109728" marR="109728" marT="54864" marB="54864"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065A8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UDP delivered</a:t>
                      </a:r>
                      <a:endParaRPr lang="en-US" sz="1150" dirty="0">
                        <a:latin typeface="Calibri" charset="0"/>
                        <a:ea typeface="Calibri" charset="0"/>
                        <a:cs typeface="Calibri" charset="0"/>
                      </a:endParaRPr>
                    </a:p>
                  </a:txBody>
                  <a:tcPr marL="109728" marR="109728" marT="54864" marB="54864"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065A8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TCP goodput</a:t>
                      </a:r>
                      <a:endParaRPr lang="en-US" sz="1150" dirty="0">
                        <a:latin typeface="Calibri" charset="0"/>
                        <a:ea typeface="Calibri" charset="0"/>
                        <a:cs typeface="Calibri" charset="0"/>
                      </a:endParaRPr>
                    </a:p>
                  </a:txBody>
                  <a:tcPr marL="109728" marR="109728" marT="54864" marB="54864"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065A8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Packet rate</a:t>
                      </a:r>
                      <a:endParaRPr lang="en-US" sz="1150" dirty="0">
                        <a:latin typeface="Calibri" charset="0"/>
                        <a:ea typeface="Calibri" charset="0"/>
                        <a:cs typeface="Calibri" charset="0"/>
                      </a:endParaRPr>
                    </a:p>
                  </a:txBody>
                  <a:tcPr marL="109728" marR="109728" marT="54864" marB="54864"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065A82"/>
                    </a:solidFill>
                  </a:tcPr>
                </a:tc>
              </a:tr>
              <a:tr h="457200">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bmv2 — stock build</a:t>
                      </a:r>
                      <a:endParaRPr lang="en-US" sz="1100" dirty="0">
                        <a:latin typeface="Calibri" charset="0"/>
                        <a:ea typeface="Calibri" charset="0"/>
                        <a:cs typeface="Calibri" charset="0"/>
                      </a:endParaRPr>
                    </a:p>
                  </a:txBody>
                  <a:tcPr marL="109728" marR="109728" marT="54864" marB="54864"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050" dirty="0">
                          <a:solidFill>
                            <a:srgbClr val="4F4F4F"/>
                          </a:solidFill>
                          <a:latin typeface="Calibri" pitchFamily="34" charset="0"/>
                          <a:ea typeface="Calibri" pitchFamily="34" charset="-122"/>
                          <a:cs typeface="Calibri" pitchFamily="34" charset="-120"/>
                        </a:rPr>
                        <a:t>-O0, all logging</a:t>
                      </a:r>
                      <a:endParaRPr lang="en-US" sz="1050" dirty="0">
                        <a:latin typeface="Calibri" charset="0"/>
                        <a:ea typeface="Calibri" charset="0"/>
                        <a:cs typeface="Calibri" charset="0"/>
                      </a:endParaRPr>
                    </a:p>
                  </a:txBody>
                  <a:tcPr marL="109728" marR="109728" marT="54864" marB="54864"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100" dirty="0">
                          <a:solidFill>
                            <a:srgbClr val="2E2E2E"/>
                          </a:solidFill>
                          <a:latin typeface="Calibri" pitchFamily="34" charset="0"/>
                          <a:ea typeface="Calibri" pitchFamily="34" charset="-122"/>
                          <a:cs typeface="Calibri" pitchFamily="34" charset="-120"/>
                        </a:rPr>
                        <a:t>~40 Mbps</a:t>
                      </a:r>
                      <a:endParaRPr lang="en-US" sz="1100" dirty="0">
                        <a:latin typeface="Calibri" charset="0"/>
                        <a:ea typeface="Calibri" charset="0"/>
                        <a:cs typeface="Calibri" charset="0"/>
                      </a:endParaRPr>
                    </a:p>
                  </a:txBody>
                  <a:tcPr marL="109728" marR="109728" marT="54864" marB="54864"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100" dirty="0">
                          <a:solidFill>
                            <a:srgbClr val="2E2E2E"/>
                          </a:solidFill>
                          <a:latin typeface="Calibri" pitchFamily="34" charset="0"/>
                          <a:ea typeface="Calibri" pitchFamily="34" charset="-122"/>
                          <a:cs typeface="Calibri" pitchFamily="34" charset="-120"/>
                        </a:rPr>
                        <a:t>24.2 Mbps</a:t>
                      </a:r>
                      <a:endParaRPr lang="en-US" sz="1100" dirty="0">
                        <a:latin typeface="Calibri" charset="0"/>
                        <a:ea typeface="Calibri" charset="0"/>
                        <a:cs typeface="Calibri" charset="0"/>
                      </a:endParaRPr>
                    </a:p>
                  </a:txBody>
                  <a:tcPr marL="109728" marR="109728" marT="54864" marB="54864"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100" dirty="0">
                          <a:solidFill>
                            <a:srgbClr val="2E2E2E"/>
                          </a:solidFill>
                          <a:latin typeface="Calibri" pitchFamily="34" charset="0"/>
                          <a:ea typeface="Calibri" pitchFamily="34" charset="-122"/>
                          <a:cs typeface="Calibri" pitchFamily="34" charset="-120"/>
                        </a:rPr>
                        <a:t>~3.6k pps</a:t>
                      </a:r>
                      <a:endParaRPr lang="en-US" sz="1100" dirty="0">
                        <a:latin typeface="Calibri" charset="0"/>
                        <a:ea typeface="Calibri" charset="0"/>
                        <a:cs typeface="Calibri" charset="0"/>
                      </a:endParaRPr>
                    </a:p>
                  </a:txBody>
                  <a:tcPr marL="109728" marR="109728" marT="54864" marB="54864"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r>
              <a:tr h="457200">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bmv2 — fast rebuild</a:t>
                      </a:r>
                      <a:endParaRPr lang="en-US" sz="1100" dirty="0">
                        <a:latin typeface="Calibri" charset="0"/>
                        <a:ea typeface="Calibri" charset="0"/>
                        <a:cs typeface="Calibri" charset="0"/>
                      </a:endParaRPr>
                    </a:p>
                  </a:txBody>
                  <a:tcPr marL="109728" marR="109728" marT="54864" marB="54864"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050" dirty="0">
                          <a:solidFill>
                            <a:srgbClr val="4F4F4F"/>
                          </a:solidFill>
                          <a:latin typeface="Calibri" pitchFamily="34" charset="0"/>
                          <a:ea typeface="Calibri" pitchFamily="34" charset="-122"/>
                          <a:cs typeface="Calibri" pitchFamily="34" charset="-120"/>
                        </a:rPr>
                        <a:t>-O3, logging macros disabled</a:t>
                      </a:r>
                      <a:endParaRPr lang="en-US" sz="1050" dirty="0">
                        <a:latin typeface="Calibri" charset="0"/>
                        <a:ea typeface="Calibri" charset="0"/>
                        <a:cs typeface="Calibri" charset="0"/>
                      </a:endParaRPr>
                    </a:p>
                  </a:txBody>
                  <a:tcPr marL="109728" marR="109728" marT="54864" marB="54864"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100" b="1" dirty="0">
                          <a:solidFill>
                            <a:srgbClr val="065A82"/>
                          </a:solidFill>
                          <a:latin typeface="Calibri" pitchFamily="34" charset="0"/>
                          <a:ea typeface="Calibri" pitchFamily="34" charset="-122"/>
                          <a:cs typeface="Calibri" pitchFamily="34" charset="-120"/>
                        </a:rPr>
                        <a:t>~460–530 Mbps</a:t>
                      </a:r>
                      <a:endParaRPr lang="en-US" sz="1100" dirty="0">
                        <a:latin typeface="Calibri" charset="0"/>
                        <a:ea typeface="Calibri" charset="0"/>
                        <a:cs typeface="Calibri" charset="0"/>
                      </a:endParaRPr>
                    </a:p>
                  </a:txBody>
                  <a:tcPr marL="109728" marR="109728" marT="54864" marB="54864"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100" b="1" dirty="0">
                          <a:solidFill>
                            <a:srgbClr val="065A82"/>
                          </a:solidFill>
                          <a:latin typeface="Calibri" pitchFamily="34" charset="0"/>
                          <a:ea typeface="Calibri" pitchFamily="34" charset="-122"/>
                          <a:cs typeface="Calibri" pitchFamily="34" charset="-120"/>
                        </a:rPr>
                        <a:t>431 Mbps</a:t>
                      </a:r>
                      <a:endParaRPr lang="en-US" sz="1100" dirty="0">
                        <a:latin typeface="Calibri" charset="0"/>
                        <a:ea typeface="Calibri" charset="0"/>
                        <a:cs typeface="Calibri" charset="0"/>
                      </a:endParaRPr>
                    </a:p>
                  </a:txBody>
                  <a:tcPr marL="109728" marR="109728" marT="54864" marB="54864"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100" dirty="0">
                          <a:solidFill>
                            <a:srgbClr val="2E2E2E"/>
                          </a:solidFill>
                          <a:latin typeface="Calibri" pitchFamily="34" charset="0"/>
                          <a:ea typeface="Calibri" pitchFamily="34" charset="-122"/>
                          <a:cs typeface="Calibri" pitchFamily="34" charset="-120"/>
                        </a:rPr>
                        <a:t>~50.8k pps</a:t>
                      </a:r>
                      <a:endParaRPr lang="en-US" sz="1100" dirty="0">
                        <a:latin typeface="Calibri" charset="0"/>
                        <a:ea typeface="Calibri" charset="0"/>
                        <a:cs typeface="Calibri" charset="0"/>
                      </a:endParaRPr>
                    </a:p>
                  </a:txBody>
                  <a:tcPr marL="109728" marR="109728" marT="54864" marB="54864"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OVS — control</a:t>
                      </a:r>
                      <a:endParaRPr lang="en-US" sz="1100" dirty="0">
                        <a:latin typeface="Calibri" charset="0"/>
                        <a:ea typeface="Calibri" charset="0"/>
                        <a:cs typeface="Calibri" charset="0"/>
                      </a:endParaRPr>
                    </a:p>
                  </a:txBody>
                  <a:tcPr marL="109728" marR="109728" marT="54864" marB="54864"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050" dirty="0">
                          <a:solidFill>
                            <a:srgbClr val="4F4F4F"/>
                          </a:solidFill>
                          <a:latin typeface="Calibri" pitchFamily="34" charset="0"/>
                          <a:ea typeface="Calibri" pitchFamily="34" charset="-122"/>
                          <a:cs typeface="Calibri" pitchFamily="34" charset="-120"/>
                        </a:rPr>
                        <a:t>shaped by TCLink at 1 G</a:t>
                      </a:r>
                      <a:endParaRPr lang="en-US" sz="1050" dirty="0">
                        <a:latin typeface="Calibri" charset="0"/>
                        <a:ea typeface="Calibri" charset="0"/>
                        <a:cs typeface="Calibri" charset="0"/>
                      </a:endParaRPr>
                    </a:p>
                  </a:txBody>
                  <a:tcPr marL="109728" marR="109728" marT="54864" marB="54864"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100" dirty="0">
                          <a:solidFill>
                            <a:srgbClr val="2E2E2E"/>
                          </a:solidFill>
                          <a:latin typeface="Calibri" pitchFamily="34" charset="0"/>
                          <a:ea typeface="Calibri" pitchFamily="34" charset="-122"/>
                          <a:cs typeface="Calibri" pitchFamily="34" charset="-120"/>
                        </a:rPr>
                        <a:t>980 Mbps</a:t>
                      </a:r>
                      <a:endParaRPr lang="en-US" sz="1100" dirty="0">
                        <a:latin typeface="Calibri" charset="0"/>
                        <a:ea typeface="Calibri" charset="0"/>
                        <a:cs typeface="Calibri" charset="0"/>
                      </a:endParaRPr>
                    </a:p>
                  </a:txBody>
                  <a:tcPr marL="109728" marR="109728" marT="54864" marB="54864"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100" dirty="0">
                          <a:solidFill>
                            <a:srgbClr val="2E2E2E"/>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109728" marR="109728" marT="54864" marB="54864"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100" dirty="0">
                          <a:solidFill>
                            <a:srgbClr val="2E2E2E"/>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109728" marR="109728" marT="54864" marB="54864"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r>
            </a:tbl>
          </a:graphicData>
        </a:graphic>
      </p:graphicFrame>
      <p:sp>
        <p:nvSpPr>
          <p:cNvPr id="7" name="Text 4"/>
          <p:cNvSpPr/>
          <p:nvPr/>
        </p:nvSpPr>
        <p:spPr>
          <a:xfrm>
            <a:off x="777240" y="3877056"/>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1</a:t>
            </a:r>
            <a:endParaRPr lang="en-US" sz="1300" dirty="0"/>
          </a:p>
        </p:txBody>
      </p:sp>
      <p:sp>
        <p:nvSpPr>
          <p:cNvPr id="8" name="Text 5"/>
          <p:cNvSpPr/>
          <p:nvPr/>
        </p:nvSpPr>
        <p:spPr>
          <a:xfrm>
            <a:off x="1106424" y="3867912"/>
            <a:ext cx="6528816" cy="292608"/>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The ceiling is packets, not bits</a:t>
            </a:r>
            <a:endParaRPr lang="en-US" sz="1550" dirty="0"/>
          </a:p>
        </p:txBody>
      </p:sp>
      <p:sp>
        <p:nvSpPr>
          <p:cNvPr id="9" name="Text 6"/>
          <p:cNvSpPr/>
          <p:nvPr/>
        </p:nvSpPr>
        <p:spPr>
          <a:xfrm>
            <a:off x="1106424" y="4206240"/>
            <a:ext cx="6528816" cy="822960"/>
          </a:xfrm>
          <a:prstGeom prst="rect">
            <a:avLst/>
          </a:prstGeom>
          <a:noFill/>
          <a:ln/>
        </p:spPr>
        <p:txBody>
          <a:bodyPr wrap="square" lIns="0" tIns="0" rIns="0" bIns="0" rtlCol="0" anchor="ctr"/>
          <a:lstStyle/>
          <a:p>
            <a:pPr indent="0" marL="0">
              <a:lnSpc>
                <a:spcPct val="124000"/>
              </a:lnSpc>
              <a:buNone/>
            </a:pPr>
            <a:r>
              <a:rPr lang="en-US" sz="1250" dirty="0">
                <a:solidFill>
                  <a:srgbClr val="2E2E2E"/>
                </a:solidFill>
                <a:latin typeface="Calibri" pitchFamily="34" charset="0"/>
                <a:ea typeface="Calibri" pitchFamily="34" charset="-122"/>
                <a:cs typeface="Calibri" pitchFamily="34" charset="-120"/>
              </a:rPr>
              <a:t>bmv2 is an interpreted reference implementation; at -O0 with logging macros the per-packet fixed cost dominates. 64-byte and 1400-byte frames hit the same packet rate, which is what identifies the limit.</a:t>
            </a:r>
            <a:endParaRPr lang="en-US" sz="1250" dirty="0"/>
          </a:p>
        </p:txBody>
      </p:sp>
      <p:sp>
        <p:nvSpPr>
          <p:cNvPr id="10" name="Text 7"/>
          <p:cNvSpPr/>
          <p:nvPr/>
        </p:nvSpPr>
        <p:spPr>
          <a:xfrm>
            <a:off x="777240" y="5175504"/>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2</a:t>
            </a:r>
            <a:endParaRPr lang="en-US" sz="1300" dirty="0"/>
          </a:p>
        </p:txBody>
      </p:sp>
      <p:sp>
        <p:nvSpPr>
          <p:cNvPr id="11" name="Text 8"/>
          <p:cNvSpPr/>
          <p:nvPr/>
        </p:nvSpPr>
        <p:spPr>
          <a:xfrm>
            <a:off x="1106424" y="5166360"/>
            <a:ext cx="6528816" cy="292608"/>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The loss is invisible to interface counters</a:t>
            </a:r>
            <a:endParaRPr lang="en-US" sz="1550" dirty="0"/>
          </a:p>
        </p:txBody>
      </p:sp>
      <p:sp>
        <p:nvSpPr>
          <p:cNvPr id="12" name="Text 9"/>
          <p:cNvSpPr/>
          <p:nvPr/>
        </p:nvSpPr>
        <p:spPr>
          <a:xfrm>
            <a:off x="1106424" y="5504688"/>
            <a:ext cx="6528816" cy="822960"/>
          </a:xfrm>
          <a:prstGeom prst="rect">
            <a:avLst/>
          </a:prstGeom>
          <a:noFill/>
          <a:ln/>
        </p:spPr>
        <p:txBody>
          <a:bodyPr wrap="square" lIns="0" tIns="0" rIns="0" bIns="0" rtlCol="0" anchor="ctr"/>
          <a:lstStyle/>
          <a:p>
            <a:pPr indent="0" marL="0">
              <a:lnSpc>
                <a:spcPct val="124000"/>
              </a:lnSpc>
              <a:buNone/>
            </a:pPr>
            <a:r>
              <a:rPr lang="en-US" sz="1250" dirty="0">
                <a:solidFill>
                  <a:srgbClr val="2E2E2E"/>
                </a:solidFill>
                <a:latin typeface="Calibri" pitchFamily="34" charset="0"/>
                <a:ea typeface="Calibri" pitchFamily="34" charset="-122"/>
                <a:cs typeface="Calibri" pitchFamily="34" charset="-120"/>
              </a:rPr>
              <a:t>It happens in the first on-path switch's input buffer. h1 sent 89,296, s1-eth3 received 89,296 — and s1-eth1 transmitted 33,456. Nothing in between reports a drop.</a:t>
            </a:r>
            <a:endParaRPr lang="en-US" sz="1250" dirty="0"/>
          </a:p>
        </p:txBody>
      </p:sp>
      <p:sp>
        <p:nvSpPr>
          <p:cNvPr id="13" name="Shape 10"/>
          <p:cNvSpPr/>
          <p:nvPr/>
        </p:nvSpPr>
        <p:spPr>
          <a:xfrm>
            <a:off x="8001000" y="3913632"/>
            <a:ext cx="27432" cy="1371600"/>
          </a:xfrm>
          <a:prstGeom prst="rect">
            <a:avLst/>
          </a:prstGeom>
          <a:solidFill>
            <a:srgbClr val="065A82"/>
          </a:solidFill>
          <a:ln/>
        </p:spPr>
      </p:sp>
      <p:sp>
        <p:nvSpPr>
          <p:cNvPr id="14" name="Text 11"/>
          <p:cNvSpPr/>
          <p:nvPr/>
        </p:nvSpPr>
        <p:spPr>
          <a:xfrm>
            <a:off x="8202168" y="3877056"/>
            <a:ext cx="3209544" cy="237744"/>
          </a:xfrm>
          <a:prstGeom prst="rect">
            <a:avLst/>
          </a:prstGeom>
          <a:noFill/>
          <a:ln/>
        </p:spPr>
        <p:txBody>
          <a:bodyPr wrap="square" lIns="0" tIns="0" rIns="0" bIns="0" rtlCol="0" anchor="ctr"/>
          <a:lstStyle/>
          <a:p>
            <a:pPr indent="0" marL="0">
              <a:buNone/>
            </a:pPr>
            <a:r>
              <a:rPr lang="en-US" sz="1150" b="1" dirty="0">
                <a:solidFill>
                  <a:srgbClr val="065A82"/>
                </a:solidFill>
                <a:latin typeface="Calibri" pitchFamily="34" charset="0"/>
                <a:ea typeface="Calibri" pitchFamily="34" charset="-122"/>
                <a:cs typeface="Calibri" pitchFamily="34" charset="-120"/>
              </a:rPr>
              <a:t>The published figure describes neither build</a:t>
            </a:r>
            <a:endParaRPr lang="en-US" sz="1150" dirty="0"/>
          </a:p>
        </p:txBody>
      </p:sp>
      <p:sp>
        <p:nvSpPr>
          <p:cNvPr id="15" name="Text 12"/>
          <p:cNvSpPr/>
          <p:nvPr/>
        </p:nvSpPr>
        <p:spPr>
          <a:xfrm>
            <a:off x="8202168" y="4151376"/>
            <a:ext cx="3209544" cy="1097280"/>
          </a:xfrm>
          <a:prstGeom prst="rect">
            <a:avLst/>
          </a:prstGeom>
          <a:noFill/>
          <a:ln/>
        </p:spPr>
        <p:txBody>
          <a:bodyPr wrap="square" lIns="0" tIns="0" rIns="0" bIns="0" rtlCol="0" anchor="ctr"/>
          <a:lstStyle/>
          <a:p>
            <a:pPr indent="0" marL="0">
              <a:lnSpc>
                <a:spcPct val="120000"/>
              </a:lnSpc>
              <a:buNone/>
            </a:pPr>
            <a:r>
              <a:rPr lang="en-US" sz="1100" dirty="0">
                <a:solidFill>
                  <a:srgbClr val="2E2E2E"/>
                </a:solidFill>
                <a:latin typeface="Calibri" pitchFamily="34" charset="0"/>
                <a:ea typeface="Calibri" pitchFamily="34" charset="-122"/>
                <a:cs typeface="Calibri" pitchFamily="34" charset="-120"/>
              </a:rPr>
              <a:t>~170 Mbps [2] is 4× above the stock build and ~3× below the fast one, so it is cited as an order of magnitude and nothing more.</a:t>
            </a:r>
            <a:endParaRPr lang="en-US" sz="1100" dirty="0"/>
          </a:p>
        </p:txBody>
      </p:sp>
      <p:sp>
        <p:nvSpPr>
          <p:cNvPr id="16" name="Shape 13"/>
          <p:cNvSpPr/>
          <p:nvPr/>
        </p:nvSpPr>
        <p:spPr>
          <a:xfrm>
            <a:off x="8001000" y="5486400"/>
            <a:ext cx="27432" cy="914400"/>
          </a:xfrm>
          <a:prstGeom prst="rect">
            <a:avLst/>
          </a:prstGeom>
          <a:solidFill>
            <a:srgbClr val="065A82"/>
          </a:solidFill>
          <a:ln/>
        </p:spPr>
      </p:sp>
      <p:sp>
        <p:nvSpPr>
          <p:cNvPr id="17" name="Text 14"/>
          <p:cNvSpPr/>
          <p:nvPr/>
        </p:nvSpPr>
        <p:spPr>
          <a:xfrm>
            <a:off x="8202168" y="5449824"/>
            <a:ext cx="3209544" cy="237744"/>
          </a:xfrm>
          <a:prstGeom prst="rect">
            <a:avLst/>
          </a:prstGeom>
          <a:noFill/>
          <a:ln/>
        </p:spPr>
        <p:txBody>
          <a:bodyPr wrap="square" lIns="0" tIns="0" rIns="0" bIns="0" rtlCol="0" anchor="ctr"/>
          <a:lstStyle/>
          <a:p>
            <a:pPr indent="0" marL="0">
              <a:buNone/>
            </a:pPr>
            <a:r>
              <a:rPr lang="en-US" sz="1150" b="1" dirty="0">
                <a:solidFill>
                  <a:srgbClr val="065A82"/>
                </a:solidFill>
                <a:latin typeface="Calibri" pitchFamily="34" charset="0"/>
                <a:ea typeface="Calibri" pitchFamily="34" charset="-122"/>
                <a:cs typeface="Calibri" pitchFamily="34" charset="-120"/>
              </a:rPr>
              <a:t>What it costs the twin</a:t>
            </a:r>
            <a:endParaRPr lang="en-US" sz="1150" dirty="0"/>
          </a:p>
        </p:txBody>
      </p:sp>
      <p:sp>
        <p:nvSpPr>
          <p:cNvPr id="18" name="Text 15"/>
          <p:cNvSpPr/>
          <p:nvPr/>
        </p:nvSpPr>
        <p:spPr>
          <a:xfrm>
            <a:off x="8202168" y="5724144"/>
            <a:ext cx="3209544" cy="640080"/>
          </a:xfrm>
          <a:prstGeom prst="rect">
            <a:avLst/>
          </a:prstGeom>
          <a:noFill/>
          <a:ln/>
        </p:spPr>
        <p:txBody>
          <a:bodyPr wrap="square" lIns="0" tIns="0" rIns="0" bIns="0" rtlCol="0" anchor="ctr"/>
          <a:lstStyle/>
          <a:p>
            <a:pPr indent="0" marL="0">
              <a:lnSpc>
                <a:spcPct val="120000"/>
              </a:lnSpc>
              <a:buNone/>
            </a:pPr>
            <a:r>
              <a:rPr lang="en-US" sz="1100" dirty="0">
                <a:solidFill>
                  <a:srgbClr val="2E2E2E"/>
                </a:solidFill>
                <a:latin typeface="Calibri" pitchFamily="34" charset="0"/>
                <a:ea typeface="Calibri" pitchFamily="34" charset="-122"/>
                <a:cs typeface="Calibri" pitchFamily="34" charset="-120"/>
              </a:rPr>
              <a:t>At 1 Gbps declared, single-flow utilisation caps at ~4% on stock and ~43–53% on fast — so TE's 70% congestion threshold is physically unreachable on stock.</a:t>
            </a:r>
            <a:endParaRPr lang="en-US" sz="1100" dirty="0"/>
          </a:p>
        </p:txBody>
      </p:sp>
      <p:sp>
        <p:nvSpPr>
          <p:cNvPr id="19" name="Text 16"/>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30</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56032"/>
            <a:ext cx="5486400" cy="237744"/>
          </a:xfrm>
          <a:prstGeom prst="rect">
            <a:avLst/>
          </a:prstGeom>
          <a:noFill/>
          <a:ln/>
        </p:spPr>
        <p:txBody>
          <a:bodyPr wrap="square" lIns="0" tIns="0" rIns="0" bIns="0" rtlCol="0" anchor="ctr"/>
          <a:lstStyle/>
          <a:p>
            <a:pPr indent="0" marL="0">
              <a:buNone/>
            </a:pPr>
            <a:r>
              <a:rPr lang="en-US" sz="1050" b="1" spc="100" kern="0" dirty="0">
                <a:solidFill>
                  <a:srgbClr val="065A82"/>
                </a:solidFill>
                <a:latin typeface="Calibri" pitchFamily="34" charset="0"/>
                <a:ea typeface="Calibri" pitchFamily="34" charset="-122"/>
                <a:cs typeface="Calibri" pitchFamily="34" charset="-120"/>
              </a:rPr>
              <a:t>3 · MEASURED RESULTS</a:t>
            </a:r>
            <a:endParaRPr lang="en-US" sz="1050" dirty="0"/>
          </a:p>
        </p:txBody>
      </p:sp>
      <p:pic>
        <p:nvPicPr>
          <p:cNvPr id="3" name="Image 0" descr="/sessions/hopeful-sharp-hopper/mnt/NDTwin Slide material/figures/page37_throughput-ab.png">    </p:cNvPr>
          <p:cNvPicPr>
            <a:picLocks noChangeAspect="1"/>
          </p:cNvPicPr>
          <p:nvPr/>
        </p:nvPicPr>
        <p:blipFill>
          <a:blip r:embed="rId1"/>
          <a:stretch>
            <a:fillRect/>
          </a:stretch>
        </p:blipFill>
        <p:spPr>
          <a:xfrm>
            <a:off x="550012" y="1174905"/>
            <a:ext cx="11091672" cy="4581343"/>
          </a:xfrm>
          <a:prstGeom prst="rect">
            <a:avLst/>
          </a:prstGeom>
        </p:spPr>
      </p:pic>
      <p:sp>
        <p:nvSpPr>
          <p:cNvPr id="4" name="Text 1"/>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31</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56032"/>
            <a:ext cx="5486400" cy="237744"/>
          </a:xfrm>
          <a:prstGeom prst="rect">
            <a:avLst/>
          </a:prstGeom>
          <a:noFill/>
          <a:ln/>
        </p:spPr>
        <p:txBody>
          <a:bodyPr wrap="square" lIns="0" tIns="0" rIns="0" bIns="0" rtlCol="0" anchor="ctr"/>
          <a:lstStyle/>
          <a:p>
            <a:pPr indent="0" marL="0">
              <a:buNone/>
            </a:pPr>
            <a:r>
              <a:rPr lang="en-US" sz="1050" b="1" spc="100" kern="0" dirty="0">
                <a:solidFill>
                  <a:srgbClr val="065A82"/>
                </a:solidFill>
                <a:latin typeface="Calibri" pitchFamily="34" charset="0"/>
                <a:ea typeface="Calibri" pitchFamily="34" charset="-122"/>
                <a:cs typeface="Calibri" pitchFamily="34" charset="-120"/>
              </a:rPr>
              <a:t>3 · MEASURED RESULTS</a:t>
            </a:r>
            <a:endParaRPr lang="en-US" sz="1050" dirty="0"/>
          </a:p>
        </p:txBody>
      </p:sp>
      <p:sp>
        <p:nvSpPr>
          <p:cNvPr id="3" name="Text 1"/>
          <p:cNvSpPr/>
          <p:nvPr/>
        </p:nvSpPr>
        <p:spPr>
          <a:xfrm>
            <a:off x="777240" y="566928"/>
            <a:ext cx="10637215" cy="621792"/>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210 Mbps sustained, then a link broken underneath it</a:t>
            </a:r>
            <a:endParaRPr lang="en-US" sz="3000" dirty="0"/>
          </a:p>
        </p:txBody>
      </p:sp>
      <p:sp>
        <p:nvSpPr>
          <p:cNvPr id="4" name="Text 2"/>
          <p:cNvSpPr/>
          <p:nvPr/>
        </p:nvSpPr>
        <p:spPr>
          <a:xfrm>
            <a:off x="777240" y="1207008"/>
            <a:ext cx="10637215" cy="347472"/>
          </a:xfrm>
          <a:prstGeom prst="rect">
            <a:avLst/>
          </a:prstGeom>
          <a:noFill/>
          <a:ln/>
        </p:spPr>
        <p:txBody>
          <a:bodyPr wrap="square" lIns="0" tIns="0" rIns="0" bIns="0" rtlCol="0" anchor="ctr"/>
          <a:lstStyle/>
          <a:p>
            <a:pPr indent="0" marL="0">
              <a:buNone/>
            </a:pPr>
            <a:r>
              <a:rPr lang="en-US" sz="1400" dirty="0">
                <a:solidFill>
                  <a:srgbClr val="4F4F4F"/>
                </a:solidFill>
                <a:latin typeface="Calibri" pitchFamily="34" charset="0"/>
                <a:ea typeface="Calibri" pitchFamily="34" charset="-122"/>
                <a:cs typeface="Calibri" pitchFamily="34" charset="-120"/>
              </a:rPr>
              <a:t>The earlier runbook only ever loaded one flow at 10 Mbps, and only broke links while idle</a:t>
            </a:r>
            <a:endParaRPr lang="en-US" sz="1400" dirty="0"/>
          </a:p>
        </p:txBody>
      </p:sp>
      <p:sp>
        <p:nvSpPr>
          <p:cNvPr id="5" name="Shape 3"/>
          <p:cNvSpPr/>
          <p:nvPr/>
        </p:nvSpPr>
        <p:spPr>
          <a:xfrm>
            <a:off x="777240" y="1700784"/>
            <a:ext cx="10637215" cy="9144"/>
          </a:xfrm>
          <a:prstGeom prst="line">
            <a:avLst/>
          </a:prstGeom>
          <a:noFill/>
          <a:ln w="12700">
            <a:solidFill>
              <a:srgbClr val="D0D0D0"/>
            </a:solidFill>
            <a:prstDash val="solid"/>
          </a:ln>
        </p:spPr>
      </p:sp>
      <p:sp>
        <p:nvSpPr>
          <p:cNvPr id="6" name="Text 4"/>
          <p:cNvSpPr/>
          <p:nvPr/>
        </p:nvSpPr>
        <p:spPr>
          <a:xfrm>
            <a:off x="777240" y="1993392"/>
            <a:ext cx="2522144" cy="530352"/>
          </a:xfrm>
          <a:prstGeom prst="rect">
            <a:avLst/>
          </a:prstGeom>
          <a:noFill/>
          <a:ln/>
        </p:spPr>
        <p:txBody>
          <a:bodyPr wrap="square" lIns="0" tIns="0" rIns="0" bIns="0" rtlCol="0" anchor="ctr"/>
          <a:lstStyle/>
          <a:p>
            <a:pPr indent="0" marL="0">
              <a:buNone/>
            </a:pPr>
            <a:r>
              <a:rPr lang="en-US" sz="2400" b="1" dirty="0">
                <a:solidFill>
                  <a:srgbClr val="065A82"/>
                </a:solidFill>
                <a:latin typeface="Cambria" pitchFamily="34" charset="0"/>
                <a:ea typeface="Cambria" pitchFamily="34" charset="-122"/>
                <a:cs typeface="Cambria" pitchFamily="34" charset="-120"/>
              </a:rPr>
              <a:t>210 Mbps</a:t>
            </a:r>
            <a:endParaRPr lang="en-US" sz="2400" dirty="0"/>
          </a:p>
        </p:txBody>
      </p:sp>
      <p:sp>
        <p:nvSpPr>
          <p:cNvPr id="7" name="Text 5"/>
          <p:cNvSpPr/>
          <p:nvPr/>
        </p:nvSpPr>
        <p:spPr>
          <a:xfrm>
            <a:off x="777240" y="2560320"/>
            <a:ext cx="2522144" cy="457200"/>
          </a:xfrm>
          <a:prstGeom prst="rect">
            <a:avLst/>
          </a:prstGeom>
          <a:noFill/>
          <a:ln/>
        </p:spPr>
        <p:txBody>
          <a:bodyPr wrap="square" lIns="0" tIns="0" rIns="0" bIns="0" rtlCol="0" anchor="ctr"/>
          <a:lstStyle/>
          <a:p>
            <a:pPr indent="0" marL="0">
              <a:lnSpc>
                <a:spcPct val="114000"/>
              </a:lnSpc>
              <a:buNone/>
            </a:pPr>
            <a:r>
              <a:rPr lang="en-US" sz="1150" dirty="0">
                <a:solidFill>
                  <a:srgbClr val="4F4F4F"/>
                </a:solidFill>
                <a:latin typeface="Calibri" pitchFamily="34" charset="0"/>
                <a:ea typeface="Calibri" pitchFamily="34" charset="-122"/>
                <a:cs typeface="Calibri" pitchFamily="34" charset="-120"/>
              </a:rPr>
              <a:t>carried, four concurrent flows, five minutes</a:t>
            </a:r>
            <a:endParaRPr lang="en-US" sz="1150" dirty="0"/>
          </a:p>
        </p:txBody>
      </p:sp>
      <p:sp>
        <p:nvSpPr>
          <p:cNvPr id="8" name="Text 6"/>
          <p:cNvSpPr/>
          <p:nvPr/>
        </p:nvSpPr>
        <p:spPr>
          <a:xfrm>
            <a:off x="3482264" y="1993392"/>
            <a:ext cx="2522144" cy="530352"/>
          </a:xfrm>
          <a:prstGeom prst="rect">
            <a:avLst/>
          </a:prstGeom>
          <a:noFill/>
          <a:ln/>
        </p:spPr>
        <p:txBody>
          <a:bodyPr wrap="square" lIns="0" tIns="0" rIns="0" bIns="0" rtlCol="0" anchor="ctr"/>
          <a:lstStyle/>
          <a:p>
            <a:pPr indent="0" marL="0">
              <a:buNone/>
            </a:pPr>
            <a:r>
              <a:rPr lang="en-US" sz="2700" b="1" dirty="0">
                <a:solidFill>
                  <a:srgbClr val="065A82"/>
                </a:solidFill>
                <a:latin typeface="Cambria" pitchFamily="34" charset="0"/>
                <a:ea typeface="Cambria" pitchFamily="34" charset="-122"/>
                <a:cs typeface="Cambria" pitchFamily="34" charset="-120"/>
              </a:rPr>
              <a:t>288 / 288</a:t>
            </a:r>
            <a:endParaRPr lang="en-US" sz="2700" dirty="0"/>
          </a:p>
        </p:txBody>
      </p:sp>
      <p:sp>
        <p:nvSpPr>
          <p:cNvPr id="9" name="Text 7"/>
          <p:cNvSpPr/>
          <p:nvPr/>
        </p:nvSpPr>
        <p:spPr>
          <a:xfrm>
            <a:off x="3482264" y="2560320"/>
            <a:ext cx="2522144" cy="457200"/>
          </a:xfrm>
          <a:prstGeom prst="rect">
            <a:avLst/>
          </a:prstGeom>
          <a:noFill/>
          <a:ln/>
        </p:spPr>
        <p:txBody>
          <a:bodyPr wrap="square" lIns="0" tIns="0" rIns="0" bIns="0" rtlCol="0" anchor="ctr"/>
          <a:lstStyle/>
          <a:p>
            <a:pPr indent="0" marL="0">
              <a:lnSpc>
                <a:spcPct val="114000"/>
              </a:lnSpc>
              <a:buNone/>
            </a:pPr>
            <a:r>
              <a:rPr lang="en-US" sz="1150" dirty="0">
                <a:solidFill>
                  <a:srgbClr val="4F4F4F"/>
                </a:solidFill>
                <a:latin typeface="Calibri" pitchFamily="34" charset="0"/>
                <a:ea typeface="Calibri" pitchFamily="34" charset="-122"/>
                <a:cs typeface="Calibri" pitchFamily="34" charset="-120"/>
              </a:rPr>
              <a:t>the graph never moved</a:t>
            </a:r>
            <a:endParaRPr lang="en-US" sz="1150" dirty="0"/>
          </a:p>
        </p:txBody>
      </p:sp>
      <p:sp>
        <p:nvSpPr>
          <p:cNvPr id="10" name="Text 8"/>
          <p:cNvSpPr/>
          <p:nvPr/>
        </p:nvSpPr>
        <p:spPr>
          <a:xfrm>
            <a:off x="6187288" y="1993392"/>
            <a:ext cx="2522144" cy="530352"/>
          </a:xfrm>
          <a:prstGeom prst="rect">
            <a:avLst/>
          </a:prstGeom>
          <a:noFill/>
          <a:ln/>
        </p:spPr>
        <p:txBody>
          <a:bodyPr wrap="square" lIns="0" tIns="0" rIns="0" bIns="0" rtlCol="0" anchor="ctr"/>
          <a:lstStyle/>
          <a:p>
            <a:pPr indent="0" marL="0">
              <a:buNone/>
            </a:pPr>
            <a:r>
              <a:rPr lang="en-US" sz="2700" b="1" dirty="0">
                <a:solidFill>
                  <a:srgbClr val="065A82"/>
                </a:solidFill>
                <a:latin typeface="Cambria" pitchFamily="34" charset="0"/>
                <a:ea typeface="Cambria" pitchFamily="34" charset="-122"/>
                <a:cs typeface="Cambria" pitchFamily="34" charset="-120"/>
              </a:rPr>
              <a:t>0</a:t>
            </a:r>
            <a:endParaRPr lang="en-US" sz="2700" dirty="0"/>
          </a:p>
        </p:txBody>
      </p:sp>
      <p:sp>
        <p:nvSpPr>
          <p:cNvPr id="11" name="Text 9"/>
          <p:cNvSpPr/>
          <p:nvPr/>
        </p:nvSpPr>
        <p:spPr>
          <a:xfrm>
            <a:off x="6187288" y="2560320"/>
            <a:ext cx="2522144" cy="457200"/>
          </a:xfrm>
          <a:prstGeom prst="rect">
            <a:avLst/>
          </a:prstGeom>
          <a:noFill/>
          <a:ln/>
        </p:spPr>
        <p:txBody>
          <a:bodyPr wrap="square" lIns="0" tIns="0" rIns="0" bIns="0" rtlCol="0" anchor="ctr"/>
          <a:lstStyle/>
          <a:p>
            <a:pPr indent="0" marL="0">
              <a:lnSpc>
                <a:spcPct val="114000"/>
              </a:lnSpc>
              <a:buNone/>
            </a:pPr>
            <a:r>
              <a:rPr lang="en-US" sz="1150" dirty="0">
                <a:solidFill>
                  <a:srgbClr val="4F4F4F"/>
                </a:solidFill>
                <a:latin typeface="Calibri" pitchFamily="34" charset="0"/>
                <a:ea typeface="Calibri" pitchFamily="34" charset="-122"/>
                <a:cs typeface="Calibri" pitchFamily="34" charset="-120"/>
              </a:rPr>
              <a:t>spurious link events from Ryu</a:t>
            </a:r>
            <a:endParaRPr lang="en-US" sz="1150" dirty="0"/>
          </a:p>
        </p:txBody>
      </p:sp>
      <p:sp>
        <p:nvSpPr>
          <p:cNvPr id="12" name="Text 10"/>
          <p:cNvSpPr/>
          <p:nvPr/>
        </p:nvSpPr>
        <p:spPr>
          <a:xfrm>
            <a:off x="8892311" y="1993392"/>
            <a:ext cx="2522144" cy="530352"/>
          </a:xfrm>
          <a:prstGeom prst="rect">
            <a:avLst/>
          </a:prstGeom>
          <a:noFill/>
          <a:ln/>
        </p:spPr>
        <p:txBody>
          <a:bodyPr wrap="square" lIns="0" tIns="0" rIns="0" bIns="0" rtlCol="0" anchor="ctr"/>
          <a:lstStyle/>
          <a:p>
            <a:pPr indent="0" marL="0">
              <a:buNone/>
            </a:pPr>
            <a:r>
              <a:rPr lang="en-US" sz="2400" b="1" dirty="0">
                <a:solidFill>
                  <a:srgbClr val="065A82"/>
                </a:solidFill>
                <a:latin typeface="Cambria" pitchFamily="34" charset="0"/>
                <a:ea typeface="Cambria" pitchFamily="34" charset="-122"/>
                <a:cs typeface="Cambria" pitchFamily="34" charset="-120"/>
              </a:rPr>
              <a:t>2.7% / 0%</a:t>
            </a:r>
            <a:endParaRPr lang="en-US" sz="2400" dirty="0"/>
          </a:p>
        </p:txBody>
      </p:sp>
      <p:sp>
        <p:nvSpPr>
          <p:cNvPr id="13" name="Text 11"/>
          <p:cNvSpPr/>
          <p:nvPr/>
        </p:nvSpPr>
        <p:spPr>
          <a:xfrm>
            <a:off x="8892311" y="2560320"/>
            <a:ext cx="2522144" cy="457200"/>
          </a:xfrm>
          <a:prstGeom prst="rect">
            <a:avLst/>
          </a:prstGeom>
          <a:noFill/>
          <a:ln/>
        </p:spPr>
        <p:txBody>
          <a:bodyPr wrap="square" lIns="0" tIns="0" rIns="0" bIns="0" rtlCol="0" anchor="ctr"/>
          <a:lstStyle/>
          <a:p>
            <a:pPr indent="0" marL="0">
              <a:lnSpc>
                <a:spcPct val="114000"/>
              </a:lnSpc>
              <a:buNone/>
            </a:pPr>
            <a:r>
              <a:rPr lang="en-US" sz="1150" dirty="0">
                <a:solidFill>
                  <a:srgbClr val="4F4F4F"/>
                </a:solidFill>
                <a:latin typeface="Calibri" pitchFamily="34" charset="0"/>
                <a:ea typeface="Calibri" pitchFamily="34" charset="-122"/>
                <a:cs typeface="Calibri" pitchFamily="34" charset="-120"/>
              </a:rPr>
              <a:t>loss on the broken flow / the other three</a:t>
            </a:r>
            <a:endParaRPr lang="en-US" sz="1150" dirty="0"/>
          </a:p>
        </p:txBody>
      </p:sp>
      <p:sp>
        <p:nvSpPr>
          <p:cNvPr id="14" name="Shape 12"/>
          <p:cNvSpPr/>
          <p:nvPr/>
        </p:nvSpPr>
        <p:spPr>
          <a:xfrm>
            <a:off x="777240" y="3163824"/>
            <a:ext cx="10637215" cy="9144"/>
          </a:xfrm>
          <a:prstGeom prst="line">
            <a:avLst/>
          </a:prstGeom>
          <a:noFill/>
          <a:ln w="12700">
            <a:solidFill>
              <a:srgbClr val="D0D0D0"/>
            </a:solidFill>
            <a:prstDash val="solid"/>
          </a:ln>
        </p:spPr>
      </p:sp>
      <p:sp>
        <p:nvSpPr>
          <p:cNvPr id="15" name="Text 13"/>
          <p:cNvSpPr/>
          <p:nvPr/>
        </p:nvSpPr>
        <p:spPr>
          <a:xfrm>
            <a:off x="777240" y="3346704"/>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1</a:t>
            </a:r>
            <a:endParaRPr lang="en-US" sz="1300" dirty="0"/>
          </a:p>
        </p:txBody>
      </p:sp>
      <p:sp>
        <p:nvSpPr>
          <p:cNvPr id="16" name="Text 14"/>
          <p:cNvSpPr/>
          <p:nvPr/>
        </p:nvSpPr>
        <p:spPr>
          <a:xfrm>
            <a:off x="1106424" y="3337560"/>
            <a:ext cx="6528816" cy="292608"/>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Rerouting does not disturb traffic it is not rerouting</a:t>
            </a:r>
            <a:endParaRPr lang="en-US" sz="1550" dirty="0"/>
          </a:p>
        </p:txBody>
      </p:sp>
      <p:sp>
        <p:nvSpPr>
          <p:cNvPr id="17" name="Text 15"/>
          <p:cNvSpPr/>
          <p:nvPr/>
        </p:nvSpPr>
        <p:spPr>
          <a:xfrm>
            <a:off x="1106424" y="3675888"/>
            <a:ext cx="6528816" cy="822960"/>
          </a:xfrm>
          <a:prstGeom prst="rect">
            <a:avLst/>
          </a:prstGeom>
          <a:noFill/>
          <a:ln/>
        </p:spPr>
        <p:txBody>
          <a:bodyPr wrap="square" lIns="0" tIns="0" rIns="0" bIns="0" rtlCol="0" anchor="ctr"/>
          <a:lstStyle/>
          <a:p>
            <a:pPr indent="0" marL="0">
              <a:lnSpc>
                <a:spcPct val="124000"/>
              </a:lnSpc>
              <a:buNone/>
            </a:pPr>
            <a:r>
              <a:rPr lang="en-US" sz="1250" dirty="0">
                <a:solidFill>
                  <a:srgbClr val="2E2E2E"/>
                </a:solidFill>
                <a:latin typeface="Calibri" pitchFamily="34" charset="0"/>
                <a:ea typeface="Calibri" pitchFamily="34" charset="-122"/>
                <a:cs typeface="Calibri" pitchFamily="34" charset="-120"/>
              </a:rPr>
              <a:t>Breaking s1-eth2 under load cost 35,445 of 1,337,473 datagrams on the flow using it, and exactly zero on the other three — including the one sharing two switches with it.</a:t>
            </a:r>
            <a:endParaRPr lang="en-US" sz="1250" dirty="0"/>
          </a:p>
        </p:txBody>
      </p:sp>
      <p:sp>
        <p:nvSpPr>
          <p:cNvPr id="18" name="Text 16"/>
          <p:cNvSpPr/>
          <p:nvPr/>
        </p:nvSpPr>
        <p:spPr>
          <a:xfrm>
            <a:off x="777240" y="4480560"/>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2</a:t>
            </a:r>
            <a:endParaRPr lang="en-US" sz="1300" dirty="0"/>
          </a:p>
        </p:txBody>
      </p:sp>
      <p:sp>
        <p:nvSpPr>
          <p:cNvPr id="19" name="Text 17"/>
          <p:cNvSpPr/>
          <p:nvPr/>
        </p:nvSpPr>
        <p:spPr>
          <a:xfrm>
            <a:off x="1106424" y="4471416"/>
            <a:ext cx="6528816" cy="292608"/>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The link-usage metric tracked the load correctly</a:t>
            </a:r>
            <a:endParaRPr lang="en-US" sz="1550" dirty="0"/>
          </a:p>
        </p:txBody>
      </p:sp>
      <p:sp>
        <p:nvSpPr>
          <p:cNvPr id="20" name="Text 18"/>
          <p:cNvSpPr/>
          <p:nvPr/>
        </p:nvSpPr>
        <p:spPr>
          <a:xfrm>
            <a:off x="1106424" y="4809744"/>
            <a:ext cx="6528816" cy="822960"/>
          </a:xfrm>
          <a:prstGeom prst="rect">
            <a:avLst/>
          </a:prstGeom>
          <a:noFill/>
          <a:ln/>
        </p:spPr>
        <p:txBody>
          <a:bodyPr wrap="square" lIns="0" tIns="0" rIns="0" bIns="0" rtlCol="0" anchor="ctr"/>
          <a:lstStyle/>
          <a:p>
            <a:pPr indent="0" marL="0">
              <a:lnSpc>
                <a:spcPct val="124000"/>
              </a:lnSpc>
              <a:buNone/>
            </a:pPr>
            <a:r>
              <a:rPr lang="en-US" sz="1250" dirty="0">
                <a:solidFill>
                  <a:srgbClr val="2E2E2E"/>
                </a:solidFill>
                <a:latin typeface="Calibri" pitchFamily="34" charset="0"/>
                <a:ea typeface="Calibri" pitchFamily="34" charset="-122"/>
                <a:cs typeface="Calibri" pitchFamily="34" charset="-120"/>
              </a:rPr>
              <a:t>About 5× for 20× the traffic, which is what the metric's own definition predicts: the denominator grows with the load.</a:t>
            </a:r>
            <a:endParaRPr lang="en-US" sz="1250" dirty="0"/>
          </a:p>
        </p:txBody>
      </p:sp>
      <p:sp>
        <p:nvSpPr>
          <p:cNvPr id="21" name="Text 19"/>
          <p:cNvSpPr/>
          <p:nvPr/>
        </p:nvSpPr>
        <p:spPr>
          <a:xfrm>
            <a:off x="777240" y="5614416"/>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3</a:t>
            </a:r>
            <a:endParaRPr lang="en-US" sz="1300" dirty="0"/>
          </a:p>
        </p:txBody>
      </p:sp>
      <p:sp>
        <p:nvSpPr>
          <p:cNvPr id="22" name="Text 20"/>
          <p:cNvSpPr/>
          <p:nvPr/>
        </p:nvSpPr>
        <p:spPr>
          <a:xfrm>
            <a:off x="1106424" y="5605272"/>
            <a:ext cx="6528816" cy="292608"/>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One measurement points somewhere specific</a:t>
            </a:r>
            <a:endParaRPr lang="en-US" sz="1550" dirty="0"/>
          </a:p>
        </p:txBody>
      </p:sp>
      <p:sp>
        <p:nvSpPr>
          <p:cNvPr id="23" name="Text 21"/>
          <p:cNvSpPr/>
          <p:nvPr/>
        </p:nvSpPr>
        <p:spPr>
          <a:xfrm>
            <a:off x="1106424" y="5943600"/>
            <a:ext cx="6528816" cy="822960"/>
          </a:xfrm>
          <a:prstGeom prst="rect">
            <a:avLst/>
          </a:prstGeom>
          <a:noFill/>
          <a:ln/>
        </p:spPr>
        <p:txBody>
          <a:bodyPr wrap="square" lIns="0" tIns="0" rIns="0" bIns="0" rtlCol="0" anchor="ctr"/>
          <a:lstStyle/>
          <a:p>
            <a:pPr indent="0" marL="0">
              <a:lnSpc>
                <a:spcPct val="124000"/>
              </a:lnSpc>
              <a:buNone/>
            </a:pPr>
            <a:r>
              <a:rPr lang="en-US" sz="1250" dirty="0">
                <a:solidFill>
                  <a:srgbClr val="2E2E2E"/>
                </a:solidFill>
                <a:latin typeface="Calibri" pitchFamily="34" charset="0"/>
                <a:ea typeface="Calibri" pitchFamily="34" charset="-122"/>
                <a:cs typeface="Calibri" pitchFamily="34" charset="-120"/>
              </a:rPr>
              <a:t>The stale-path window reproduced at 14 s under load against 13 s idle — which points at a fixed cache period rather than anything load-dependent.</a:t>
            </a:r>
            <a:endParaRPr lang="en-US" sz="1250" dirty="0"/>
          </a:p>
        </p:txBody>
      </p:sp>
      <p:sp>
        <p:nvSpPr>
          <p:cNvPr id="24" name="Shape 22"/>
          <p:cNvSpPr/>
          <p:nvPr/>
        </p:nvSpPr>
        <p:spPr>
          <a:xfrm>
            <a:off x="8001000" y="3383280"/>
            <a:ext cx="27432" cy="2194560"/>
          </a:xfrm>
          <a:prstGeom prst="rect">
            <a:avLst/>
          </a:prstGeom>
          <a:solidFill>
            <a:srgbClr val="065A82"/>
          </a:solidFill>
          <a:ln/>
        </p:spPr>
      </p:sp>
      <p:sp>
        <p:nvSpPr>
          <p:cNvPr id="25" name="Text 23"/>
          <p:cNvSpPr/>
          <p:nvPr/>
        </p:nvSpPr>
        <p:spPr>
          <a:xfrm>
            <a:off x="8202168" y="3346704"/>
            <a:ext cx="3209544" cy="237744"/>
          </a:xfrm>
          <a:prstGeom prst="rect">
            <a:avLst/>
          </a:prstGeom>
          <a:noFill/>
          <a:ln/>
        </p:spPr>
        <p:txBody>
          <a:bodyPr wrap="square" lIns="0" tIns="0" rIns="0" bIns="0" rtlCol="0" anchor="ctr"/>
          <a:lstStyle/>
          <a:p>
            <a:pPr indent="0" marL="0">
              <a:buNone/>
            </a:pPr>
            <a:r>
              <a:rPr lang="en-US" sz="1150" b="1" dirty="0">
                <a:solidFill>
                  <a:srgbClr val="065A82"/>
                </a:solidFill>
                <a:latin typeface="Calibri" pitchFamily="34" charset="0"/>
                <a:ea typeface="Calibri" pitchFamily="34" charset="-122"/>
                <a:cs typeface="Calibri" pitchFamily="34" charset="-120"/>
              </a:rPr>
              <a:t>An old warning left standing</a:t>
            </a:r>
            <a:endParaRPr lang="en-US" sz="1150" dirty="0"/>
          </a:p>
        </p:txBody>
      </p:sp>
      <p:sp>
        <p:nvSpPr>
          <p:cNvPr id="26" name="Text 24"/>
          <p:cNvSpPr/>
          <p:nvPr/>
        </p:nvSpPr>
        <p:spPr>
          <a:xfrm>
            <a:off x="8202168" y="3621024"/>
            <a:ext cx="3209544" cy="1920240"/>
          </a:xfrm>
          <a:prstGeom prst="rect">
            <a:avLst/>
          </a:prstGeom>
          <a:noFill/>
          <a:ln/>
        </p:spPr>
        <p:txBody>
          <a:bodyPr wrap="square" lIns="0" tIns="0" rIns="0" bIns="0" rtlCol="0" anchor="ctr"/>
          <a:lstStyle/>
          <a:p>
            <a:pPr indent="0" marL="0">
              <a:lnSpc>
                <a:spcPct val="120000"/>
              </a:lnSpc>
              <a:buNone/>
            </a:pPr>
            <a:r>
              <a:rPr lang="en-US" sz="1100" dirty="0">
                <a:solidFill>
                  <a:srgbClr val="2E2E2E"/>
                </a:solidFill>
                <a:latin typeface="Calibri" pitchFamily="34" charset="0"/>
                <a:ea typeface="Calibri" pitchFamily="34" charset="-122"/>
                <a:cs typeface="Calibri" pitchFamily="34" charset="-120"/>
              </a:rPr>
              <a:t>The runbook records 100 Mbps starving LLDP badly enough that Ryu deleted 19 healthy links. Not reproduced here — but this was four 50 Mbps flows on different paths at half the per-flow packet rate, which is a different condition. The warning stays until someone reruns it as written.</a:t>
            </a:r>
            <a:endParaRPr lang="en-US" sz="1100" dirty="0"/>
          </a:p>
        </p:txBody>
      </p:sp>
      <p:sp>
        <p:nvSpPr>
          <p:cNvPr id="27" name="Text 25"/>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32</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56032"/>
            <a:ext cx="5486400" cy="237744"/>
          </a:xfrm>
          <a:prstGeom prst="rect">
            <a:avLst/>
          </a:prstGeom>
          <a:noFill/>
          <a:ln/>
        </p:spPr>
        <p:txBody>
          <a:bodyPr wrap="square" lIns="0" tIns="0" rIns="0" bIns="0" rtlCol="0" anchor="ctr"/>
          <a:lstStyle/>
          <a:p>
            <a:pPr indent="0" marL="0">
              <a:buNone/>
            </a:pPr>
            <a:r>
              <a:rPr lang="en-US" sz="1050" b="1" spc="100" kern="0" dirty="0">
                <a:solidFill>
                  <a:srgbClr val="065A82"/>
                </a:solidFill>
                <a:latin typeface="Calibri" pitchFamily="34" charset="0"/>
                <a:ea typeface="Calibri" pitchFamily="34" charset="-122"/>
                <a:cs typeface="Calibri" pitchFamily="34" charset="-120"/>
              </a:rPr>
              <a:t>3 · MEASURED RESULTS</a:t>
            </a:r>
            <a:endParaRPr lang="en-US" sz="1050" dirty="0"/>
          </a:p>
        </p:txBody>
      </p:sp>
      <p:sp>
        <p:nvSpPr>
          <p:cNvPr id="3" name="Text 1"/>
          <p:cNvSpPr/>
          <p:nvPr/>
        </p:nvSpPr>
        <p:spPr>
          <a:xfrm>
            <a:off x="777240" y="566928"/>
            <a:ext cx="10637215" cy="621792"/>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How accurate the twin's link usage is</a:t>
            </a:r>
            <a:endParaRPr lang="en-US" sz="3000" dirty="0"/>
          </a:p>
        </p:txBody>
      </p:sp>
      <p:sp>
        <p:nvSpPr>
          <p:cNvPr id="4" name="Text 2"/>
          <p:cNvSpPr/>
          <p:nvPr/>
        </p:nvSpPr>
        <p:spPr>
          <a:xfrm>
            <a:off x="777240" y="1207008"/>
            <a:ext cx="10637215" cy="347472"/>
          </a:xfrm>
          <a:prstGeom prst="rect">
            <a:avLst/>
          </a:prstGeom>
          <a:noFill/>
          <a:ln/>
        </p:spPr>
        <p:txBody>
          <a:bodyPr wrap="square" lIns="0" tIns="0" rIns="0" bIns="0" rtlCol="0" anchor="ctr"/>
          <a:lstStyle/>
          <a:p>
            <a:pPr indent="0" marL="0">
              <a:buNone/>
            </a:pPr>
            <a:r>
              <a:rPr lang="en-US" sz="1400" dirty="0">
                <a:solidFill>
                  <a:srgbClr val="4F4F4F"/>
                </a:solidFill>
                <a:latin typeface="Calibri" pitchFamily="34" charset="0"/>
                <a:ea typeface="Calibri" pitchFamily="34" charset="-122"/>
                <a:cs typeface="Calibri" pitchFamily="34" charset="-120"/>
              </a:rPr>
              <a:t>Accuracy is not a number here but a curve — the estimate is unbiased, and its spread is the sampling-theory floor</a:t>
            </a:r>
            <a:endParaRPr lang="en-US" sz="1400" dirty="0"/>
          </a:p>
        </p:txBody>
      </p:sp>
      <p:sp>
        <p:nvSpPr>
          <p:cNvPr id="5" name="Shape 3"/>
          <p:cNvSpPr/>
          <p:nvPr/>
        </p:nvSpPr>
        <p:spPr>
          <a:xfrm>
            <a:off x="777240" y="1700784"/>
            <a:ext cx="10637215" cy="9144"/>
          </a:xfrm>
          <a:prstGeom prst="line">
            <a:avLst/>
          </a:prstGeom>
          <a:noFill/>
          <a:ln w="12700">
            <a:solidFill>
              <a:srgbClr val="D0D0D0"/>
            </a:solidFill>
            <a:prstDash val="solid"/>
          </a:ln>
        </p:spPr>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777240" y="2103120"/>
          <a:ext cx="6720840" cy="914400"/>
        </p:xfrm>
        <a:graphic>
          <a:graphicData uri="http://schemas.openxmlformats.org/drawingml/2006/table">
            <a:tbl>
              <a:tblPr/>
              <a:tblGrid>
                <a:gridCol w="1143000"/>
                <a:gridCol w="1691640"/>
                <a:gridCol w="1097280"/>
                <a:gridCol w="1691640"/>
                <a:gridCol w="1097280"/>
              </a:tblGrid>
              <a:tr h="31089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Window</a:t>
                      </a:r>
                      <a:endParaRPr lang="en-US" sz="1100" dirty="0">
                        <a:latin typeface="Calibri" charset="0"/>
                        <a:ea typeface="Calibri" charset="0"/>
                        <a:cs typeface="Calibri" charset="0"/>
                      </a:endParaRPr>
                    </a:p>
                  </a:txBody>
                  <a:tcPr marL="109728" marR="109728"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065A8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200 Mbit/s  ±%</a:t>
                      </a:r>
                      <a:endParaRPr lang="en-US" sz="1100" dirty="0">
                        <a:latin typeface="Calibri" charset="0"/>
                        <a:ea typeface="Calibri" charset="0"/>
                        <a:cs typeface="Calibri" charset="0"/>
                      </a:endParaRPr>
                    </a:p>
                  </a:txBody>
                  <a:tcPr marL="109728" marR="109728"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065A8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theory</a:t>
                      </a:r>
                      <a:endParaRPr lang="en-US" sz="1100" dirty="0">
                        <a:latin typeface="Calibri" charset="0"/>
                        <a:ea typeface="Calibri" charset="0"/>
                        <a:cs typeface="Calibri" charset="0"/>
                      </a:endParaRPr>
                    </a:p>
                  </a:txBody>
                  <a:tcPr marL="109728" marR="109728"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065A8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20 Mbit/s  ±%</a:t>
                      </a:r>
                      <a:endParaRPr lang="en-US" sz="1100" dirty="0">
                        <a:latin typeface="Calibri" charset="0"/>
                        <a:ea typeface="Calibri" charset="0"/>
                        <a:cs typeface="Calibri" charset="0"/>
                      </a:endParaRPr>
                    </a:p>
                  </a:txBody>
                  <a:tcPr marL="109728" marR="109728"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065A8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theory</a:t>
                      </a:r>
                      <a:endParaRPr lang="en-US" sz="1100" dirty="0">
                        <a:latin typeface="Calibri" charset="0"/>
                        <a:ea typeface="Calibri" charset="0"/>
                        <a:cs typeface="Calibri" charset="0"/>
                      </a:endParaRPr>
                    </a:p>
                  </a:txBody>
                  <a:tcPr marL="109728" marR="109728"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065A82"/>
                    </a:solidFill>
                  </a:tcPr>
                </a:tc>
              </a:tr>
              <a:tr h="365760">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1 s</a:t>
                      </a:r>
                      <a:endParaRPr lang="en-US" sz="1100" dirty="0">
                        <a:latin typeface="Calibri" charset="0"/>
                        <a:ea typeface="Calibri" charset="0"/>
                        <a:cs typeface="Calibri" charset="0"/>
                      </a:endParaRPr>
                    </a:p>
                  </a:txBody>
                  <a:tcPr marL="109728" marR="109728"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100" b="1" dirty="0">
                          <a:solidFill>
                            <a:srgbClr val="065A82"/>
                          </a:solidFill>
                          <a:latin typeface="Calibri" pitchFamily="34" charset="0"/>
                          <a:ea typeface="Calibri" pitchFamily="34" charset="-122"/>
                          <a:cs typeface="Calibri" pitchFamily="34" charset="-120"/>
                        </a:rPr>
                        <a:t>20.7</a:t>
                      </a:r>
                      <a:endParaRPr lang="en-US" sz="1100" dirty="0">
                        <a:latin typeface="Calibri" charset="0"/>
                        <a:ea typeface="Calibri" charset="0"/>
                        <a:cs typeface="Calibri" charset="0"/>
                      </a:endParaRPr>
                    </a:p>
                  </a:txBody>
                  <a:tcPr marL="109728" marR="109728"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100" dirty="0">
                          <a:solidFill>
                            <a:srgbClr val="4F4F4F"/>
                          </a:solidFill>
                          <a:latin typeface="Calibri" pitchFamily="34" charset="0"/>
                          <a:ea typeface="Calibri" pitchFamily="34" charset="-122"/>
                          <a:cs typeface="Calibri" pitchFamily="34" charset="-120"/>
                        </a:rPr>
                        <a:t>23.9</a:t>
                      </a:r>
                      <a:endParaRPr lang="en-US" sz="1100" dirty="0">
                        <a:latin typeface="Calibri" charset="0"/>
                        <a:ea typeface="Calibri" charset="0"/>
                        <a:cs typeface="Calibri" charset="0"/>
                      </a:endParaRPr>
                    </a:p>
                  </a:txBody>
                  <a:tcPr marL="109728" marR="109728"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100" b="1" dirty="0">
                          <a:solidFill>
                            <a:srgbClr val="065A82"/>
                          </a:solidFill>
                          <a:latin typeface="Calibri" pitchFamily="34" charset="0"/>
                          <a:ea typeface="Calibri" pitchFamily="34" charset="-122"/>
                          <a:cs typeface="Calibri" pitchFamily="34" charset="-120"/>
                        </a:rPr>
                        <a:t>70.9</a:t>
                      </a:r>
                      <a:endParaRPr lang="en-US" sz="1100" dirty="0">
                        <a:latin typeface="Calibri" charset="0"/>
                        <a:ea typeface="Calibri" charset="0"/>
                        <a:cs typeface="Calibri" charset="0"/>
                      </a:endParaRPr>
                    </a:p>
                  </a:txBody>
                  <a:tcPr marL="109728" marR="109728"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100" dirty="0">
                          <a:solidFill>
                            <a:srgbClr val="4F4F4F"/>
                          </a:solidFill>
                          <a:latin typeface="Calibri" pitchFamily="34" charset="0"/>
                          <a:ea typeface="Calibri" pitchFamily="34" charset="-122"/>
                          <a:cs typeface="Calibri" pitchFamily="34" charset="-120"/>
                        </a:rPr>
                        <a:t>75.6</a:t>
                      </a:r>
                      <a:endParaRPr lang="en-US" sz="1100" dirty="0">
                        <a:latin typeface="Calibri" charset="0"/>
                        <a:ea typeface="Calibri" charset="0"/>
                        <a:cs typeface="Calibri" charset="0"/>
                      </a:endParaRPr>
                    </a:p>
                  </a:txBody>
                  <a:tcPr marL="109728" marR="109728"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r>
              <a:tr h="365760">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10 s</a:t>
                      </a:r>
                      <a:endParaRPr lang="en-US" sz="1100" dirty="0">
                        <a:latin typeface="Calibri" charset="0"/>
                        <a:ea typeface="Calibri" charset="0"/>
                        <a:cs typeface="Calibri" charset="0"/>
                      </a:endParaRPr>
                    </a:p>
                  </a:txBody>
                  <a:tcPr marL="109728" marR="109728"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100" b="1" dirty="0">
                          <a:solidFill>
                            <a:srgbClr val="065A82"/>
                          </a:solidFill>
                          <a:latin typeface="Calibri" pitchFamily="34" charset="0"/>
                          <a:ea typeface="Calibri" pitchFamily="34" charset="-122"/>
                          <a:cs typeface="Calibri" pitchFamily="34" charset="-120"/>
                        </a:rPr>
                        <a:t>8.1</a:t>
                      </a:r>
                      <a:endParaRPr lang="en-US" sz="1100" dirty="0">
                        <a:latin typeface="Calibri" charset="0"/>
                        <a:ea typeface="Calibri" charset="0"/>
                        <a:cs typeface="Calibri" charset="0"/>
                      </a:endParaRPr>
                    </a:p>
                  </a:txBody>
                  <a:tcPr marL="109728" marR="109728"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100" dirty="0">
                          <a:solidFill>
                            <a:srgbClr val="4F4F4F"/>
                          </a:solidFill>
                          <a:latin typeface="Calibri" pitchFamily="34" charset="0"/>
                          <a:ea typeface="Calibri" pitchFamily="34" charset="-122"/>
                          <a:cs typeface="Calibri" pitchFamily="34" charset="-120"/>
                        </a:rPr>
                        <a:t>7.6</a:t>
                      </a:r>
                      <a:endParaRPr lang="en-US" sz="1100" dirty="0">
                        <a:latin typeface="Calibri" charset="0"/>
                        <a:ea typeface="Calibri" charset="0"/>
                        <a:cs typeface="Calibri" charset="0"/>
                      </a:endParaRPr>
                    </a:p>
                  </a:txBody>
                  <a:tcPr marL="109728" marR="109728"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100" b="1" dirty="0">
                          <a:solidFill>
                            <a:srgbClr val="065A82"/>
                          </a:solidFill>
                          <a:latin typeface="Calibri" pitchFamily="34" charset="0"/>
                          <a:ea typeface="Calibri" pitchFamily="34" charset="-122"/>
                          <a:cs typeface="Calibri" pitchFamily="34" charset="-120"/>
                        </a:rPr>
                        <a:t>25.7</a:t>
                      </a:r>
                      <a:endParaRPr lang="en-US" sz="1100" dirty="0">
                        <a:latin typeface="Calibri" charset="0"/>
                        <a:ea typeface="Calibri" charset="0"/>
                        <a:cs typeface="Calibri" charset="0"/>
                      </a:endParaRPr>
                    </a:p>
                  </a:txBody>
                  <a:tcPr marL="109728" marR="109728"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100" dirty="0">
                          <a:solidFill>
                            <a:srgbClr val="4F4F4F"/>
                          </a:solidFill>
                          <a:latin typeface="Calibri" pitchFamily="34" charset="0"/>
                          <a:ea typeface="Calibri" pitchFamily="34" charset="-122"/>
                          <a:cs typeface="Calibri" pitchFamily="34" charset="-120"/>
                        </a:rPr>
                        <a:t>23.9</a:t>
                      </a:r>
                      <a:endParaRPr lang="en-US" sz="1100" dirty="0">
                        <a:latin typeface="Calibri" charset="0"/>
                        <a:ea typeface="Calibri" charset="0"/>
                        <a:cs typeface="Calibri" charset="0"/>
                      </a:endParaRPr>
                    </a:p>
                  </a:txBody>
                  <a:tcPr marL="109728" marR="109728"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60 s</a:t>
                      </a:r>
                      <a:endParaRPr lang="en-US" sz="1100" dirty="0">
                        <a:latin typeface="Calibri" charset="0"/>
                        <a:ea typeface="Calibri" charset="0"/>
                        <a:cs typeface="Calibri" charset="0"/>
                      </a:endParaRPr>
                    </a:p>
                  </a:txBody>
                  <a:tcPr marL="109728" marR="109728"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100" b="1" dirty="0">
                          <a:solidFill>
                            <a:srgbClr val="065A82"/>
                          </a:solidFill>
                          <a:latin typeface="Calibri" pitchFamily="34" charset="0"/>
                          <a:ea typeface="Calibri" pitchFamily="34" charset="-122"/>
                          <a:cs typeface="Calibri" pitchFamily="34" charset="-120"/>
                        </a:rPr>
                        <a:t>3.1</a:t>
                      </a:r>
                      <a:endParaRPr lang="en-US" sz="1100" dirty="0">
                        <a:latin typeface="Calibri" charset="0"/>
                        <a:ea typeface="Calibri" charset="0"/>
                        <a:cs typeface="Calibri" charset="0"/>
                      </a:endParaRPr>
                    </a:p>
                  </a:txBody>
                  <a:tcPr marL="109728" marR="109728"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100" dirty="0">
                          <a:solidFill>
                            <a:srgbClr val="4F4F4F"/>
                          </a:solidFill>
                          <a:latin typeface="Calibri" pitchFamily="34" charset="0"/>
                          <a:ea typeface="Calibri" pitchFamily="34" charset="-122"/>
                          <a:cs typeface="Calibri" pitchFamily="34" charset="-120"/>
                        </a:rPr>
                        <a:t>3.1</a:t>
                      </a:r>
                      <a:endParaRPr lang="en-US" sz="1100" dirty="0">
                        <a:latin typeface="Calibri" charset="0"/>
                        <a:ea typeface="Calibri" charset="0"/>
                        <a:cs typeface="Calibri" charset="0"/>
                      </a:endParaRPr>
                    </a:p>
                  </a:txBody>
                  <a:tcPr marL="109728" marR="109728"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100" b="1" dirty="0">
                          <a:solidFill>
                            <a:srgbClr val="065A82"/>
                          </a:solidFill>
                          <a:latin typeface="Calibri" pitchFamily="34" charset="0"/>
                          <a:ea typeface="Calibri" pitchFamily="34" charset="-122"/>
                          <a:cs typeface="Calibri" pitchFamily="34" charset="-120"/>
                        </a:rPr>
                        <a:t>6.8</a:t>
                      </a:r>
                      <a:endParaRPr lang="en-US" sz="1100" dirty="0">
                        <a:latin typeface="Calibri" charset="0"/>
                        <a:ea typeface="Calibri" charset="0"/>
                        <a:cs typeface="Calibri" charset="0"/>
                      </a:endParaRPr>
                    </a:p>
                  </a:txBody>
                  <a:tcPr marL="109728" marR="109728"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100" dirty="0">
                          <a:solidFill>
                            <a:srgbClr val="4F4F4F"/>
                          </a:solidFill>
                          <a:latin typeface="Calibri" pitchFamily="34" charset="0"/>
                          <a:ea typeface="Calibri" pitchFamily="34" charset="-122"/>
                          <a:cs typeface="Calibri" pitchFamily="34" charset="-120"/>
                        </a:rPr>
                        <a:t>9.8</a:t>
                      </a:r>
                      <a:endParaRPr lang="en-US" sz="1100" dirty="0">
                        <a:latin typeface="Calibri" charset="0"/>
                        <a:ea typeface="Calibri" charset="0"/>
                        <a:cs typeface="Calibri" charset="0"/>
                      </a:endParaRPr>
                    </a:p>
                  </a:txBody>
                  <a:tcPr marL="109728" marR="109728"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r>
              <a:tr h="365760">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150 s</a:t>
                      </a:r>
                      <a:endParaRPr lang="en-US" sz="1100" dirty="0">
                        <a:latin typeface="Calibri" charset="0"/>
                        <a:ea typeface="Calibri" charset="0"/>
                        <a:cs typeface="Calibri" charset="0"/>
                      </a:endParaRPr>
                    </a:p>
                  </a:txBody>
                  <a:tcPr marL="109728" marR="109728"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100" b="1" dirty="0">
                          <a:solidFill>
                            <a:srgbClr val="065A82"/>
                          </a:solidFill>
                          <a:latin typeface="Calibri" pitchFamily="34" charset="0"/>
                          <a:ea typeface="Calibri" pitchFamily="34" charset="-122"/>
                          <a:cs typeface="Calibri" pitchFamily="34" charset="-120"/>
                        </a:rPr>
                        <a:t>1.9</a:t>
                      </a:r>
                      <a:endParaRPr lang="en-US" sz="1100" dirty="0">
                        <a:latin typeface="Calibri" charset="0"/>
                        <a:ea typeface="Calibri" charset="0"/>
                        <a:cs typeface="Calibri" charset="0"/>
                      </a:endParaRPr>
                    </a:p>
                  </a:txBody>
                  <a:tcPr marL="109728" marR="109728"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100" dirty="0">
                          <a:solidFill>
                            <a:srgbClr val="4F4F4F"/>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marL="109728" marR="109728"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100" b="1" dirty="0">
                          <a:solidFill>
                            <a:srgbClr val="065A82"/>
                          </a:solidFill>
                          <a:latin typeface="Calibri" pitchFamily="34" charset="0"/>
                          <a:ea typeface="Calibri" pitchFamily="34" charset="-122"/>
                          <a:cs typeface="Calibri" pitchFamily="34" charset="-120"/>
                        </a:rPr>
                        <a:t>4.9</a:t>
                      </a:r>
                      <a:endParaRPr lang="en-US" sz="1100" dirty="0">
                        <a:latin typeface="Calibri" charset="0"/>
                        <a:ea typeface="Calibri" charset="0"/>
                        <a:cs typeface="Calibri" charset="0"/>
                      </a:endParaRPr>
                    </a:p>
                  </a:txBody>
                  <a:tcPr marL="109728" marR="109728"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100" dirty="0">
                          <a:solidFill>
                            <a:srgbClr val="4F4F4F"/>
                          </a:solidFill>
                          <a:latin typeface="Calibri" pitchFamily="34" charset="0"/>
                          <a:ea typeface="Calibri" pitchFamily="34" charset="-122"/>
                          <a:cs typeface="Calibri" pitchFamily="34" charset="-120"/>
                        </a:rPr>
                        <a:t>6.2</a:t>
                      </a:r>
                      <a:endParaRPr lang="en-US" sz="1100" dirty="0">
                        <a:latin typeface="Calibri" charset="0"/>
                        <a:ea typeface="Calibri" charset="0"/>
                        <a:cs typeface="Calibri" charset="0"/>
                      </a:endParaRPr>
                    </a:p>
                  </a:txBody>
                  <a:tcPr marL="109728" marR="109728"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430 s</a:t>
                      </a:r>
                      <a:endParaRPr lang="en-US" sz="1100" dirty="0">
                        <a:latin typeface="Calibri" charset="0"/>
                        <a:ea typeface="Calibri" charset="0"/>
                        <a:cs typeface="Calibri" charset="0"/>
                      </a:endParaRPr>
                    </a:p>
                  </a:txBody>
                  <a:tcPr marL="109728" marR="109728"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100" b="1" dirty="0">
                          <a:solidFill>
                            <a:srgbClr val="065A82"/>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marL="109728" marR="109728"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100" dirty="0">
                          <a:solidFill>
                            <a:srgbClr val="4F4F4F"/>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marL="109728" marR="109728"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100" b="1" dirty="0">
                          <a:solidFill>
                            <a:srgbClr val="065A82"/>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109728" marR="109728"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100" dirty="0">
                          <a:solidFill>
                            <a:srgbClr val="4F4F4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109728" marR="109728"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r>
            </a:tbl>
          </a:graphicData>
        </a:graphic>
      </p:graphicFrame>
      <p:sp>
        <p:nvSpPr>
          <p:cNvPr id="7" name="Text 4"/>
          <p:cNvSpPr/>
          <p:nvPr/>
        </p:nvSpPr>
        <p:spPr>
          <a:xfrm>
            <a:off x="777240" y="4242816"/>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1</a:t>
            </a:r>
            <a:endParaRPr lang="en-US" sz="1300" dirty="0"/>
          </a:p>
        </p:txBody>
      </p:sp>
      <p:sp>
        <p:nvSpPr>
          <p:cNvPr id="8" name="Text 5"/>
          <p:cNvSpPr/>
          <p:nvPr/>
        </p:nvSpPr>
        <p:spPr>
          <a:xfrm>
            <a:off x="1106424" y="4233672"/>
            <a:ext cx="6528816" cy="292608"/>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Unbiased across 430× of window and 10× of load</a:t>
            </a:r>
            <a:endParaRPr lang="en-US" sz="1550" dirty="0"/>
          </a:p>
        </p:txBody>
      </p:sp>
      <p:sp>
        <p:nvSpPr>
          <p:cNvPr id="9" name="Text 6"/>
          <p:cNvSpPr/>
          <p:nvPr/>
        </p:nvSpPr>
        <p:spPr>
          <a:xfrm>
            <a:off x="1106424" y="4572000"/>
            <a:ext cx="6528816" cy="822960"/>
          </a:xfrm>
          <a:prstGeom prst="rect">
            <a:avLst/>
          </a:prstGeom>
          <a:noFill/>
          <a:ln/>
        </p:spPr>
        <p:txBody>
          <a:bodyPr wrap="square" lIns="0" tIns="0" rIns="0" bIns="0" rtlCol="0" anchor="ctr"/>
          <a:lstStyle/>
          <a:p>
            <a:pPr indent="0" marL="0">
              <a:lnSpc>
                <a:spcPct val="124000"/>
              </a:lnSpc>
              <a:buNone/>
            </a:pPr>
            <a:r>
              <a:rPr lang="en-US" sz="1250" dirty="0">
                <a:solidFill>
                  <a:srgbClr val="2E2E2E"/>
                </a:solidFill>
                <a:latin typeface="Calibri" pitchFamily="34" charset="0"/>
                <a:ea typeface="Calibri" pitchFamily="34" charset="-122"/>
                <a:cs typeface="Calibri" pitchFamily="34" charset="-120"/>
              </a:rPr>
              <a:t>Median ratio 0.97 – 1.02 at every window and both loads. Over 3,599 samples the mean reads 205.5 Mbit/s against a true 205.8 — 0.15% out.</a:t>
            </a:r>
            <a:endParaRPr lang="en-US" sz="1250" dirty="0"/>
          </a:p>
        </p:txBody>
      </p:sp>
      <p:sp>
        <p:nvSpPr>
          <p:cNvPr id="10" name="Text 7"/>
          <p:cNvSpPr/>
          <p:nvPr/>
        </p:nvSpPr>
        <p:spPr>
          <a:xfrm>
            <a:off x="777240" y="5285232"/>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2</a:t>
            </a:r>
            <a:endParaRPr lang="en-US" sz="1300" dirty="0"/>
          </a:p>
        </p:txBody>
      </p:sp>
      <p:sp>
        <p:nvSpPr>
          <p:cNvPr id="11" name="Text 8"/>
          <p:cNvSpPr/>
          <p:nvPr/>
        </p:nvSpPr>
        <p:spPr>
          <a:xfrm>
            <a:off x="1106424" y="5276088"/>
            <a:ext cx="6528816" cy="292608"/>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The resolution floor is one sample</a:t>
            </a:r>
            <a:endParaRPr lang="en-US" sz="1550" dirty="0"/>
          </a:p>
        </p:txBody>
      </p:sp>
      <p:sp>
        <p:nvSpPr>
          <p:cNvPr id="12" name="Text 9"/>
          <p:cNvSpPr/>
          <p:nvPr/>
        </p:nvSpPr>
        <p:spPr>
          <a:xfrm>
            <a:off x="1106424" y="5614416"/>
            <a:ext cx="6528816" cy="822960"/>
          </a:xfrm>
          <a:prstGeom prst="rect">
            <a:avLst/>
          </a:prstGeom>
          <a:noFill/>
          <a:ln/>
        </p:spPr>
        <p:txBody>
          <a:bodyPr wrap="square" lIns="0" tIns="0" rIns="0" bIns="0" rtlCol="0" anchor="ctr"/>
          <a:lstStyle/>
          <a:p>
            <a:pPr indent="0" marL="0">
              <a:lnSpc>
                <a:spcPct val="124000"/>
              </a:lnSpc>
              <a:buNone/>
            </a:pPr>
            <a:r>
              <a:rPr lang="en-US" sz="1250" dirty="0">
                <a:solidFill>
                  <a:srgbClr val="2E2E2E"/>
                </a:solidFill>
                <a:latin typeface="Calibri" pitchFamily="34" charset="0"/>
                <a:ea typeface="Calibri" pitchFamily="34" charset="-122"/>
                <a:cs typeface="Calibri" pitchFamily="34" charset="-120"/>
              </a:rPr>
              <a:t>quantum = 256 × frame bytes × 8 — per-flow, not a constant: four runs gave 1490, 1490, 1494, 1506 bytes.</a:t>
            </a:r>
            <a:endParaRPr lang="en-US" sz="1250" dirty="0"/>
          </a:p>
        </p:txBody>
      </p:sp>
      <p:sp>
        <p:nvSpPr>
          <p:cNvPr id="13" name="Shape 10"/>
          <p:cNvSpPr/>
          <p:nvPr/>
        </p:nvSpPr>
        <p:spPr>
          <a:xfrm>
            <a:off x="8001000" y="2121408"/>
            <a:ext cx="27432" cy="1965960"/>
          </a:xfrm>
          <a:prstGeom prst="rect">
            <a:avLst/>
          </a:prstGeom>
          <a:solidFill>
            <a:srgbClr val="065A82"/>
          </a:solidFill>
          <a:ln/>
        </p:spPr>
      </p:sp>
      <p:sp>
        <p:nvSpPr>
          <p:cNvPr id="14" name="Text 11"/>
          <p:cNvSpPr/>
          <p:nvPr/>
        </p:nvSpPr>
        <p:spPr>
          <a:xfrm>
            <a:off x="8202168" y="2084832"/>
            <a:ext cx="3209544" cy="237744"/>
          </a:xfrm>
          <a:prstGeom prst="rect">
            <a:avLst/>
          </a:prstGeom>
          <a:noFill/>
          <a:ln/>
        </p:spPr>
        <p:txBody>
          <a:bodyPr wrap="square" lIns="0" tIns="0" rIns="0" bIns="0" rtlCol="0" anchor="ctr"/>
          <a:lstStyle/>
          <a:p>
            <a:pPr indent="0" marL="0">
              <a:buNone/>
            </a:pPr>
            <a:r>
              <a:rPr lang="en-US" sz="1150" b="1" dirty="0">
                <a:solidFill>
                  <a:srgbClr val="065A82"/>
                </a:solidFill>
                <a:latin typeface="Calibri" pitchFamily="34" charset="0"/>
                <a:ea typeface="Calibri" pitchFamily="34" charset="-122"/>
                <a:cs typeface="Calibri" pitchFamily="34" charset="-120"/>
              </a:rPr>
              <a:t>The sentence that survives questioning</a:t>
            </a:r>
            <a:endParaRPr lang="en-US" sz="1150" dirty="0"/>
          </a:p>
        </p:txBody>
      </p:sp>
      <p:sp>
        <p:nvSpPr>
          <p:cNvPr id="15" name="Text 12"/>
          <p:cNvSpPr/>
          <p:nvPr/>
        </p:nvSpPr>
        <p:spPr>
          <a:xfrm>
            <a:off x="8202168" y="2359152"/>
            <a:ext cx="3209544" cy="1691640"/>
          </a:xfrm>
          <a:prstGeom prst="rect">
            <a:avLst/>
          </a:prstGeom>
          <a:noFill/>
          <a:ln/>
        </p:spPr>
        <p:txBody>
          <a:bodyPr wrap="square" lIns="0" tIns="0" rIns="0" bIns="0" rtlCol="0" anchor="ctr"/>
          <a:lstStyle/>
          <a:p>
            <a:pPr indent="0" marL="0">
              <a:lnSpc>
                <a:spcPct val="120000"/>
              </a:lnSpc>
              <a:buNone/>
            </a:pPr>
            <a:r>
              <a:rPr lang="en-US" sz="1100" dirty="0">
                <a:solidFill>
                  <a:srgbClr val="2E2E2E"/>
                </a:solidFill>
                <a:latin typeface="Calibri" pitchFamily="34" charset="0"/>
                <a:ea typeface="Calibri" pitchFamily="34" charset="-122"/>
                <a:cs typeface="Calibri" pitchFamily="34" charset="-120"/>
              </a:rPr>
              <a:t>Not "we are accurate to X%" — that number does not exist. The same instrument is ±21% at a one-second window and ±1.2% at 430 s. What can be claimed is: unbiased, with precision set by sample count, exactly as sampling theory predicts [1].</a:t>
            </a:r>
            <a:endParaRPr lang="en-US" sz="1100" dirty="0"/>
          </a:p>
        </p:txBody>
      </p:sp>
      <p:sp>
        <p:nvSpPr>
          <p:cNvPr id="16" name="Shape 13"/>
          <p:cNvSpPr/>
          <p:nvPr/>
        </p:nvSpPr>
        <p:spPr>
          <a:xfrm>
            <a:off x="8001000" y="4334256"/>
            <a:ext cx="27432" cy="1965960"/>
          </a:xfrm>
          <a:prstGeom prst="rect">
            <a:avLst/>
          </a:prstGeom>
          <a:solidFill>
            <a:srgbClr val="065A82"/>
          </a:solidFill>
          <a:ln/>
        </p:spPr>
      </p:sp>
      <p:sp>
        <p:nvSpPr>
          <p:cNvPr id="17" name="Text 14"/>
          <p:cNvSpPr/>
          <p:nvPr/>
        </p:nvSpPr>
        <p:spPr>
          <a:xfrm>
            <a:off x="8202168" y="4297680"/>
            <a:ext cx="3209544" cy="237744"/>
          </a:xfrm>
          <a:prstGeom prst="rect">
            <a:avLst/>
          </a:prstGeom>
          <a:noFill/>
          <a:ln/>
        </p:spPr>
        <p:txBody>
          <a:bodyPr wrap="square" lIns="0" tIns="0" rIns="0" bIns="0" rtlCol="0" anchor="ctr"/>
          <a:lstStyle/>
          <a:p>
            <a:pPr indent="0" marL="0">
              <a:buNone/>
            </a:pPr>
            <a:r>
              <a:rPr lang="en-US" sz="1150" b="1" dirty="0">
                <a:solidFill>
                  <a:srgbClr val="065A82"/>
                </a:solidFill>
                <a:latin typeface="Calibri" pitchFamily="34" charset="0"/>
                <a:ea typeface="Calibri" pitchFamily="34" charset="-122"/>
                <a:cs typeface="Calibri" pitchFamily="34" charset="-120"/>
              </a:rPr>
              <a:t>Where it stops working</a:t>
            </a:r>
            <a:endParaRPr lang="en-US" sz="1150" dirty="0"/>
          </a:p>
        </p:txBody>
      </p:sp>
      <p:sp>
        <p:nvSpPr>
          <p:cNvPr id="18" name="Text 15"/>
          <p:cNvSpPr/>
          <p:nvPr/>
        </p:nvSpPr>
        <p:spPr>
          <a:xfrm>
            <a:off x="8202168" y="4572000"/>
            <a:ext cx="3209544" cy="1691640"/>
          </a:xfrm>
          <a:prstGeom prst="rect">
            <a:avLst/>
          </a:prstGeom>
          <a:noFill/>
          <a:ln/>
        </p:spPr>
        <p:txBody>
          <a:bodyPr wrap="square" lIns="0" tIns="0" rIns="0" bIns="0" rtlCol="0" anchor="ctr"/>
          <a:lstStyle/>
          <a:p>
            <a:pPr indent="0" marL="0">
              <a:lnSpc>
                <a:spcPct val="120000"/>
              </a:lnSpc>
              <a:buNone/>
            </a:pPr>
            <a:r>
              <a:rPr lang="en-US" sz="1100" dirty="0">
                <a:solidFill>
                  <a:srgbClr val="2E2E2E"/>
                </a:solidFill>
                <a:latin typeface="Calibri" pitchFamily="34" charset="0"/>
                <a:ea typeface="Calibri" pitchFamily="34" charset="-122"/>
                <a:cs typeface="Calibri" pitchFamily="34" charset="-120"/>
              </a:rPr>
              <a:t>On a 1 Gbps link a flow below about 3 Mbit/s is invisible and utilization_percent moves in 0.31% steps. A single one-second reading at 20 Mbit/s ranged from 0.15× to 2.38× of truth. And the four-host OVS cell has no sFlow configured at all: it reads zero, with status success.</a:t>
            </a:r>
            <a:endParaRPr lang="en-US" sz="1100" dirty="0"/>
          </a:p>
        </p:txBody>
      </p:sp>
      <p:sp>
        <p:nvSpPr>
          <p:cNvPr id="19" name="Text 16"/>
          <p:cNvSpPr/>
          <p:nvPr/>
        </p:nvSpPr>
        <p:spPr>
          <a:xfrm>
            <a:off x="777240" y="6364224"/>
            <a:ext cx="9951415" cy="256032"/>
          </a:xfrm>
          <a:prstGeom prst="rect">
            <a:avLst/>
          </a:prstGeom>
          <a:noFill/>
          <a:ln/>
        </p:spPr>
        <p:txBody>
          <a:bodyPr wrap="square" lIns="0" tIns="0" rIns="0" bIns="0" rtlCol="0" anchor="ctr"/>
          <a:lstStyle/>
          <a:p>
            <a:pPr indent="0" marL="0">
              <a:buNone/>
            </a:pPr>
            <a:r>
              <a:rPr lang="en-US" sz="1000" dirty="0">
                <a:solidFill>
                  <a:srgbClr val="4F4F4F"/>
                </a:solidFill>
                <a:latin typeface="Calibri" pitchFamily="34" charset="0"/>
                <a:ea typeface="Calibri" pitchFamily="34" charset="-122"/>
                <a:cs typeface="Calibri" pitchFamily="34" charset="-120"/>
              </a:rPr>
              <a:t>Measured at 04b8933 on the OVS 128-host topology, one fixed-rate UDP flow, no other traffic.</a:t>
            </a:r>
            <a:endParaRPr lang="en-US" sz="1000" dirty="0"/>
          </a:p>
        </p:txBody>
      </p:sp>
      <p:sp>
        <p:nvSpPr>
          <p:cNvPr id="20" name="Text 17"/>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33</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56032"/>
            <a:ext cx="5486400" cy="237744"/>
          </a:xfrm>
          <a:prstGeom prst="rect">
            <a:avLst/>
          </a:prstGeom>
          <a:noFill/>
          <a:ln/>
        </p:spPr>
        <p:txBody>
          <a:bodyPr wrap="square" lIns="0" tIns="0" rIns="0" bIns="0" rtlCol="0" anchor="ctr"/>
          <a:lstStyle/>
          <a:p>
            <a:pPr indent="0" marL="0">
              <a:buNone/>
            </a:pPr>
            <a:r>
              <a:rPr lang="en-US" sz="1050" b="1" spc="100" kern="0" dirty="0">
                <a:solidFill>
                  <a:srgbClr val="065A82"/>
                </a:solidFill>
                <a:latin typeface="Calibri" pitchFamily="34" charset="0"/>
                <a:ea typeface="Calibri" pitchFamily="34" charset="-122"/>
                <a:cs typeface="Calibri" pitchFamily="34" charset="-120"/>
              </a:rPr>
              <a:t>3 · MEASURED RESULTS</a:t>
            </a:r>
            <a:endParaRPr lang="en-US" sz="1050" dirty="0"/>
          </a:p>
        </p:txBody>
      </p:sp>
      <p:pic>
        <p:nvPicPr>
          <p:cNvPr id="3" name="Image 0" descr="/sessions/hopeful-sharp-hopper/mnt/NDTwin Slide material/figures/page39_quantisation-ladder.png">    </p:cNvPr>
          <p:cNvPicPr>
            <a:picLocks noChangeAspect="1"/>
          </p:cNvPicPr>
          <p:nvPr/>
        </p:nvPicPr>
        <p:blipFill>
          <a:blip r:embed="rId1"/>
          <a:stretch>
            <a:fillRect/>
          </a:stretch>
        </p:blipFill>
        <p:spPr>
          <a:xfrm>
            <a:off x="1162477" y="896112"/>
            <a:ext cx="9866742" cy="5138928"/>
          </a:xfrm>
          <a:prstGeom prst="rect">
            <a:avLst/>
          </a:prstGeom>
        </p:spPr>
      </p:pic>
      <p:sp>
        <p:nvSpPr>
          <p:cNvPr id="4" name="Text 1"/>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34</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56032"/>
            <a:ext cx="5486400" cy="237744"/>
          </a:xfrm>
          <a:prstGeom prst="rect">
            <a:avLst/>
          </a:prstGeom>
          <a:noFill/>
          <a:ln/>
        </p:spPr>
        <p:txBody>
          <a:bodyPr wrap="square" lIns="0" tIns="0" rIns="0" bIns="0" rtlCol="0" anchor="ctr"/>
          <a:lstStyle/>
          <a:p>
            <a:pPr indent="0" marL="0">
              <a:buNone/>
            </a:pPr>
            <a:r>
              <a:rPr lang="en-US" sz="1050" b="1" spc="100" kern="0" dirty="0">
                <a:solidFill>
                  <a:srgbClr val="065A82"/>
                </a:solidFill>
                <a:latin typeface="Calibri" pitchFamily="34" charset="0"/>
                <a:ea typeface="Calibri" pitchFamily="34" charset="-122"/>
                <a:cs typeface="Calibri" pitchFamily="34" charset="-120"/>
              </a:rPr>
              <a:t>3 · MEASURED RESULTS</a:t>
            </a:r>
            <a:endParaRPr lang="en-US" sz="1050" dirty="0"/>
          </a:p>
        </p:txBody>
      </p:sp>
      <p:sp>
        <p:nvSpPr>
          <p:cNvPr id="3" name="Text 1"/>
          <p:cNvSpPr/>
          <p:nvPr/>
        </p:nvSpPr>
        <p:spPr>
          <a:xfrm>
            <a:off x="777240" y="566928"/>
            <a:ext cx="10637215" cy="621792"/>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Synthesised telemetry against native</a:t>
            </a:r>
            <a:endParaRPr lang="en-US" sz="3000" dirty="0"/>
          </a:p>
        </p:txBody>
      </p:sp>
      <p:sp>
        <p:nvSpPr>
          <p:cNvPr id="4" name="Text 2"/>
          <p:cNvSpPr/>
          <p:nvPr/>
        </p:nvSpPr>
        <p:spPr>
          <a:xfrm>
            <a:off x="777240" y="1207008"/>
            <a:ext cx="10637215" cy="347472"/>
          </a:xfrm>
          <a:prstGeom prst="rect">
            <a:avLst/>
          </a:prstGeom>
          <a:noFill/>
          <a:ln/>
        </p:spPr>
        <p:txBody>
          <a:bodyPr wrap="square" lIns="0" tIns="0" rIns="0" bIns="0" rtlCol="0" anchor="ctr"/>
          <a:lstStyle/>
          <a:p>
            <a:pPr indent="0" marL="0">
              <a:buNone/>
            </a:pPr>
            <a:r>
              <a:rPr lang="en-US" sz="1400" dirty="0">
                <a:solidFill>
                  <a:srgbClr val="4F4F4F"/>
                </a:solidFill>
                <a:latin typeface="Calibri" pitchFamily="34" charset="0"/>
                <a:ea typeface="Calibri" pitchFamily="34" charset="-122"/>
                <a:cs typeface="Calibri" pitchFamily="34" charset="-120"/>
              </a:rPr>
              <a:t>bmv2 emits no sFlow of its own, so the proxy manufactures it — this measures whether a manufactured sample is as good as a real one</a:t>
            </a:r>
            <a:endParaRPr lang="en-US" sz="1400" dirty="0"/>
          </a:p>
        </p:txBody>
      </p:sp>
      <p:sp>
        <p:nvSpPr>
          <p:cNvPr id="5" name="Shape 3"/>
          <p:cNvSpPr/>
          <p:nvPr/>
        </p:nvSpPr>
        <p:spPr>
          <a:xfrm>
            <a:off x="777240" y="1700784"/>
            <a:ext cx="10637215" cy="9144"/>
          </a:xfrm>
          <a:prstGeom prst="line">
            <a:avLst/>
          </a:prstGeom>
          <a:noFill/>
          <a:ln w="12700">
            <a:solidFill>
              <a:srgbClr val="D0D0D0"/>
            </a:solidFill>
            <a:prstDash val="solid"/>
          </a:ln>
        </p:spPr>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777240" y="2103120"/>
          <a:ext cx="6720840" cy="914400"/>
        </p:xfrm>
        <a:graphic>
          <a:graphicData uri="http://schemas.openxmlformats.org/drawingml/2006/table">
            <a:tbl>
              <a:tblPr/>
              <a:tblGrid>
                <a:gridCol w="960120"/>
                <a:gridCol w="1234440"/>
                <a:gridCol w="1280160"/>
                <a:gridCol w="1097280"/>
                <a:gridCol w="1143000"/>
                <a:gridCol w="1005840"/>
              </a:tblGrid>
              <a:tr h="310896">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Window</a:t>
                      </a:r>
                      <a:endParaRPr lang="en-US" sz="10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065A8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P4 median</a:t>
                      </a:r>
                      <a:endParaRPr lang="en-US" sz="10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065A8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OVS median</a:t>
                      </a:r>
                      <a:endParaRPr lang="en-US" sz="10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065A8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P4  ±%</a:t>
                      </a:r>
                      <a:endParaRPr lang="en-US" sz="10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065A8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OVS  ±%</a:t>
                      </a:r>
                      <a:endParaRPr lang="en-US" sz="10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065A8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theory</a:t>
                      </a:r>
                      <a:endParaRPr lang="en-US" sz="105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065A82"/>
                    </a:solidFill>
                  </a:tcPr>
                </a:tc>
              </a:tr>
              <a:tr h="329184">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1 s</a:t>
                      </a:r>
                      <a:endParaRPr lang="en-US" sz="11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100" b="1" dirty="0">
                          <a:solidFill>
                            <a:srgbClr val="065A82"/>
                          </a:solidFill>
                          <a:latin typeface="Calibri" pitchFamily="34" charset="0"/>
                          <a:ea typeface="Calibri" pitchFamily="34" charset="-122"/>
                          <a:cs typeface="Calibri" pitchFamily="34" charset="-120"/>
                        </a:rPr>
                        <a:t>0.965</a:t>
                      </a:r>
                      <a:endParaRPr lang="en-US" sz="11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100" dirty="0">
                          <a:solidFill>
                            <a:srgbClr val="2E2E2E"/>
                          </a:solidFill>
                          <a:latin typeface="Calibri" pitchFamily="34" charset="0"/>
                          <a:ea typeface="Calibri" pitchFamily="34" charset="-122"/>
                          <a:cs typeface="Calibri" pitchFamily="34" charset="-120"/>
                        </a:rPr>
                        <a:t>0.966</a:t>
                      </a:r>
                      <a:endParaRPr lang="en-US" sz="11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100" b="1" dirty="0">
                          <a:solidFill>
                            <a:srgbClr val="065A82"/>
                          </a:solidFill>
                          <a:latin typeface="Calibri" pitchFamily="34" charset="0"/>
                          <a:ea typeface="Calibri" pitchFamily="34" charset="-122"/>
                          <a:cs typeface="Calibri" pitchFamily="34" charset="-120"/>
                        </a:rPr>
                        <a:t>54.6</a:t>
                      </a:r>
                      <a:endParaRPr lang="en-US" sz="11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100" dirty="0">
                          <a:solidFill>
                            <a:srgbClr val="2E2E2E"/>
                          </a:solidFill>
                          <a:latin typeface="Calibri" pitchFamily="34" charset="0"/>
                          <a:ea typeface="Calibri" pitchFamily="34" charset="-122"/>
                          <a:cs typeface="Calibri" pitchFamily="34" charset="-120"/>
                        </a:rPr>
                        <a:t>70.9</a:t>
                      </a:r>
                      <a:endParaRPr lang="en-US" sz="11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100" dirty="0">
                          <a:solidFill>
                            <a:srgbClr val="4F4F4F"/>
                          </a:solidFill>
                          <a:latin typeface="Calibri" pitchFamily="34" charset="0"/>
                          <a:ea typeface="Calibri" pitchFamily="34" charset="-122"/>
                          <a:cs typeface="Calibri" pitchFamily="34" charset="-120"/>
                        </a:rPr>
                        <a:t>75.5</a:t>
                      </a:r>
                      <a:endParaRPr lang="en-US" sz="11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r>
              <a:tr h="329184">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2 s</a:t>
                      </a:r>
                      <a:endParaRPr lang="en-US" sz="11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100" b="1" dirty="0">
                          <a:solidFill>
                            <a:srgbClr val="065A82"/>
                          </a:solidFill>
                          <a:latin typeface="Calibri" pitchFamily="34" charset="0"/>
                          <a:ea typeface="Calibri" pitchFamily="34" charset="-122"/>
                          <a:cs typeface="Calibri" pitchFamily="34" charset="-120"/>
                        </a:rPr>
                        <a:t>1.001</a:t>
                      </a:r>
                      <a:endParaRPr lang="en-US" sz="11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100" dirty="0">
                          <a:solidFill>
                            <a:srgbClr val="2E2E2E"/>
                          </a:solidFill>
                          <a:latin typeface="Calibri" pitchFamily="34" charset="0"/>
                          <a:ea typeface="Calibri" pitchFamily="34" charset="-122"/>
                          <a:cs typeface="Calibri" pitchFamily="34" charset="-120"/>
                        </a:rPr>
                        <a:t>0.967</a:t>
                      </a:r>
                      <a:endParaRPr lang="en-US" sz="11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100" b="1" dirty="0">
                          <a:solidFill>
                            <a:srgbClr val="065A82"/>
                          </a:solidFill>
                          <a:latin typeface="Calibri" pitchFamily="34" charset="0"/>
                          <a:ea typeface="Calibri" pitchFamily="34" charset="-122"/>
                          <a:cs typeface="Calibri" pitchFamily="34" charset="-120"/>
                        </a:rPr>
                        <a:t>47.5</a:t>
                      </a:r>
                      <a:endParaRPr lang="en-US" sz="11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100" dirty="0">
                          <a:solidFill>
                            <a:srgbClr val="2E2E2E"/>
                          </a:solidFill>
                          <a:latin typeface="Calibri" pitchFamily="34" charset="0"/>
                          <a:ea typeface="Calibri" pitchFamily="34" charset="-122"/>
                          <a:cs typeface="Calibri" pitchFamily="34" charset="-120"/>
                        </a:rPr>
                        <a:t>51.3</a:t>
                      </a:r>
                      <a:endParaRPr lang="en-US" sz="11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100" dirty="0">
                          <a:solidFill>
                            <a:srgbClr val="4F4F4F"/>
                          </a:solidFill>
                          <a:latin typeface="Calibri" pitchFamily="34" charset="0"/>
                          <a:ea typeface="Calibri" pitchFamily="34" charset="-122"/>
                          <a:cs typeface="Calibri" pitchFamily="34" charset="-120"/>
                        </a:rPr>
                        <a:t>53.4</a:t>
                      </a:r>
                      <a:endParaRPr lang="en-US" sz="11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5 s</a:t>
                      </a:r>
                      <a:endParaRPr lang="en-US" sz="11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100" b="1" dirty="0">
                          <a:solidFill>
                            <a:srgbClr val="065A82"/>
                          </a:solidFill>
                          <a:latin typeface="Calibri" pitchFamily="34" charset="0"/>
                          <a:ea typeface="Calibri" pitchFamily="34" charset="-122"/>
                          <a:cs typeface="Calibri" pitchFamily="34" charset="-120"/>
                        </a:rPr>
                        <a:t>1.008</a:t>
                      </a:r>
                      <a:endParaRPr lang="en-US" sz="11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100" dirty="0">
                          <a:solidFill>
                            <a:srgbClr val="2E2E2E"/>
                          </a:solidFill>
                          <a:latin typeface="Calibri" pitchFamily="34" charset="0"/>
                          <a:ea typeface="Calibri" pitchFamily="34" charset="-122"/>
                          <a:cs typeface="Calibri" pitchFamily="34" charset="-120"/>
                        </a:rPr>
                        <a:t>0.989</a:t>
                      </a:r>
                      <a:endParaRPr lang="en-US" sz="11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100" b="1" dirty="0">
                          <a:solidFill>
                            <a:srgbClr val="065A82"/>
                          </a:solidFill>
                          <a:latin typeface="Calibri" pitchFamily="34" charset="0"/>
                          <a:ea typeface="Calibri" pitchFamily="34" charset="-122"/>
                          <a:cs typeface="Calibri" pitchFamily="34" charset="-120"/>
                        </a:rPr>
                        <a:t>29.6</a:t>
                      </a:r>
                      <a:endParaRPr lang="en-US" sz="11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100" dirty="0">
                          <a:solidFill>
                            <a:srgbClr val="2E2E2E"/>
                          </a:solidFill>
                          <a:latin typeface="Calibri" pitchFamily="34" charset="0"/>
                          <a:ea typeface="Calibri" pitchFamily="34" charset="-122"/>
                          <a:cs typeface="Calibri" pitchFamily="34" charset="-120"/>
                        </a:rPr>
                        <a:t>35.0</a:t>
                      </a:r>
                      <a:endParaRPr lang="en-US" sz="11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100" dirty="0">
                          <a:solidFill>
                            <a:srgbClr val="4F4F4F"/>
                          </a:solidFill>
                          <a:latin typeface="Calibri" pitchFamily="34" charset="0"/>
                          <a:ea typeface="Calibri" pitchFamily="34" charset="-122"/>
                          <a:cs typeface="Calibri" pitchFamily="34" charset="-120"/>
                        </a:rPr>
                        <a:t>33.8</a:t>
                      </a:r>
                      <a:endParaRPr lang="en-US" sz="11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r>
              <a:tr h="329184">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10 s</a:t>
                      </a:r>
                      <a:endParaRPr lang="en-US" sz="11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100" b="1" dirty="0">
                          <a:solidFill>
                            <a:srgbClr val="065A82"/>
                          </a:solidFill>
                          <a:latin typeface="Calibri" pitchFamily="34" charset="0"/>
                          <a:ea typeface="Calibri" pitchFamily="34" charset="-122"/>
                          <a:cs typeface="Calibri" pitchFamily="34" charset="-120"/>
                        </a:rPr>
                        <a:t>1.016</a:t>
                      </a:r>
                      <a:endParaRPr lang="en-US" sz="11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100" dirty="0">
                          <a:solidFill>
                            <a:srgbClr val="2E2E2E"/>
                          </a:solidFill>
                          <a:latin typeface="Calibri" pitchFamily="34" charset="0"/>
                          <a:ea typeface="Calibri" pitchFamily="34" charset="-122"/>
                          <a:cs typeface="Calibri" pitchFamily="34" charset="-120"/>
                        </a:rPr>
                        <a:t>1.022</a:t>
                      </a:r>
                      <a:endParaRPr lang="en-US" sz="11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100" b="1" dirty="0">
                          <a:solidFill>
                            <a:srgbClr val="065A82"/>
                          </a:solidFill>
                          <a:latin typeface="Calibri" pitchFamily="34" charset="0"/>
                          <a:ea typeface="Calibri" pitchFamily="34" charset="-122"/>
                          <a:cs typeface="Calibri" pitchFamily="34" charset="-120"/>
                        </a:rPr>
                        <a:t>20.1</a:t>
                      </a:r>
                      <a:endParaRPr lang="en-US" sz="11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100" dirty="0">
                          <a:solidFill>
                            <a:srgbClr val="2E2E2E"/>
                          </a:solidFill>
                          <a:latin typeface="Calibri" pitchFamily="34" charset="0"/>
                          <a:ea typeface="Calibri" pitchFamily="34" charset="-122"/>
                          <a:cs typeface="Calibri" pitchFamily="34" charset="-120"/>
                        </a:rPr>
                        <a:t>25.7</a:t>
                      </a:r>
                      <a:endParaRPr lang="en-US" sz="11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100" dirty="0">
                          <a:solidFill>
                            <a:srgbClr val="4F4F4F"/>
                          </a:solidFill>
                          <a:latin typeface="Calibri" pitchFamily="34" charset="0"/>
                          <a:ea typeface="Calibri" pitchFamily="34" charset="-122"/>
                          <a:cs typeface="Calibri" pitchFamily="34" charset="-120"/>
                        </a:rPr>
                        <a:t>23.9</a:t>
                      </a:r>
                      <a:endParaRPr lang="en-US" sz="11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30 s</a:t>
                      </a:r>
                      <a:endParaRPr lang="en-US" sz="11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100" b="1" dirty="0">
                          <a:solidFill>
                            <a:srgbClr val="065A82"/>
                          </a:solidFill>
                          <a:latin typeface="Calibri" pitchFamily="34" charset="0"/>
                          <a:ea typeface="Calibri" pitchFamily="34" charset="-122"/>
                          <a:cs typeface="Calibri" pitchFamily="34" charset="-120"/>
                        </a:rPr>
                        <a:t>1.008</a:t>
                      </a:r>
                      <a:endParaRPr lang="en-US" sz="11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100" dirty="0">
                          <a:solidFill>
                            <a:srgbClr val="2E2E2E"/>
                          </a:solidFill>
                          <a:latin typeface="Calibri" pitchFamily="34" charset="0"/>
                          <a:ea typeface="Calibri" pitchFamily="34" charset="-122"/>
                          <a:cs typeface="Calibri" pitchFamily="34" charset="-120"/>
                        </a:rPr>
                        <a:t>0.990</a:t>
                      </a:r>
                      <a:endParaRPr lang="en-US" sz="11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100" b="1" dirty="0">
                          <a:solidFill>
                            <a:srgbClr val="065A82"/>
                          </a:solidFill>
                          <a:latin typeface="Calibri" pitchFamily="34" charset="0"/>
                          <a:ea typeface="Calibri" pitchFamily="34" charset="-122"/>
                          <a:cs typeface="Calibri" pitchFamily="34" charset="-120"/>
                        </a:rPr>
                        <a:t>8.8</a:t>
                      </a:r>
                      <a:endParaRPr lang="en-US" sz="11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100" dirty="0">
                          <a:solidFill>
                            <a:srgbClr val="2E2E2E"/>
                          </a:solidFill>
                          <a:latin typeface="Calibri" pitchFamily="34" charset="0"/>
                          <a:ea typeface="Calibri" pitchFamily="34" charset="-122"/>
                          <a:cs typeface="Calibri" pitchFamily="34" charset="-120"/>
                        </a:rPr>
                        <a:t>11.8</a:t>
                      </a:r>
                      <a:endParaRPr lang="en-US" sz="11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c>
                  <a:txBody>
                    <a:bodyPr/>
                    <a:lstStyle/>
                    <a:p>
                      <a:pPr indent="0" marL="0">
                        <a:buNone/>
                      </a:pPr>
                      <a:r>
                        <a:rPr lang="en-US" sz="1100" dirty="0">
                          <a:solidFill>
                            <a:srgbClr val="4F4F4F"/>
                          </a:solidFill>
                          <a:latin typeface="Calibri" pitchFamily="34" charset="0"/>
                          <a:ea typeface="Calibri" pitchFamily="34" charset="-122"/>
                          <a:cs typeface="Calibri" pitchFamily="34" charset="-120"/>
                        </a:rPr>
                        <a:t>13.8</a:t>
                      </a:r>
                      <a:endParaRPr lang="en-US" sz="11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7F9FA"/>
                    </a:solidFill>
                  </a:tcPr>
                </a:tc>
              </a:tr>
              <a:tr h="329184">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60 s</a:t>
                      </a:r>
                      <a:endParaRPr lang="en-US" sz="11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100" b="1" dirty="0">
                          <a:solidFill>
                            <a:srgbClr val="065A82"/>
                          </a:solidFill>
                          <a:latin typeface="Calibri" pitchFamily="34" charset="0"/>
                          <a:ea typeface="Calibri" pitchFamily="34" charset="-122"/>
                          <a:cs typeface="Calibri" pitchFamily="34" charset="-120"/>
                        </a:rPr>
                        <a:t>1.003</a:t>
                      </a:r>
                      <a:endParaRPr lang="en-US" sz="11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100" dirty="0">
                          <a:solidFill>
                            <a:srgbClr val="2E2E2E"/>
                          </a:solidFill>
                          <a:latin typeface="Calibri" pitchFamily="34" charset="0"/>
                          <a:ea typeface="Calibri" pitchFamily="34" charset="-122"/>
                          <a:cs typeface="Calibri" pitchFamily="34" charset="-120"/>
                        </a:rPr>
                        <a:t>1.007</a:t>
                      </a:r>
                      <a:endParaRPr lang="en-US" sz="11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100" b="1" dirty="0">
                          <a:solidFill>
                            <a:srgbClr val="065A82"/>
                          </a:solidFill>
                          <a:latin typeface="Calibri" pitchFamily="34" charset="0"/>
                          <a:ea typeface="Calibri" pitchFamily="34" charset="-122"/>
                          <a:cs typeface="Calibri" pitchFamily="34" charset="-120"/>
                        </a:rPr>
                        <a:t>6.3</a:t>
                      </a:r>
                      <a:endParaRPr lang="en-US" sz="11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100" dirty="0">
                          <a:solidFill>
                            <a:srgbClr val="2E2E2E"/>
                          </a:solidFill>
                          <a:latin typeface="Calibri" pitchFamily="34" charset="0"/>
                          <a:ea typeface="Calibri" pitchFamily="34" charset="-122"/>
                          <a:cs typeface="Calibri" pitchFamily="34" charset="-120"/>
                        </a:rPr>
                        <a:t>6.8</a:t>
                      </a:r>
                      <a:endParaRPr lang="en-US" sz="11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100" dirty="0">
                          <a:solidFill>
                            <a:srgbClr val="4F4F4F"/>
                          </a:solidFill>
                          <a:latin typeface="Calibri" pitchFamily="34" charset="0"/>
                          <a:ea typeface="Calibri" pitchFamily="34" charset="-122"/>
                          <a:cs typeface="Calibri" pitchFamily="34" charset="-120"/>
                        </a:rPr>
                        <a:t>9.7</a:t>
                      </a:r>
                      <a:endParaRPr lang="en-US" sz="1100" dirty="0">
                        <a:latin typeface="Calibri" charset="0"/>
                        <a:ea typeface="Calibri" charset="0"/>
                        <a:cs typeface="Calibri" charset="0"/>
                      </a:endParaRPr>
                    </a:p>
                  </a:txBody>
                  <a:tcPr marL="91440" marR="91440" marT="45720" marB="45720" anchor="ctr">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r>
            </a:tbl>
          </a:graphicData>
        </a:graphic>
      </p:graphicFrame>
      <p:sp>
        <p:nvSpPr>
          <p:cNvPr id="7" name="Text 4"/>
          <p:cNvSpPr/>
          <p:nvPr/>
        </p:nvSpPr>
        <p:spPr>
          <a:xfrm>
            <a:off x="777240" y="4517136"/>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1</a:t>
            </a:r>
            <a:endParaRPr lang="en-US" sz="1300" dirty="0"/>
          </a:p>
        </p:txBody>
      </p:sp>
      <p:sp>
        <p:nvSpPr>
          <p:cNvPr id="8" name="Text 5"/>
          <p:cNvSpPr/>
          <p:nvPr/>
        </p:nvSpPr>
        <p:spPr>
          <a:xfrm>
            <a:off x="1106424" y="4507992"/>
            <a:ext cx="6528816" cy="292608"/>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Synthesised is as unbiased as native</a:t>
            </a:r>
            <a:endParaRPr lang="en-US" sz="1550" dirty="0"/>
          </a:p>
        </p:txBody>
      </p:sp>
      <p:sp>
        <p:nvSpPr>
          <p:cNvPr id="9" name="Text 6"/>
          <p:cNvSpPr/>
          <p:nvPr/>
        </p:nvSpPr>
        <p:spPr>
          <a:xfrm>
            <a:off x="1106424" y="4846320"/>
            <a:ext cx="6528816" cy="822960"/>
          </a:xfrm>
          <a:prstGeom prst="rect">
            <a:avLst/>
          </a:prstGeom>
          <a:noFill/>
          <a:ln/>
        </p:spPr>
        <p:txBody>
          <a:bodyPr wrap="square" lIns="0" tIns="0" rIns="0" bIns="0" rtlCol="0" anchor="ctr"/>
          <a:lstStyle/>
          <a:p>
            <a:pPr indent="0" marL="0">
              <a:lnSpc>
                <a:spcPct val="124000"/>
              </a:lnSpc>
              <a:buNone/>
            </a:pPr>
            <a:r>
              <a:rPr lang="en-US" sz="1250" dirty="0">
                <a:solidFill>
                  <a:srgbClr val="2E2E2E"/>
                </a:solidFill>
                <a:latin typeface="Calibri" pitchFamily="34" charset="0"/>
                <a:ea typeface="Calibri" pitchFamily="34" charset="-122"/>
                <a:cs typeface="Calibri" pitchFamily="34" charset="-120"/>
              </a:rPr>
              <a:t>Median ratio 0.97 – 1.02 at every window on both planes, each against its own measured ground truth of 20.6 Mbit/s. Both sample at 1-in-256, so the theory column is shared.</a:t>
            </a:r>
            <a:endParaRPr lang="en-US" sz="1250" dirty="0"/>
          </a:p>
        </p:txBody>
      </p:sp>
      <p:sp>
        <p:nvSpPr>
          <p:cNvPr id="10" name="Text 7"/>
          <p:cNvSpPr/>
          <p:nvPr/>
        </p:nvSpPr>
        <p:spPr>
          <a:xfrm>
            <a:off x="777240" y="5522976"/>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2</a:t>
            </a:r>
            <a:endParaRPr lang="en-US" sz="1300" dirty="0"/>
          </a:p>
        </p:txBody>
      </p:sp>
      <p:sp>
        <p:nvSpPr>
          <p:cNvPr id="11" name="Text 8"/>
          <p:cNvSpPr/>
          <p:nvPr/>
        </p:nvSpPr>
        <p:spPr>
          <a:xfrm>
            <a:off x="1106424" y="5513832"/>
            <a:ext cx="6528816" cy="292608"/>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And it adds no error of its own</a:t>
            </a:r>
            <a:endParaRPr lang="en-US" sz="1550" dirty="0"/>
          </a:p>
        </p:txBody>
      </p:sp>
      <p:sp>
        <p:nvSpPr>
          <p:cNvPr id="12" name="Text 9"/>
          <p:cNvSpPr/>
          <p:nvPr/>
        </p:nvSpPr>
        <p:spPr>
          <a:xfrm>
            <a:off x="1106424" y="5852160"/>
            <a:ext cx="6528816" cy="822960"/>
          </a:xfrm>
          <a:prstGeom prst="rect">
            <a:avLst/>
          </a:prstGeom>
          <a:noFill/>
          <a:ln/>
        </p:spPr>
        <p:txBody>
          <a:bodyPr wrap="square" lIns="0" tIns="0" rIns="0" bIns="0" rtlCol="0" anchor="ctr"/>
          <a:lstStyle/>
          <a:p>
            <a:pPr indent="0" marL="0">
              <a:lnSpc>
                <a:spcPct val="124000"/>
              </a:lnSpc>
              <a:buNone/>
            </a:pPr>
            <a:r>
              <a:rPr lang="en-US" sz="1250" dirty="0">
                <a:solidFill>
                  <a:srgbClr val="2E2E2E"/>
                </a:solidFill>
                <a:latin typeface="Calibri" pitchFamily="34" charset="0"/>
                <a:ea typeface="Calibri" pitchFamily="34" charset="-122"/>
                <a:cs typeface="Calibri" pitchFamily="34" charset="-120"/>
              </a:rPr>
              <a:t>The P4 spread is at or below the sampling-theory floor at every window.</a:t>
            </a:r>
            <a:endParaRPr lang="en-US" sz="1250" dirty="0"/>
          </a:p>
        </p:txBody>
      </p:sp>
      <p:sp>
        <p:nvSpPr>
          <p:cNvPr id="13" name="Shape 10"/>
          <p:cNvSpPr/>
          <p:nvPr/>
        </p:nvSpPr>
        <p:spPr>
          <a:xfrm>
            <a:off x="8001000" y="2121408"/>
            <a:ext cx="27432" cy="2103120"/>
          </a:xfrm>
          <a:prstGeom prst="rect">
            <a:avLst/>
          </a:prstGeom>
          <a:solidFill>
            <a:srgbClr val="065A82"/>
          </a:solidFill>
          <a:ln/>
        </p:spPr>
      </p:sp>
      <p:sp>
        <p:nvSpPr>
          <p:cNvPr id="14" name="Text 11"/>
          <p:cNvSpPr/>
          <p:nvPr/>
        </p:nvSpPr>
        <p:spPr>
          <a:xfrm>
            <a:off x="8202168" y="2084832"/>
            <a:ext cx="3209544" cy="237744"/>
          </a:xfrm>
          <a:prstGeom prst="rect">
            <a:avLst/>
          </a:prstGeom>
          <a:noFill/>
          <a:ln/>
        </p:spPr>
        <p:txBody>
          <a:bodyPr wrap="square" lIns="0" tIns="0" rIns="0" bIns="0" rtlCol="0" anchor="ctr"/>
          <a:lstStyle/>
          <a:p>
            <a:pPr indent="0" marL="0">
              <a:buNone/>
            </a:pPr>
            <a:r>
              <a:rPr lang="en-US" sz="1150" b="1" dirty="0">
                <a:solidFill>
                  <a:srgbClr val="065A82"/>
                </a:solidFill>
                <a:latin typeface="Calibri" pitchFamily="34" charset="0"/>
                <a:ea typeface="Calibri" pitchFamily="34" charset="-122"/>
                <a:cs typeface="Calibri" pitchFamily="34" charset="-120"/>
              </a:rPr>
              <a:t>One result I cannot explain yet</a:t>
            </a:r>
            <a:endParaRPr lang="en-US" sz="1150" dirty="0"/>
          </a:p>
        </p:txBody>
      </p:sp>
      <p:sp>
        <p:nvSpPr>
          <p:cNvPr id="15" name="Text 12"/>
          <p:cNvSpPr/>
          <p:nvPr/>
        </p:nvSpPr>
        <p:spPr>
          <a:xfrm>
            <a:off x="8202168" y="2359152"/>
            <a:ext cx="3209544" cy="1828800"/>
          </a:xfrm>
          <a:prstGeom prst="rect">
            <a:avLst/>
          </a:prstGeom>
          <a:noFill/>
          <a:ln/>
        </p:spPr>
        <p:txBody>
          <a:bodyPr wrap="square" lIns="0" tIns="0" rIns="0" bIns="0" rtlCol="0" anchor="ctr"/>
          <a:lstStyle/>
          <a:p>
            <a:pPr indent="0" marL="0">
              <a:lnSpc>
                <a:spcPct val="120000"/>
              </a:lnSpc>
              <a:buNone/>
            </a:pPr>
            <a:r>
              <a:rPr lang="en-US" sz="1100" dirty="0">
                <a:solidFill>
                  <a:srgbClr val="2E2E2E"/>
                </a:solidFill>
                <a:latin typeface="Calibri" pitchFamily="34" charset="0"/>
                <a:ea typeface="Calibri" pitchFamily="34" charset="-122"/>
                <a:cs typeface="Calibri" pitchFamily="34" charset="-120"/>
              </a:rPr>
              <a:t>P4 sits consistently below the theoretical floor — 54.6% against 75.5% at one second — while OVS sits on it. Below the floor is not a problem, but the mechanism is unproven. One candidate is that bmv2's per-packet random() is not independent, making the sampling closer to systematic than Bernoulli. Reported as an observation, not a claim.</a:t>
            </a:r>
            <a:endParaRPr lang="en-US" sz="1100" dirty="0"/>
          </a:p>
        </p:txBody>
      </p:sp>
      <p:sp>
        <p:nvSpPr>
          <p:cNvPr id="16" name="Shape 13"/>
          <p:cNvSpPr/>
          <p:nvPr/>
        </p:nvSpPr>
        <p:spPr>
          <a:xfrm>
            <a:off x="8001000" y="4480560"/>
            <a:ext cx="27432" cy="1783080"/>
          </a:xfrm>
          <a:prstGeom prst="rect">
            <a:avLst/>
          </a:prstGeom>
          <a:solidFill>
            <a:srgbClr val="065A82"/>
          </a:solidFill>
          <a:ln/>
        </p:spPr>
      </p:sp>
      <p:sp>
        <p:nvSpPr>
          <p:cNvPr id="17" name="Text 14"/>
          <p:cNvSpPr/>
          <p:nvPr/>
        </p:nvSpPr>
        <p:spPr>
          <a:xfrm>
            <a:off x="8202168" y="4443984"/>
            <a:ext cx="3209544" cy="237744"/>
          </a:xfrm>
          <a:prstGeom prst="rect">
            <a:avLst/>
          </a:prstGeom>
          <a:noFill/>
          <a:ln/>
        </p:spPr>
        <p:txBody>
          <a:bodyPr wrap="square" lIns="0" tIns="0" rIns="0" bIns="0" rtlCol="0" anchor="ctr"/>
          <a:lstStyle/>
          <a:p>
            <a:pPr indent="0" marL="0">
              <a:buNone/>
            </a:pPr>
            <a:r>
              <a:rPr lang="en-US" sz="1150" b="1" dirty="0">
                <a:solidFill>
                  <a:srgbClr val="065A82"/>
                </a:solidFill>
                <a:latin typeface="Calibri" pitchFamily="34" charset="0"/>
                <a:ea typeface="Calibri" pitchFamily="34" charset="-122"/>
                <a:cs typeface="Calibri" pitchFamily="34" charset="-120"/>
              </a:rPr>
              <a:t>Why the two cells are comparable</a:t>
            </a:r>
            <a:endParaRPr lang="en-US" sz="1150" dirty="0"/>
          </a:p>
        </p:txBody>
      </p:sp>
      <p:sp>
        <p:nvSpPr>
          <p:cNvPr id="18" name="Text 15"/>
          <p:cNvSpPr/>
          <p:nvPr/>
        </p:nvSpPr>
        <p:spPr>
          <a:xfrm>
            <a:off x="8202168" y="4718304"/>
            <a:ext cx="3209544" cy="1508760"/>
          </a:xfrm>
          <a:prstGeom prst="rect">
            <a:avLst/>
          </a:prstGeom>
          <a:noFill/>
          <a:ln/>
        </p:spPr>
        <p:txBody>
          <a:bodyPr wrap="square" lIns="0" tIns="0" rIns="0" bIns="0" rtlCol="0" anchor="ctr"/>
          <a:lstStyle/>
          <a:p>
            <a:pPr indent="0" marL="0">
              <a:lnSpc>
                <a:spcPct val="120000"/>
              </a:lnSpc>
              <a:buNone/>
            </a:pPr>
            <a:r>
              <a:rPr lang="en-US" sz="1100" dirty="0">
                <a:solidFill>
                  <a:srgbClr val="2E2E2E"/>
                </a:solidFill>
                <a:latin typeface="Calibri" pitchFamily="34" charset="0"/>
                <a:ea typeface="Calibri" pitchFamily="34" charset="-122"/>
                <a:cs typeface="Calibri" pitchFamily="34" charset="-120"/>
              </a:rPr>
              <a:t>Different host counts, but the same switch core — ten switches, thirty-two inter-switch links — and the same 1-in-256 rate. Sampling precision depends on the samples taken on the link, not on how many hosts hang off it. The per-hop figure therefore shows four hops on OVS and two on P4: the flow is shorter in the smaller layout, and each panel is an internal comparison.</a:t>
            </a:r>
            <a:endParaRPr lang="en-US" sz="1100" dirty="0"/>
          </a:p>
        </p:txBody>
      </p:sp>
      <p:sp>
        <p:nvSpPr>
          <p:cNvPr id="19" name="Text 16"/>
          <p:cNvSpPr/>
          <p:nvPr/>
        </p:nvSpPr>
        <p:spPr>
          <a:xfrm>
            <a:off x="777240" y="6364224"/>
            <a:ext cx="9951415" cy="256032"/>
          </a:xfrm>
          <a:prstGeom prst="rect">
            <a:avLst/>
          </a:prstGeom>
          <a:noFill/>
          <a:ln/>
        </p:spPr>
        <p:txBody>
          <a:bodyPr wrap="square" lIns="0" tIns="0" rIns="0" bIns="0" rtlCol="0" anchor="ctr"/>
          <a:lstStyle/>
          <a:p>
            <a:pPr indent="0" marL="0">
              <a:buNone/>
            </a:pPr>
            <a:r>
              <a:rPr lang="en-US" sz="1000" dirty="0">
                <a:solidFill>
                  <a:srgbClr val="4F4F4F"/>
                </a:solidFill>
                <a:latin typeface="Calibri" pitchFamily="34" charset="0"/>
                <a:ea typeface="Calibri" pitchFamily="34" charset="-122"/>
                <a:cs typeface="Calibri" pitchFamily="34" charset="-120"/>
              </a:rPr>
              <a:t>Measured at b6b75fa. P4 stock build, 20 Mbit/s, 600 s, 2,400 samples, none dropped.</a:t>
            </a:r>
            <a:endParaRPr lang="en-US" sz="1000" dirty="0"/>
          </a:p>
        </p:txBody>
      </p:sp>
      <p:sp>
        <p:nvSpPr>
          <p:cNvPr id="20" name="Text 17"/>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35</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56032"/>
            <a:ext cx="5486400" cy="237744"/>
          </a:xfrm>
          <a:prstGeom prst="rect">
            <a:avLst/>
          </a:prstGeom>
          <a:noFill/>
          <a:ln/>
        </p:spPr>
        <p:txBody>
          <a:bodyPr wrap="square" lIns="0" tIns="0" rIns="0" bIns="0" rtlCol="0" anchor="ctr"/>
          <a:lstStyle/>
          <a:p>
            <a:pPr indent="0" marL="0">
              <a:buNone/>
            </a:pPr>
            <a:r>
              <a:rPr lang="en-US" sz="1050" b="1" spc="100" kern="0" dirty="0">
                <a:solidFill>
                  <a:srgbClr val="065A82"/>
                </a:solidFill>
                <a:latin typeface="Calibri" pitchFamily="34" charset="0"/>
                <a:ea typeface="Calibri" pitchFamily="34" charset="-122"/>
                <a:cs typeface="Calibri" pitchFamily="34" charset="-120"/>
              </a:rPr>
              <a:t>3 · MEASURED RESULTS</a:t>
            </a:r>
            <a:endParaRPr lang="en-US" sz="1050" dirty="0"/>
          </a:p>
        </p:txBody>
      </p:sp>
      <p:pic>
        <p:nvPicPr>
          <p:cNvPr id="3" name="Image 0" descr="/sessions/hopeful-sharp-hopper/mnt/NDTwin Slide material/figures/page39_sflow-accuracy-20M.png">    </p:cNvPr>
          <p:cNvPicPr>
            <a:picLocks noChangeAspect="1"/>
          </p:cNvPicPr>
          <p:nvPr/>
        </p:nvPicPr>
        <p:blipFill>
          <a:blip r:embed="rId1"/>
          <a:stretch>
            <a:fillRect/>
          </a:stretch>
        </p:blipFill>
        <p:spPr>
          <a:xfrm>
            <a:off x="956920" y="896112"/>
            <a:ext cx="10277856" cy="5138928"/>
          </a:xfrm>
          <a:prstGeom prst="rect">
            <a:avLst/>
          </a:prstGeom>
        </p:spPr>
      </p:pic>
      <p:sp>
        <p:nvSpPr>
          <p:cNvPr id="4" name="Text 1"/>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36</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56032"/>
            <a:ext cx="5486400" cy="237744"/>
          </a:xfrm>
          <a:prstGeom prst="rect">
            <a:avLst/>
          </a:prstGeom>
          <a:noFill/>
          <a:ln/>
        </p:spPr>
        <p:txBody>
          <a:bodyPr wrap="square" lIns="0" tIns="0" rIns="0" bIns="0" rtlCol="0" anchor="ctr"/>
          <a:lstStyle/>
          <a:p>
            <a:pPr indent="0" marL="0">
              <a:buNone/>
            </a:pPr>
            <a:r>
              <a:rPr lang="en-US" sz="1050" b="1" spc="100" kern="0" dirty="0">
                <a:solidFill>
                  <a:srgbClr val="065A82"/>
                </a:solidFill>
                <a:latin typeface="Calibri" pitchFamily="34" charset="0"/>
                <a:ea typeface="Calibri" pitchFamily="34" charset="-122"/>
                <a:cs typeface="Calibri" pitchFamily="34" charset="-120"/>
              </a:rPr>
              <a:t>3 · MEASURED RESULTS</a:t>
            </a:r>
            <a:endParaRPr lang="en-US" sz="1050" dirty="0"/>
          </a:p>
        </p:txBody>
      </p:sp>
      <p:pic>
        <p:nvPicPr>
          <p:cNvPr id="3" name="Image 0" descr="/sessions/hopeful-sharp-hopper/mnt/NDTwin Slide material/figures/page39_sflow-accuracy-200M.png">    </p:cNvPr>
          <p:cNvPicPr>
            <a:picLocks noChangeAspect="1"/>
          </p:cNvPicPr>
          <p:nvPr/>
        </p:nvPicPr>
        <p:blipFill>
          <a:blip r:embed="rId1"/>
          <a:stretch>
            <a:fillRect/>
          </a:stretch>
        </p:blipFill>
        <p:spPr>
          <a:xfrm>
            <a:off x="956920" y="896112"/>
            <a:ext cx="10277856" cy="5138928"/>
          </a:xfrm>
          <a:prstGeom prst="rect">
            <a:avLst/>
          </a:prstGeom>
        </p:spPr>
      </p:pic>
      <p:sp>
        <p:nvSpPr>
          <p:cNvPr id="4" name="Text 1"/>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37</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56032"/>
            <a:ext cx="5486400" cy="237744"/>
          </a:xfrm>
          <a:prstGeom prst="rect">
            <a:avLst/>
          </a:prstGeom>
          <a:noFill/>
          <a:ln/>
        </p:spPr>
        <p:txBody>
          <a:bodyPr wrap="square" lIns="0" tIns="0" rIns="0" bIns="0" rtlCol="0" anchor="ctr"/>
          <a:lstStyle/>
          <a:p>
            <a:pPr indent="0" marL="0">
              <a:buNone/>
            </a:pPr>
            <a:r>
              <a:rPr lang="en-US" sz="1050" b="1" spc="100" kern="0" dirty="0">
                <a:solidFill>
                  <a:srgbClr val="065A82"/>
                </a:solidFill>
                <a:latin typeface="Calibri" pitchFamily="34" charset="0"/>
                <a:ea typeface="Calibri" pitchFamily="34" charset="-122"/>
                <a:cs typeface="Calibri" pitchFamily="34" charset="-120"/>
              </a:rPr>
              <a:t>3 · MEASURED RESULTS</a:t>
            </a:r>
            <a:endParaRPr lang="en-US" sz="1050" dirty="0"/>
          </a:p>
        </p:txBody>
      </p:sp>
      <p:pic>
        <p:nvPicPr>
          <p:cNvPr id="3" name="Image 0" descr="/sessions/hopeful-sharp-hopper/mnt/NDTwin Slide material/figures/page39_per-hop-consistency.png">    </p:cNvPr>
          <p:cNvPicPr>
            <a:picLocks noChangeAspect="1"/>
          </p:cNvPicPr>
          <p:nvPr/>
        </p:nvPicPr>
        <p:blipFill>
          <a:blip r:embed="rId1"/>
          <a:stretch>
            <a:fillRect/>
          </a:stretch>
        </p:blipFill>
        <p:spPr>
          <a:xfrm>
            <a:off x="550012" y="1054343"/>
            <a:ext cx="11091672" cy="4822466"/>
          </a:xfrm>
          <a:prstGeom prst="rect">
            <a:avLst/>
          </a:prstGeom>
        </p:spPr>
      </p:pic>
      <p:sp>
        <p:nvSpPr>
          <p:cNvPr id="4" name="Text 1"/>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38</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56032"/>
            <a:ext cx="5486400" cy="237744"/>
          </a:xfrm>
          <a:prstGeom prst="rect">
            <a:avLst/>
          </a:prstGeom>
          <a:noFill/>
          <a:ln/>
        </p:spPr>
        <p:txBody>
          <a:bodyPr wrap="square" lIns="0" tIns="0" rIns="0" bIns="0" rtlCol="0" anchor="ctr"/>
          <a:lstStyle/>
          <a:p>
            <a:pPr indent="0" marL="0">
              <a:buNone/>
            </a:pPr>
            <a:r>
              <a:rPr lang="en-US" sz="1050" b="1" spc="100" kern="0" dirty="0">
                <a:solidFill>
                  <a:srgbClr val="065A82"/>
                </a:solidFill>
                <a:latin typeface="Calibri" pitchFamily="34" charset="0"/>
                <a:ea typeface="Calibri" pitchFamily="34" charset="-122"/>
                <a:cs typeface="Calibri" pitchFamily="34" charset="-120"/>
              </a:rPr>
              <a:t>3 · MEASURED RESULTS</a:t>
            </a:r>
            <a:endParaRPr lang="en-US" sz="1050" dirty="0"/>
          </a:p>
        </p:txBody>
      </p:sp>
      <p:sp>
        <p:nvSpPr>
          <p:cNvPr id="3" name="Text 1"/>
          <p:cNvSpPr/>
          <p:nvPr/>
        </p:nvSpPr>
        <p:spPr>
          <a:xfrm>
            <a:off x="777240" y="566928"/>
            <a:ext cx="10637215" cy="621792"/>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An independent pass over the running system</a:t>
            </a:r>
            <a:endParaRPr lang="en-US" sz="3000" dirty="0"/>
          </a:p>
        </p:txBody>
      </p:sp>
      <p:sp>
        <p:nvSpPr>
          <p:cNvPr id="4" name="Text 2"/>
          <p:cNvSpPr/>
          <p:nvPr/>
        </p:nvSpPr>
        <p:spPr>
          <a:xfrm>
            <a:off x="777240" y="1207008"/>
            <a:ext cx="10637215" cy="347472"/>
          </a:xfrm>
          <a:prstGeom prst="rect">
            <a:avLst/>
          </a:prstGeom>
          <a:noFill/>
          <a:ln/>
        </p:spPr>
        <p:txBody>
          <a:bodyPr wrap="square" lIns="0" tIns="0" rIns="0" bIns="0" rtlCol="0" anchor="ctr"/>
          <a:lstStyle/>
          <a:p>
            <a:pPr indent="0" marL="0">
              <a:buNone/>
            </a:pPr>
            <a:r>
              <a:rPr lang="en-US" sz="1400" dirty="0">
                <a:solidFill>
                  <a:srgbClr val="4F4F4F"/>
                </a:solidFill>
                <a:latin typeface="Calibri" pitchFamily="34" charset="0"/>
                <a:ea typeface="Calibri" pitchFamily="34" charset="-122"/>
                <a:cs typeface="Calibri" pitchFamily="34" charset="-120"/>
              </a:rPr>
              <a:t>Read-only checks against the live OVS stack, run from a perspective that did not know the implementation</a:t>
            </a:r>
            <a:endParaRPr lang="en-US" sz="1400" dirty="0"/>
          </a:p>
        </p:txBody>
      </p:sp>
      <p:sp>
        <p:nvSpPr>
          <p:cNvPr id="5" name="Shape 3"/>
          <p:cNvSpPr/>
          <p:nvPr/>
        </p:nvSpPr>
        <p:spPr>
          <a:xfrm>
            <a:off x="777240" y="1700784"/>
            <a:ext cx="10637215" cy="9144"/>
          </a:xfrm>
          <a:prstGeom prst="line">
            <a:avLst/>
          </a:prstGeom>
          <a:noFill/>
          <a:ln w="12700">
            <a:solidFill>
              <a:srgbClr val="D0D0D0"/>
            </a:solidFill>
            <a:prstDash val="solid"/>
          </a:ln>
        </p:spPr>
      </p:sp>
      <p:sp>
        <p:nvSpPr>
          <p:cNvPr id="6" name="Text 4"/>
          <p:cNvSpPr/>
          <p:nvPr/>
        </p:nvSpPr>
        <p:spPr>
          <a:xfrm>
            <a:off x="777240" y="2011680"/>
            <a:ext cx="2522144" cy="548640"/>
          </a:xfrm>
          <a:prstGeom prst="rect">
            <a:avLst/>
          </a:prstGeom>
          <a:noFill/>
          <a:ln/>
        </p:spPr>
        <p:txBody>
          <a:bodyPr wrap="square" lIns="0" tIns="0" rIns="0" bIns="0" rtlCol="0" anchor="ctr"/>
          <a:lstStyle/>
          <a:p>
            <a:pPr indent="0" marL="0">
              <a:buNone/>
            </a:pPr>
            <a:r>
              <a:rPr lang="en-US" sz="2800" b="1" dirty="0">
                <a:solidFill>
                  <a:srgbClr val="1A1A1A"/>
                </a:solidFill>
                <a:latin typeface="Cambria" pitchFamily="34" charset="0"/>
                <a:ea typeface="Cambria" pitchFamily="34" charset="-122"/>
                <a:cs typeface="Cambria" pitchFamily="34" charset="-120"/>
              </a:rPr>
              <a:t>51</a:t>
            </a:r>
            <a:endParaRPr lang="en-US" sz="2800" dirty="0"/>
          </a:p>
        </p:txBody>
      </p:sp>
      <p:sp>
        <p:nvSpPr>
          <p:cNvPr id="7" name="Text 5"/>
          <p:cNvSpPr/>
          <p:nvPr/>
        </p:nvSpPr>
        <p:spPr>
          <a:xfrm>
            <a:off x="777240" y="2578608"/>
            <a:ext cx="2522144" cy="457200"/>
          </a:xfrm>
          <a:prstGeom prst="rect">
            <a:avLst/>
          </a:prstGeom>
          <a:noFill/>
          <a:ln/>
        </p:spPr>
        <p:txBody>
          <a:bodyPr wrap="square" lIns="0" tIns="0" rIns="0" bIns="0" rtlCol="0" anchor="ctr"/>
          <a:lstStyle/>
          <a:p>
            <a:pPr indent="0" marL="0">
              <a:lnSpc>
                <a:spcPct val="114000"/>
              </a:lnSpc>
              <a:buNone/>
            </a:pPr>
            <a:r>
              <a:rPr lang="en-US" sz="1150" dirty="0">
                <a:solidFill>
                  <a:srgbClr val="4F4F4F"/>
                </a:solidFill>
                <a:latin typeface="Calibri" pitchFamily="34" charset="0"/>
                <a:ea typeface="Calibri" pitchFamily="34" charset="-122"/>
                <a:cs typeface="Calibri" pitchFamily="34" charset="-120"/>
              </a:rPr>
              <a:t>read-only checks against the live stack</a:t>
            </a:r>
            <a:endParaRPr lang="en-US" sz="1150" dirty="0"/>
          </a:p>
        </p:txBody>
      </p:sp>
      <p:sp>
        <p:nvSpPr>
          <p:cNvPr id="8" name="Text 6"/>
          <p:cNvSpPr/>
          <p:nvPr/>
        </p:nvSpPr>
        <p:spPr>
          <a:xfrm>
            <a:off x="3482264" y="2011680"/>
            <a:ext cx="2522144" cy="548640"/>
          </a:xfrm>
          <a:prstGeom prst="rect">
            <a:avLst/>
          </a:prstGeom>
          <a:noFill/>
          <a:ln/>
        </p:spPr>
        <p:txBody>
          <a:bodyPr wrap="square" lIns="0" tIns="0" rIns="0" bIns="0" rtlCol="0" anchor="ctr"/>
          <a:lstStyle/>
          <a:p>
            <a:pPr indent="0" marL="0">
              <a:buNone/>
            </a:pPr>
            <a:r>
              <a:rPr lang="en-US" sz="2800" b="1" dirty="0">
                <a:solidFill>
                  <a:srgbClr val="1A1A1A"/>
                </a:solidFill>
                <a:latin typeface="Cambria" pitchFamily="34" charset="0"/>
                <a:ea typeface="Cambria" pitchFamily="34" charset="-122"/>
                <a:cs typeface="Cambria" pitchFamily="34" charset="-120"/>
              </a:rPr>
              <a:t>12</a:t>
            </a:r>
            <a:endParaRPr lang="en-US" sz="2800" dirty="0"/>
          </a:p>
        </p:txBody>
      </p:sp>
      <p:sp>
        <p:nvSpPr>
          <p:cNvPr id="9" name="Text 7"/>
          <p:cNvSpPr/>
          <p:nvPr/>
        </p:nvSpPr>
        <p:spPr>
          <a:xfrm>
            <a:off x="3482264" y="2578608"/>
            <a:ext cx="2522144" cy="457200"/>
          </a:xfrm>
          <a:prstGeom prst="rect">
            <a:avLst/>
          </a:prstGeom>
          <a:noFill/>
          <a:ln/>
        </p:spPr>
        <p:txBody>
          <a:bodyPr wrap="square" lIns="0" tIns="0" rIns="0" bIns="0" rtlCol="0" anchor="ctr"/>
          <a:lstStyle/>
          <a:p>
            <a:pPr indent="0" marL="0">
              <a:lnSpc>
                <a:spcPct val="114000"/>
              </a:lnSpc>
              <a:buNone/>
            </a:pPr>
            <a:r>
              <a:rPr lang="en-US" sz="1150" dirty="0">
                <a:solidFill>
                  <a:srgbClr val="4F4F4F"/>
                </a:solidFill>
                <a:latin typeface="Calibri" pitchFamily="34" charset="0"/>
                <a:ea typeface="Calibri" pitchFamily="34" charset="-122"/>
                <a:cs typeface="Calibri" pitchFamily="34" charset="-120"/>
              </a:rPr>
              <a:t>findings raised</a:t>
            </a:r>
            <a:endParaRPr lang="en-US" sz="1150" dirty="0"/>
          </a:p>
        </p:txBody>
      </p:sp>
      <p:sp>
        <p:nvSpPr>
          <p:cNvPr id="10" name="Text 8"/>
          <p:cNvSpPr/>
          <p:nvPr/>
        </p:nvSpPr>
        <p:spPr>
          <a:xfrm>
            <a:off x="6187288" y="2011680"/>
            <a:ext cx="2522144" cy="548640"/>
          </a:xfrm>
          <a:prstGeom prst="rect">
            <a:avLst/>
          </a:prstGeom>
          <a:noFill/>
          <a:ln/>
        </p:spPr>
        <p:txBody>
          <a:bodyPr wrap="square" lIns="0" tIns="0" rIns="0" bIns="0" rtlCol="0" anchor="ctr"/>
          <a:lstStyle/>
          <a:p>
            <a:pPr indent="0" marL="0">
              <a:buNone/>
            </a:pPr>
            <a:r>
              <a:rPr lang="en-US" sz="2800" b="1" dirty="0">
                <a:solidFill>
                  <a:srgbClr val="065A82"/>
                </a:solidFill>
                <a:latin typeface="Cambria" pitchFamily="34" charset="0"/>
                <a:ea typeface="Cambria" pitchFamily="34" charset="-122"/>
                <a:cs typeface="Cambria" pitchFamily="34" charset="-120"/>
              </a:rPr>
              <a:t>1</a:t>
            </a:r>
            <a:endParaRPr lang="en-US" sz="2800" dirty="0"/>
          </a:p>
        </p:txBody>
      </p:sp>
      <p:sp>
        <p:nvSpPr>
          <p:cNvPr id="11" name="Text 9"/>
          <p:cNvSpPr/>
          <p:nvPr/>
        </p:nvSpPr>
        <p:spPr>
          <a:xfrm>
            <a:off x="6187288" y="2578608"/>
            <a:ext cx="2522144" cy="457200"/>
          </a:xfrm>
          <a:prstGeom prst="rect">
            <a:avLst/>
          </a:prstGeom>
          <a:noFill/>
          <a:ln/>
        </p:spPr>
        <p:txBody>
          <a:bodyPr wrap="square" lIns="0" tIns="0" rIns="0" bIns="0" rtlCol="0" anchor="ctr"/>
          <a:lstStyle/>
          <a:p>
            <a:pPr indent="0" marL="0">
              <a:lnSpc>
                <a:spcPct val="114000"/>
              </a:lnSpc>
              <a:buNone/>
            </a:pPr>
            <a:r>
              <a:rPr lang="en-US" sz="1150" dirty="0">
                <a:solidFill>
                  <a:srgbClr val="4F4F4F"/>
                </a:solidFill>
                <a:latin typeface="Calibri" pitchFamily="34" charset="0"/>
                <a:ea typeface="Calibri" pitchFamily="34" charset="-122"/>
                <a:cs typeface="Calibri" pitchFamily="34" charset="-120"/>
              </a:rPr>
              <a:t>real defect — fixed</a:t>
            </a:r>
            <a:endParaRPr lang="en-US" sz="1150" dirty="0"/>
          </a:p>
        </p:txBody>
      </p:sp>
      <p:sp>
        <p:nvSpPr>
          <p:cNvPr id="12" name="Text 10"/>
          <p:cNvSpPr/>
          <p:nvPr/>
        </p:nvSpPr>
        <p:spPr>
          <a:xfrm>
            <a:off x="8892311" y="2011680"/>
            <a:ext cx="2522144" cy="548640"/>
          </a:xfrm>
          <a:prstGeom prst="rect">
            <a:avLst/>
          </a:prstGeom>
          <a:noFill/>
          <a:ln/>
        </p:spPr>
        <p:txBody>
          <a:bodyPr wrap="square" lIns="0" tIns="0" rIns="0" bIns="0" rtlCol="0" anchor="ctr"/>
          <a:lstStyle/>
          <a:p>
            <a:pPr indent="0" marL="0">
              <a:buNone/>
            </a:pPr>
            <a:r>
              <a:rPr lang="en-US" sz="2800" b="1" dirty="0">
                <a:solidFill>
                  <a:srgbClr val="1A1A1A"/>
                </a:solidFill>
                <a:latin typeface="Cambria" pitchFamily="34" charset="0"/>
                <a:ea typeface="Cambria" pitchFamily="34" charset="-122"/>
                <a:cs typeface="Cambria" pitchFamily="34" charset="-120"/>
              </a:rPr>
              <a:t>11</a:t>
            </a:r>
            <a:endParaRPr lang="en-US" sz="2800" dirty="0"/>
          </a:p>
        </p:txBody>
      </p:sp>
      <p:sp>
        <p:nvSpPr>
          <p:cNvPr id="13" name="Text 11"/>
          <p:cNvSpPr/>
          <p:nvPr/>
        </p:nvSpPr>
        <p:spPr>
          <a:xfrm>
            <a:off x="8892311" y="2578608"/>
            <a:ext cx="2522144" cy="457200"/>
          </a:xfrm>
          <a:prstGeom prst="rect">
            <a:avLst/>
          </a:prstGeom>
          <a:noFill/>
          <a:ln/>
        </p:spPr>
        <p:txBody>
          <a:bodyPr wrap="square" lIns="0" tIns="0" rIns="0" bIns="0" rtlCol="0" anchor="ctr"/>
          <a:lstStyle/>
          <a:p>
            <a:pPr indent="0" marL="0">
              <a:lnSpc>
                <a:spcPct val="114000"/>
              </a:lnSpc>
              <a:buNone/>
            </a:pPr>
            <a:r>
              <a:rPr lang="en-US" sz="1150" dirty="0">
                <a:solidFill>
                  <a:srgbClr val="4F4F4F"/>
                </a:solidFill>
                <a:latin typeface="Calibri" pitchFamily="34" charset="0"/>
                <a:ea typeface="Calibri" pitchFamily="34" charset="-122"/>
                <a:cs typeface="Calibri" pitchFamily="34" charset="-120"/>
              </a:rPr>
              <a:t>documented behaviour or false positives, each adjudicated</a:t>
            </a:r>
            <a:endParaRPr lang="en-US" sz="1150" dirty="0"/>
          </a:p>
        </p:txBody>
      </p:sp>
      <p:sp>
        <p:nvSpPr>
          <p:cNvPr id="14" name="Shape 12"/>
          <p:cNvSpPr/>
          <p:nvPr/>
        </p:nvSpPr>
        <p:spPr>
          <a:xfrm>
            <a:off x="777240" y="3182112"/>
            <a:ext cx="10637215" cy="9144"/>
          </a:xfrm>
          <a:prstGeom prst="line">
            <a:avLst/>
          </a:prstGeom>
          <a:noFill/>
          <a:ln w="12700">
            <a:solidFill>
              <a:srgbClr val="D0D0D0"/>
            </a:solidFill>
            <a:prstDash val="solid"/>
          </a:ln>
        </p:spPr>
      </p:sp>
      <p:sp>
        <p:nvSpPr>
          <p:cNvPr id="15" name="Text 13"/>
          <p:cNvSpPr/>
          <p:nvPr/>
        </p:nvSpPr>
        <p:spPr>
          <a:xfrm>
            <a:off x="777240" y="3383280"/>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1</a:t>
            </a:r>
            <a:endParaRPr lang="en-US" sz="1300" dirty="0"/>
          </a:p>
        </p:txBody>
      </p:sp>
      <p:sp>
        <p:nvSpPr>
          <p:cNvPr id="16" name="Text 14"/>
          <p:cNvSpPr/>
          <p:nvPr/>
        </p:nvSpPr>
        <p:spPr>
          <a:xfrm>
            <a:off x="1106424" y="3374136"/>
            <a:ext cx="6528816" cy="292608"/>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Every finding was adjudicated, including the wrong ones</a:t>
            </a:r>
            <a:endParaRPr lang="en-US" sz="1550" dirty="0"/>
          </a:p>
        </p:txBody>
      </p:sp>
      <p:sp>
        <p:nvSpPr>
          <p:cNvPr id="17" name="Text 15"/>
          <p:cNvSpPr/>
          <p:nvPr/>
        </p:nvSpPr>
        <p:spPr>
          <a:xfrm>
            <a:off x="1106424" y="3712464"/>
            <a:ext cx="6528816" cy="822960"/>
          </a:xfrm>
          <a:prstGeom prst="rect">
            <a:avLst/>
          </a:prstGeom>
          <a:noFill/>
          <a:ln/>
        </p:spPr>
        <p:txBody>
          <a:bodyPr wrap="square" lIns="0" tIns="0" rIns="0" bIns="0" rtlCol="0" anchor="ctr"/>
          <a:lstStyle/>
          <a:p>
            <a:pPr indent="0" marL="0">
              <a:lnSpc>
                <a:spcPct val="124000"/>
              </a:lnSpc>
              <a:buNone/>
            </a:pPr>
            <a:r>
              <a:rPr lang="en-US" sz="1250" dirty="0">
                <a:solidFill>
                  <a:srgbClr val="2E2E2E"/>
                </a:solidFill>
                <a:latin typeface="Calibri" pitchFamily="34" charset="0"/>
                <a:ea typeface="Calibri" pitchFamily="34" charset="-122"/>
                <a:cs typeface="Calibri" pitchFamily="34" charset="-120"/>
              </a:rPr>
              <a:t>Eleven of twelve turned out to be documented behaviour or false leads. Each was run to ground and the verdict written down, because an unadjudicated finding is indistinguishable from an ignored one.</a:t>
            </a:r>
            <a:endParaRPr lang="en-US" sz="1250" dirty="0"/>
          </a:p>
        </p:txBody>
      </p:sp>
      <p:sp>
        <p:nvSpPr>
          <p:cNvPr id="18" name="Text 16"/>
          <p:cNvSpPr/>
          <p:nvPr/>
        </p:nvSpPr>
        <p:spPr>
          <a:xfrm>
            <a:off x="777240" y="4681728"/>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2</a:t>
            </a:r>
            <a:endParaRPr lang="en-US" sz="1300" dirty="0"/>
          </a:p>
        </p:txBody>
      </p:sp>
      <p:sp>
        <p:nvSpPr>
          <p:cNvPr id="19" name="Text 17"/>
          <p:cNvSpPr/>
          <p:nvPr/>
        </p:nvSpPr>
        <p:spPr>
          <a:xfrm>
            <a:off x="1106424" y="4672584"/>
            <a:ext cx="6528816" cy="292608"/>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A separate pass over unreviewed findings</a:t>
            </a:r>
            <a:endParaRPr lang="en-US" sz="1550" dirty="0"/>
          </a:p>
        </p:txBody>
      </p:sp>
      <p:sp>
        <p:nvSpPr>
          <p:cNvPr id="20" name="Text 18"/>
          <p:cNvSpPr/>
          <p:nvPr/>
        </p:nvSpPr>
        <p:spPr>
          <a:xfrm>
            <a:off x="1106424" y="5010912"/>
            <a:ext cx="6528816" cy="822960"/>
          </a:xfrm>
          <a:prstGeom prst="rect">
            <a:avLst/>
          </a:prstGeom>
          <a:noFill/>
          <a:ln/>
        </p:spPr>
        <p:txBody>
          <a:bodyPr wrap="square" lIns="0" tIns="0" rIns="0" bIns="0" rtlCol="0" anchor="ctr"/>
          <a:lstStyle/>
          <a:p>
            <a:pPr indent="0" marL="0">
              <a:lnSpc>
                <a:spcPct val="124000"/>
              </a:lnSpc>
              <a:buNone/>
            </a:pPr>
            <a:r>
              <a:rPr lang="en-US" sz="1250" dirty="0">
                <a:solidFill>
                  <a:srgbClr val="2E2E2E"/>
                </a:solidFill>
                <a:latin typeface="Calibri" pitchFamily="34" charset="0"/>
                <a:ea typeface="Calibri" pitchFamily="34" charset="-122"/>
                <a:cs typeface="Calibri" pitchFamily="34" charset="-120"/>
              </a:rPr>
              <a:t>Forty-seven high-severity items produced twenty-one real problems. That ratio is worth stating rather than reporting only the hits.</a:t>
            </a:r>
            <a:endParaRPr lang="en-US" sz="1250" dirty="0"/>
          </a:p>
        </p:txBody>
      </p:sp>
      <p:sp>
        <p:nvSpPr>
          <p:cNvPr id="21" name="Shape 19"/>
          <p:cNvSpPr/>
          <p:nvPr/>
        </p:nvSpPr>
        <p:spPr>
          <a:xfrm>
            <a:off x="8001000" y="3419856"/>
            <a:ext cx="27432" cy="2011680"/>
          </a:xfrm>
          <a:prstGeom prst="rect">
            <a:avLst/>
          </a:prstGeom>
          <a:solidFill>
            <a:srgbClr val="065A82"/>
          </a:solidFill>
          <a:ln/>
        </p:spPr>
      </p:sp>
      <p:sp>
        <p:nvSpPr>
          <p:cNvPr id="22" name="Text 20"/>
          <p:cNvSpPr/>
          <p:nvPr/>
        </p:nvSpPr>
        <p:spPr>
          <a:xfrm>
            <a:off x="8202168" y="3383280"/>
            <a:ext cx="3209544" cy="237744"/>
          </a:xfrm>
          <a:prstGeom prst="rect">
            <a:avLst/>
          </a:prstGeom>
          <a:noFill/>
          <a:ln/>
        </p:spPr>
        <p:txBody>
          <a:bodyPr wrap="square" lIns="0" tIns="0" rIns="0" bIns="0" rtlCol="0" anchor="ctr"/>
          <a:lstStyle/>
          <a:p>
            <a:pPr indent="0" marL="0">
              <a:buNone/>
            </a:pPr>
            <a:r>
              <a:rPr lang="en-US" sz="1150" b="1" dirty="0">
                <a:solidFill>
                  <a:srgbClr val="065A82"/>
                </a:solidFill>
                <a:latin typeface="Calibri" pitchFamily="34" charset="0"/>
                <a:ea typeface="Calibri" pitchFamily="34" charset="-122"/>
                <a:cs typeface="Calibri" pitchFamily="34" charset="-120"/>
              </a:rPr>
              <a:t>Why an outside perspective was worth arranging</a:t>
            </a:r>
            <a:endParaRPr lang="en-US" sz="1150" dirty="0"/>
          </a:p>
        </p:txBody>
      </p:sp>
      <p:sp>
        <p:nvSpPr>
          <p:cNvPr id="23" name="Text 21"/>
          <p:cNvSpPr/>
          <p:nvPr/>
        </p:nvSpPr>
        <p:spPr>
          <a:xfrm>
            <a:off x="8202168" y="3657600"/>
            <a:ext cx="3209544" cy="1737360"/>
          </a:xfrm>
          <a:prstGeom prst="rect">
            <a:avLst/>
          </a:prstGeom>
          <a:noFill/>
          <a:ln/>
        </p:spPr>
        <p:txBody>
          <a:bodyPr wrap="square" lIns="0" tIns="0" rIns="0" bIns="0" rtlCol="0" anchor="ctr"/>
          <a:lstStyle/>
          <a:p>
            <a:pPr indent="0" marL="0">
              <a:lnSpc>
                <a:spcPct val="120000"/>
              </a:lnSpc>
              <a:buNone/>
            </a:pPr>
            <a:r>
              <a:rPr lang="en-US" sz="1100" dirty="0">
                <a:solidFill>
                  <a:srgbClr val="2E2E2E"/>
                </a:solidFill>
                <a:latin typeface="Calibri" pitchFamily="34" charset="0"/>
                <a:ea typeface="Calibri" pitchFamily="34" charset="-122"/>
                <a:cs typeface="Calibri" pitchFamily="34" charset="-120"/>
              </a:rPr>
              <a:t>Everything else in this deck was verified by the person who wrote the code. That is a real limit, and the only way past it is to have something check the system without knowing what it is supposed to do.</a:t>
            </a:r>
            <a:endParaRPr lang="en-US" sz="1100" dirty="0"/>
          </a:p>
        </p:txBody>
      </p:sp>
      <p:sp>
        <p:nvSpPr>
          <p:cNvPr id="24" name="Text 22"/>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39</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56032"/>
            <a:ext cx="5486400" cy="237744"/>
          </a:xfrm>
          <a:prstGeom prst="rect">
            <a:avLst/>
          </a:prstGeom>
          <a:noFill/>
          <a:ln/>
        </p:spPr>
        <p:txBody>
          <a:bodyPr wrap="square" lIns="0" tIns="0" rIns="0" bIns="0" rtlCol="0" anchor="ctr"/>
          <a:lstStyle/>
          <a:p>
            <a:pPr indent="0" marL="0">
              <a:buNone/>
            </a:pPr>
            <a:r>
              <a:rPr lang="en-US" sz="1050" b="1" spc="100" kern="0" dirty="0">
                <a:solidFill>
                  <a:srgbClr val="065A82"/>
                </a:solidFill>
                <a:latin typeface="Calibri" pitchFamily="34" charset="0"/>
                <a:ea typeface="Calibri" pitchFamily="34" charset="-122"/>
                <a:cs typeface="Calibri" pitchFamily="34" charset="-120"/>
              </a:rPr>
              <a:t>3 · MEASURED RESULTS</a:t>
            </a:r>
            <a:endParaRPr lang="en-US" sz="1050" dirty="0"/>
          </a:p>
        </p:txBody>
      </p:sp>
      <p:sp>
        <p:nvSpPr>
          <p:cNvPr id="3" name="Text 1"/>
          <p:cNvSpPr/>
          <p:nvPr/>
        </p:nvSpPr>
        <p:spPr>
          <a:xfrm>
            <a:off x="777240" y="566928"/>
            <a:ext cx="10637215" cy="621792"/>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Demo</a:t>
            </a:r>
            <a:endParaRPr lang="en-US" sz="3000" dirty="0"/>
          </a:p>
        </p:txBody>
      </p:sp>
      <p:sp>
        <p:nvSpPr>
          <p:cNvPr id="4" name="Shape 2"/>
          <p:cNvSpPr/>
          <p:nvPr/>
        </p:nvSpPr>
        <p:spPr>
          <a:xfrm>
            <a:off x="777240" y="1335024"/>
            <a:ext cx="10637215" cy="9144"/>
          </a:xfrm>
          <a:prstGeom prst="line">
            <a:avLst/>
          </a:prstGeom>
          <a:noFill/>
          <a:ln w="12700">
            <a:solidFill>
              <a:srgbClr val="D0D0D0"/>
            </a:solidFill>
            <a:prstDash val="solid"/>
          </a:ln>
        </p:spPr>
      </p:sp>
      <p:sp>
        <p:nvSpPr>
          <p:cNvPr id="5" name="Text 3"/>
          <p:cNvSpPr/>
          <p:nvPr/>
        </p:nvSpPr>
        <p:spPr>
          <a:xfrm>
            <a:off x="777240" y="2048256"/>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777240" y="2377440"/>
            <a:ext cx="3271418" cy="548640"/>
          </a:xfrm>
          <a:prstGeom prst="rect">
            <a:avLst/>
          </a:prstGeom>
          <a:noFill/>
          <a:ln/>
        </p:spPr>
        <p:txBody>
          <a:bodyPr wrap="square" lIns="0" tIns="0" rIns="0" bIns="0" rtlCol="0" anchor="ctr"/>
          <a:lstStyle/>
          <a:p>
            <a:pPr indent="0" marL="0">
              <a:lnSpc>
                <a:spcPct val="110000"/>
              </a:lnSpc>
              <a:buNone/>
            </a:pPr>
            <a:r>
              <a:rPr lang="en-US" sz="1500" b="1" dirty="0">
                <a:solidFill>
                  <a:srgbClr val="1A1A1A"/>
                </a:solidFill>
                <a:latin typeface="Calibri" pitchFamily="34" charset="0"/>
                <a:ea typeface="Calibri" pitchFamily="34" charset="-122"/>
                <a:cs typeface="Calibri" pitchFamily="34" charset="-120"/>
              </a:rPr>
              <a:t>Link failure and reroute</a:t>
            </a:r>
            <a:endParaRPr lang="en-US" sz="1500" dirty="0"/>
          </a:p>
        </p:txBody>
      </p:sp>
      <p:sp>
        <p:nvSpPr>
          <p:cNvPr id="7" name="Text 5"/>
          <p:cNvSpPr/>
          <p:nvPr/>
        </p:nvSpPr>
        <p:spPr>
          <a:xfrm>
            <a:off x="777240" y="2889504"/>
            <a:ext cx="3271418" cy="1325880"/>
          </a:xfrm>
          <a:prstGeom prst="rect">
            <a:avLst/>
          </a:prstGeom>
          <a:noFill/>
          <a:ln/>
        </p:spPr>
        <p:txBody>
          <a:bodyPr wrap="square" lIns="0" tIns="0" rIns="0" bIns="0" rtlCol="0" anchor="ctr"/>
          <a:lstStyle/>
          <a:p>
            <a:pPr indent="0" marL="0">
              <a:lnSpc>
                <a:spcPct val="122000"/>
              </a:lnSpc>
              <a:buNone/>
            </a:pPr>
            <a:r>
              <a:rPr lang="en-US" sz="1200" dirty="0">
                <a:solidFill>
                  <a:srgbClr val="2E2E2E"/>
                </a:solidFill>
                <a:latin typeface="Calibri" pitchFamily="34" charset="0"/>
                <a:ea typeface="Calibri" pitchFamily="34" charset="-122"/>
                <a:cs typeface="Calibri" pitchFamily="34" charset="-120"/>
              </a:rPr>
              <a:t>Break a single link, watch the twin detect it, reroute, and read the rewritten rule back over P4Runtime. Roughly 30 seconds end to end.</a:t>
            </a:r>
            <a:endParaRPr lang="en-US" sz="1200" dirty="0"/>
          </a:p>
        </p:txBody>
      </p:sp>
      <p:sp>
        <p:nvSpPr>
          <p:cNvPr id="8" name="Shape 6"/>
          <p:cNvSpPr/>
          <p:nvPr/>
        </p:nvSpPr>
        <p:spPr>
          <a:xfrm>
            <a:off x="777240" y="4297680"/>
            <a:ext cx="3271418" cy="310896"/>
          </a:xfrm>
          <a:prstGeom prst="rect">
            <a:avLst/>
          </a:prstGeom>
          <a:solidFill>
            <a:srgbClr val="F7F8F9"/>
          </a:solidFill>
          <a:ln w="12700">
            <a:solidFill>
              <a:srgbClr val="D0D0D0"/>
            </a:solidFill>
            <a:prstDash val="solid"/>
          </a:ln>
        </p:spPr>
      </p:sp>
      <p:sp>
        <p:nvSpPr>
          <p:cNvPr id="9" name="Text 7"/>
          <p:cNvSpPr/>
          <p:nvPr/>
        </p:nvSpPr>
        <p:spPr>
          <a:xfrm>
            <a:off x="923544" y="4297680"/>
            <a:ext cx="2978810" cy="310896"/>
          </a:xfrm>
          <a:prstGeom prst="rect">
            <a:avLst/>
          </a:prstGeom>
          <a:noFill/>
          <a:ln/>
        </p:spPr>
        <p:txBody>
          <a:bodyPr wrap="square" lIns="0" tIns="0" rIns="0" bIns="0" rtlCol="0" anchor="ctr"/>
          <a:lstStyle/>
          <a:p>
            <a:pPr indent="0" marL="0">
              <a:buNone/>
            </a:pPr>
            <a:r>
              <a:rPr lang="en-US" sz="1050" spc="40" kern="0" dirty="0">
                <a:solidFill>
                  <a:srgbClr val="4F4F4F"/>
                </a:solidFill>
                <a:latin typeface="Calibri" pitchFamily="34" charset="0"/>
                <a:ea typeface="Calibri" pitchFamily="34" charset="-122"/>
                <a:cs typeface="Calibri" pitchFamily="34" charset="-120"/>
              </a:rPr>
              <a:t>TO ADD   screen capture</a:t>
            </a:r>
            <a:endParaRPr lang="en-US" sz="1050" dirty="0"/>
          </a:p>
        </p:txBody>
      </p:sp>
      <p:sp>
        <p:nvSpPr>
          <p:cNvPr id="10" name="Text 8"/>
          <p:cNvSpPr/>
          <p:nvPr/>
        </p:nvSpPr>
        <p:spPr>
          <a:xfrm>
            <a:off x="4460138" y="2048256"/>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4460138" y="2377440"/>
            <a:ext cx="3271418" cy="548640"/>
          </a:xfrm>
          <a:prstGeom prst="rect">
            <a:avLst/>
          </a:prstGeom>
          <a:noFill/>
          <a:ln/>
        </p:spPr>
        <p:txBody>
          <a:bodyPr wrap="square" lIns="0" tIns="0" rIns="0" bIns="0" rtlCol="0" anchor="ctr"/>
          <a:lstStyle/>
          <a:p>
            <a:pPr indent="0" marL="0">
              <a:lnSpc>
                <a:spcPct val="110000"/>
              </a:lnSpc>
              <a:buNone/>
            </a:pPr>
            <a:r>
              <a:rPr lang="en-US" sz="1500" b="1" dirty="0">
                <a:solidFill>
                  <a:srgbClr val="1A1A1A"/>
                </a:solidFill>
                <a:latin typeface="Calibri" pitchFamily="34" charset="0"/>
                <a:ea typeface="Calibri" pitchFamily="34" charset="-122"/>
                <a:cs typeface="Calibri" pitchFamily="34" charset="-120"/>
              </a:rPr>
              <a:t>The P4 fabric in the Web GUI</a:t>
            </a:r>
            <a:endParaRPr lang="en-US" sz="1500" dirty="0"/>
          </a:p>
        </p:txBody>
      </p:sp>
      <p:sp>
        <p:nvSpPr>
          <p:cNvPr id="12" name="Text 10"/>
          <p:cNvSpPr/>
          <p:nvPr/>
        </p:nvSpPr>
        <p:spPr>
          <a:xfrm>
            <a:off x="4460138" y="2889504"/>
            <a:ext cx="3271418" cy="1325880"/>
          </a:xfrm>
          <a:prstGeom prst="rect">
            <a:avLst/>
          </a:prstGeom>
          <a:noFill/>
          <a:ln/>
        </p:spPr>
        <p:txBody>
          <a:bodyPr wrap="square" lIns="0" tIns="0" rIns="0" bIns="0" rtlCol="0" anchor="ctr"/>
          <a:lstStyle/>
          <a:p>
            <a:pPr indent="0" marL="0">
              <a:lnSpc>
                <a:spcPct val="122000"/>
              </a:lnSpc>
              <a:buNone/>
            </a:pPr>
            <a:r>
              <a:rPr lang="en-US" sz="1200" dirty="0">
                <a:solidFill>
                  <a:srgbClr val="2E2E2E"/>
                </a:solidFill>
                <a:latin typeface="Calibri" pitchFamily="34" charset="0"/>
                <a:ea typeface="Calibri" pitchFamily="34" charset="-122"/>
                <a:cs typeface="Calibri" pitchFamily="34" charset="-120"/>
              </a:rPr>
              <a:t>The same interface the lab already uses, driven by a data plane it was never written for — topology, flows and link usage, all through the unchanged /ndt/ API. The GUI is read-only, so anything that changes state is done from the Mininet CLI beside it.</a:t>
            </a:r>
            <a:endParaRPr lang="en-US" sz="1200" dirty="0"/>
          </a:p>
        </p:txBody>
      </p:sp>
      <p:sp>
        <p:nvSpPr>
          <p:cNvPr id="13" name="Shape 11"/>
          <p:cNvSpPr/>
          <p:nvPr/>
        </p:nvSpPr>
        <p:spPr>
          <a:xfrm>
            <a:off x="4460138" y="4297680"/>
            <a:ext cx="3271418" cy="310896"/>
          </a:xfrm>
          <a:prstGeom prst="rect">
            <a:avLst/>
          </a:prstGeom>
          <a:solidFill>
            <a:srgbClr val="F7F8F9"/>
          </a:solidFill>
          <a:ln w="12700">
            <a:solidFill>
              <a:srgbClr val="D0D0D0"/>
            </a:solidFill>
            <a:prstDash val="solid"/>
          </a:ln>
        </p:spPr>
      </p:sp>
      <p:sp>
        <p:nvSpPr>
          <p:cNvPr id="14" name="Text 12"/>
          <p:cNvSpPr/>
          <p:nvPr/>
        </p:nvSpPr>
        <p:spPr>
          <a:xfrm>
            <a:off x="4606442" y="4297680"/>
            <a:ext cx="2978810" cy="310896"/>
          </a:xfrm>
          <a:prstGeom prst="rect">
            <a:avLst/>
          </a:prstGeom>
          <a:noFill/>
          <a:ln/>
        </p:spPr>
        <p:txBody>
          <a:bodyPr wrap="square" lIns="0" tIns="0" rIns="0" bIns="0" rtlCol="0" anchor="ctr"/>
          <a:lstStyle/>
          <a:p>
            <a:pPr indent="0" marL="0">
              <a:buNone/>
            </a:pPr>
            <a:r>
              <a:rPr lang="en-US" sz="1050" spc="40" kern="0" dirty="0">
                <a:solidFill>
                  <a:srgbClr val="4F4F4F"/>
                </a:solidFill>
                <a:latin typeface="Calibri" pitchFamily="34" charset="0"/>
                <a:ea typeface="Calibri" pitchFamily="34" charset="-122"/>
                <a:cs typeface="Calibri" pitchFamily="34" charset="-120"/>
              </a:rPr>
              <a:t>TO ADD   screen capture</a:t>
            </a:r>
            <a:endParaRPr lang="en-US" sz="1050" dirty="0"/>
          </a:p>
        </p:txBody>
      </p:sp>
      <p:sp>
        <p:nvSpPr>
          <p:cNvPr id="15" name="Text 13"/>
          <p:cNvSpPr/>
          <p:nvPr/>
        </p:nvSpPr>
        <p:spPr>
          <a:xfrm>
            <a:off x="8143037" y="2048256"/>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8143037" y="2377440"/>
            <a:ext cx="3271418" cy="548640"/>
          </a:xfrm>
          <a:prstGeom prst="rect">
            <a:avLst/>
          </a:prstGeom>
          <a:noFill/>
          <a:ln/>
        </p:spPr>
        <p:txBody>
          <a:bodyPr wrap="square" lIns="0" tIns="0" rIns="0" bIns="0" rtlCol="0" anchor="ctr"/>
          <a:lstStyle/>
          <a:p>
            <a:pPr indent="0" marL="0">
              <a:lnSpc>
                <a:spcPct val="110000"/>
              </a:lnSpc>
              <a:buNone/>
            </a:pPr>
            <a:r>
              <a:rPr lang="en-US" sz="1500" b="1" dirty="0">
                <a:solidFill>
                  <a:srgbClr val="1A1A1A"/>
                </a:solidFill>
                <a:latin typeface="Calibri" pitchFamily="34" charset="0"/>
                <a:ea typeface="Calibri" pitchFamily="34" charset="-122"/>
                <a:cs typeface="Calibri" pitchFamily="34" charset="-120"/>
              </a:rPr>
              <a:t>Liveness moving through three states</a:t>
            </a:r>
            <a:endParaRPr lang="en-US" sz="1500" dirty="0"/>
          </a:p>
        </p:txBody>
      </p:sp>
      <p:sp>
        <p:nvSpPr>
          <p:cNvPr id="17" name="Text 15"/>
          <p:cNvSpPr/>
          <p:nvPr/>
        </p:nvSpPr>
        <p:spPr>
          <a:xfrm>
            <a:off x="8143037" y="2889504"/>
            <a:ext cx="3271418" cy="1325880"/>
          </a:xfrm>
          <a:prstGeom prst="rect">
            <a:avLst/>
          </a:prstGeom>
          <a:noFill/>
          <a:ln/>
        </p:spPr>
        <p:txBody>
          <a:bodyPr wrap="square" lIns="0" tIns="0" rIns="0" bIns="0" rtlCol="0" anchor="ctr"/>
          <a:lstStyle/>
          <a:p>
            <a:pPr indent="0" marL="0">
              <a:lnSpc>
                <a:spcPct val="122000"/>
              </a:lnSpc>
              <a:buNone/>
            </a:pPr>
            <a:r>
              <a:rPr lang="en-US" sz="1200" dirty="0">
                <a:solidFill>
                  <a:srgbClr val="2E2E2E"/>
                </a:solidFill>
                <a:latin typeface="Calibri" pitchFamily="34" charset="0"/>
                <a:ea typeface="Calibri" pitchFamily="34" charset="-122"/>
                <a:cs typeface="Calibri" pitchFamily="34" charset="-120"/>
              </a:rPr>
              <a:t>Kill a switch and watch Up become Unknown before it becomes Down. Unknown is held while the LLDP beacon is still fresh and only becomes Down when it expires — so one failed probe never rewrites the topology.</a:t>
            </a:r>
            <a:endParaRPr lang="en-US" sz="1200" dirty="0"/>
          </a:p>
        </p:txBody>
      </p:sp>
      <p:sp>
        <p:nvSpPr>
          <p:cNvPr id="18" name="Shape 16"/>
          <p:cNvSpPr/>
          <p:nvPr/>
        </p:nvSpPr>
        <p:spPr>
          <a:xfrm>
            <a:off x="8143037" y="4297680"/>
            <a:ext cx="3271418" cy="310896"/>
          </a:xfrm>
          <a:prstGeom prst="rect">
            <a:avLst/>
          </a:prstGeom>
          <a:solidFill>
            <a:srgbClr val="F7F8F9"/>
          </a:solidFill>
          <a:ln w="12700">
            <a:solidFill>
              <a:srgbClr val="D0D0D0"/>
            </a:solidFill>
            <a:prstDash val="solid"/>
          </a:ln>
        </p:spPr>
      </p:sp>
      <p:sp>
        <p:nvSpPr>
          <p:cNvPr id="19" name="Text 17"/>
          <p:cNvSpPr/>
          <p:nvPr/>
        </p:nvSpPr>
        <p:spPr>
          <a:xfrm>
            <a:off x="8289341" y="4297680"/>
            <a:ext cx="2978810" cy="310896"/>
          </a:xfrm>
          <a:prstGeom prst="rect">
            <a:avLst/>
          </a:prstGeom>
          <a:noFill/>
          <a:ln/>
        </p:spPr>
        <p:txBody>
          <a:bodyPr wrap="square" lIns="0" tIns="0" rIns="0" bIns="0" rtlCol="0" anchor="ctr"/>
          <a:lstStyle/>
          <a:p>
            <a:pPr indent="0" marL="0">
              <a:buNone/>
            </a:pPr>
            <a:r>
              <a:rPr lang="en-US" sz="1050" spc="40" kern="0" dirty="0">
                <a:solidFill>
                  <a:srgbClr val="4F4F4F"/>
                </a:solidFill>
                <a:latin typeface="Calibri" pitchFamily="34" charset="0"/>
                <a:ea typeface="Calibri" pitchFamily="34" charset="-122"/>
                <a:cs typeface="Calibri" pitchFamily="34" charset="-120"/>
              </a:rPr>
              <a:t>TO ADD   screen capture</a:t>
            </a:r>
            <a:endParaRPr lang="en-US" sz="1050" dirty="0"/>
          </a:p>
        </p:txBody>
      </p:sp>
      <p:sp>
        <p:nvSpPr>
          <p:cNvPr id="20" name="Shape 18"/>
          <p:cNvSpPr/>
          <p:nvPr/>
        </p:nvSpPr>
        <p:spPr>
          <a:xfrm>
            <a:off x="777240" y="5212080"/>
            <a:ext cx="27432" cy="822960"/>
          </a:xfrm>
          <a:prstGeom prst="rect">
            <a:avLst/>
          </a:prstGeom>
          <a:solidFill>
            <a:srgbClr val="065A82"/>
          </a:solidFill>
          <a:ln/>
        </p:spPr>
      </p:sp>
      <p:sp>
        <p:nvSpPr>
          <p:cNvPr id="21" name="Text 19"/>
          <p:cNvSpPr/>
          <p:nvPr/>
        </p:nvSpPr>
        <p:spPr>
          <a:xfrm>
            <a:off x="978408" y="5175504"/>
            <a:ext cx="9750247" cy="237744"/>
          </a:xfrm>
          <a:prstGeom prst="rect">
            <a:avLst/>
          </a:prstGeom>
          <a:noFill/>
          <a:ln/>
        </p:spPr>
        <p:txBody>
          <a:bodyPr wrap="square" lIns="0" tIns="0" rIns="0" bIns="0" rtlCol="0" anchor="ctr"/>
          <a:lstStyle/>
          <a:p>
            <a:pPr indent="0" marL="0">
              <a:buNone/>
            </a:pPr>
            <a:r>
              <a:rPr lang="en-US" sz="1150" b="1" dirty="0">
                <a:solidFill>
                  <a:srgbClr val="065A82"/>
                </a:solidFill>
                <a:latin typeface="Calibri" pitchFamily="34" charset="0"/>
                <a:ea typeface="Calibri" pitchFamily="34" charset="-122"/>
                <a:cs typeface="Calibri" pitchFamily="34" charset="-120"/>
              </a:rPr>
              <a:t>Recorded, not performed</a:t>
            </a:r>
            <a:endParaRPr lang="en-US" sz="1150" dirty="0"/>
          </a:p>
        </p:txBody>
      </p:sp>
      <p:sp>
        <p:nvSpPr>
          <p:cNvPr id="22" name="Text 20"/>
          <p:cNvSpPr/>
          <p:nvPr/>
        </p:nvSpPr>
        <p:spPr>
          <a:xfrm>
            <a:off x="978408" y="5449824"/>
            <a:ext cx="9750247" cy="548640"/>
          </a:xfrm>
          <a:prstGeom prst="rect">
            <a:avLst/>
          </a:prstGeom>
          <a:noFill/>
          <a:ln/>
        </p:spPr>
        <p:txBody>
          <a:bodyPr wrap="square" lIns="0" tIns="0" rIns="0" bIns="0" rtlCol="0" anchor="ctr"/>
          <a:lstStyle/>
          <a:p>
            <a:pPr indent="0" marL="0">
              <a:lnSpc>
                <a:spcPct val="120000"/>
              </a:lnSpc>
              <a:buNone/>
            </a:pPr>
            <a:r>
              <a:rPr lang="en-US" sz="1100" dirty="0">
                <a:solidFill>
                  <a:srgbClr val="2E2E2E"/>
                </a:solidFill>
                <a:latin typeface="Calibri" pitchFamily="34" charset="0"/>
                <a:ea typeface="Calibri" pitchFamily="34" charset="-122"/>
                <a:cs typeface="Calibri" pitchFamily="34" charset="-120"/>
              </a:rPr>
              <a:t>All three are procedures already written down and already executed on the live stack, each with its own recording runbook. What is shown is a replay of a recorded run rather than a new experiment carried out in front of an audience — the failure modes here are timing-sensitive, and a live attempt would be demonstrating luck rather than the system.</a:t>
            </a:r>
            <a:endParaRPr lang="en-US" sz="1100" dirty="0"/>
          </a:p>
        </p:txBody>
      </p:sp>
      <p:sp>
        <p:nvSpPr>
          <p:cNvPr id="23" name="Text 21"/>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40</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566928"/>
            <a:ext cx="10637215" cy="621792"/>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Where it stands</a:t>
            </a:r>
            <a:endParaRPr lang="en-US" sz="3000" dirty="0"/>
          </a:p>
        </p:txBody>
      </p:sp>
      <p:sp>
        <p:nvSpPr>
          <p:cNvPr id="3" name="Text 1"/>
          <p:cNvSpPr/>
          <p:nvPr/>
        </p:nvSpPr>
        <p:spPr>
          <a:xfrm>
            <a:off x="777240" y="1207008"/>
            <a:ext cx="10637215" cy="347472"/>
          </a:xfrm>
          <a:prstGeom prst="rect">
            <a:avLst/>
          </a:prstGeom>
          <a:noFill/>
          <a:ln/>
        </p:spPr>
        <p:txBody>
          <a:bodyPr wrap="square" lIns="0" tIns="0" rIns="0" bIns="0" rtlCol="0" anchor="ctr"/>
          <a:lstStyle/>
          <a:p>
            <a:pPr indent="0" marL="0">
              <a:buNone/>
            </a:pPr>
            <a:r>
              <a:rPr lang="en-US" sz="1400" dirty="0">
                <a:solidFill>
                  <a:srgbClr val="4F4F4F"/>
                </a:solidFill>
                <a:latin typeface="Calibri" pitchFamily="34" charset="0"/>
                <a:ea typeface="Calibri" pitchFamily="34" charset="-122"/>
                <a:cs typeface="Calibri" pitchFamily="34" charset="-120"/>
              </a:rPr>
              <a:t>What shipped, what is deliberately unfinished, and what is simply unknown</a:t>
            </a:r>
            <a:endParaRPr lang="en-US" sz="1400" dirty="0"/>
          </a:p>
        </p:txBody>
      </p:sp>
      <p:sp>
        <p:nvSpPr>
          <p:cNvPr id="4" name="Shape 2"/>
          <p:cNvSpPr/>
          <p:nvPr/>
        </p:nvSpPr>
        <p:spPr>
          <a:xfrm>
            <a:off x="777240" y="1700784"/>
            <a:ext cx="10637215" cy="9144"/>
          </a:xfrm>
          <a:prstGeom prst="line">
            <a:avLst/>
          </a:prstGeom>
          <a:noFill/>
          <a:ln w="12700">
            <a:solidFill>
              <a:srgbClr val="D0D0D0"/>
            </a:solidFill>
            <a:prstDash val="solid"/>
          </a:ln>
        </p:spPr>
      </p:sp>
      <p:sp>
        <p:nvSpPr>
          <p:cNvPr id="5" name="Text 3"/>
          <p:cNvSpPr/>
          <p:nvPr/>
        </p:nvSpPr>
        <p:spPr>
          <a:xfrm>
            <a:off x="777240" y="2011680"/>
            <a:ext cx="5120640" cy="274320"/>
          </a:xfrm>
          <a:prstGeom prst="rect">
            <a:avLst/>
          </a:prstGeom>
          <a:noFill/>
          <a:ln/>
        </p:spPr>
        <p:txBody>
          <a:bodyPr wrap="square" lIns="0" tIns="0" rIns="0" bIns="0"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Delivered</a:t>
            </a:r>
            <a:endParaRPr lang="en-US" sz="1400" dirty="0"/>
          </a:p>
        </p:txBody>
      </p:sp>
      <p:sp>
        <p:nvSpPr>
          <p:cNvPr id="6" name="Shape 4"/>
          <p:cNvSpPr/>
          <p:nvPr/>
        </p:nvSpPr>
        <p:spPr>
          <a:xfrm>
            <a:off x="777240" y="2322576"/>
            <a:ext cx="5120640" cy="9144"/>
          </a:xfrm>
          <a:prstGeom prst="line">
            <a:avLst/>
          </a:prstGeom>
          <a:noFill/>
          <a:ln w="12700">
            <a:solidFill>
              <a:srgbClr val="D0D0D0"/>
            </a:solidFill>
            <a:prstDash val="solid"/>
          </a:ln>
        </p:spPr>
      </p:sp>
      <p:sp>
        <p:nvSpPr>
          <p:cNvPr id="7" name="Text 5"/>
          <p:cNvSpPr/>
          <p:nvPr/>
        </p:nvSpPr>
        <p:spPr>
          <a:xfrm>
            <a:off x="777240" y="2450592"/>
            <a:ext cx="5120640" cy="274320"/>
          </a:xfrm>
          <a:prstGeom prst="rect">
            <a:avLst/>
          </a:prstGeom>
          <a:noFill/>
          <a:ln/>
        </p:spPr>
        <p:txBody>
          <a:bodyPr wrap="square" lIns="0" tIns="0" rIns="0" bIns="0" rtlCol="0" anchor="ctr"/>
          <a:lstStyle/>
          <a:p>
            <a:pPr indent="0" marL="0">
              <a:buNone/>
            </a:pPr>
            <a:r>
              <a:rPr lang="en-US" sz="1250" b="1" dirty="0">
                <a:solidFill>
                  <a:srgbClr val="1A1A1A"/>
                </a:solidFill>
                <a:latin typeface="Calibri" pitchFamily="34" charset="0"/>
                <a:ea typeface="Calibri" pitchFamily="34" charset="-122"/>
                <a:cs typeface="Calibri" pitchFamily="34" charset="-120"/>
              </a:rPr>
              <a:t>A second data plane, with nothing above it changed</a:t>
            </a:r>
            <a:endParaRPr lang="en-US" sz="1250" dirty="0"/>
          </a:p>
        </p:txBody>
      </p:sp>
      <p:sp>
        <p:nvSpPr>
          <p:cNvPr id="8" name="Text 6"/>
          <p:cNvSpPr/>
          <p:nvPr/>
        </p:nvSpPr>
        <p:spPr>
          <a:xfrm>
            <a:off x="777240" y="2706624"/>
            <a:ext cx="5120640" cy="566928"/>
          </a:xfrm>
          <a:prstGeom prst="rect">
            <a:avLst/>
          </a:prstGeom>
          <a:noFill/>
          <a:ln/>
        </p:spPr>
        <p:txBody>
          <a:bodyPr wrap="square" lIns="0" tIns="0" rIns="0" bIns="0" rtlCol="0" anchor="ctr"/>
          <a:lstStyle/>
          <a:p>
            <a:pPr indent="0" marL="0">
              <a:lnSpc>
                <a:spcPct val="118000"/>
              </a:lnSpc>
              <a:buNone/>
            </a:pPr>
            <a:r>
              <a:rPr lang="en-US" sz="1150" dirty="0">
                <a:solidFill>
                  <a:srgbClr val="2E2E2E"/>
                </a:solidFill>
                <a:latin typeface="Calibri" pitchFamily="34" charset="0"/>
                <a:ea typeface="Calibri" pitchFamily="34" charset="-122"/>
                <a:cs typeface="Calibri" pitchFamily="34" charset="-120"/>
              </a:rPr>
              <a:t>P4/bmv2 fully attached — the kernel, all seven components and the Intent Translator are untouched.</a:t>
            </a:r>
            <a:endParaRPr lang="en-US" sz="1150" dirty="0"/>
          </a:p>
        </p:txBody>
      </p:sp>
      <p:sp>
        <p:nvSpPr>
          <p:cNvPr id="9" name="Text 7"/>
          <p:cNvSpPr/>
          <p:nvPr/>
        </p:nvSpPr>
        <p:spPr>
          <a:xfrm>
            <a:off x="777240" y="3383280"/>
            <a:ext cx="5120640" cy="274320"/>
          </a:xfrm>
          <a:prstGeom prst="rect">
            <a:avLst/>
          </a:prstGeom>
          <a:noFill/>
          <a:ln/>
        </p:spPr>
        <p:txBody>
          <a:bodyPr wrap="square" lIns="0" tIns="0" rIns="0" bIns="0" rtlCol="0" anchor="ctr"/>
          <a:lstStyle/>
          <a:p>
            <a:pPr indent="0" marL="0">
              <a:buNone/>
            </a:pPr>
            <a:r>
              <a:rPr lang="en-US" sz="1250" b="1" dirty="0">
                <a:solidFill>
                  <a:srgbClr val="1A1A1A"/>
                </a:solidFill>
                <a:latin typeface="Calibri" pitchFamily="34" charset="0"/>
                <a:ea typeface="Calibri" pitchFamily="34" charset="-122"/>
                <a:cs typeface="Calibri" pitchFamily="34" charset="-120"/>
              </a:rPr>
              <a:t>The shared path made honest</a:t>
            </a:r>
            <a:endParaRPr lang="en-US" sz="1250" dirty="0"/>
          </a:p>
        </p:txBody>
      </p:sp>
      <p:sp>
        <p:nvSpPr>
          <p:cNvPr id="10" name="Text 8"/>
          <p:cNvSpPr/>
          <p:nvPr/>
        </p:nvSpPr>
        <p:spPr>
          <a:xfrm>
            <a:off x="777240" y="3639312"/>
            <a:ext cx="5120640" cy="566928"/>
          </a:xfrm>
          <a:prstGeom prst="rect">
            <a:avLst/>
          </a:prstGeom>
          <a:noFill/>
          <a:ln/>
        </p:spPr>
        <p:txBody>
          <a:bodyPr wrap="square" lIns="0" tIns="0" rIns="0" bIns="0" rtlCol="0" anchor="ctr"/>
          <a:lstStyle/>
          <a:p>
            <a:pPr indent="0" marL="0">
              <a:lnSpc>
                <a:spcPct val="118000"/>
              </a:lnSpc>
              <a:buNone/>
            </a:pPr>
            <a:r>
              <a:rPr lang="en-US" sz="1150" dirty="0">
                <a:solidFill>
                  <a:srgbClr val="2E2E2E"/>
                </a:solidFill>
                <a:latin typeface="Calibri" pitchFamily="34" charset="0"/>
                <a:ea typeface="Calibri" pitchFamily="34" charset="-122"/>
                <a:cs typeface="Calibri" pitchFamily="34" charset="-120"/>
              </a:rPr>
              <a:t>The silent defects in the baseline are fixed, so the reference the P4 path is verified against can be trusted.</a:t>
            </a:r>
            <a:endParaRPr lang="en-US" sz="1150" dirty="0"/>
          </a:p>
        </p:txBody>
      </p:sp>
      <p:sp>
        <p:nvSpPr>
          <p:cNvPr id="11" name="Text 9"/>
          <p:cNvSpPr/>
          <p:nvPr/>
        </p:nvSpPr>
        <p:spPr>
          <a:xfrm>
            <a:off x="777240" y="4315968"/>
            <a:ext cx="5120640" cy="274320"/>
          </a:xfrm>
          <a:prstGeom prst="rect">
            <a:avLst/>
          </a:prstGeom>
          <a:noFill/>
          <a:ln/>
        </p:spPr>
        <p:txBody>
          <a:bodyPr wrap="square" lIns="0" tIns="0" rIns="0" bIns="0" rtlCol="0" anchor="ctr"/>
          <a:lstStyle/>
          <a:p>
            <a:pPr indent="0" marL="0">
              <a:buNone/>
            </a:pPr>
            <a:r>
              <a:rPr lang="en-US" sz="1250" b="1" dirty="0">
                <a:solidFill>
                  <a:srgbClr val="1A1A1A"/>
                </a:solidFill>
                <a:latin typeface="Calibri" pitchFamily="34" charset="0"/>
                <a:ea typeface="Calibri" pitchFamily="34" charset="-122"/>
                <a:cs typeface="Calibri" pitchFamily="34" charset="-120"/>
              </a:rPr>
              <a:t>Both data planes have a decidable health standard</a:t>
            </a:r>
            <a:endParaRPr lang="en-US" sz="1250" dirty="0"/>
          </a:p>
        </p:txBody>
      </p:sp>
      <p:sp>
        <p:nvSpPr>
          <p:cNvPr id="12" name="Text 10"/>
          <p:cNvSpPr/>
          <p:nvPr/>
        </p:nvSpPr>
        <p:spPr>
          <a:xfrm>
            <a:off x="777240" y="4572000"/>
            <a:ext cx="5120640" cy="566928"/>
          </a:xfrm>
          <a:prstGeom prst="rect">
            <a:avLst/>
          </a:prstGeom>
          <a:noFill/>
          <a:ln/>
        </p:spPr>
        <p:txBody>
          <a:bodyPr wrap="square" lIns="0" tIns="0" rIns="0" bIns="0" rtlCol="0" anchor="ctr"/>
          <a:lstStyle/>
          <a:p>
            <a:pPr indent="0" marL="0">
              <a:lnSpc>
                <a:spcPct val="118000"/>
              </a:lnSpc>
              <a:buNone/>
            </a:pPr>
            <a:r>
              <a:rPr lang="en-US" sz="1150" dirty="0">
                <a:solidFill>
                  <a:srgbClr val="2E2E2E"/>
                </a:solidFill>
                <a:latin typeface="Calibri" pitchFamily="34" charset="0"/>
                <a:ea typeface="Calibri" pitchFamily="34" charset="-122"/>
                <a:cs typeface="Calibri" pitchFamily="34" charset="-120"/>
              </a:rPr>
              <a:t>Five layers, differential comparison, and mutation evidence per test.</a:t>
            </a:r>
            <a:endParaRPr lang="en-US" sz="1150" dirty="0"/>
          </a:p>
        </p:txBody>
      </p:sp>
      <p:sp>
        <p:nvSpPr>
          <p:cNvPr id="13" name="Text 11"/>
          <p:cNvSpPr/>
          <p:nvPr/>
        </p:nvSpPr>
        <p:spPr>
          <a:xfrm>
            <a:off x="6400800" y="2011680"/>
            <a:ext cx="5010912" cy="274320"/>
          </a:xfrm>
          <a:prstGeom prst="rect">
            <a:avLst/>
          </a:prstGeom>
          <a:noFill/>
          <a:ln/>
        </p:spPr>
        <p:txBody>
          <a:bodyPr wrap="square" lIns="0" tIns="0" rIns="0" bIns="0"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Open, and stated as open</a:t>
            </a:r>
            <a:endParaRPr lang="en-US" sz="1400" dirty="0"/>
          </a:p>
        </p:txBody>
      </p:sp>
      <p:sp>
        <p:nvSpPr>
          <p:cNvPr id="14" name="Shape 12"/>
          <p:cNvSpPr/>
          <p:nvPr/>
        </p:nvSpPr>
        <p:spPr>
          <a:xfrm>
            <a:off x="6400800" y="2322576"/>
            <a:ext cx="5010912" cy="9144"/>
          </a:xfrm>
          <a:prstGeom prst="line">
            <a:avLst/>
          </a:prstGeom>
          <a:noFill/>
          <a:ln w="12700">
            <a:solidFill>
              <a:srgbClr val="D0D0D0"/>
            </a:solidFill>
            <a:prstDash val="solid"/>
          </a:ln>
        </p:spPr>
      </p:sp>
      <p:sp>
        <p:nvSpPr>
          <p:cNvPr id="15" name="Text 13"/>
          <p:cNvSpPr/>
          <p:nvPr/>
        </p:nvSpPr>
        <p:spPr>
          <a:xfrm>
            <a:off x="6400800" y="2432304"/>
            <a:ext cx="1783080" cy="347472"/>
          </a:xfrm>
          <a:prstGeom prst="rect">
            <a:avLst/>
          </a:prstGeom>
          <a:noFill/>
          <a:ln/>
        </p:spPr>
        <p:txBody>
          <a:bodyPr wrap="square" lIns="0" tIns="0" rIns="0" bIns="0" rtlCol="0" anchor="ctr"/>
          <a:lstStyle/>
          <a:p>
            <a:pPr indent="0" marL="0">
              <a:buNone/>
            </a:pPr>
            <a:r>
              <a:rPr lang="en-US" sz="1100" b="1" dirty="0">
                <a:solidFill>
                  <a:srgbClr val="065A82"/>
                </a:solidFill>
                <a:latin typeface="Calibri" pitchFamily="34" charset="0"/>
                <a:ea typeface="Calibri" pitchFamily="34" charset="-122"/>
                <a:cs typeface="Calibri" pitchFamily="34" charset="-120"/>
              </a:rPr>
              <a:t>Locks have no owner</a:t>
            </a:r>
            <a:endParaRPr lang="en-US" sz="1100" dirty="0"/>
          </a:p>
        </p:txBody>
      </p:sp>
      <p:sp>
        <p:nvSpPr>
          <p:cNvPr id="16" name="Text 14"/>
          <p:cNvSpPr/>
          <p:nvPr/>
        </p:nvSpPr>
        <p:spPr>
          <a:xfrm>
            <a:off x="8211312" y="2432304"/>
            <a:ext cx="2926080" cy="347472"/>
          </a:xfrm>
          <a:prstGeom prst="rect">
            <a:avLst/>
          </a:prstGeom>
          <a:noFill/>
          <a:ln/>
        </p:spPr>
        <p:txBody>
          <a:bodyPr wrap="square" lIns="0" tIns="0" rIns="0" bIns="0" rtlCol="0" anchor="ctr"/>
          <a:lstStyle/>
          <a:p>
            <a:pPr indent="0" marL="0">
              <a:lnSpc>
                <a:spcPct val="112000"/>
              </a:lnSpc>
              <a:buNone/>
            </a:pPr>
            <a:r>
              <a:rPr lang="en-US" sz="1050" dirty="0">
                <a:solidFill>
                  <a:srgbClr val="2E2E2E"/>
                </a:solidFill>
                <a:latin typeface="Calibri" pitchFamily="34" charset="0"/>
                <a:ea typeface="Calibri" pitchFamily="34" charset="-122"/>
                <a:cs typeface="Calibri" pitchFamily="34" charset="-120"/>
              </a:rPr>
              <a:t>any caller can release any other caller's lock — and seven components share them</a:t>
            </a:r>
            <a:endParaRPr lang="en-US" sz="1050" dirty="0"/>
          </a:p>
        </p:txBody>
      </p:sp>
      <p:sp>
        <p:nvSpPr>
          <p:cNvPr id="17" name="Shape 15"/>
          <p:cNvSpPr/>
          <p:nvPr/>
        </p:nvSpPr>
        <p:spPr>
          <a:xfrm>
            <a:off x="6400800" y="2761488"/>
            <a:ext cx="4736592" cy="9144"/>
          </a:xfrm>
          <a:prstGeom prst="line">
            <a:avLst/>
          </a:prstGeom>
          <a:noFill/>
          <a:ln w="12700">
            <a:solidFill>
              <a:srgbClr val="F0F0F0"/>
            </a:solidFill>
            <a:prstDash val="solid"/>
          </a:ln>
        </p:spPr>
      </p:sp>
      <p:sp>
        <p:nvSpPr>
          <p:cNvPr id="18" name="Text 16"/>
          <p:cNvSpPr/>
          <p:nvPr/>
        </p:nvSpPr>
        <p:spPr>
          <a:xfrm>
            <a:off x="6400800" y="2798064"/>
            <a:ext cx="1783080" cy="347472"/>
          </a:xfrm>
          <a:prstGeom prst="rect">
            <a:avLst/>
          </a:prstGeom>
          <a:noFill/>
          <a:ln/>
        </p:spPr>
        <p:txBody>
          <a:bodyPr wrap="square" lIns="0" tIns="0" rIns="0" bIns="0" rtlCol="0" anchor="ctr"/>
          <a:lstStyle/>
          <a:p>
            <a:pPr indent="0" marL="0">
              <a:buNone/>
            </a:pPr>
            <a:r>
              <a:rPr lang="en-US" sz="1100" b="1" dirty="0">
                <a:solidFill>
                  <a:srgbClr val="065A82"/>
                </a:solidFill>
                <a:latin typeface="Calibri" pitchFamily="34" charset="0"/>
                <a:ea typeface="Calibri" pitchFamily="34" charset="-122"/>
                <a:cs typeface="Calibri" pitchFamily="34" charset="-120"/>
              </a:rPr>
              <a:t>Queued flow endpoints</a:t>
            </a:r>
            <a:endParaRPr lang="en-US" sz="1100" dirty="0"/>
          </a:p>
        </p:txBody>
      </p:sp>
      <p:sp>
        <p:nvSpPr>
          <p:cNvPr id="19" name="Text 17"/>
          <p:cNvSpPr/>
          <p:nvPr/>
        </p:nvSpPr>
        <p:spPr>
          <a:xfrm>
            <a:off x="8211312" y="2798064"/>
            <a:ext cx="2926080" cy="347472"/>
          </a:xfrm>
          <a:prstGeom prst="rect">
            <a:avLst/>
          </a:prstGeom>
          <a:noFill/>
          <a:ln/>
        </p:spPr>
        <p:txBody>
          <a:bodyPr wrap="square" lIns="0" tIns="0" rIns="0" bIns="0" rtlCol="0" anchor="ctr"/>
          <a:lstStyle/>
          <a:p>
            <a:pPr indent="0" marL="0">
              <a:lnSpc>
                <a:spcPct val="112000"/>
              </a:lnSpc>
              <a:buNone/>
            </a:pPr>
            <a:r>
              <a:rPr lang="en-US" sz="1050" dirty="0">
                <a:solidFill>
                  <a:srgbClr val="2E2E2E"/>
                </a:solidFill>
                <a:latin typeface="Calibri" pitchFamily="34" charset="0"/>
                <a:ea typeface="Calibri" pitchFamily="34" charset="-122"/>
                <a:cs typeface="Calibri" pitchFamily="34" charset="-120"/>
              </a:rPr>
              <a:t>200 queued, but nothing can ask whether the rule landed</a:t>
            </a:r>
            <a:endParaRPr lang="en-US" sz="1050" dirty="0"/>
          </a:p>
        </p:txBody>
      </p:sp>
      <p:sp>
        <p:nvSpPr>
          <p:cNvPr id="20" name="Shape 18"/>
          <p:cNvSpPr/>
          <p:nvPr/>
        </p:nvSpPr>
        <p:spPr>
          <a:xfrm>
            <a:off x="6400800" y="3127248"/>
            <a:ext cx="4736592" cy="9144"/>
          </a:xfrm>
          <a:prstGeom prst="line">
            <a:avLst/>
          </a:prstGeom>
          <a:noFill/>
          <a:ln w="12700">
            <a:solidFill>
              <a:srgbClr val="F0F0F0"/>
            </a:solidFill>
            <a:prstDash val="solid"/>
          </a:ln>
        </p:spPr>
      </p:sp>
      <p:sp>
        <p:nvSpPr>
          <p:cNvPr id="21" name="Text 19"/>
          <p:cNvSpPr/>
          <p:nvPr/>
        </p:nvSpPr>
        <p:spPr>
          <a:xfrm>
            <a:off x="6400800" y="3163824"/>
            <a:ext cx="1783080" cy="347472"/>
          </a:xfrm>
          <a:prstGeom prst="rect">
            <a:avLst/>
          </a:prstGeom>
          <a:noFill/>
          <a:ln/>
        </p:spPr>
        <p:txBody>
          <a:bodyPr wrap="square" lIns="0" tIns="0" rIns="0" bIns="0" rtlCol="0" anchor="ctr"/>
          <a:lstStyle/>
          <a:p>
            <a:pPr indent="0" marL="0">
              <a:buNone/>
            </a:pPr>
            <a:r>
              <a:rPr lang="en-US" sz="1100" b="1" dirty="0">
                <a:solidFill>
                  <a:srgbClr val="065A82"/>
                </a:solidFill>
                <a:latin typeface="Calibri" pitchFamily="34" charset="0"/>
                <a:ea typeface="Calibri" pitchFamily="34" charset="-122"/>
                <a:cs typeface="Calibri" pitchFamily="34" charset="-120"/>
              </a:rPr>
              <a:t>Power-on can be a no-op</a:t>
            </a:r>
            <a:endParaRPr lang="en-US" sz="1100" dirty="0"/>
          </a:p>
        </p:txBody>
      </p:sp>
      <p:sp>
        <p:nvSpPr>
          <p:cNvPr id="22" name="Text 20"/>
          <p:cNvSpPr/>
          <p:nvPr/>
        </p:nvSpPr>
        <p:spPr>
          <a:xfrm>
            <a:off x="8211312" y="3163824"/>
            <a:ext cx="2926080" cy="347472"/>
          </a:xfrm>
          <a:prstGeom prst="rect">
            <a:avLst/>
          </a:prstGeom>
          <a:noFill/>
          <a:ln/>
        </p:spPr>
        <p:txBody>
          <a:bodyPr wrap="square" lIns="0" tIns="0" rIns="0" bIns="0" rtlCol="0" anchor="ctr"/>
          <a:lstStyle/>
          <a:p>
            <a:pPr indent="0" marL="0">
              <a:lnSpc>
                <a:spcPct val="112000"/>
              </a:lnSpc>
              <a:buNone/>
            </a:pPr>
            <a:r>
              <a:rPr lang="en-US" sz="1050" dirty="0">
                <a:solidFill>
                  <a:srgbClr val="2E2E2E"/>
                </a:solidFill>
                <a:latin typeface="Calibri" pitchFamily="34" charset="0"/>
                <a:ea typeface="Calibri" pitchFamily="34" charset="-122"/>
                <a:cs typeface="Calibri" pitchFamily="34" charset="-120"/>
              </a:rPr>
              <a:t>within ~10 s of shutdown it returns Success and does nothing</a:t>
            </a:r>
            <a:endParaRPr lang="en-US" sz="1050" dirty="0"/>
          </a:p>
        </p:txBody>
      </p:sp>
      <p:sp>
        <p:nvSpPr>
          <p:cNvPr id="23" name="Shape 21"/>
          <p:cNvSpPr/>
          <p:nvPr/>
        </p:nvSpPr>
        <p:spPr>
          <a:xfrm>
            <a:off x="6400800" y="3493008"/>
            <a:ext cx="4736592" cy="9144"/>
          </a:xfrm>
          <a:prstGeom prst="line">
            <a:avLst/>
          </a:prstGeom>
          <a:noFill/>
          <a:ln w="12700">
            <a:solidFill>
              <a:srgbClr val="F0F0F0"/>
            </a:solidFill>
            <a:prstDash val="solid"/>
          </a:ln>
        </p:spPr>
      </p:sp>
      <p:sp>
        <p:nvSpPr>
          <p:cNvPr id="24" name="Text 22"/>
          <p:cNvSpPr/>
          <p:nvPr/>
        </p:nvSpPr>
        <p:spPr>
          <a:xfrm>
            <a:off x="6400800" y="3529584"/>
            <a:ext cx="1783080" cy="347472"/>
          </a:xfrm>
          <a:prstGeom prst="rect">
            <a:avLst/>
          </a:prstGeom>
          <a:noFill/>
          <a:ln/>
        </p:spPr>
        <p:txBody>
          <a:bodyPr wrap="square" lIns="0" tIns="0" rIns="0" bIns="0" rtlCol="0" anchor="ctr"/>
          <a:lstStyle/>
          <a:p>
            <a:pPr indent="0" marL="0">
              <a:buNone/>
            </a:pPr>
            <a:r>
              <a:rPr lang="en-US" sz="1100" b="1" dirty="0">
                <a:solidFill>
                  <a:srgbClr val="065A82"/>
                </a:solidFill>
                <a:latin typeface="Calibri" pitchFamily="34" charset="0"/>
                <a:ea typeface="Calibri" pitchFamily="34" charset="-122"/>
                <a:cs typeface="Calibri" pitchFamily="34" charset="-120"/>
              </a:rPr>
              <a:t>Proxy restart loses rules</a:t>
            </a:r>
            <a:endParaRPr lang="en-US" sz="1100" dirty="0"/>
          </a:p>
        </p:txBody>
      </p:sp>
      <p:sp>
        <p:nvSpPr>
          <p:cNvPr id="25" name="Text 23"/>
          <p:cNvSpPr/>
          <p:nvPr/>
        </p:nvSpPr>
        <p:spPr>
          <a:xfrm>
            <a:off x="8211312" y="3529584"/>
            <a:ext cx="2926080" cy="347472"/>
          </a:xfrm>
          <a:prstGeom prst="rect">
            <a:avLst/>
          </a:prstGeom>
          <a:noFill/>
          <a:ln/>
        </p:spPr>
        <p:txBody>
          <a:bodyPr wrap="square" lIns="0" tIns="0" rIns="0" bIns="0" rtlCol="0" anchor="ctr"/>
          <a:lstStyle/>
          <a:p>
            <a:pPr indent="0" marL="0">
              <a:lnSpc>
                <a:spcPct val="112000"/>
              </a:lnSpc>
              <a:buNone/>
            </a:pPr>
            <a:r>
              <a:rPr lang="en-US" sz="1050" dirty="0">
                <a:solidFill>
                  <a:srgbClr val="2E2E2E"/>
                </a:solidFill>
                <a:latin typeface="Calibri" pitchFamily="34" charset="0"/>
                <a:ea typeface="Calibri" pitchFamily="34" charset="-122"/>
                <a:cs typeface="Calibri" pitchFamily="34" charset="-120"/>
              </a:rPr>
              <a:t>every installed rule is dropped, and the twin reports full health</a:t>
            </a:r>
            <a:endParaRPr lang="en-US" sz="1050" dirty="0"/>
          </a:p>
        </p:txBody>
      </p:sp>
      <p:sp>
        <p:nvSpPr>
          <p:cNvPr id="26" name="Shape 24"/>
          <p:cNvSpPr/>
          <p:nvPr/>
        </p:nvSpPr>
        <p:spPr>
          <a:xfrm>
            <a:off x="6400800" y="3858768"/>
            <a:ext cx="4736592" cy="9144"/>
          </a:xfrm>
          <a:prstGeom prst="line">
            <a:avLst/>
          </a:prstGeom>
          <a:noFill/>
          <a:ln w="12700">
            <a:solidFill>
              <a:srgbClr val="F0F0F0"/>
            </a:solidFill>
            <a:prstDash val="solid"/>
          </a:ln>
        </p:spPr>
      </p:sp>
      <p:sp>
        <p:nvSpPr>
          <p:cNvPr id="27" name="Text 25"/>
          <p:cNvSpPr/>
          <p:nvPr/>
        </p:nvSpPr>
        <p:spPr>
          <a:xfrm>
            <a:off x="6400800" y="3895344"/>
            <a:ext cx="1783080" cy="347472"/>
          </a:xfrm>
          <a:prstGeom prst="rect">
            <a:avLst/>
          </a:prstGeom>
          <a:noFill/>
          <a:ln/>
        </p:spPr>
        <p:txBody>
          <a:bodyPr wrap="square" lIns="0" tIns="0" rIns="0" bIns="0" rtlCol="0" anchor="ctr"/>
          <a:lstStyle/>
          <a:p>
            <a:pPr indent="0" marL="0">
              <a:buNone/>
            </a:pPr>
            <a:r>
              <a:rPr lang="en-US" sz="1100" b="1" dirty="0">
                <a:solidFill>
                  <a:srgbClr val="1A1A1A"/>
                </a:solidFill>
                <a:latin typeface="Calibri" pitchFamily="34" charset="0"/>
                <a:ea typeface="Calibri" pitchFamily="34" charset="-122"/>
                <a:cs typeface="Calibri" pitchFamily="34" charset="-120"/>
              </a:rPr>
              <a:t>Phase 3</a:t>
            </a:r>
            <a:endParaRPr lang="en-US" sz="1100" dirty="0"/>
          </a:p>
        </p:txBody>
      </p:sp>
      <p:sp>
        <p:nvSpPr>
          <p:cNvPr id="28" name="Text 26"/>
          <p:cNvSpPr/>
          <p:nvPr/>
        </p:nvSpPr>
        <p:spPr>
          <a:xfrm>
            <a:off x="8211312" y="3895344"/>
            <a:ext cx="2926080" cy="347472"/>
          </a:xfrm>
          <a:prstGeom prst="rect">
            <a:avLst/>
          </a:prstGeom>
          <a:noFill/>
          <a:ln/>
        </p:spPr>
        <p:txBody>
          <a:bodyPr wrap="square" lIns="0" tIns="0" rIns="0" bIns="0" rtlCol="0" anchor="ctr"/>
          <a:lstStyle/>
          <a:p>
            <a:pPr indent="0" marL="0">
              <a:lnSpc>
                <a:spcPct val="112000"/>
              </a:lnSpc>
              <a:buNone/>
            </a:pPr>
            <a:r>
              <a:rPr lang="en-US" sz="1050" dirty="0">
                <a:solidFill>
                  <a:srgbClr val="2E2E2E"/>
                </a:solidFill>
                <a:latin typeface="Calibri" pitchFamily="34" charset="0"/>
                <a:ea typeface="Calibri" pitchFamily="34" charset="-122"/>
                <a:cs typeface="Calibri" pitchFamily="34" charset="-120"/>
              </a:rPr>
              <a:t>proxy endpoint completion — the only phase not started</a:t>
            </a:r>
            <a:endParaRPr lang="en-US" sz="1050" dirty="0"/>
          </a:p>
        </p:txBody>
      </p:sp>
      <p:sp>
        <p:nvSpPr>
          <p:cNvPr id="29" name="Shape 27"/>
          <p:cNvSpPr/>
          <p:nvPr/>
        </p:nvSpPr>
        <p:spPr>
          <a:xfrm>
            <a:off x="6400800" y="4224528"/>
            <a:ext cx="4736592" cy="9144"/>
          </a:xfrm>
          <a:prstGeom prst="line">
            <a:avLst/>
          </a:prstGeom>
          <a:noFill/>
          <a:ln w="12700">
            <a:solidFill>
              <a:srgbClr val="F0F0F0"/>
            </a:solidFill>
            <a:prstDash val="solid"/>
          </a:ln>
        </p:spPr>
      </p:sp>
      <p:sp>
        <p:nvSpPr>
          <p:cNvPr id="30" name="Text 28"/>
          <p:cNvSpPr/>
          <p:nvPr/>
        </p:nvSpPr>
        <p:spPr>
          <a:xfrm>
            <a:off x="6400800" y="4261104"/>
            <a:ext cx="1783080" cy="347472"/>
          </a:xfrm>
          <a:prstGeom prst="rect">
            <a:avLst/>
          </a:prstGeom>
          <a:noFill/>
          <a:ln/>
        </p:spPr>
        <p:txBody>
          <a:bodyPr wrap="square" lIns="0" tIns="0" rIns="0" bIns="0" rtlCol="0" anchor="ctr"/>
          <a:lstStyle/>
          <a:p>
            <a:pPr indent="0" marL="0">
              <a:buNone/>
            </a:pPr>
            <a:r>
              <a:rPr lang="en-US" sz="1100" b="1" dirty="0">
                <a:solidFill>
                  <a:srgbClr val="1A1A1A"/>
                </a:solidFill>
                <a:latin typeface="Calibri" pitchFamily="34" charset="0"/>
                <a:ea typeface="Calibri" pitchFamily="34" charset="-122"/>
                <a:cs typeface="Calibri" pitchFamily="34" charset="-120"/>
              </a:rPr>
              <a:t>Ryu wedge</a:t>
            </a:r>
            <a:endParaRPr lang="en-US" sz="1100" dirty="0"/>
          </a:p>
        </p:txBody>
      </p:sp>
      <p:sp>
        <p:nvSpPr>
          <p:cNvPr id="31" name="Text 29"/>
          <p:cNvSpPr/>
          <p:nvPr/>
        </p:nvSpPr>
        <p:spPr>
          <a:xfrm>
            <a:off x="8211312" y="4261104"/>
            <a:ext cx="2926080" cy="347472"/>
          </a:xfrm>
          <a:prstGeom prst="rect">
            <a:avLst/>
          </a:prstGeom>
          <a:noFill/>
          <a:ln/>
        </p:spPr>
        <p:txBody>
          <a:bodyPr wrap="square" lIns="0" tIns="0" rIns="0" bIns="0" rtlCol="0" anchor="ctr"/>
          <a:lstStyle/>
          <a:p>
            <a:pPr indent="0" marL="0">
              <a:lnSpc>
                <a:spcPct val="112000"/>
              </a:lnSpc>
              <a:buNone/>
            </a:pPr>
            <a:r>
              <a:rPr lang="en-US" sz="1050" dirty="0">
                <a:solidFill>
                  <a:srgbClr val="2E2E2E"/>
                </a:solidFill>
                <a:latin typeface="Calibri" pitchFamily="34" charset="0"/>
                <a:ea typeface="Calibri" pitchFamily="34" charset="-122"/>
                <a:cs typeface="Calibri" pitchFamily="34" charset="-120"/>
              </a:rPr>
              <a:t>root cause unproven after four falsified hypotheses</a:t>
            </a:r>
            <a:endParaRPr lang="en-US" sz="1050" dirty="0"/>
          </a:p>
        </p:txBody>
      </p:sp>
      <p:sp>
        <p:nvSpPr>
          <p:cNvPr id="32" name="Shape 30"/>
          <p:cNvSpPr/>
          <p:nvPr/>
        </p:nvSpPr>
        <p:spPr>
          <a:xfrm>
            <a:off x="6400800" y="4590288"/>
            <a:ext cx="4736592" cy="9144"/>
          </a:xfrm>
          <a:prstGeom prst="line">
            <a:avLst/>
          </a:prstGeom>
          <a:noFill/>
          <a:ln w="12700">
            <a:solidFill>
              <a:srgbClr val="F0F0F0"/>
            </a:solidFill>
            <a:prstDash val="solid"/>
          </a:ln>
        </p:spPr>
      </p:sp>
      <p:sp>
        <p:nvSpPr>
          <p:cNvPr id="33" name="Text 31"/>
          <p:cNvSpPr/>
          <p:nvPr/>
        </p:nvSpPr>
        <p:spPr>
          <a:xfrm>
            <a:off x="6400800" y="4626864"/>
            <a:ext cx="1783080" cy="347472"/>
          </a:xfrm>
          <a:prstGeom prst="rect">
            <a:avLst/>
          </a:prstGeom>
          <a:noFill/>
          <a:ln/>
        </p:spPr>
        <p:txBody>
          <a:bodyPr wrap="square" lIns="0" tIns="0" rIns="0" bIns="0" rtlCol="0" anchor="ctr"/>
          <a:lstStyle/>
          <a:p>
            <a:pPr indent="0" marL="0">
              <a:buNone/>
            </a:pPr>
            <a:r>
              <a:rPr lang="en-US" sz="1100" b="1" dirty="0">
                <a:solidFill>
                  <a:srgbClr val="1A1A1A"/>
                </a:solidFill>
                <a:latin typeface="Calibri" pitchFamily="34" charset="0"/>
                <a:ea typeface="Calibri" pitchFamily="34" charset="-122"/>
                <a:cs typeface="Calibri" pitchFamily="34" charset="-120"/>
              </a:rPr>
              <a:t>Election-id reuse</a:t>
            </a:r>
            <a:endParaRPr lang="en-US" sz="1100" dirty="0"/>
          </a:p>
        </p:txBody>
      </p:sp>
      <p:sp>
        <p:nvSpPr>
          <p:cNvPr id="34" name="Text 32"/>
          <p:cNvSpPr/>
          <p:nvPr/>
        </p:nvSpPr>
        <p:spPr>
          <a:xfrm>
            <a:off x="8211312" y="4626864"/>
            <a:ext cx="2926080" cy="347472"/>
          </a:xfrm>
          <a:prstGeom prst="rect">
            <a:avLst/>
          </a:prstGeom>
          <a:noFill/>
          <a:ln/>
        </p:spPr>
        <p:txBody>
          <a:bodyPr wrap="square" lIns="0" tIns="0" rIns="0" bIns="0" rtlCol="0" anchor="ctr"/>
          <a:lstStyle/>
          <a:p>
            <a:pPr indent="0" marL="0">
              <a:lnSpc>
                <a:spcPct val="112000"/>
              </a:lnSpc>
              <a:buNone/>
            </a:pPr>
            <a:r>
              <a:rPr lang="en-US" sz="1050" dirty="0">
                <a:solidFill>
                  <a:srgbClr val="2E2E2E"/>
                </a:solidFill>
                <a:latin typeface="Calibri" pitchFamily="34" charset="0"/>
                <a:ea typeface="Calibri" pitchFamily="34" charset="-122"/>
                <a:cs typeface="Calibri" pitchFamily="34" charset="-120"/>
              </a:rPr>
              <a:t>deliberately left; changing it means re-verifying re-adoption</a:t>
            </a:r>
            <a:endParaRPr lang="en-US" sz="1050" dirty="0"/>
          </a:p>
        </p:txBody>
      </p:sp>
      <p:sp>
        <p:nvSpPr>
          <p:cNvPr id="35" name="Shape 33"/>
          <p:cNvSpPr/>
          <p:nvPr/>
        </p:nvSpPr>
        <p:spPr>
          <a:xfrm>
            <a:off x="6400800" y="4956048"/>
            <a:ext cx="4736592" cy="9144"/>
          </a:xfrm>
          <a:prstGeom prst="line">
            <a:avLst/>
          </a:prstGeom>
          <a:noFill/>
          <a:ln w="12700">
            <a:solidFill>
              <a:srgbClr val="F0F0F0"/>
            </a:solidFill>
            <a:prstDash val="solid"/>
          </a:ln>
        </p:spPr>
      </p:sp>
      <p:sp>
        <p:nvSpPr>
          <p:cNvPr id="36" name="Text 34"/>
          <p:cNvSpPr/>
          <p:nvPr/>
        </p:nvSpPr>
        <p:spPr>
          <a:xfrm>
            <a:off x="6400800" y="4992624"/>
            <a:ext cx="1783080" cy="347472"/>
          </a:xfrm>
          <a:prstGeom prst="rect">
            <a:avLst/>
          </a:prstGeom>
          <a:noFill/>
          <a:ln/>
        </p:spPr>
        <p:txBody>
          <a:bodyPr wrap="square" lIns="0" tIns="0" rIns="0" bIns="0" rtlCol="0" anchor="ctr"/>
          <a:lstStyle/>
          <a:p>
            <a:pPr indent="0" marL="0">
              <a:buNone/>
            </a:pPr>
            <a:r>
              <a:rPr lang="en-US" sz="1100" b="1" dirty="0">
                <a:solidFill>
                  <a:srgbClr val="1A1A1A"/>
                </a:solidFill>
                <a:latin typeface="Calibri" pitchFamily="34" charset="0"/>
                <a:ea typeface="Calibri" pitchFamily="34" charset="-122"/>
                <a:cs typeface="Calibri" pitchFamily="34" charset="-120"/>
              </a:rPr>
              <a:t>popen("curl …")</a:t>
            </a:r>
            <a:endParaRPr lang="en-US" sz="1100" dirty="0"/>
          </a:p>
        </p:txBody>
      </p:sp>
      <p:sp>
        <p:nvSpPr>
          <p:cNvPr id="37" name="Text 35"/>
          <p:cNvSpPr/>
          <p:nvPr/>
        </p:nvSpPr>
        <p:spPr>
          <a:xfrm>
            <a:off x="8211312" y="4992624"/>
            <a:ext cx="2926080" cy="347472"/>
          </a:xfrm>
          <a:prstGeom prst="rect">
            <a:avLst/>
          </a:prstGeom>
          <a:noFill/>
          <a:ln/>
        </p:spPr>
        <p:txBody>
          <a:bodyPr wrap="square" lIns="0" tIns="0" rIns="0" bIns="0" rtlCol="0" anchor="ctr"/>
          <a:lstStyle/>
          <a:p>
            <a:pPr indent="0" marL="0">
              <a:lnSpc>
                <a:spcPct val="112000"/>
              </a:lnSpc>
              <a:buNone/>
            </a:pPr>
            <a:r>
              <a:rPr lang="en-US" sz="1050" dirty="0">
                <a:solidFill>
                  <a:srgbClr val="2E2E2E"/>
                </a:solidFill>
                <a:latin typeface="Calibri" pitchFamily="34" charset="0"/>
                <a:ea typeface="Calibri" pitchFamily="34" charset="-122"/>
                <a:cs typeface="Calibri" pitchFamily="34" charset="-120"/>
              </a:rPr>
              <a:t>22 sites across 3 files, deferred on purpose</a:t>
            </a:r>
            <a:endParaRPr lang="en-US" sz="1050" dirty="0"/>
          </a:p>
        </p:txBody>
      </p:sp>
      <p:sp>
        <p:nvSpPr>
          <p:cNvPr id="38" name="Shape 36"/>
          <p:cNvSpPr/>
          <p:nvPr/>
        </p:nvSpPr>
        <p:spPr>
          <a:xfrm>
            <a:off x="6400800" y="5321808"/>
            <a:ext cx="4736592" cy="9144"/>
          </a:xfrm>
          <a:prstGeom prst="line">
            <a:avLst/>
          </a:prstGeom>
          <a:noFill/>
          <a:ln w="12700">
            <a:solidFill>
              <a:srgbClr val="F0F0F0"/>
            </a:solidFill>
            <a:prstDash val="solid"/>
          </a:ln>
        </p:spPr>
      </p:sp>
      <p:sp>
        <p:nvSpPr>
          <p:cNvPr id="39" name="Text 37"/>
          <p:cNvSpPr/>
          <p:nvPr/>
        </p:nvSpPr>
        <p:spPr>
          <a:xfrm>
            <a:off x="6400800" y="5358384"/>
            <a:ext cx="1783080" cy="347472"/>
          </a:xfrm>
          <a:prstGeom prst="rect">
            <a:avLst/>
          </a:prstGeom>
          <a:noFill/>
          <a:ln/>
        </p:spPr>
        <p:txBody>
          <a:bodyPr wrap="square" lIns="0" tIns="0" rIns="0" bIns="0" rtlCol="0" anchor="ctr"/>
          <a:lstStyle/>
          <a:p>
            <a:pPr indent="0" marL="0">
              <a:buNone/>
            </a:pPr>
            <a:r>
              <a:rPr lang="en-US" sz="1100" b="1" dirty="0">
                <a:solidFill>
                  <a:srgbClr val="1A1A1A"/>
                </a:solidFill>
                <a:latin typeface="Calibri" pitchFamily="34" charset="0"/>
                <a:ea typeface="Calibri" pitchFamily="34" charset="-122"/>
                <a:cs typeface="Calibri" pitchFamily="34" charset="-120"/>
              </a:rPr>
              <a:t>bmv2 stock throughput</a:t>
            </a:r>
            <a:endParaRPr lang="en-US" sz="1100" dirty="0"/>
          </a:p>
        </p:txBody>
      </p:sp>
      <p:sp>
        <p:nvSpPr>
          <p:cNvPr id="40" name="Text 38"/>
          <p:cNvSpPr/>
          <p:nvPr/>
        </p:nvSpPr>
        <p:spPr>
          <a:xfrm>
            <a:off x="8211312" y="5358384"/>
            <a:ext cx="2926080" cy="347472"/>
          </a:xfrm>
          <a:prstGeom prst="rect">
            <a:avLst/>
          </a:prstGeom>
          <a:noFill/>
          <a:ln/>
        </p:spPr>
        <p:txBody>
          <a:bodyPr wrap="square" lIns="0" tIns="0" rIns="0" bIns="0" rtlCol="0" anchor="ctr"/>
          <a:lstStyle/>
          <a:p>
            <a:pPr indent="0" marL="0">
              <a:lnSpc>
                <a:spcPct val="112000"/>
              </a:lnSpc>
              <a:buNone/>
            </a:pPr>
            <a:r>
              <a:rPr lang="en-US" sz="1050" dirty="0">
                <a:solidFill>
                  <a:srgbClr val="2E2E2E"/>
                </a:solidFill>
                <a:latin typeface="Calibri" pitchFamily="34" charset="0"/>
                <a:ea typeface="Calibri" pitchFamily="34" charset="-122"/>
                <a:cs typeface="Calibri" pitchFamily="34" charset="-120"/>
              </a:rPr>
              <a:t>~40 Mbps per switch — a design trade-off, not a defect</a:t>
            </a:r>
            <a:endParaRPr lang="en-US" sz="1050" dirty="0"/>
          </a:p>
        </p:txBody>
      </p:sp>
      <p:sp>
        <p:nvSpPr>
          <p:cNvPr id="41" name="Shape 39"/>
          <p:cNvSpPr/>
          <p:nvPr/>
        </p:nvSpPr>
        <p:spPr>
          <a:xfrm>
            <a:off x="6400800" y="5687568"/>
            <a:ext cx="4736592" cy="9144"/>
          </a:xfrm>
          <a:prstGeom prst="line">
            <a:avLst/>
          </a:prstGeom>
          <a:noFill/>
          <a:ln w="12700">
            <a:solidFill>
              <a:srgbClr val="F0F0F0"/>
            </a:solidFill>
            <a:prstDash val="solid"/>
          </a:ln>
        </p:spPr>
      </p:sp>
      <p:sp>
        <p:nvSpPr>
          <p:cNvPr id="42" name="Text 40"/>
          <p:cNvSpPr/>
          <p:nvPr/>
        </p:nvSpPr>
        <p:spPr>
          <a:xfrm>
            <a:off x="6400800" y="5833872"/>
            <a:ext cx="4736592" cy="640080"/>
          </a:xfrm>
          <a:prstGeom prst="rect">
            <a:avLst/>
          </a:prstGeom>
          <a:noFill/>
          <a:ln/>
        </p:spPr>
        <p:txBody>
          <a:bodyPr wrap="square" lIns="0" tIns="0" rIns="0" bIns="0" rtlCol="0" anchor="ctr"/>
          <a:lstStyle/>
          <a:p>
            <a:pPr indent="0" marL="0">
              <a:lnSpc>
                <a:spcPct val="118000"/>
              </a:lnSpc>
              <a:buNone/>
            </a:pPr>
            <a:r>
              <a:rPr lang="en-US" sz="1050" dirty="0">
                <a:solidFill>
                  <a:srgbClr val="4F4F4F"/>
                </a:solidFill>
                <a:latin typeface="Calibri" pitchFamily="34" charset="0"/>
                <a:ea typeface="Calibri" pitchFamily="34" charset="-122"/>
                <a:cs typeface="Calibri" pitchFamily="34" charset="-120"/>
              </a:rPr>
              <a:t>The four marked items were found in the last two rounds of live testing and are deliberately unfixed before this report. All seventeen open issues are collected in doc/KNOWN-ISSUES.md, ordered by whether normal operation reaches them.</a:t>
            </a:r>
            <a:endParaRPr lang="en-US" sz="1050" dirty="0"/>
          </a:p>
        </p:txBody>
      </p:sp>
      <p:sp>
        <p:nvSpPr>
          <p:cNvPr id="43" name="Shape 41"/>
          <p:cNvSpPr/>
          <p:nvPr/>
        </p:nvSpPr>
        <p:spPr>
          <a:xfrm>
            <a:off x="777240" y="5120640"/>
            <a:ext cx="27432" cy="960120"/>
          </a:xfrm>
          <a:prstGeom prst="rect">
            <a:avLst/>
          </a:prstGeom>
          <a:solidFill>
            <a:srgbClr val="065A82"/>
          </a:solidFill>
          <a:ln/>
        </p:spPr>
      </p:sp>
      <p:sp>
        <p:nvSpPr>
          <p:cNvPr id="44" name="Text 42"/>
          <p:cNvSpPr/>
          <p:nvPr/>
        </p:nvSpPr>
        <p:spPr>
          <a:xfrm>
            <a:off x="978408" y="5084064"/>
            <a:ext cx="4919472" cy="237744"/>
          </a:xfrm>
          <a:prstGeom prst="rect">
            <a:avLst/>
          </a:prstGeom>
          <a:noFill/>
          <a:ln/>
        </p:spPr>
        <p:txBody>
          <a:bodyPr wrap="square" lIns="0" tIns="0" rIns="0" bIns="0" rtlCol="0" anchor="ctr"/>
          <a:lstStyle/>
          <a:p>
            <a:pPr indent="0" marL="0">
              <a:buNone/>
            </a:pPr>
            <a:r>
              <a:rPr lang="en-US" sz="1150" b="1" dirty="0">
                <a:solidFill>
                  <a:srgbClr val="065A82"/>
                </a:solidFill>
                <a:latin typeface="Calibri" pitchFamily="34" charset="0"/>
                <a:ea typeface="Calibri" pitchFamily="34" charset="-122"/>
                <a:cs typeface="Calibri" pitchFamily="34" charset="-120"/>
              </a:rPr>
              <a:t>The queued-endpoint gap is worse on OVS than on P4</a:t>
            </a:r>
            <a:endParaRPr lang="en-US" sz="1150" dirty="0"/>
          </a:p>
        </p:txBody>
      </p:sp>
      <p:sp>
        <p:nvSpPr>
          <p:cNvPr id="45" name="Text 43"/>
          <p:cNvSpPr/>
          <p:nvPr/>
        </p:nvSpPr>
        <p:spPr>
          <a:xfrm>
            <a:off x="978408" y="5358384"/>
            <a:ext cx="4919472" cy="685800"/>
          </a:xfrm>
          <a:prstGeom prst="rect">
            <a:avLst/>
          </a:prstGeom>
          <a:noFill/>
          <a:ln/>
        </p:spPr>
        <p:txBody>
          <a:bodyPr wrap="square" lIns="0" tIns="0" rIns="0" bIns="0" rtlCol="0" anchor="ctr"/>
          <a:lstStyle/>
          <a:p>
            <a:pPr indent="0" marL="0">
              <a:lnSpc>
                <a:spcPct val="120000"/>
              </a:lnSpc>
              <a:buNone/>
            </a:pPr>
            <a:r>
              <a:rPr lang="en-US" sz="1100" dirty="0">
                <a:solidFill>
                  <a:srgbClr val="2E2E2E"/>
                </a:solidFill>
                <a:latin typeface="Calibri" pitchFamily="34" charset="0"/>
                <a:ea typeface="Calibri" pitchFamily="34" charset="-122"/>
                <a:cs typeface="Calibri" pitchFamily="34" charset="-120"/>
              </a:rPr>
              <a:t>Same rule, same 200 queued, both data planes. P4 writes "dispatched install failed"; OVS writes nothing at all — 16,324 log lines, zero errors, and the rule never installed. On OVS the gap is not just unqueryable, it is untraceable after the fact.</a:t>
            </a:r>
            <a:endParaRPr lang="en-US" sz="1100" dirty="0"/>
          </a:p>
        </p:txBody>
      </p:sp>
      <p:sp>
        <p:nvSpPr>
          <p:cNvPr id="46" name="Text 44"/>
          <p:cNvSpPr/>
          <p:nvPr/>
        </p:nvSpPr>
        <p:spPr>
          <a:xfrm>
            <a:off x="777240" y="6272784"/>
            <a:ext cx="5120640" cy="365760"/>
          </a:xfrm>
          <a:prstGeom prst="rect">
            <a:avLst/>
          </a:prstGeom>
          <a:noFill/>
          <a:ln/>
        </p:spPr>
        <p:txBody>
          <a:bodyPr wrap="square" lIns="0" tIns="0" rIns="0" bIns="0" rtlCol="0" anchor="ctr"/>
          <a:lstStyle/>
          <a:p>
            <a:pPr indent="0" marL="0">
              <a:lnSpc>
                <a:spcPct val="118000"/>
              </a:lnSpc>
              <a:buNone/>
            </a:pPr>
            <a:r>
              <a:rPr lang="en-US" sz="1050" dirty="0">
                <a:solidFill>
                  <a:srgbClr val="4F4F4F"/>
                </a:solidFill>
                <a:latin typeface="Calibri" pitchFamily="34" charset="0"/>
                <a:ea typeface="Calibri" pitchFamily="34" charset="-122"/>
                <a:cs typeface="Calibri" pitchFamily="34" charset="-120"/>
              </a:rPr>
              <a:t>Also worth asking about: a P4Runtime specification report was prepared and then disproved by its own final check before it was sent.</a:t>
            </a:r>
            <a:endParaRPr lang="en-US" sz="1050" dirty="0"/>
          </a:p>
        </p:txBody>
      </p:sp>
      <p:sp>
        <p:nvSpPr>
          <p:cNvPr id="47" name="Text 45"/>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41</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566928"/>
            <a:ext cx="10637215" cy="621792"/>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Future work</a:t>
            </a:r>
            <a:endParaRPr lang="en-US" sz="3000" dirty="0"/>
          </a:p>
        </p:txBody>
      </p:sp>
      <p:sp>
        <p:nvSpPr>
          <p:cNvPr id="3" name="Text 1"/>
          <p:cNvSpPr/>
          <p:nvPr/>
        </p:nvSpPr>
        <p:spPr>
          <a:xfrm>
            <a:off x="777240" y="1207008"/>
            <a:ext cx="10637215" cy="347472"/>
          </a:xfrm>
          <a:prstGeom prst="rect">
            <a:avLst/>
          </a:prstGeom>
          <a:noFill/>
          <a:ln/>
        </p:spPr>
        <p:txBody>
          <a:bodyPr wrap="square" lIns="0" tIns="0" rIns="0" bIns="0" rtlCol="0" anchor="ctr"/>
          <a:lstStyle/>
          <a:p>
            <a:pPr indent="0" marL="0">
              <a:buNone/>
            </a:pPr>
            <a:r>
              <a:rPr lang="en-US" sz="1400" dirty="0">
                <a:solidFill>
                  <a:srgbClr val="4F4F4F"/>
                </a:solidFill>
                <a:latin typeface="Calibri" pitchFamily="34" charset="0"/>
                <a:ea typeface="Calibri" pitchFamily="34" charset="-122"/>
                <a:cs typeface="Calibri" pitchFamily="34" charset="-120"/>
              </a:rPr>
              <a:t>Three directions, at three different levels — a design problem, a structural problem, and an architectural one</a:t>
            </a:r>
            <a:endParaRPr lang="en-US" sz="1400" dirty="0"/>
          </a:p>
        </p:txBody>
      </p:sp>
      <p:sp>
        <p:nvSpPr>
          <p:cNvPr id="4" name="Shape 2"/>
          <p:cNvSpPr/>
          <p:nvPr/>
        </p:nvSpPr>
        <p:spPr>
          <a:xfrm>
            <a:off x="777240" y="1700784"/>
            <a:ext cx="10637215" cy="9144"/>
          </a:xfrm>
          <a:prstGeom prst="line">
            <a:avLst/>
          </a:prstGeom>
          <a:noFill/>
          <a:ln w="12700">
            <a:solidFill>
              <a:srgbClr val="D0D0D0"/>
            </a:solidFill>
            <a:prstDash val="solid"/>
          </a:ln>
        </p:spPr>
      </p:sp>
      <p:sp>
        <p:nvSpPr>
          <p:cNvPr id="5" name="Text 3"/>
          <p:cNvSpPr/>
          <p:nvPr/>
        </p:nvSpPr>
        <p:spPr>
          <a:xfrm>
            <a:off x="777240" y="2139696"/>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06424" y="2130552"/>
            <a:ext cx="9692640" cy="292608"/>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Concurrency control has two blocked routes, and both are located</a:t>
            </a:r>
            <a:endParaRPr lang="en-US" sz="1500" dirty="0"/>
          </a:p>
        </p:txBody>
      </p:sp>
      <p:sp>
        <p:nvSpPr>
          <p:cNvPr id="7" name="Text 5"/>
          <p:cNvSpPr/>
          <p:nvPr/>
        </p:nvSpPr>
        <p:spPr>
          <a:xfrm>
            <a:off x="1106424" y="2450592"/>
            <a:ext cx="6263640" cy="960120"/>
          </a:xfrm>
          <a:prstGeom prst="rect">
            <a:avLst/>
          </a:prstGeom>
          <a:noFill/>
          <a:ln/>
        </p:spPr>
        <p:txBody>
          <a:bodyPr wrap="square" lIns="0" tIns="0" rIns="0" bIns="0" rtlCol="0" anchor="ctr"/>
          <a:lstStyle/>
          <a:p>
            <a:pPr indent="0" marL="0">
              <a:lnSpc>
                <a:spcPct val="120000"/>
              </a:lnSpc>
              <a:buNone/>
            </a:pPr>
            <a:r>
              <a:rPr lang="en-US" sz="1150" dirty="0">
                <a:solidFill>
                  <a:srgbClr val="2E2E2E"/>
                </a:solidFill>
                <a:latin typeface="Calibri" pitchFamily="34" charset="0"/>
                <a:ea typeface="Calibri" pitchFamily="34" charset="-122"/>
                <a:cs typeface="Calibri" pitchFamily="34" charset="-120"/>
              </a:rPr>
              <a:t>The pessimistic route: release_lock only checks that a lock exists, never who holds it — a second connection with no credentials released a live lock and took it. Adding an owner is not sufficient on its own: LockManager::renew checks isLocked but not expiry, so an already-expired lease can be renewed indefinitely and TTL stops meaning anything when a holder dies.</a:t>
            </a:r>
            <a:endParaRPr lang="en-US" sz="1150" dirty="0"/>
          </a:p>
        </p:txBody>
      </p:sp>
      <p:sp>
        <p:nvSpPr>
          <p:cNvPr id="8" name="Shape 6"/>
          <p:cNvSpPr/>
          <p:nvPr/>
        </p:nvSpPr>
        <p:spPr>
          <a:xfrm>
            <a:off x="7699248" y="2432304"/>
            <a:ext cx="27432" cy="868680"/>
          </a:xfrm>
          <a:prstGeom prst="rect">
            <a:avLst/>
          </a:prstGeom>
          <a:solidFill>
            <a:srgbClr val="065A82"/>
          </a:solidFill>
          <a:ln/>
        </p:spPr>
      </p:sp>
      <p:sp>
        <p:nvSpPr>
          <p:cNvPr id="9" name="Text 7"/>
          <p:cNvSpPr/>
          <p:nvPr/>
        </p:nvSpPr>
        <p:spPr>
          <a:xfrm>
            <a:off x="7918704" y="2395728"/>
            <a:ext cx="3493008" cy="960120"/>
          </a:xfrm>
          <a:prstGeom prst="rect">
            <a:avLst/>
          </a:prstGeom>
          <a:noFill/>
          <a:ln/>
        </p:spPr>
        <p:txBody>
          <a:bodyPr wrap="square" lIns="0" tIns="0" rIns="0" bIns="0" rtlCol="0" anchor="ctr"/>
          <a:lstStyle/>
          <a:p>
            <a:pPr indent="0" marL="0">
              <a:lnSpc>
                <a:spcPct val="120000"/>
              </a:lnSpc>
              <a:buNone/>
            </a:pPr>
            <a:r>
              <a:rPr lang="en-US" sz="1100" dirty="0">
                <a:solidFill>
                  <a:srgbClr val="4F4F4F"/>
                </a:solidFill>
                <a:latin typeface="Calibri" pitchFamily="34" charset="0"/>
                <a:ea typeface="Calibri" pitchFamily="34" charset="-122"/>
                <a:cs typeface="Calibri" pitchFamily="34" charset="-120"/>
              </a:rPr>
              <a:t>Next: an owner token plus a now &lt; expiry guard. The optimistic route stays blocked until commit failures are detectable at all.</a:t>
            </a:r>
            <a:endParaRPr lang="en-US" sz="1100" dirty="0"/>
          </a:p>
        </p:txBody>
      </p:sp>
      <p:sp>
        <p:nvSpPr>
          <p:cNvPr id="10" name="Text 8"/>
          <p:cNvSpPr/>
          <p:nvPr/>
        </p:nvSpPr>
        <p:spPr>
          <a:xfrm>
            <a:off x="777240" y="3529584"/>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06424" y="3520440"/>
            <a:ext cx="9692640" cy="292608"/>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topology_manager.py carries three responsibilities in one class</a:t>
            </a:r>
            <a:endParaRPr lang="en-US" sz="1500" dirty="0"/>
          </a:p>
        </p:txBody>
      </p:sp>
      <p:sp>
        <p:nvSpPr>
          <p:cNvPr id="12" name="Text 10"/>
          <p:cNvSpPr/>
          <p:nvPr/>
        </p:nvSpPr>
        <p:spPr>
          <a:xfrm>
            <a:off x="1106424" y="3840480"/>
            <a:ext cx="6263640" cy="960120"/>
          </a:xfrm>
          <a:prstGeom prst="rect">
            <a:avLst/>
          </a:prstGeom>
          <a:noFill/>
          <a:ln/>
        </p:spPr>
        <p:txBody>
          <a:bodyPr wrap="square" lIns="0" tIns="0" rIns="0" bIns="0" rtlCol="0" anchor="ctr"/>
          <a:lstStyle/>
          <a:p>
            <a:pPr indent="0" marL="0">
              <a:lnSpc>
                <a:spcPct val="120000"/>
              </a:lnSpc>
              <a:buNone/>
            </a:pPr>
            <a:r>
              <a:rPr lang="en-US" sz="1150" dirty="0">
                <a:solidFill>
                  <a:srgbClr val="2E2E2E"/>
                </a:solidFill>
                <a:latin typeface="Calibri" pitchFamily="34" charset="0"/>
                <a:ea typeface="Calibri" pitchFamily="34" charset="-122"/>
                <a:cs typeface="Calibri" pitchFamily="34" charset="-120"/>
              </a:rPr>
              <a:t>1,516 lines covering graph and routing, LLDP and liveness, and rule translation. The evidence is already in the file: two mutually independent locks, one guarding the graph and one the liveness bookkeeping, with a comment stating they are never held at once.</a:t>
            </a:r>
            <a:endParaRPr lang="en-US" sz="1150" dirty="0"/>
          </a:p>
        </p:txBody>
      </p:sp>
      <p:sp>
        <p:nvSpPr>
          <p:cNvPr id="13" name="Shape 11"/>
          <p:cNvSpPr/>
          <p:nvPr/>
        </p:nvSpPr>
        <p:spPr>
          <a:xfrm>
            <a:off x="7699248" y="3822192"/>
            <a:ext cx="27432" cy="868680"/>
          </a:xfrm>
          <a:prstGeom prst="rect">
            <a:avLst/>
          </a:prstGeom>
          <a:solidFill>
            <a:srgbClr val="065A82"/>
          </a:solidFill>
          <a:ln/>
        </p:spPr>
      </p:sp>
      <p:sp>
        <p:nvSpPr>
          <p:cNvPr id="14" name="Text 12"/>
          <p:cNvSpPr/>
          <p:nvPr/>
        </p:nvSpPr>
        <p:spPr>
          <a:xfrm>
            <a:off x="7918704" y="3785616"/>
            <a:ext cx="3493008" cy="960120"/>
          </a:xfrm>
          <a:prstGeom prst="rect">
            <a:avLst/>
          </a:prstGeom>
          <a:noFill/>
          <a:ln/>
        </p:spPr>
        <p:txBody>
          <a:bodyPr wrap="square" lIns="0" tIns="0" rIns="0" bIns="0" rtlCol="0" anchor="ctr"/>
          <a:lstStyle/>
          <a:p>
            <a:pPr indent="0" marL="0">
              <a:lnSpc>
                <a:spcPct val="120000"/>
              </a:lnSpc>
              <a:buNone/>
            </a:pPr>
            <a:r>
              <a:rPr lang="en-US" sz="1100" dirty="0">
                <a:solidFill>
                  <a:srgbClr val="4F4F4F"/>
                </a:solidFill>
                <a:latin typeface="Calibri" pitchFamily="34" charset="0"/>
                <a:ea typeface="Calibri" pitchFamily="34" charset="-122"/>
                <a:cs typeface="Calibri" pitchFamily="34" charset="-120"/>
              </a:rPr>
              <a:t>Next: split along the line the two locks already draw. A class that needs two unrelated locks is usually two classes.</a:t>
            </a:r>
            <a:endParaRPr lang="en-US" sz="1100" dirty="0"/>
          </a:p>
        </p:txBody>
      </p:sp>
      <p:sp>
        <p:nvSpPr>
          <p:cNvPr id="15" name="Text 13"/>
          <p:cNvSpPr/>
          <p:nvPr/>
        </p:nvSpPr>
        <p:spPr>
          <a:xfrm>
            <a:off x="777240" y="4919472"/>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06424" y="4910328"/>
            <a:ext cx="9692640" cy="292608"/>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Asynchronous dispatch needs a completion handle</a:t>
            </a:r>
            <a:endParaRPr lang="en-US" sz="1500" dirty="0"/>
          </a:p>
        </p:txBody>
      </p:sp>
      <p:sp>
        <p:nvSpPr>
          <p:cNvPr id="17" name="Text 15"/>
          <p:cNvSpPr/>
          <p:nvPr/>
        </p:nvSpPr>
        <p:spPr>
          <a:xfrm>
            <a:off x="1106424" y="5230368"/>
            <a:ext cx="6263640" cy="960120"/>
          </a:xfrm>
          <a:prstGeom prst="rect">
            <a:avLst/>
          </a:prstGeom>
          <a:noFill/>
          <a:ln/>
        </p:spPr>
        <p:txBody>
          <a:bodyPr wrap="square" lIns="0" tIns="0" rIns="0" bIns="0" rtlCol="0" anchor="ctr"/>
          <a:lstStyle/>
          <a:p>
            <a:pPr indent="0" marL="0">
              <a:lnSpc>
                <a:spcPct val="120000"/>
              </a:lnSpc>
              <a:buNone/>
            </a:pPr>
            <a:r>
              <a:rPr lang="en-US" sz="1150" dirty="0">
                <a:solidFill>
                  <a:srgbClr val="2E2E2E"/>
                </a:solidFill>
                <a:latin typeface="Calibri" pitchFamily="34" charset="0"/>
                <a:ea typeface="Calibri" pitchFamily="34" charset="-122"/>
                <a:cs typeface="Calibri" pitchFamily="34" charset="-120"/>
              </a:rPr>
              <a:t>processFlowBatch returns 200 queued and the dispatcher sends afterwards, so a switch's rejection has no route back to the application. Both applications that write flows discard the response, so returning 202 instead would change nothing.</a:t>
            </a:r>
            <a:endParaRPr lang="en-US" sz="1150" dirty="0"/>
          </a:p>
        </p:txBody>
      </p:sp>
      <p:sp>
        <p:nvSpPr>
          <p:cNvPr id="18" name="Shape 16"/>
          <p:cNvSpPr/>
          <p:nvPr/>
        </p:nvSpPr>
        <p:spPr>
          <a:xfrm>
            <a:off x="7699248" y="5212080"/>
            <a:ext cx="27432" cy="868680"/>
          </a:xfrm>
          <a:prstGeom prst="rect">
            <a:avLst/>
          </a:prstGeom>
          <a:solidFill>
            <a:srgbClr val="065A82"/>
          </a:solidFill>
          <a:ln/>
        </p:spPr>
      </p:sp>
      <p:sp>
        <p:nvSpPr>
          <p:cNvPr id="19" name="Text 17"/>
          <p:cNvSpPr/>
          <p:nvPr/>
        </p:nvSpPr>
        <p:spPr>
          <a:xfrm>
            <a:off x="7918704" y="5175504"/>
            <a:ext cx="3493008" cy="960120"/>
          </a:xfrm>
          <a:prstGeom prst="rect">
            <a:avLst/>
          </a:prstGeom>
          <a:noFill/>
          <a:ln/>
        </p:spPr>
        <p:txBody>
          <a:bodyPr wrap="square" lIns="0" tIns="0" rIns="0" bIns="0" rtlCol="0" anchor="ctr"/>
          <a:lstStyle/>
          <a:p>
            <a:pPr indent="0" marL="0">
              <a:lnSpc>
                <a:spcPct val="120000"/>
              </a:lnSpc>
              <a:buNone/>
            </a:pPr>
            <a:r>
              <a:rPr lang="en-US" sz="1100" dirty="0">
                <a:solidFill>
                  <a:srgbClr val="4F4F4F"/>
                </a:solidFill>
                <a:latin typeface="Calibri" pitchFamily="34" charset="0"/>
                <a:ea typeface="Calibri" pitchFamily="34" charset="-122"/>
                <a:cs typeface="Calibri" pitchFamily="34" charset="-120"/>
              </a:rPr>
              <a:t>Next: a queryable job id or a synchronous path — a contract change across seven components, which is why it is future work rather than a fix.</a:t>
            </a:r>
            <a:endParaRPr lang="en-US" sz="1100" dirty="0"/>
          </a:p>
        </p:txBody>
      </p:sp>
      <p:sp>
        <p:nvSpPr>
          <p:cNvPr id="20" name="Text 18"/>
          <p:cNvSpPr/>
          <p:nvPr/>
        </p:nvSpPr>
        <p:spPr>
          <a:xfrm>
            <a:off x="777240" y="6272784"/>
            <a:ext cx="9951415" cy="365760"/>
          </a:xfrm>
          <a:prstGeom prst="rect">
            <a:avLst/>
          </a:prstGeom>
          <a:noFill/>
          <a:ln/>
        </p:spPr>
        <p:txBody>
          <a:bodyPr wrap="square" lIns="0" tIns="0" rIns="0" bIns="0" rtlCol="0" anchor="ctr"/>
          <a:lstStyle/>
          <a:p>
            <a:pPr indent="0" marL="0">
              <a:lnSpc>
                <a:spcPct val="116000"/>
              </a:lnSpc>
              <a:buNone/>
            </a:pPr>
            <a:r>
              <a:rPr lang="en-US" sz="1050" dirty="0">
                <a:solidFill>
                  <a:srgbClr val="4F4F4F"/>
                </a:solidFill>
                <a:latin typeface="Calibri" pitchFamily="34" charset="0"/>
                <a:ea typeface="Calibri" pitchFamily="34" charset="-122"/>
                <a:cs typeface="Calibri" pitchFamily="34" charset="-120"/>
              </a:rPr>
              <a:t>Four smaller ones are written down but not on this slide: per-flow 5-tuple rules end to end, LLDP timer tuning judged on false-positive rate rather than detection time, telemetry accuracy with several flows and the applications running, and P4 measured beyond a single fault.</a:t>
            </a:r>
            <a:endParaRPr lang="en-US" sz="1050" dirty="0"/>
          </a:p>
        </p:txBody>
      </p:sp>
      <p:sp>
        <p:nvSpPr>
          <p:cNvPr id="21" name="Text 19"/>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42</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566928"/>
            <a:ext cx="10637215" cy="621792"/>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Planned for the next report</a:t>
            </a:r>
            <a:endParaRPr lang="en-US" sz="3000" dirty="0"/>
          </a:p>
        </p:txBody>
      </p:sp>
      <p:sp>
        <p:nvSpPr>
          <p:cNvPr id="3" name="Text 1"/>
          <p:cNvSpPr/>
          <p:nvPr/>
        </p:nvSpPr>
        <p:spPr>
          <a:xfrm>
            <a:off x="777240" y="1207008"/>
            <a:ext cx="10637215" cy="347472"/>
          </a:xfrm>
          <a:prstGeom prst="rect">
            <a:avLst/>
          </a:prstGeom>
          <a:noFill/>
          <a:ln/>
        </p:spPr>
        <p:txBody>
          <a:bodyPr wrap="square" lIns="0" tIns="0" rIns="0" bIns="0" rtlCol="0" anchor="ctr"/>
          <a:lstStyle/>
          <a:p>
            <a:pPr indent="0" marL="0">
              <a:buNone/>
            </a:pPr>
            <a:r>
              <a:rPr lang="en-US" sz="1400" dirty="0">
                <a:solidFill>
                  <a:srgbClr val="4F4F4F"/>
                </a:solidFill>
                <a:latin typeface="Calibri" pitchFamily="34" charset="0"/>
                <a:ea typeface="Calibri" pitchFamily="34" charset="-122"/>
                <a:cs typeface="Calibri" pitchFamily="34" charset="-120"/>
              </a:rPr>
              <a:t>Three measurements already scoped — each one has a number it has to beat, and a way of being wrong</a:t>
            </a:r>
            <a:endParaRPr lang="en-US" sz="1400" dirty="0"/>
          </a:p>
        </p:txBody>
      </p:sp>
      <p:sp>
        <p:nvSpPr>
          <p:cNvPr id="4" name="Shape 2"/>
          <p:cNvSpPr/>
          <p:nvPr/>
        </p:nvSpPr>
        <p:spPr>
          <a:xfrm>
            <a:off x="777240" y="1700784"/>
            <a:ext cx="10637215" cy="9144"/>
          </a:xfrm>
          <a:prstGeom prst="line">
            <a:avLst/>
          </a:prstGeom>
          <a:noFill/>
          <a:ln w="12700">
            <a:solidFill>
              <a:srgbClr val="D0D0D0"/>
            </a:solidFill>
            <a:prstDash val="solid"/>
          </a:ln>
        </p:spPr>
      </p:sp>
      <p:sp>
        <p:nvSpPr>
          <p:cNvPr id="5" name="Text 3"/>
          <p:cNvSpPr/>
          <p:nvPr/>
        </p:nvSpPr>
        <p:spPr>
          <a:xfrm>
            <a:off x="777240" y="2066544"/>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777240" y="2395728"/>
            <a:ext cx="3271418" cy="566928"/>
          </a:xfrm>
          <a:prstGeom prst="rect">
            <a:avLst/>
          </a:prstGeom>
          <a:noFill/>
          <a:ln/>
        </p:spPr>
        <p:txBody>
          <a:bodyPr wrap="square" lIns="0" tIns="0" rIns="0" bIns="0" rtlCol="0" anchor="ctr"/>
          <a:lstStyle/>
          <a:p>
            <a:pPr indent="0" marL="0">
              <a:lnSpc>
                <a:spcPct val="110000"/>
              </a:lnSpc>
              <a:buNone/>
            </a:pPr>
            <a:r>
              <a:rPr lang="en-US" sz="1500" b="1" dirty="0">
                <a:solidFill>
                  <a:srgbClr val="1A1A1A"/>
                </a:solidFill>
                <a:latin typeface="Calibri" pitchFamily="34" charset="0"/>
                <a:ea typeface="Calibri" pitchFamily="34" charset="-122"/>
                <a:cs typeface="Calibri" pitchFamily="34" charset="-120"/>
              </a:rPr>
              <a:t>Find where the OVS 128-host recovery time goes</a:t>
            </a:r>
            <a:endParaRPr lang="en-US" sz="1500" dirty="0"/>
          </a:p>
        </p:txBody>
      </p:sp>
      <p:sp>
        <p:nvSpPr>
          <p:cNvPr id="7" name="Text 5"/>
          <p:cNvSpPr/>
          <p:nvPr/>
        </p:nvSpPr>
        <p:spPr>
          <a:xfrm>
            <a:off x="777240" y="3035808"/>
            <a:ext cx="3271418" cy="1234440"/>
          </a:xfrm>
          <a:prstGeom prst="rect">
            <a:avLst/>
          </a:prstGeom>
          <a:noFill/>
          <a:ln/>
        </p:spPr>
        <p:txBody>
          <a:bodyPr wrap="square" lIns="0" tIns="0" rIns="0" bIns="0" rtlCol="0" anchor="ctr"/>
          <a:lstStyle/>
          <a:p>
            <a:pPr indent="0" marL="0">
              <a:lnSpc>
                <a:spcPct val="122000"/>
              </a:lnSpc>
              <a:buNone/>
            </a:pPr>
            <a:r>
              <a:rPr lang="en-US" sz="1150" dirty="0">
                <a:solidFill>
                  <a:srgbClr val="2E2E2E"/>
                </a:solidFill>
                <a:latin typeface="Calibri" pitchFamily="34" charset="0"/>
                <a:ea typeface="Calibri" pitchFamily="34" charset="-122"/>
                <a:cs typeface="Calibri" pitchFamily="34" charset="-120"/>
              </a:rPr>
              <a:t>OVS takes 51.75 s to recover on 128 hosts against P4's 16.59 s, with no overlap between the two ranges. The mechanism is not established, so the job is to attribute the time rather than explain it.</a:t>
            </a:r>
            <a:endParaRPr lang="en-US" sz="1150" dirty="0"/>
          </a:p>
        </p:txBody>
      </p:sp>
      <p:sp>
        <p:nvSpPr>
          <p:cNvPr id="8" name="Text 6"/>
          <p:cNvSpPr/>
          <p:nvPr/>
        </p:nvSpPr>
        <p:spPr>
          <a:xfrm>
            <a:off x="777240" y="4315968"/>
            <a:ext cx="3271418" cy="960120"/>
          </a:xfrm>
          <a:prstGeom prst="rect">
            <a:avLst/>
          </a:prstGeom>
          <a:noFill/>
          <a:ln/>
        </p:spPr>
        <p:txBody>
          <a:bodyPr wrap="square" lIns="0" tIns="0" rIns="0" bIns="0" rtlCol="0" anchor="ctr"/>
          <a:lstStyle/>
          <a:p>
            <a:pPr indent="0" marL="0">
              <a:lnSpc>
                <a:spcPct val="120000"/>
              </a:lnSpc>
              <a:buNone/>
            </a:pPr>
            <a:r>
              <a:rPr lang="en-US" sz="1100" dirty="0">
                <a:solidFill>
                  <a:srgbClr val="4F4F4F"/>
                </a:solidFill>
                <a:latin typeface="Calibri" pitchFamily="34" charset="0"/>
                <a:ea typeface="Calibri" pitchFamily="34" charset="-122"/>
                <a:cs typeface="Calibri" pitchFamily="34" charset="-120"/>
              </a:rPr>
              <a:t>Path computation is already excluded: the same fabric converges all 16,256 paths in about 13 s of real work on the Ryu side and 11 s on the P4 side.</a:t>
            </a:r>
            <a:endParaRPr lang="en-US" sz="1100" dirty="0"/>
          </a:p>
        </p:txBody>
      </p:sp>
      <p:sp>
        <p:nvSpPr>
          <p:cNvPr id="9" name="Shape 7"/>
          <p:cNvSpPr/>
          <p:nvPr/>
        </p:nvSpPr>
        <p:spPr>
          <a:xfrm>
            <a:off x="777240" y="5358384"/>
            <a:ext cx="27432" cy="786384"/>
          </a:xfrm>
          <a:prstGeom prst="rect">
            <a:avLst/>
          </a:prstGeom>
          <a:solidFill>
            <a:srgbClr val="065A82"/>
          </a:solidFill>
          <a:ln/>
        </p:spPr>
      </p:sp>
      <p:sp>
        <p:nvSpPr>
          <p:cNvPr id="10" name="Text 8"/>
          <p:cNvSpPr/>
          <p:nvPr/>
        </p:nvSpPr>
        <p:spPr>
          <a:xfrm>
            <a:off x="996696" y="5321808"/>
            <a:ext cx="3051962" cy="859536"/>
          </a:xfrm>
          <a:prstGeom prst="rect">
            <a:avLst/>
          </a:prstGeom>
          <a:noFill/>
          <a:ln/>
        </p:spPr>
        <p:txBody>
          <a:bodyPr wrap="square" lIns="0" tIns="0" rIns="0" bIns="0" rtlCol="0" anchor="ctr"/>
          <a:lstStyle/>
          <a:p>
            <a:pPr indent="0" marL="0">
              <a:lnSpc>
                <a:spcPct val="120000"/>
              </a:lnSpc>
              <a:buNone/>
            </a:pPr>
            <a:r>
              <a:rPr lang="en-US" sz="1100" dirty="0">
                <a:solidFill>
                  <a:srgbClr val="2E2E2E"/>
                </a:solidFill>
                <a:latin typeface="Calibri" pitchFamily="34" charset="0"/>
                <a:ea typeface="Calibri" pitchFamily="34" charset="-122"/>
                <a:cs typeface="Calibri" pitchFamily="34" charset="-120"/>
              </a:rPr>
              <a:t>Done when detection, recomputation and rule installation add up to the 51.75 s that was measured.</a:t>
            </a:r>
            <a:endParaRPr lang="en-US" sz="1100" dirty="0"/>
          </a:p>
        </p:txBody>
      </p:sp>
      <p:sp>
        <p:nvSpPr>
          <p:cNvPr id="11" name="Text 9"/>
          <p:cNvSpPr/>
          <p:nvPr/>
        </p:nvSpPr>
        <p:spPr>
          <a:xfrm>
            <a:off x="4460138" y="2066544"/>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4460138" y="2395728"/>
            <a:ext cx="3271418" cy="566928"/>
          </a:xfrm>
          <a:prstGeom prst="rect">
            <a:avLst/>
          </a:prstGeom>
          <a:noFill/>
          <a:ln/>
        </p:spPr>
        <p:txBody>
          <a:bodyPr wrap="square" lIns="0" tIns="0" rIns="0" bIns="0" rtlCol="0" anchor="ctr"/>
          <a:lstStyle/>
          <a:p>
            <a:pPr indent="0" marL="0">
              <a:lnSpc>
                <a:spcPct val="110000"/>
              </a:lnSpc>
              <a:buNone/>
            </a:pPr>
            <a:r>
              <a:rPr lang="en-US" sz="1500" b="1" dirty="0">
                <a:solidFill>
                  <a:srgbClr val="1A1A1A"/>
                </a:solidFill>
                <a:latin typeface="Calibri" pitchFamily="34" charset="0"/>
                <a:ea typeface="Calibri" pitchFamily="34" charset="-122"/>
                <a:cs typeface="Calibri" pitchFamily="34" charset="-120"/>
              </a:rPr>
              <a:t>Make failure detection faster without making it wrong</a:t>
            </a:r>
            <a:endParaRPr lang="en-US" sz="1500" dirty="0"/>
          </a:p>
        </p:txBody>
      </p:sp>
      <p:sp>
        <p:nvSpPr>
          <p:cNvPr id="13" name="Text 11"/>
          <p:cNvSpPr/>
          <p:nvPr/>
        </p:nvSpPr>
        <p:spPr>
          <a:xfrm>
            <a:off x="4460138" y="3035808"/>
            <a:ext cx="3271418" cy="1234440"/>
          </a:xfrm>
          <a:prstGeom prst="rect">
            <a:avLst/>
          </a:prstGeom>
          <a:noFill/>
          <a:ln/>
        </p:spPr>
        <p:txBody>
          <a:bodyPr wrap="square" lIns="0" tIns="0" rIns="0" bIns="0" rtlCol="0" anchor="ctr"/>
          <a:lstStyle/>
          <a:p>
            <a:pPr indent="0" marL="0">
              <a:lnSpc>
                <a:spcPct val="122000"/>
              </a:lnSpc>
              <a:buNone/>
            </a:pPr>
            <a:r>
              <a:rPr lang="en-US" sz="1150" dirty="0">
                <a:solidFill>
                  <a:srgbClr val="2E2E2E"/>
                </a:solidFill>
                <a:latin typeface="Calibri" pitchFamily="34" charset="0"/>
                <a:ea typeface="Calibri" pitchFamily="34" charset="-122"/>
                <a:cs typeface="Calibri" pitchFamily="34" charset="-120"/>
              </a:rPr>
              <a:t>Detection is set by constants rather than by the network: the beacon interval is 5 s, and both the link timeout and the watchdog interval are derived from it. Three missed beacons before a link is called down.</a:t>
            </a:r>
            <a:endParaRPr lang="en-US" sz="1150" dirty="0"/>
          </a:p>
        </p:txBody>
      </p:sp>
      <p:sp>
        <p:nvSpPr>
          <p:cNvPr id="14" name="Text 12"/>
          <p:cNvSpPr/>
          <p:nvPr/>
        </p:nvSpPr>
        <p:spPr>
          <a:xfrm>
            <a:off x="4460138" y="4315968"/>
            <a:ext cx="3271418" cy="960120"/>
          </a:xfrm>
          <a:prstGeom prst="rect">
            <a:avLst/>
          </a:prstGeom>
          <a:noFill/>
          <a:ln/>
        </p:spPr>
        <p:txBody>
          <a:bodyPr wrap="square" lIns="0" tIns="0" rIns="0" bIns="0" rtlCol="0" anchor="ctr"/>
          <a:lstStyle/>
          <a:p>
            <a:pPr indent="0" marL="0">
              <a:lnSpc>
                <a:spcPct val="120000"/>
              </a:lnSpc>
              <a:buNone/>
            </a:pPr>
            <a:r>
              <a:rPr lang="en-US" sz="1100" dirty="0">
                <a:solidFill>
                  <a:srgbClr val="4F4F4F"/>
                </a:solidFill>
                <a:latin typeface="Calibri" pitchFamily="34" charset="0"/>
                <a:ea typeface="Calibri" pitchFamily="34" charset="-122"/>
                <a:cs typeface="Calibri" pitchFamily="34" charset="-120"/>
              </a:rPr>
              <a:t>The experiment is a sweep of the beacon interval at 5, 3, 2 and 1 s, measuring detection time and false positives at each.</a:t>
            </a:r>
            <a:endParaRPr lang="en-US" sz="1100" dirty="0"/>
          </a:p>
        </p:txBody>
      </p:sp>
      <p:sp>
        <p:nvSpPr>
          <p:cNvPr id="15" name="Shape 13"/>
          <p:cNvSpPr/>
          <p:nvPr/>
        </p:nvSpPr>
        <p:spPr>
          <a:xfrm>
            <a:off x="4460138" y="5358384"/>
            <a:ext cx="27432" cy="786384"/>
          </a:xfrm>
          <a:prstGeom prst="rect">
            <a:avLst/>
          </a:prstGeom>
          <a:solidFill>
            <a:srgbClr val="065A82"/>
          </a:solidFill>
          <a:ln/>
        </p:spPr>
      </p:sp>
      <p:sp>
        <p:nvSpPr>
          <p:cNvPr id="16" name="Text 14"/>
          <p:cNvSpPr/>
          <p:nvPr/>
        </p:nvSpPr>
        <p:spPr>
          <a:xfrm>
            <a:off x="4679594" y="5321808"/>
            <a:ext cx="3051962" cy="859536"/>
          </a:xfrm>
          <a:prstGeom prst="rect">
            <a:avLst/>
          </a:prstGeom>
          <a:noFill/>
          <a:ln/>
        </p:spPr>
        <p:txBody>
          <a:bodyPr wrap="square" lIns="0" tIns="0" rIns="0" bIns="0" rtlCol="0" anchor="ctr"/>
          <a:lstStyle/>
          <a:p>
            <a:pPr indent="0" marL="0">
              <a:lnSpc>
                <a:spcPct val="120000"/>
              </a:lnSpc>
              <a:buNone/>
            </a:pPr>
            <a:r>
              <a:rPr lang="en-US" sz="1100" dirty="0">
                <a:solidFill>
                  <a:srgbClr val="2E2E2E"/>
                </a:solidFill>
                <a:latin typeface="Calibri" pitchFamily="34" charset="0"/>
                <a:ea typeface="Calibri" pitchFamily="34" charset="-122"/>
                <a:cs typeface="Calibri" pitchFamily="34" charset="-120"/>
              </a:rPr>
              <a:t>Judged on the false-positive rate, not the detection time. Detection time is certain to fall; a flapping link costs a global path recomputation.</a:t>
            </a:r>
            <a:endParaRPr lang="en-US" sz="1100" dirty="0"/>
          </a:p>
        </p:txBody>
      </p:sp>
      <p:sp>
        <p:nvSpPr>
          <p:cNvPr id="17" name="Text 15"/>
          <p:cNvSpPr/>
          <p:nvPr/>
        </p:nvSpPr>
        <p:spPr>
          <a:xfrm>
            <a:off x="8143037" y="2066544"/>
            <a:ext cx="292608"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8143037" y="2395728"/>
            <a:ext cx="3271418" cy="566928"/>
          </a:xfrm>
          <a:prstGeom prst="rect">
            <a:avLst/>
          </a:prstGeom>
          <a:noFill/>
          <a:ln/>
        </p:spPr>
        <p:txBody>
          <a:bodyPr wrap="square" lIns="0" tIns="0" rIns="0" bIns="0" rtlCol="0" anchor="ctr"/>
          <a:lstStyle/>
          <a:p>
            <a:pPr indent="0" marL="0">
              <a:lnSpc>
                <a:spcPct val="110000"/>
              </a:lnSpc>
              <a:buNone/>
            </a:pPr>
            <a:r>
              <a:rPr lang="en-US" sz="1500" b="1" dirty="0">
                <a:solidFill>
                  <a:srgbClr val="1A1A1A"/>
                </a:solidFill>
                <a:latin typeface="Calibri" pitchFamily="34" charset="0"/>
                <a:ea typeface="Calibri" pitchFamily="34" charset="-122"/>
                <a:cs typeface="Calibri" pitchFamily="34" charset="-120"/>
              </a:rPr>
              <a:t>Promote the fast bmv2 build to the default</a:t>
            </a:r>
            <a:endParaRPr lang="en-US" sz="1500" dirty="0"/>
          </a:p>
        </p:txBody>
      </p:sp>
      <p:sp>
        <p:nvSpPr>
          <p:cNvPr id="19" name="Text 17"/>
          <p:cNvSpPr/>
          <p:nvPr/>
        </p:nvSpPr>
        <p:spPr>
          <a:xfrm>
            <a:off x="8143037" y="3035808"/>
            <a:ext cx="3271418" cy="1234440"/>
          </a:xfrm>
          <a:prstGeom prst="rect">
            <a:avLst/>
          </a:prstGeom>
          <a:noFill/>
          <a:ln/>
        </p:spPr>
        <p:txBody>
          <a:bodyPr wrap="square" lIns="0" tIns="0" rIns="0" bIns="0" rtlCol="0" anchor="ctr"/>
          <a:lstStyle/>
          <a:p>
            <a:pPr indent="0" marL="0">
              <a:lnSpc>
                <a:spcPct val="122000"/>
              </a:lnSpc>
              <a:buNone/>
            </a:pPr>
            <a:r>
              <a:rPr lang="en-US" sz="1150" dirty="0">
                <a:solidFill>
                  <a:srgbClr val="2E2E2E"/>
                </a:solidFill>
                <a:latin typeface="Calibri" pitchFamily="34" charset="0"/>
                <a:ea typeface="Calibri" pitchFamily="34" charset="-122"/>
                <a:cs typeface="Calibri" pitchFamily="34" charset="-120"/>
              </a:rPr>
              <a:t>Same fabric, same script: the stock build carries ~40 Mbps at 3.6k pps, the -O3 build with logging macros disabled carries 460–530 Mbps at 50.8k pps. The seam that switches between them already exists; the default is still stock.</a:t>
            </a:r>
            <a:endParaRPr lang="en-US" sz="1150" dirty="0"/>
          </a:p>
        </p:txBody>
      </p:sp>
      <p:sp>
        <p:nvSpPr>
          <p:cNvPr id="20" name="Text 18"/>
          <p:cNvSpPr/>
          <p:nvPr/>
        </p:nvSpPr>
        <p:spPr>
          <a:xfrm>
            <a:off x="8143037" y="4315968"/>
            <a:ext cx="3271418" cy="960120"/>
          </a:xfrm>
          <a:prstGeom prst="rect">
            <a:avLst/>
          </a:prstGeom>
          <a:noFill/>
          <a:ln/>
        </p:spPr>
        <p:txBody>
          <a:bodyPr wrap="square" lIns="0" tIns="0" rIns="0" bIns="0" rtlCol="0" anchor="ctr"/>
          <a:lstStyle/>
          <a:p>
            <a:pPr indent="0" marL="0">
              <a:lnSpc>
                <a:spcPct val="120000"/>
              </a:lnSpc>
              <a:buNone/>
            </a:pPr>
            <a:r>
              <a:rPr lang="en-US" sz="1100" dirty="0">
                <a:solidFill>
                  <a:srgbClr val="4F4F4F"/>
                </a:solidFill>
                <a:latin typeface="Calibri" pitchFamily="34" charset="0"/>
                <a:ea typeface="Calibri" pitchFamily="34" charset="-122"/>
                <a:cs typeface="Calibri" pitchFamily="34" charset="-120"/>
              </a:rPr>
              <a:t>It unlocks two things that are currently unmeasurable: TE's 70% congestion threshold, which is physically unreachable on stock, and telemetry accuracy with several concurrent flows.</a:t>
            </a:r>
            <a:endParaRPr lang="en-US" sz="1100" dirty="0"/>
          </a:p>
        </p:txBody>
      </p:sp>
      <p:sp>
        <p:nvSpPr>
          <p:cNvPr id="21" name="Shape 19"/>
          <p:cNvSpPr/>
          <p:nvPr/>
        </p:nvSpPr>
        <p:spPr>
          <a:xfrm>
            <a:off x="8143037" y="5358384"/>
            <a:ext cx="27432" cy="786384"/>
          </a:xfrm>
          <a:prstGeom prst="rect">
            <a:avLst/>
          </a:prstGeom>
          <a:solidFill>
            <a:srgbClr val="065A82"/>
          </a:solidFill>
          <a:ln/>
        </p:spPr>
      </p:sp>
      <p:sp>
        <p:nvSpPr>
          <p:cNvPr id="22" name="Text 20"/>
          <p:cNvSpPr/>
          <p:nvPr/>
        </p:nvSpPr>
        <p:spPr>
          <a:xfrm>
            <a:off x="8362493" y="5321808"/>
            <a:ext cx="3051962" cy="859536"/>
          </a:xfrm>
          <a:prstGeom prst="rect">
            <a:avLst/>
          </a:prstGeom>
          <a:noFill/>
          <a:ln/>
        </p:spPr>
        <p:txBody>
          <a:bodyPr wrap="square" lIns="0" tIns="0" rIns="0" bIns="0" rtlCol="0" anchor="ctr"/>
          <a:lstStyle/>
          <a:p>
            <a:pPr indent="0" marL="0">
              <a:lnSpc>
                <a:spcPct val="120000"/>
              </a:lnSpc>
              <a:buNone/>
            </a:pPr>
            <a:r>
              <a:rPr lang="en-US" sz="1100" dirty="0">
                <a:solidFill>
                  <a:srgbClr val="2E2E2E"/>
                </a:solidFill>
                <a:latin typeface="Calibri" pitchFamily="34" charset="0"/>
                <a:ea typeface="Calibri" pitchFamily="34" charset="-122"/>
                <a:cs typeface="Calibri" pitchFamily="34" charset="-120"/>
              </a:rPr>
              <a:t>Done when the whole L0–L4 suite passes on the fast build — changing the switch binary changes the timing every layer depends on.</a:t>
            </a:r>
            <a:endParaRPr lang="en-US" sz="1100" dirty="0"/>
          </a:p>
        </p:txBody>
      </p:sp>
      <p:sp>
        <p:nvSpPr>
          <p:cNvPr id="23" name="Text 21"/>
          <p:cNvSpPr/>
          <p:nvPr/>
        </p:nvSpPr>
        <p:spPr>
          <a:xfrm>
            <a:off x="777240" y="6309360"/>
            <a:ext cx="9951415" cy="365760"/>
          </a:xfrm>
          <a:prstGeom prst="rect">
            <a:avLst/>
          </a:prstGeom>
          <a:noFill/>
          <a:ln/>
        </p:spPr>
        <p:txBody>
          <a:bodyPr wrap="square" lIns="0" tIns="0" rIns="0" bIns="0" rtlCol="0" anchor="ctr"/>
          <a:lstStyle/>
          <a:p>
            <a:pPr indent="0" marL="0">
              <a:lnSpc>
                <a:spcPct val="116000"/>
              </a:lnSpc>
              <a:buNone/>
            </a:pPr>
            <a:r>
              <a:rPr lang="en-US" sz="1050" dirty="0">
                <a:solidFill>
                  <a:srgbClr val="4F4F4F"/>
                </a:solidFill>
                <a:latin typeface="Calibri" pitchFamily="34" charset="0"/>
                <a:ea typeface="Calibri" pitchFamily="34" charset="-122"/>
                <a:cs typeface="Calibri" pitchFamily="34" charset="-120"/>
              </a:rPr>
              <a:t>One thing to settle before tuning anything: the code comment says detection takes 15–20 s and the last live round measured 10.7–14 s. Tuning a timer we cannot yet predict would leave us unable to say what moved.</a:t>
            </a:r>
            <a:endParaRPr lang="en-US" sz="1050" dirty="0"/>
          </a:p>
        </p:txBody>
      </p:sp>
      <p:sp>
        <p:nvSpPr>
          <p:cNvPr id="24" name="Text 22"/>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43</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566928"/>
            <a:ext cx="10637215" cy="621792"/>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References</a:t>
            </a:r>
            <a:endParaRPr lang="en-US" sz="3000" dirty="0"/>
          </a:p>
        </p:txBody>
      </p:sp>
      <p:sp>
        <p:nvSpPr>
          <p:cNvPr id="3" name="Shape 1"/>
          <p:cNvSpPr/>
          <p:nvPr/>
        </p:nvSpPr>
        <p:spPr>
          <a:xfrm>
            <a:off x="777240" y="1335024"/>
            <a:ext cx="10637215" cy="9144"/>
          </a:xfrm>
          <a:prstGeom prst="line">
            <a:avLst/>
          </a:prstGeom>
          <a:noFill/>
          <a:ln w="12700">
            <a:solidFill>
              <a:srgbClr val="D0D0D0"/>
            </a:solidFill>
            <a:prstDash val="solid"/>
          </a:ln>
        </p:spPr>
      </p:sp>
      <p:sp>
        <p:nvSpPr>
          <p:cNvPr id="4" name="Text 2"/>
          <p:cNvSpPr/>
          <p:nvPr/>
        </p:nvSpPr>
        <p:spPr>
          <a:xfrm>
            <a:off x="777240" y="1627632"/>
            <a:ext cx="502920" cy="27432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[1]</a:t>
            </a:r>
            <a:endParaRPr lang="en-US" sz="1200" dirty="0"/>
          </a:p>
        </p:txBody>
      </p:sp>
      <p:sp>
        <p:nvSpPr>
          <p:cNvPr id="5" name="Text 3"/>
          <p:cNvSpPr/>
          <p:nvPr/>
        </p:nvSpPr>
        <p:spPr>
          <a:xfrm>
            <a:off x="1307592" y="1609344"/>
            <a:ext cx="6309360" cy="566928"/>
          </a:xfrm>
          <a:prstGeom prst="rect">
            <a:avLst/>
          </a:prstGeom>
          <a:noFill/>
          <a:ln/>
        </p:spPr>
        <p:txBody>
          <a:bodyPr wrap="square" lIns="0" tIns="0" rIns="0" bIns="0" rtlCol="0" anchor="ctr"/>
          <a:lstStyle/>
          <a:p>
            <a:pPr indent="0" marL="0">
              <a:lnSpc>
                <a:spcPct val="116000"/>
              </a:lnSpc>
              <a:buNone/>
            </a:pPr>
            <a:r>
              <a:rPr lang="en-US" sz="1200" dirty="0">
                <a:solidFill>
                  <a:srgbClr val="2E2E2E"/>
                </a:solidFill>
                <a:latin typeface="Calibri" pitchFamily="34" charset="0"/>
                <a:ea typeface="Calibri" pitchFamily="34" charset="-122"/>
                <a:cs typeface="Calibri" pitchFamily="34" charset="-120"/>
              </a:rPr>
              <a:t>Phaal, P. &amp; Panchen, S. </a:t>
            </a:r>
            <a:pPr indent="0" marL="0">
              <a:lnSpc>
                <a:spcPct val="116000"/>
              </a:lnSpc>
              <a:buNone/>
            </a:pPr>
            <a:r>
              <a:rPr lang="en-US" sz="1200" i="1" dirty="0">
                <a:solidFill>
                  <a:srgbClr val="1A1A1A"/>
                </a:solidFill>
                <a:latin typeface="Calibri" pitchFamily="34" charset="0"/>
                <a:ea typeface="Calibri" pitchFamily="34" charset="-122"/>
                <a:cs typeface="Calibri" pitchFamily="34" charset="-120"/>
              </a:rPr>
              <a:t>Packet Sampling Basics</a:t>
            </a:r>
            <a:pPr indent="0" marL="0">
              <a:lnSpc>
                <a:spcPct val="116000"/>
              </a:lnSpc>
              <a:buNone/>
            </a:pPr>
            <a:r>
              <a:rPr lang="en-US" sz="1200" dirty="0">
                <a:solidFill>
                  <a:srgbClr val="2E2E2E"/>
                </a:solidFill>
                <a:latin typeface="Calibri" pitchFamily="34" charset="0"/>
                <a:ea typeface="Calibri" pitchFamily="34" charset="-122"/>
                <a:cs typeface="Calibri" pitchFamily="34" charset="-120"/>
              </a:rPr>
              <a:t>. sFlow.org.</a:t>
            </a:r>
            <a:endParaRPr lang="en-US" sz="1200" dirty="0"/>
          </a:p>
        </p:txBody>
      </p:sp>
      <p:sp>
        <p:nvSpPr>
          <p:cNvPr id="6" name="Text 4"/>
          <p:cNvSpPr/>
          <p:nvPr/>
        </p:nvSpPr>
        <p:spPr>
          <a:xfrm>
            <a:off x="7882128" y="1609344"/>
            <a:ext cx="3529584" cy="566928"/>
          </a:xfrm>
          <a:prstGeom prst="rect">
            <a:avLst/>
          </a:prstGeom>
          <a:noFill/>
          <a:ln/>
        </p:spPr>
        <p:txBody>
          <a:bodyPr wrap="square" lIns="0" tIns="0" rIns="0" bIns="0" rtlCol="0" anchor="ctr"/>
          <a:lstStyle/>
          <a:p>
            <a:pPr indent="0" marL="0">
              <a:lnSpc>
                <a:spcPct val="114000"/>
              </a:lnSpc>
              <a:buNone/>
            </a:pPr>
            <a:r>
              <a:rPr lang="en-US" sz="1050" dirty="0">
                <a:solidFill>
                  <a:srgbClr val="4F4F4F"/>
                </a:solidFill>
                <a:latin typeface="Calibri" pitchFamily="34" charset="0"/>
                <a:ea typeface="Calibri" pitchFamily="34" charset="-122"/>
                <a:cs typeface="Calibri" pitchFamily="34" charset="-120"/>
              </a:rPr>
              <a:t>The ±196√(1/c) floor used on the two accuracy slides</a:t>
            </a:r>
            <a:endParaRPr lang="en-US" sz="1050" dirty="0"/>
          </a:p>
        </p:txBody>
      </p:sp>
      <p:sp>
        <p:nvSpPr>
          <p:cNvPr id="7" name="Shape 5"/>
          <p:cNvSpPr/>
          <p:nvPr/>
        </p:nvSpPr>
        <p:spPr>
          <a:xfrm>
            <a:off x="777240" y="2231136"/>
            <a:ext cx="10637215" cy="9144"/>
          </a:xfrm>
          <a:prstGeom prst="line">
            <a:avLst/>
          </a:prstGeom>
          <a:noFill/>
          <a:ln w="12700">
            <a:solidFill>
              <a:srgbClr val="EFEFEF"/>
            </a:solidFill>
            <a:prstDash val="solid"/>
          </a:ln>
        </p:spPr>
      </p:sp>
      <p:sp>
        <p:nvSpPr>
          <p:cNvPr id="8" name="Text 6"/>
          <p:cNvSpPr/>
          <p:nvPr/>
        </p:nvSpPr>
        <p:spPr>
          <a:xfrm>
            <a:off x="777240" y="2377440"/>
            <a:ext cx="502920" cy="27432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[1a]</a:t>
            </a:r>
            <a:endParaRPr lang="en-US" sz="1200" dirty="0"/>
          </a:p>
        </p:txBody>
      </p:sp>
      <p:sp>
        <p:nvSpPr>
          <p:cNvPr id="9" name="Text 7"/>
          <p:cNvSpPr/>
          <p:nvPr/>
        </p:nvSpPr>
        <p:spPr>
          <a:xfrm>
            <a:off x="1307592" y="2359152"/>
            <a:ext cx="6309360" cy="566928"/>
          </a:xfrm>
          <a:prstGeom prst="rect">
            <a:avLst/>
          </a:prstGeom>
          <a:noFill/>
          <a:ln/>
        </p:spPr>
        <p:txBody>
          <a:bodyPr wrap="square" lIns="0" tIns="0" rIns="0" bIns="0" rtlCol="0" anchor="ctr"/>
          <a:lstStyle/>
          <a:p>
            <a:pPr indent="0" marL="0">
              <a:lnSpc>
                <a:spcPct val="116000"/>
              </a:lnSpc>
              <a:buNone/>
            </a:pPr>
            <a:r>
              <a:rPr lang="en-US" sz="1200" dirty="0">
                <a:solidFill>
                  <a:srgbClr val="2E2E2E"/>
                </a:solidFill>
                <a:latin typeface="Calibri" pitchFamily="34" charset="0"/>
                <a:ea typeface="Calibri" pitchFamily="34" charset="-122"/>
                <a:cs typeface="Calibri" pitchFamily="34" charset="-120"/>
              </a:rPr>
              <a:t>Jedwab, J., Phaal, P. &amp; Pinna, B. </a:t>
            </a:r>
            <a:pPr indent="0" marL="0">
              <a:lnSpc>
                <a:spcPct val="116000"/>
              </a:lnSpc>
              <a:buNone/>
            </a:pPr>
            <a:r>
              <a:rPr lang="en-US" sz="1200" i="1" dirty="0">
                <a:solidFill>
                  <a:srgbClr val="1A1A1A"/>
                </a:solidFill>
                <a:latin typeface="Calibri" pitchFamily="34" charset="0"/>
                <a:ea typeface="Calibri" pitchFamily="34" charset="-122"/>
                <a:cs typeface="Calibri" pitchFamily="34" charset="-120"/>
              </a:rPr>
              <a:t>Traffic estimation for the largest sources on a network, using packet sampling with limited storage</a:t>
            </a:r>
            <a:pPr indent="0" marL="0">
              <a:lnSpc>
                <a:spcPct val="116000"/>
              </a:lnSpc>
              <a:buNone/>
            </a:pPr>
            <a:r>
              <a:rPr lang="en-US" sz="1200" dirty="0">
                <a:solidFill>
                  <a:srgbClr val="2E2E2E"/>
                </a:solidFill>
                <a:latin typeface="Calibri" pitchFamily="34" charset="0"/>
                <a:ea typeface="Calibri" pitchFamily="34" charset="-122"/>
                <a:cs typeface="Calibri" pitchFamily="34" charset="-120"/>
              </a:rPr>
              <a:t>. HP Labs HPL-92-35, 1992.</a:t>
            </a:r>
            <a:endParaRPr lang="en-US" sz="1200" dirty="0"/>
          </a:p>
        </p:txBody>
      </p:sp>
      <p:sp>
        <p:nvSpPr>
          <p:cNvPr id="10" name="Text 8"/>
          <p:cNvSpPr/>
          <p:nvPr/>
        </p:nvSpPr>
        <p:spPr>
          <a:xfrm>
            <a:off x="7882128" y="2359152"/>
            <a:ext cx="3529584" cy="566928"/>
          </a:xfrm>
          <a:prstGeom prst="rect">
            <a:avLst/>
          </a:prstGeom>
          <a:noFill/>
          <a:ln/>
        </p:spPr>
        <p:txBody>
          <a:bodyPr wrap="square" lIns="0" tIns="0" rIns="0" bIns="0" rtlCol="0" anchor="ctr"/>
          <a:lstStyle/>
          <a:p>
            <a:pPr indent="0" marL="0">
              <a:lnSpc>
                <a:spcPct val="114000"/>
              </a:lnSpc>
              <a:buNone/>
            </a:pPr>
            <a:r>
              <a:rPr lang="en-US" sz="1050" dirty="0">
                <a:solidFill>
                  <a:srgbClr val="4F4F4F"/>
                </a:solidFill>
                <a:latin typeface="Calibri" pitchFamily="34" charset="0"/>
                <a:ea typeface="Calibri" pitchFamily="34" charset="-122"/>
                <a:cs typeface="Calibri" pitchFamily="34" charset="-120"/>
              </a:rPr>
              <a:t>The binomial argument [1] rests on</a:t>
            </a:r>
            <a:endParaRPr lang="en-US" sz="1050" dirty="0"/>
          </a:p>
        </p:txBody>
      </p:sp>
      <p:sp>
        <p:nvSpPr>
          <p:cNvPr id="11" name="Shape 9"/>
          <p:cNvSpPr/>
          <p:nvPr/>
        </p:nvSpPr>
        <p:spPr>
          <a:xfrm>
            <a:off x="777240" y="2980944"/>
            <a:ext cx="10637215" cy="9144"/>
          </a:xfrm>
          <a:prstGeom prst="line">
            <a:avLst/>
          </a:prstGeom>
          <a:noFill/>
          <a:ln w="12700">
            <a:solidFill>
              <a:srgbClr val="EFEFEF"/>
            </a:solidFill>
            <a:prstDash val="solid"/>
          </a:ln>
        </p:spPr>
      </p:sp>
      <p:sp>
        <p:nvSpPr>
          <p:cNvPr id="12" name="Text 10"/>
          <p:cNvSpPr/>
          <p:nvPr/>
        </p:nvSpPr>
        <p:spPr>
          <a:xfrm>
            <a:off x="777240" y="3127248"/>
            <a:ext cx="502920" cy="27432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1307592" y="3108960"/>
            <a:ext cx="6309360" cy="566928"/>
          </a:xfrm>
          <a:prstGeom prst="rect">
            <a:avLst/>
          </a:prstGeom>
          <a:noFill/>
          <a:ln/>
        </p:spPr>
        <p:txBody>
          <a:bodyPr wrap="square" lIns="0" tIns="0" rIns="0" bIns="0" rtlCol="0" anchor="ctr"/>
          <a:lstStyle/>
          <a:p>
            <a:pPr indent="0" marL="0">
              <a:lnSpc>
                <a:spcPct val="116000"/>
              </a:lnSpc>
              <a:buNone/>
            </a:pPr>
            <a:r>
              <a:rPr lang="en-US" sz="1200" dirty="0">
                <a:solidFill>
                  <a:srgbClr val="2E2E2E"/>
                </a:solidFill>
                <a:latin typeface="Calibri" pitchFamily="34" charset="0"/>
                <a:ea typeface="Calibri" pitchFamily="34" charset="-122"/>
                <a:cs typeface="Calibri" pitchFamily="34" charset="-120"/>
              </a:rPr>
              <a:t>Chen, Hu &amp; Jin. </a:t>
            </a:r>
            <a:pPr indent="0" marL="0">
              <a:lnSpc>
                <a:spcPct val="116000"/>
              </a:lnSpc>
              <a:buNone/>
            </a:pPr>
            <a:r>
              <a:rPr lang="en-US" sz="1200" i="1" dirty="0">
                <a:solidFill>
                  <a:srgbClr val="1A1A1A"/>
                </a:solidFill>
                <a:latin typeface="Calibri" pitchFamily="34" charset="0"/>
                <a:ea typeface="Calibri" pitchFamily="34" charset="-122"/>
                <a:cs typeface="Calibri" pitchFamily="34" charset="-120"/>
              </a:rPr>
              <a:t>Performance Evaluation of P4 Programmable Switches in Emulation</a:t>
            </a:r>
            <a:pPr indent="0" marL="0">
              <a:lnSpc>
                <a:spcPct val="116000"/>
              </a:lnSpc>
              <a:buNone/>
            </a:pPr>
            <a:r>
              <a:rPr lang="en-US" sz="1200" dirty="0">
                <a:solidFill>
                  <a:srgbClr val="2E2E2E"/>
                </a:solidFill>
                <a:latin typeface="Calibri" pitchFamily="34" charset="0"/>
                <a:ea typeface="Calibri" pitchFamily="34" charset="-122"/>
                <a:cs typeface="Calibri" pitchFamily="34" charset="-120"/>
              </a:rPr>
              <a:t>. ACM SIGSIM-PADS '23. doi:10.1145/3573900.3591120</a:t>
            </a:r>
            <a:endParaRPr lang="en-US" sz="1200" dirty="0"/>
          </a:p>
        </p:txBody>
      </p:sp>
      <p:sp>
        <p:nvSpPr>
          <p:cNvPr id="14" name="Text 12"/>
          <p:cNvSpPr/>
          <p:nvPr/>
        </p:nvSpPr>
        <p:spPr>
          <a:xfrm>
            <a:off x="7882128" y="3108960"/>
            <a:ext cx="3529584" cy="566928"/>
          </a:xfrm>
          <a:prstGeom prst="rect">
            <a:avLst/>
          </a:prstGeom>
          <a:noFill/>
          <a:ln/>
        </p:spPr>
        <p:txBody>
          <a:bodyPr wrap="square" lIns="0" tIns="0" rIns="0" bIns="0" rtlCol="0" anchor="ctr"/>
          <a:lstStyle/>
          <a:p>
            <a:pPr indent="0" marL="0">
              <a:lnSpc>
                <a:spcPct val="114000"/>
              </a:lnSpc>
              <a:buNone/>
            </a:pPr>
            <a:r>
              <a:rPr lang="en-US" sz="1050" dirty="0">
                <a:solidFill>
                  <a:srgbClr val="4F4F4F"/>
                </a:solidFill>
                <a:latin typeface="Calibri" pitchFamily="34" charset="0"/>
                <a:ea typeface="Calibri" pitchFamily="34" charset="-122"/>
                <a:cs typeface="Calibri" pitchFamily="34" charset="-120"/>
              </a:rPr>
              <a:t>The published bmv2 throughput figure</a:t>
            </a:r>
            <a:endParaRPr lang="en-US" sz="1050" dirty="0"/>
          </a:p>
        </p:txBody>
      </p:sp>
      <p:sp>
        <p:nvSpPr>
          <p:cNvPr id="15" name="Shape 13"/>
          <p:cNvSpPr/>
          <p:nvPr/>
        </p:nvSpPr>
        <p:spPr>
          <a:xfrm>
            <a:off x="777240" y="3730752"/>
            <a:ext cx="10637215" cy="9144"/>
          </a:xfrm>
          <a:prstGeom prst="line">
            <a:avLst/>
          </a:prstGeom>
          <a:noFill/>
          <a:ln w="12700">
            <a:solidFill>
              <a:srgbClr val="EFEFEF"/>
            </a:solidFill>
            <a:prstDash val="solid"/>
          </a:ln>
        </p:spPr>
      </p:sp>
      <p:sp>
        <p:nvSpPr>
          <p:cNvPr id="16" name="Text 14"/>
          <p:cNvSpPr/>
          <p:nvPr/>
        </p:nvSpPr>
        <p:spPr>
          <a:xfrm>
            <a:off x="777240" y="3877056"/>
            <a:ext cx="502920" cy="27432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[3]</a:t>
            </a:r>
            <a:endParaRPr lang="en-US" sz="1200" dirty="0"/>
          </a:p>
        </p:txBody>
      </p:sp>
      <p:sp>
        <p:nvSpPr>
          <p:cNvPr id="17" name="Text 15"/>
          <p:cNvSpPr/>
          <p:nvPr/>
        </p:nvSpPr>
        <p:spPr>
          <a:xfrm>
            <a:off x="1307592" y="3858768"/>
            <a:ext cx="6309360" cy="566928"/>
          </a:xfrm>
          <a:prstGeom prst="rect">
            <a:avLst/>
          </a:prstGeom>
          <a:noFill/>
          <a:ln/>
        </p:spPr>
        <p:txBody>
          <a:bodyPr wrap="square" lIns="0" tIns="0" rIns="0" bIns="0" rtlCol="0" anchor="ctr"/>
          <a:lstStyle/>
          <a:p>
            <a:pPr indent="0" marL="0">
              <a:lnSpc>
                <a:spcPct val="116000"/>
              </a:lnSpc>
              <a:buNone/>
            </a:pPr>
            <a:r>
              <a:rPr lang="en-US" sz="1200" dirty="0">
                <a:solidFill>
                  <a:srgbClr val="2E2E2E"/>
                </a:solidFill>
                <a:latin typeface="Calibri" pitchFamily="34" charset="0"/>
                <a:ea typeface="Calibri" pitchFamily="34" charset="-122"/>
                <a:cs typeface="Calibri" pitchFamily="34" charset="-120"/>
              </a:rPr>
              <a:t>p4lang/behavioral-model, </a:t>
            </a:r>
            <a:pPr indent="0" marL="0">
              <a:lnSpc>
                <a:spcPct val="116000"/>
              </a:lnSpc>
              <a:buNone/>
            </a:pPr>
            <a:r>
              <a:rPr lang="en-US" sz="1200" i="1" dirty="0">
                <a:solidFill>
                  <a:srgbClr val="1A1A1A"/>
                </a:solidFill>
                <a:latin typeface="Calibri" pitchFamily="34" charset="0"/>
                <a:ea typeface="Calibri" pitchFamily="34" charset="-122"/>
                <a:cs typeface="Calibri" pitchFamily="34" charset="-120"/>
              </a:rPr>
              <a:t>docs/performance.md</a:t>
            </a:r>
            <a:pPr indent="0" marL="0">
              <a:lnSpc>
                <a:spcPct val="116000"/>
              </a:lnSpc>
              <a:buNone/>
            </a:pPr>
            <a:r>
              <a:rPr lang="en-US" sz="1200" dirty="0">
                <a:solidFill>
                  <a:srgbClr val="2E2E2E"/>
                </a:solidFill>
                <a:latin typeface="Calibri" pitchFamily="34" charset="0"/>
                <a:ea typeface="Calibri" pitchFamily="34" charset="-122"/>
                <a:cs typeface="Calibri" pitchFamily="34" charset="-120"/>
              </a:rPr>
              <a:t> — ~1047 Mbps / 80k pps for one simple_switch.</a:t>
            </a:r>
            <a:endParaRPr lang="en-US" sz="1200" dirty="0"/>
          </a:p>
        </p:txBody>
      </p:sp>
      <p:sp>
        <p:nvSpPr>
          <p:cNvPr id="18" name="Text 16"/>
          <p:cNvSpPr/>
          <p:nvPr/>
        </p:nvSpPr>
        <p:spPr>
          <a:xfrm>
            <a:off x="7882128" y="3858768"/>
            <a:ext cx="3529584" cy="566928"/>
          </a:xfrm>
          <a:prstGeom prst="rect">
            <a:avLst/>
          </a:prstGeom>
          <a:noFill/>
          <a:ln/>
        </p:spPr>
        <p:txBody>
          <a:bodyPr wrap="square" lIns="0" tIns="0" rIns="0" bIns="0" rtlCol="0" anchor="ctr"/>
          <a:lstStyle/>
          <a:p>
            <a:pPr indent="0" marL="0">
              <a:lnSpc>
                <a:spcPct val="114000"/>
              </a:lnSpc>
              <a:buNone/>
            </a:pPr>
            <a:r>
              <a:rPr lang="en-US" sz="1050" dirty="0">
                <a:solidFill>
                  <a:srgbClr val="4F4F4F"/>
                </a:solidFill>
                <a:latin typeface="Calibri" pitchFamily="34" charset="0"/>
                <a:ea typeface="Calibri" pitchFamily="34" charset="-122"/>
                <a:cs typeface="Calibri" pitchFamily="34" charset="-120"/>
              </a:rPr>
              <a:t>The upstream baseline for the A/B</a:t>
            </a:r>
            <a:endParaRPr lang="en-US" sz="1050" dirty="0"/>
          </a:p>
        </p:txBody>
      </p:sp>
      <p:sp>
        <p:nvSpPr>
          <p:cNvPr id="19" name="Shape 17"/>
          <p:cNvSpPr/>
          <p:nvPr/>
        </p:nvSpPr>
        <p:spPr>
          <a:xfrm>
            <a:off x="777240" y="4480560"/>
            <a:ext cx="10637215" cy="9144"/>
          </a:xfrm>
          <a:prstGeom prst="line">
            <a:avLst/>
          </a:prstGeom>
          <a:noFill/>
          <a:ln w="12700">
            <a:solidFill>
              <a:srgbClr val="EFEFEF"/>
            </a:solidFill>
            <a:prstDash val="solid"/>
          </a:ln>
        </p:spPr>
      </p:sp>
      <p:sp>
        <p:nvSpPr>
          <p:cNvPr id="20" name="Text 18"/>
          <p:cNvSpPr/>
          <p:nvPr/>
        </p:nvSpPr>
        <p:spPr>
          <a:xfrm>
            <a:off x="777240" y="4626864"/>
            <a:ext cx="502920" cy="27432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[4]</a:t>
            </a:r>
            <a:endParaRPr lang="en-US" sz="1200" dirty="0"/>
          </a:p>
        </p:txBody>
      </p:sp>
      <p:sp>
        <p:nvSpPr>
          <p:cNvPr id="21" name="Text 19"/>
          <p:cNvSpPr/>
          <p:nvPr/>
        </p:nvSpPr>
        <p:spPr>
          <a:xfrm>
            <a:off x="1307592" y="4608576"/>
            <a:ext cx="6309360" cy="566928"/>
          </a:xfrm>
          <a:prstGeom prst="rect">
            <a:avLst/>
          </a:prstGeom>
          <a:noFill/>
          <a:ln/>
        </p:spPr>
        <p:txBody>
          <a:bodyPr wrap="square" lIns="0" tIns="0" rIns="0" bIns="0" rtlCol="0" anchor="ctr"/>
          <a:lstStyle/>
          <a:p>
            <a:pPr indent="0" marL="0">
              <a:lnSpc>
                <a:spcPct val="116000"/>
              </a:lnSpc>
              <a:buNone/>
            </a:pPr>
            <a:r>
              <a:rPr lang="en-US" sz="1200" dirty="0">
                <a:solidFill>
                  <a:srgbClr val="2E2E2E"/>
                </a:solidFill>
                <a:latin typeface="Calibri" pitchFamily="34" charset="0"/>
                <a:ea typeface="Calibri" pitchFamily="34" charset="-122"/>
                <a:cs typeface="Calibri" pitchFamily="34" charset="-120"/>
              </a:rPr>
              <a:t>Zhou, Yang, Duan et al. </a:t>
            </a:r>
            <a:pPr indent="0" marL="0">
              <a:lnSpc>
                <a:spcPct val="116000"/>
              </a:lnSpc>
              <a:buNone/>
            </a:pPr>
            <a:r>
              <a:rPr lang="en-US" sz="1200" i="1" dirty="0">
                <a:solidFill>
                  <a:srgbClr val="1A1A1A"/>
                </a:solidFill>
                <a:latin typeface="Calibri" pitchFamily="34" charset="0"/>
                <a:ea typeface="Calibri" pitchFamily="34" charset="-122"/>
                <a:cs typeface="Calibri" pitchFamily="34" charset="-120"/>
              </a:rPr>
              <a:t>Network Digital Twin: Concepts and Reference Architecture</a:t>
            </a:r>
            <a:pPr indent="0" marL="0">
              <a:lnSpc>
                <a:spcPct val="116000"/>
              </a:lnSpc>
              <a:buNone/>
            </a:pPr>
            <a:r>
              <a:rPr lang="en-US" sz="1200" dirty="0">
                <a:solidFill>
                  <a:srgbClr val="2E2E2E"/>
                </a:solidFill>
                <a:latin typeface="Calibri" pitchFamily="34" charset="0"/>
                <a:ea typeface="Calibri" pitchFamily="34" charset="-122"/>
                <a:cs typeface="Calibri" pitchFamily="34" charset="-120"/>
              </a:rPr>
              <a:t>. IRTF NMRG, draft-irtf-nmrg-network-digital-twin-arch-07, 2024.</a:t>
            </a:r>
            <a:endParaRPr lang="en-US" sz="1200" dirty="0"/>
          </a:p>
        </p:txBody>
      </p:sp>
      <p:sp>
        <p:nvSpPr>
          <p:cNvPr id="22" name="Text 20"/>
          <p:cNvSpPr/>
          <p:nvPr/>
        </p:nvSpPr>
        <p:spPr>
          <a:xfrm>
            <a:off x="7882128" y="4608576"/>
            <a:ext cx="3529584" cy="566928"/>
          </a:xfrm>
          <a:prstGeom prst="rect">
            <a:avLst/>
          </a:prstGeom>
          <a:noFill/>
          <a:ln/>
        </p:spPr>
        <p:txBody>
          <a:bodyPr wrap="square" lIns="0" tIns="0" rIns="0" bIns="0" rtlCol="0" anchor="ctr"/>
          <a:lstStyle/>
          <a:p>
            <a:pPr indent="0" marL="0">
              <a:lnSpc>
                <a:spcPct val="114000"/>
              </a:lnSpc>
              <a:buNone/>
            </a:pPr>
            <a:r>
              <a:rPr lang="en-US" sz="1050" dirty="0">
                <a:solidFill>
                  <a:srgbClr val="4F4F4F"/>
                </a:solidFill>
                <a:latin typeface="Calibri" pitchFamily="34" charset="0"/>
                <a:ea typeface="Calibri" pitchFamily="34" charset="-122"/>
                <a:cs typeface="Calibri" pitchFamily="34" charset="-120"/>
              </a:rPr>
              <a:t>The definition of the term, and the scalability caveat</a:t>
            </a:r>
            <a:endParaRPr lang="en-US" sz="1050" dirty="0"/>
          </a:p>
        </p:txBody>
      </p:sp>
      <p:sp>
        <p:nvSpPr>
          <p:cNvPr id="23" name="Shape 21"/>
          <p:cNvSpPr/>
          <p:nvPr/>
        </p:nvSpPr>
        <p:spPr>
          <a:xfrm>
            <a:off x="777240" y="5230368"/>
            <a:ext cx="10637215" cy="9144"/>
          </a:xfrm>
          <a:prstGeom prst="line">
            <a:avLst/>
          </a:prstGeom>
          <a:noFill/>
          <a:ln w="12700">
            <a:solidFill>
              <a:srgbClr val="EFEFEF"/>
            </a:solidFill>
            <a:prstDash val="solid"/>
          </a:ln>
        </p:spPr>
      </p:sp>
      <p:sp>
        <p:nvSpPr>
          <p:cNvPr id="24" name="Text 22"/>
          <p:cNvSpPr/>
          <p:nvPr/>
        </p:nvSpPr>
        <p:spPr>
          <a:xfrm>
            <a:off x="777240" y="5376672"/>
            <a:ext cx="502920" cy="27432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[5]</a:t>
            </a:r>
            <a:endParaRPr lang="en-US" sz="1200" dirty="0"/>
          </a:p>
        </p:txBody>
      </p:sp>
      <p:sp>
        <p:nvSpPr>
          <p:cNvPr id="25" name="Text 23"/>
          <p:cNvSpPr/>
          <p:nvPr/>
        </p:nvSpPr>
        <p:spPr>
          <a:xfrm>
            <a:off x="1307592" y="5358384"/>
            <a:ext cx="6309360" cy="566928"/>
          </a:xfrm>
          <a:prstGeom prst="rect">
            <a:avLst/>
          </a:prstGeom>
          <a:noFill/>
          <a:ln/>
        </p:spPr>
        <p:txBody>
          <a:bodyPr wrap="square" lIns="0" tIns="0" rIns="0" bIns="0" rtlCol="0" anchor="ctr"/>
          <a:lstStyle/>
          <a:p>
            <a:pPr indent="0" marL="0">
              <a:lnSpc>
                <a:spcPct val="116000"/>
              </a:lnSpc>
              <a:buNone/>
            </a:pPr>
            <a:r>
              <a:rPr lang="en-US" sz="1200" dirty="0">
                <a:solidFill>
                  <a:srgbClr val="2E2E2E"/>
                </a:solidFill>
                <a:latin typeface="Calibri" pitchFamily="34" charset="0"/>
                <a:ea typeface="Calibri" pitchFamily="34" charset="-122"/>
                <a:cs typeface="Calibri" pitchFamily="34" charset="-120"/>
              </a:rPr>
              <a:t>faucetsdn/ryu, </a:t>
            </a:r>
            <a:pPr indent="0" marL="0">
              <a:lnSpc>
                <a:spcPct val="116000"/>
              </a:lnSpc>
              <a:buNone/>
            </a:pPr>
            <a:r>
              <a:rPr lang="en-US" sz="1200" i="1" dirty="0">
                <a:solidFill>
                  <a:srgbClr val="1A1A1A"/>
                </a:solidFill>
                <a:latin typeface="Calibri" pitchFamily="34" charset="0"/>
                <a:ea typeface="Calibri" pitchFamily="34" charset="-122"/>
                <a:cs typeface="Calibri" pitchFamily="34" charset="-120"/>
              </a:rPr>
              <a:t>README</a:t>
            </a:r>
            <a:pPr indent="0" marL="0">
              <a:lnSpc>
                <a:spcPct val="116000"/>
              </a:lnSpc>
              <a:buNone/>
            </a:pPr>
            <a:r>
              <a:rPr lang="en-US" sz="1200" dirty="0">
                <a:solidFill>
                  <a:srgbClr val="2E2E2E"/>
                </a:solidFill>
                <a:latin typeface="Calibri" pitchFamily="34" charset="0"/>
                <a:ea typeface="Calibri" pitchFamily="34" charset="-122"/>
                <a:cs typeface="Calibri" pitchFamily="34" charset="-120"/>
              </a:rPr>
              <a:t> — “The Ryu project needs new maintainers”, pointing to OpenStack os-ken.</a:t>
            </a:r>
            <a:endParaRPr lang="en-US" sz="1200" dirty="0"/>
          </a:p>
        </p:txBody>
      </p:sp>
      <p:sp>
        <p:nvSpPr>
          <p:cNvPr id="26" name="Text 24"/>
          <p:cNvSpPr/>
          <p:nvPr/>
        </p:nvSpPr>
        <p:spPr>
          <a:xfrm>
            <a:off x="7882128" y="5358384"/>
            <a:ext cx="3529584" cy="566928"/>
          </a:xfrm>
          <a:prstGeom prst="rect">
            <a:avLst/>
          </a:prstGeom>
          <a:noFill/>
          <a:ln/>
        </p:spPr>
        <p:txBody>
          <a:bodyPr wrap="square" lIns="0" tIns="0" rIns="0" bIns="0" rtlCol="0" anchor="ctr"/>
          <a:lstStyle/>
          <a:p>
            <a:pPr indent="0" marL="0">
              <a:lnSpc>
                <a:spcPct val="114000"/>
              </a:lnSpc>
              <a:buNone/>
            </a:pPr>
            <a:r>
              <a:rPr lang="en-US" sz="1050" dirty="0">
                <a:solidFill>
                  <a:srgbClr val="4F4F4F"/>
                </a:solidFill>
                <a:latin typeface="Calibri" pitchFamily="34" charset="0"/>
                <a:ea typeface="Calibri" pitchFamily="34" charset="-122"/>
                <a:cs typeface="Calibri" pitchFamily="34" charset="-120"/>
              </a:rPr>
              <a:t>Southbound dependency risk</a:t>
            </a:r>
            <a:endParaRPr lang="en-US" sz="1050" dirty="0"/>
          </a:p>
        </p:txBody>
      </p:sp>
      <p:sp>
        <p:nvSpPr>
          <p:cNvPr id="27" name="Shape 25"/>
          <p:cNvSpPr/>
          <p:nvPr/>
        </p:nvSpPr>
        <p:spPr>
          <a:xfrm>
            <a:off x="777240" y="5980176"/>
            <a:ext cx="10637215" cy="9144"/>
          </a:xfrm>
          <a:prstGeom prst="line">
            <a:avLst/>
          </a:prstGeom>
          <a:noFill/>
          <a:ln w="12700">
            <a:solidFill>
              <a:srgbClr val="EFEFEF"/>
            </a:solidFill>
            <a:prstDash val="solid"/>
          </a:ln>
        </p:spPr>
      </p:sp>
      <p:sp>
        <p:nvSpPr>
          <p:cNvPr id="28" name="Shape 26"/>
          <p:cNvSpPr/>
          <p:nvPr/>
        </p:nvSpPr>
        <p:spPr>
          <a:xfrm>
            <a:off x="777240" y="5870448"/>
            <a:ext cx="27432" cy="822960"/>
          </a:xfrm>
          <a:prstGeom prst="rect">
            <a:avLst/>
          </a:prstGeom>
          <a:solidFill>
            <a:srgbClr val="065A82"/>
          </a:solidFill>
          <a:ln/>
        </p:spPr>
      </p:sp>
      <p:sp>
        <p:nvSpPr>
          <p:cNvPr id="29" name="Text 27"/>
          <p:cNvSpPr/>
          <p:nvPr/>
        </p:nvSpPr>
        <p:spPr>
          <a:xfrm>
            <a:off x="978408" y="5833872"/>
            <a:ext cx="9750247" cy="237744"/>
          </a:xfrm>
          <a:prstGeom prst="rect">
            <a:avLst/>
          </a:prstGeom>
          <a:noFill/>
          <a:ln/>
        </p:spPr>
        <p:txBody>
          <a:bodyPr wrap="square" lIns="0" tIns="0" rIns="0" bIns="0" rtlCol="0" anchor="ctr"/>
          <a:lstStyle/>
          <a:p>
            <a:pPr indent="0" marL="0">
              <a:buNone/>
            </a:pPr>
            <a:r>
              <a:rPr lang="en-US" sz="1150" b="1" dirty="0">
                <a:solidFill>
                  <a:srgbClr val="065A82"/>
                </a:solidFill>
                <a:latin typeface="Calibri" pitchFamily="34" charset="0"/>
                <a:ea typeface="Calibri" pitchFamily="34" charset="-122"/>
                <a:cs typeface="Calibri" pitchFamily="34" charset="-120"/>
              </a:rPr>
              <a:t>Where the 196 actually comes from</a:t>
            </a:r>
            <a:endParaRPr lang="en-US" sz="1150" dirty="0"/>
          </a:p>
        </p:txBody>
      </p:sp>
      <p:sp>
        <p:nvSpPr>
          <p:cNvPr id="30" name="Text 28"/>
          <p:cNvSpPr/>
          <p:nvPr/>
        </p:nvSpPr>
        <p:spPr>
          <a:xfrm>
            <a:off x="978408" y="6108192"/>
            <a:ext cx="9750247" cy="548640"/>
          </a:xfrm>
          <a:prstGeom prst="rect">
            <a:avLst/>
          </a:prstGeom>
          <a:noFill/>
          <a:ln/>
        </p:spPr>
        <p:txBody>
          <a:bodyPr wrap="square" lIns="0" tIns="0" rIns="0" bIns="0" rtlCol="0" anchor="ctr"/>
          <a:lstStyle/>
          <a:p>
            <a:pPr indent="0" marL="0">
              <a:lnSpc>
                <a:spcPct val="120000"/>
              </a:lnSpc>
              <a:buNone/>
            </a:pPr>
            <a:r>
              <a:rPr lang="en-US" sz="1100" dirty="0">
                <a:solidFill>
                  <a:srgbClr val="2E2E2E"/>
                </a:solidFill>
                <a:latin typeface="Calibri" pitchFamily="34" charset="0"/>
                <a:ea typeface="Calibri" pitchFamily="34" charset="-122"/>
                <a:cs typeface="Calibri" pitchFamily="34" charset="-120"/>
              </a:rPr>
              <a:t>It is not a result from a paper. [1] is a technical page with no publication date that gives no citation for the expression itself; the mathematics underneath is the normal approximation to a binomial, and 196 = 1.96 × 100, the 95% z value. Phaal is an author of both [1] and [1a].</a:t>
            </a:r>
            <a:endParaRPr lang="en-US" sz="1100" dirty="0"/>
          </a:p>
        </p:txBody>
      </p:sp>
      <p:sp>
        <p:nvSpPr>
          <p:cNvPr id="31" name="Text 29"/>
          <p:cNvSpPr/>
          <p:nvPr/>
        </p:nvSpPr>
        <p:spPr>
          <a:xfrm>
            <a:off x="10972800" y="6327648"/>
            <a:ext cx="438912"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44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2026-08-19T18:49:37Z</dcterms:created>
  <dcterms:modified xsi:type="dcterms:W3CDTF">2026-08-19T18:49:37Z</dcterms:modified>
</cp:coreProperties>
</file>